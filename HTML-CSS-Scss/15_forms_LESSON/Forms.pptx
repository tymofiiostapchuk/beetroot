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17" r:id="rId3"/>
    <p:sldId id="402" r:id="rId4"/>
    <p:sldId id="418" r:id="rId5"/>
    <p:sldId id="419" r:id="rId6"/>
    <p:sldId id="420" r:id="rId7"/>
    <p:sldId id="421" r:id="rId8"/>
    <p:sldId id="422" r:id="rId9"/>
    <p:sldId id="423" r:id="rId10"/>
    <p:sldId id="424" r:id="rId11"/>
    <p:sldId id="425" r:id="rId12"/>
    <p:sldId id="426" r:id="rId13"/>
    <p:sldId id="427" r:id="rId14"/>
    <p:sldId id="428" r:id="rId15"/>
    <p:sldId id="429" r:id="rId16"/>
    <p:sldId id="430" r:id="rId17"/>
    <p:sldId id="431" r:id="rId18"/>
    <p:sldId id="432" r:id="rId19"/>
    <p:sldId id="433" r:id="rId20"/>
    <p:sldId id="434" r:id="rId21"/>
    <p:sldId id="435" r:id="rId22"/>
    <p:sldId id="436" r:id="rId23"/>
    <p:sldId id="437" r:id="rId24"/>
    <p:sldId id="412" r:id="rId25"/>
    <p:sldId id="404" r:id="rId26"/>
    <p:sldId id="413" r:id="rId27"/>
    <p:sldId id="406" r:id="rId28"/>
    <p:sldId id="405" r:id="rId29"/>
    <p:sldId id="407" r:id="rId30"/>
    <p:sldId id="408" r:id="rId31"/>
    <p:sldId id="409" r:id="rId32"/>
    <p:sldId id="401" r:id="rId33"/>
    <p:sldId id="439" r:id="rId34"/>
    <p:sldId id="440" r:id="rId35"/>
    <p:sldId id="441" r:id="rId36"/>
    <p:sldId id="442" r:id="rId37"/>
    <p:sldId id="444" r:id="rId38"/>
    <p:sldId id="443" r:id="rId39"/>
    <p:sldId id="446" r:id="rId40"/>
    <p:sldId id="445" r:id="rId41"/>
    <p:sldId id="450" r:id="rId42"/>
    <p:sldId id="451" r:id="rId43"/>
    <p:sldId id="447" r:id="rId44"/>
    <p:sldId id="448" r:id="rId45"/>
    <p:sldId id="449" r:id="rId46"/>
    <p:sldId id="452" r:id="rId47"/>
    <p:sldId id="453" r:id="rId48"/>
    <p:sldId id="454" r:id="rId49"/>
    <p:sldId id="455" r:id="rId50"/>
    <p:sldId id="456" r:id="rId51"/>
    <p:sldId id="458" r:id="rId52"/>
    <p:sldId id="457" r:id="rId5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Роман Никифоров" initials="РН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601A"/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9" autoAdjust="0"/>
    <p:restoredTop sz="94638" autoAdjust="0"/>
  </p:normalViewPr>
  <p:slideViewPr>
    <p:cSldViewPr>
      <p:cViewPr varScale="1">
        <p:scale>
          <a:sx n="107" d="100"/>
          <a:sy n="107" d="100"/>
        </p:scale>
        <p:origin x="11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170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 dirty="0" smtClean="0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D6EF158-505A-45E0-A8F6-08FACAFEA132}" type="datetimeFigureOut">
              <a:rPr lang="ru-RU" smtClean="0"/>
              <a:t>05.10.2018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05.10.2018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 dirty="0" smtClean="0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dirty="0" smtClean="0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05.10.2018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05.10.2018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05.10.2018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05.10.2018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05.10.2018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4D6EF158-505A-45E0-A8F6-08FACAFEA132}" type="datetimeFigureOut">
              <a:rPr lang="ru-RU" smtClean="0"/>
              <a:t>05.10.2018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D6EF158-505A-45E0-A8F6-08FACAFEA132}" type="datetimeFigureOut">
              <a:rPr lang="ru-RU" smtClean="0"/>
              <a:t>05.10.2018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05.10.2018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05.10.2018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6EF158-505A-45E0-A8F6-08FACAFEA132}" type="datetimeFigureOut">
              <a:rPr lang="ru-RU" smtClean="0"/>
              <a:t>05.10.2018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eetroot.academy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ufoo.com/html5" TargetMode="External"/><Relationship Id="rId2" Type="http://schemas.openxmlformats.org/officeDocument/2006/relationships/hyperlink" Target="https://developer.mozilla.org/ru/docs/Web/HTML/Element/for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goo.gl/uwLcMr" TargetMode="External"/><Relationship Id="rId2" Type="http://schemas.openxmlformats.org/officeDocument/2006/relationships/hyperlink" Target="https://developer.mozilla.org/ru/docs/Web/HTML/Element/datalist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goo.gl/1Mko7x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sampsonblog.com/489/creating-a-autofocus-polyfil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.org/TR/wai-aria/roles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  <a:solidFill>
            <a:schemeClr val="bg1"/>
          </a:solidFill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r>
              <a:rPr lang="en-US" sz="3600" kern="130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/>
            </a:r>
            <a:br>
              <a:rPr lang="en-US" sz="3600" kern="130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</a:br>
            <a:r>
              <a:rPr lang="en-US" sz="3200" i="1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 </a:t>
            </a:r>
            <a:r>
              <a:rPr lang="ru-RU" i="1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/>
            </a:r>
            <a:br>
              <a:rPr lang="ru-RU" i="1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</a:br>
            <a:endParaRPr lang="ru-RU" i="1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367" y="2550984"/>
            <a:ext cx="1669265" cy="16692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45757" y="2120082"/>
            <a:ext cx="3631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hlinkClick r:id="rId3"/>
              </a:rPr>
              <a:t>https://</a:t>
            </a:r>
            <a:r>
              <a:rPr lang="en-US" b="1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hlinkClick r:id="rId3"/>
              </a:rPr>
              <a:t>beetroot.academy</a:t>
            </a:r>
            <a:endParaRPr lang="ru-R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123728" y="1196752"/>
            <a:ext cx="5328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kern="13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HTML5 </a:t>
            </a:r>
            <a:r>
              <a:rPr lang="en-US" sz="5400" b="1" kern="130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forms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4806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3419872" y="116632"/>
            <a:ext cx="1944216" cy="36004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sz="2000" b="1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itchFamily="49" charset="0"/>
              </a:defRPr>
            </a:lvl1pPr>
          </a:lstStyle>
          <a:p>
            <a:r>
              <a:rPr lang="ru-RU" dirty="0"/>
              <a:t>Формы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620688"/>
            <a:ext cx="9144000" cy="646331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Формы предназначены для отсылки какой-то информации на сервер, то есть это средство для взаимодействия с пользователями 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48" y="1700808"/>
            <a:ext cx="8864649" cy="259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9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43808" y="22774"/>
            <a:ext cx="3096344" cy="40011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sz="2000" b="1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itchFamily="49" charset="0"/>
              </a:defRPr>
            </a:lvl1pPr>
            <a:extLst/>
          </a:lstStyle>
          <a:p>
            <a:r>
              <a:rPr lang="ru-RU" dirty="0"/>
              <a:t>Элементы  </a:t>
            </a:r>
            <a:r>
              <a:rPr lang="en-US" dirty="0"/>
              <a:t>&lt;form&gt;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5496" y="476672"/>
            <a:ext cx="8928992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smtClean="0"/>
              <a:t>Справочная информация</a:t>
            </a:r>
          </a:p>
          <a:p>
            <a:r>
              <a:rPr lang="en-US" b="1" dirty="0">
                <a:hlinkClick r:id="rId2"/>
              </a:rPr>
              <a:t>https://</a:t>
            </a:r>
            <a:r>
              <a:rPr lang="en-US" b="1" dirty="0" smtClean="0">
                <a:hlinkClick r:id="rId2"/>
              </a:rPr>
              <a:t>developer.mozilla.org/ru/docs/Web/HTML/Element/form</a:t>
            </a:r>
            <a:endParaRPr lang="ru-RU" b="1" dirty="0" smtClean="0"/>
          </a:p>
          <a:p>
            <a:endParaRPr lang="ru-RU" b="1" dirty="0"/>
          </a:p>
          <a:p>
            <a:endParaRPr lang="ru-RU" b="1" dirty="0" smtClean="0"/>
          </a:p>
          <a:p>
            <a:r>
              <a:rPr lang="en-US" b="1" dirty="0">
                <a:hlinkClick r:id="rId3"/>
              </a:rPr>
              <a:t>http://</a:t>
            </a:r>
            <a:r>
              <a:rPr lang="en-US" b="1" dirty="0" smtClean="0">
                <a:hlinkClick r:id="rId3"/>
              </a:rPr>
              <a:t>www.wufoo.com/html5</a:t>
            </a:r>
            <a:r>
              <a:rPr lang="en-US" b="1" dirty="0" smtClean="0"/>
              <a:t> </a:t>
            </a:r>
          </a:p>
          <a:p>
            <a:endParaRPr lang="ru-RU" b="1" dirty="0" smtClean="0"/>
          </a:p>
        </p:txBody>
      </p:sp>
    </p:spTree>
    <p:extLst>
      <p:ext uri="{BB962C8B-B14F-4D97-AF65-F5344CB8AC3E}">
        <p14:creationId xmlns:p14="http://schemas.microsoft.com/office/powerpoint/2010/main" val="93366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38536" y="44624"/>
            <a:ext cx="5266928" cy="418058"/>
          </a:xfr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2000" dirty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Парный тег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&lt;form&gt; &lt; /form&gt;</a:t>
            </a:r>
            <a:endParaRPr lang="ru-RU" sz="2000" dirty="0">
              <a:solidFill>
                <a:schemeClr val="tx1"/>
              </a:solidFill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068" y="620688"/>
            <a:ext cx="892942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</a:rPr>
              <a:t>Элементы форм </a:t>
            </a:r>
            <a:r>
              <a:rPr lang="ru-RU" b="1" dirty="0" err="1">
                <a:latin typeface="Courier New" pitchFamily="49" charset="0"/>
              </a:rPr>
              <a:t>распологаются</a:t>
            </a:r>
            <a:r>
              <a:rPr lang="ru-RU" b="1" dirty="0">
                <a:latin typeface="Courier New" pitchFamily="49" charset="0"/>
              </a:rPr>
              <a:t> в парном теге  </a:t>
            </a:r>
            <a:r>
              <a:rPr lang="en-US" b="1" dirty="0">
                <a:latin typeface="Courier New" pitchFamily="49" charset="0"/>
              </a:rPr>
              <a:t>&lt;form&gt; </a:t>
            </a:r>
            <a:r>
              <a:rPr lang="ru-RU" b="1" dirty="0">
                <a:latin typeface="Courier New" pitchFamily="49" charset="0"/>
              </a:rPr>
              <a:t> которому надо </a:t>
            </a:r>
          </a:p>
          <a:p>
            <a:r>
              <a:rPr lang="ru-RU" b="1" dirty="0">
                <a:latin typeface="Courier New" pitchFamily="49" charset="0"/>
              </a:rPr>
              <a:t>задавать следующие атрибуты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04" y="1364575"/>
            <a:ext cx="885742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ourier New" pitchFamily="49" charset="0"/>
              </a:rPr>
              <a:t>&lt;form action=</a:t>
            </a:r>
            <a:r>
              <a:rPr lang="en-US" b="1" dirty="0">
                <a:latin typeface="Courier New" pitchFamily="49" charset="0"/>
              </a:rPr>
              <a:t>"</a:t>
            </a:r>
            <a:r>
              <a:rPr lang="ru-RU" b="1" dirty="0" err="1" smtClean="0">
                <a:solidFill>
                  <a:schemeClr val="accent2"/>
                </a:solidFill>
                <a:latin typeface="Courier New" pitchFamily="49" charset="0"/>
              </a:rPr>
              <a:t>путь_к_обработчику_формы</a:t>
            </a:r>
            <a:r>
              <a:rPr lang="en-US" b="1" dirty="0" smtClean="0">
                <a:latin typeface="Courier New" pitchFamily="49" charset="0"/>
              </a:rPr>
              <a:t>" &gt;</a:t>
            </a:r>
          </a:p>
          <a:p>
            <a:r>
              <a:rPr lang="ru-RU" b="1" dirty="0" smtClean="0">
                <a:latin typeface="Courier New" pitchFamily="49" charset="0"/>
              </a:rPr>
              <a:t>  </a:t>
            </a:r>
            <a:r>
              <a:rPr lang="en-US" b="1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</a:rPr>
              <a:t>// </a:t>
            </a:r>
            <a:r>
              <a:rPr lang="ru-RU" b="1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</a:rPr>
              <a:t>Внутри </a:t>
            </a:r>
            <a:r>
              <a:rPr lang="ru-RU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</a:rPr>
              <a:t>формы располагаются элементы форм</a:t>
            </a:r>
            <a:r>
              <a:rPr lang="ru-RU" b="1" dirty="0">
                <a:latin typeface="Courier New" pitchFamily="49" charset="0"/>
              </a:rPr>
              <a:t> </a:t>
            </a:r>
          </a:p>
          <a:p>
            <a:r>
              <a:rPr lang="en-US" b="1" dirty="0" smtClean="0">
                <a:latin typeface="Courier New" pitchFamily="49" charset="0"/>
              </a:rPr>
              <a:t>&lt;/form&gt;</a:t>
            </a:r>
            <a:endParaRPr lang="ru-RU" b="1" dirty="0">
              <a:latin typeface="Courier New" pitchFamily="49" charset="0"/>
            </a:endParaRPr>
          </a:p>
        </p:txBody>
      </p:sp>
      <p:sp>
        <p:nvSpPr>
          <p:cNvPr id="7" name="Заголовок 2"/>
          <p:cNvSpPr txBox="1">
            <a:spLocks/>
          </p:cNvSpPr>
          <p:nvPr/>
        </p:nvSpPr>
        <p:spPr>
          <a:xfrm>
            <a:off x="2090936" y="2794918"/>
            <a:ext cx="5266928" cy="418058"/>
          </a:xfrm>
          <a:prstGeom prst="rect">
            <a:avLst/>
          </a:prstGeom>
          <a:solidFill>
            <a:schemeClr val="lt1"/>
          </a:solidFill>
          <a:ln w="28575" cap="flat" cmpd="thickThin" algn="ctr">
            <a:solidFill>
              <a:schemeClr val="tx1"/>
            </a:solidFill>
            <a:prstDash val="solid"/>
          </a:ln>
          <a:effectLst/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  <a:extLst/>
          </a:lstStyle>
          <a:p>
            <a:r>
              <a:rPr lang="ru-RU" sz="2000" dirty="0" smtClean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Атрибуты тега  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&lt;form&gt;</a:t>
            </a:r>
            <a:endParaRPr lang="ru-RU" sz="2000" dirty="0">
              <a:solidFill>
                <a:schemeClr val="tx1"/>
              </a:solidFill>
              <a:latin typeface="Courier New" pitchFamily="49" charset="0"/>
              <a:ea typeface="+mn-ea"/>
              <a:cs typeface="+mn-cs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119378" y="3313079"/>
          <a:ext cx="8989126" cy="3284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action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Путь к файлу, который будет обрабатывать</a:t>
                      </a:r>
                      <a:r>
                        <a:rPr lang="ru-RU" sz="1800" b="1" kern="1200" baseline="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форму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name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Имя формы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13">
                <a:tc>
                  <a:txBody>
                    <a:bodyPr/>
                    <a:lstStyle/>
                    <a:p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width, height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Ширина, высота фрейма.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method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>
                          <a:latin typeface="Courier New" pitchFamily="49" charset="0"/>
                        </a:rPr>
                        <a:t>Метод отправки данных на сервер</a:t>
                      </a:r>
                      <a:r>
                        <a:rPr lang="en-US" sz="2000" b="1" dirty="0" smtClean="0">
                          <a:latin typeface="Courier New" pitchFamily="49" charset="0"/>
                        </a:rPr>
                        <a:t> </a:t>
                      </a:r>
                      <a:endParaRPr lang="ru-RU" sz="2000" b="1" dirty="0" smtClean="0">
                        <a:latin typeface="Courier New" pitchFamily="49" charset="0"/>
                      </a:endParaRPr>
                    </a:p>
                    <a:p>
                      <a:r>
                        <a:rPr kumimoji="0" lang="en-US" sz="2000" b="1" kern="1200" dirty="0" smtClean="0">
                          <a:solidFill>
                            <a:schemeClr val="accent2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GET </a:t>
                      </a:r>
                      <a:r>
                        <a:rPr kumimoji="0" lang="ru-RU" sz="20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или</a:t>
                      </a:r>
                      <a:r>
                        <a:rPr kumimoji="0" lang="en-US" sz="2000" b="1" kern="1200" dirty="0" smtClean="0">
                          <a:solidFill>
                            <a:schemeClr val="accent2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POST</a:t>
                      </a:r>
                      <a:endParaRPr lang="ru-RU" sz="2000" b="1" dirty="0">
                        <a:latin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kumimoji="0" lang="en-US" sz="18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enctype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тип данных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en-US" sz="1800" b="1" kern="1200" dirty="0" smtClean="0">
                          <a:solidFill>
                            <a:srgbClr val="0070C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application/x-www-form-</a:t>
                      </a:r>
                      <a:r>
                        <a:rPr kumimoji="0" lang="en-US" sz="1800" b="1" kern="1200" dirty="0" err="1" smtClean="0">
                          <a:solidFill>
                            <a:srgbClr val="0070C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urlencoded</a:t>
                      </a:r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- по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умолчанию</a:t>
                      </a:r>
                    </a:p>
                    <a:p>
                      <a:endParaRPr kumimoji="0" lang="en-US" sz="1800" b="1" kern="1200" dirty="0" smtClean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800" b="1" kern="1200" dirty="0" smtClean="0">
                          <a:solidFill>
                            <a:srgbClr val="0070C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multipart/form-data</a:t>
                      </a:r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– надо назначать, если форма содержит поле для отправки файла на сервер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04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07504" y="2204864"/>
            <a:ext cx="8856984" cy="1872208"/>
          </a:xfrm>
          <a:prstGeom prst="rect">
            <a:avLst/>
          </a:prstGeom>
          <a:solidFill>
            <a:schemeClr val="accent5">
              <a:lumMod val="20000"/>
              <a:lumOff val="8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07504" y="188640"/>
            <a:ext cx="8856984" cy="17543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</a:rPr>
              <a:t>У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</a:rPr>
              <a:t>всех элементов форм есть 2  атрибута</a:t>
            </a:r>
          </a:p>
          <a:p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name= 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</a:rPr>
              <a:t>"</a:t>
            </a:r>
            <a:r>
              <a:rPr lang="ru-RU" b="1" dirty="0" err="1" smtClean="0">
                <a:solidFill>
                  <a:schemeClr val="accent2"/>
                </a:solidFill>
                <a:latin typeface="Courier New" pitchFamily="49" charset="0"/>
              </a:rPr>
              <a:t>имя_поля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</a:rPr>
              <a:t>"</a:t>
            </a:r>
            <a:r>
              <a:rPr lang="en-US" b="1" dirty="0" smtClean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– </a:t>
            </a:r>
            <a:r>
              <a:rPr lang="ru-RU" b="1" dirty="0">
                <a:latin typeface="Courier New" pitchFamily="49" charset="0"/>
              </a:rPr>
              <a:t>по этому атрибуту на сервере </a:t>
            </a:r>
            <a:r>
              <a:rPr lang="ru-RU" b="1" dirty="0" smtClean="0">
                <a:latin typeface="Courier New" pitchFamily="49" charset="0"/>
              </a:rPr>
              <a:t>обработчик </a:t>
            </a:r>
          </a:p>
          <a:p>
            <a:r>
              <a:rPr lang="ru-RU" b="1" dirty="0">
                <a:latin typeface="Courier New" pitchFamily="49" charset="0"/>
              </a:rPr>
              <a:t> </a:t>
            </a:r>
            <a:r>
              <a:rPr lang="ru-RU" b="1" dirty="0" smtClean="0">
                <a:latin typeface="Courier New" pitchFamily="49" charset="0"/>
              </a:rPr>
              <a:t>                  формы </a:t>
            </a:r>
            <a:r>
              <a:rPr lang="ru-RU" b="1" dirty="0">
                <a:latin typeface="Courier New" pitchFamily="49" charset="0"/>
              </a:rPr>
              <a:t>находит значение этого  поля</a:t>
            </a:r>
            <a:endParaRPr lang="en-US" b="1" dirty="0">
              <a:latin typeface="Courier New" pitchFamily="49" charset="0"/>
            </a:endParaRPr>
          </a:p>
          <a:p>
            <a:endParaRPr lang="ru-RU" b="1" dirty="0">
              <a:latin typeface="Courier New" pitchFamily="49" charset="0"/>
            </a:endParaRPr>
          </a:p>
          <a:p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value= 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</a:rPr>
              <a:t>"</a:t>
            </a:r>
            <a:r>
              <a:rPr lang="ru-RU" b="1" dirty="0" smtClean="0">
                <a:solidFill>
                  <a:schemeClr val="accent2"/>
                </a:solidFill>
                <a:latin typeface="Courier New" pitchFamily="49" charset="0"/>
              </a:rPr>
              <a:t>значение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</a:rPr>
              <a:t>"</a:t>
            </a:r>
            <a:r>
              <a:rPr lang="en-US" b="1" dirty="0" smtClean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-</a:t>
            </a:r>
            <a:r>
              <a:rPr lang="ru-RU" b="1" dirty="0">
                <a:latin typeface="Courier New" pitchFamily="49" charset="0"/>
              </a:rPr>
              <a:t> </a:t>
            </a:r>
            <a:r>
              <a:rPr lang="ru-RU" b="1" dirty="0" smtClean="0">
                <a:latin typeface="Courier New" pitchFamily="49" charset="0"/>
              </a:rPr>
              <a:t>это </a:t>
            </a:r>
            <a:r>
              <a:rPr lang="ru-RU" b="1" dirty="0">
                <a:latin typeface="Courier New" pitchFamily="49" charset="0"/>
              </a:rPr>
              <a:t>значение поля отправленного на сервер</a:t>
            </a:r>
          </a:p>
          <a:p>
            <a:r>
              <a:rPr lang="ru-RU" b="1" dirty="0">
                <a:latin typeface="Courier New" pitchFamily="49" charset="0"/>
              </a:rPr>
              <a:t>		       </a:t>
            </a:r>
            <a:r>
              <a:rPr lang="ru-RU" b="1" dirty="0" smtClean="0">
                <a:latin typeface="Courier New" pitchFamily="49" charset="0"/>
              </a:rPr>
              <a:t>(</a:t>
            </a:r>
            <a:r>
              <a:rPr lang="ru-RU" b="1" dirty="0">
                <a:latin typeface="Courier New" pitchFamily="49" charset="0"/>
              </a:rPr>
              <a:t>у 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</a:rPr>
              <a:t>элемента </a:t>
            </a:r>
            <a:r>
              <a:rPr lang="en-US" b="1" dirty="0">
                <a:latin typeface="Courier New" pitchFamily="49" charset="0"/>
              </a:rPr>
              <a:t>&lt;</a:t>
            </a:r>
            <a:r>
              <a:rPr lang="en-US" b="1" dirty="0" err="1">
                <a:latin typeface="Courier New" pitchFamily="49" charset="0"/>
              </a:rPr>
              <a:t>textarea</a:t>
            </a:r>
            <a:r>
              <a:rPr lang="en-US" b="1" dirty="0">
                <a:latin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</a:rPr>
              <a:t> этого атрибута нет) </a:t>
            </a:r>
            <a:r>
              <a:rPr lang="en-US" b="1" dirty="0">
                <a:latin typeface="Courier New" pitchFamily="49" charset="0"/>
              </a:rPr>
              <a:t> </a:t>
            </a:r>
            <a:endParaRPr lang="ru-RU" b="1" dirty="0">
              <a:latin typeface="Courier New" pitchFamily="49" charset="0"/>
            </a:endParaRPr>
          </a:p>
        </p:txBody>
      </p:sp>
      <p:pic>
        <p:nvPicPr>
          <p:cNvPr id="3" name="Picture 386" descr="tex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92" y="2708920"/>
            <a:ext cx="1749425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80"/>
          <p:cNvSpPr>
            <a:spLocks noChangeArrowheads="1"/>
          </p:cNvSpPr>
          <p:nvPr/>
        </p:nvSpPr>
        <p:spPr bwMode="auto">
          <a:xfrm>
            <a:off x="179512" y="3212976"/>
            <a:ext cx="7402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b="1" dirty="0">
                <a:latin typeface="Courier New" pitchFamily="49" charset="0"/>
              </a:rPr>
              <a:t>&lt;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input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type</a:t>
            </a:r>
            <a:r>
              <a:rPr lang="en-US" b="1" dirty="0">
                <a:latin typeface="Courier New" pitchFamily="49" charset="0"/>
              </a:rPr>
              <a:t>="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text</a:t>
            </a:r>
            <a:r>
              <a:rPr lang="en-US" b="1" dirty="0">
                <a:latin typeface="Courier New" pitchFamily="49" charset="0"/>
              </a:rPr>
              <a:t>"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name</a:t>
            </a:r>
            <a:r>
              <a:rPr lang="en-US" b="1" dirty="0">
                <a:latin typeface="Courier New" pitchFamily="49" charset="0"/>
              </a:rPr>
              <a:t>="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login</a:t>
            </a:r>
            <a:r>
              <a:rPr lang="en-US" b="1" dirty="0">
                <a:latin typeface="Courier New" pitchFamily="49" charset="0"/>
              </a:rPr>
              <a:t>" </a:t>
            </a: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</a:rPr>
              <a:t>value</a:t>
            </a:r>
            <a:r>
              <a:rPr lang="en-US" b="1" dirty="0" smtClean="0">
                <a:latin typeface="Courier New" pitchFamily="49" charset="0"/>
              </a:rPr>
              <a:t>=“</a:t>
            </a:r>
            <a:r>
              <a:rPr lang="ru-RU" b="1" dirty="0" smtClean="0">
                <a:solidFill>
                  <a:srgbClr val="FF0000"/>
                </a:solidFill>
                <a:latin typeface="Courier New" pitchFamily="49" charset="0"/>
              </a:rPr>
              <a:t>отправить</a:t>
            </a:r>
            <a:r>
              <a:rPr lang="en-US" b="1" dirty="0" smtClean="0">
                <a:latin typeface="Courier New" pitchFamily="49" charset="0"/>
              </a:rPr>
              <a:t>"&gt;</a:t>
            </a:r>
            <a:endParaRPr lang="ru-RU" b="1" dirty="0">
              <a:latin typeface="Courier New" pitchFamily="49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flipH="1" flipV="1">
            <a:off x="3491880" y="3582308"/>
            <a:ext cx="648072" cy="12148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93872" y="4725144"/>
            <a:ext cx="6688152" cy="369332"/>
          </a:xfrm>
          <a:prstGeom prst="rect">
            <a:avLst/>
          </a:prstGeom>
          <a:solidFill>
            <a:schemeClr val="accent4">
              <a:alpha val="26000"/>
            </a:schemeClr>
          </a:solidFill>
        </p:spPr>
        <p:txBody>
          <a:bodyPr wrap="square" rtlCol="0">
            <a:spAutoFit/>
          </a:bodyPr>
          <a:lstStyle/>
          <a:p>
            <a:r>
              <a:rPr lang="uk-UA" b="1" dirty="0">
                <a:latin typeface="Courier New" pitchFamily="49" charset="0"/>
              </a:rPr>
              <a:t>На сервер </a:t>
            </a:r>
            <a:r>
              <a:rPr lang="uk-UA" b="1" dirty="0" err="1" smtClean="0">
                <a:latin typeface="Courier New" pitchFamily="49" charset="0"/>
              </a:rPr>
              <a:t>уйдет</a:t>
            </a:r>
            <a:r>
              <a:rPr lang="uk-UA" b="1" dirty="0" smtClean="0">
                <a:latin typeface="Courier New" pitchFamily="49" charset="0"/>
              </a:rPr>
              <a:t>     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</a:rPr>
              <a:t>login=</a:t>
            </a:r>
            <a:r>
              <a:rPr lang="ru-RU" b="1" dirty="0" smtClean="0">
                <a:solidFill>
                  <a:srgbClr val="FF0000"/>
                </a:solidFill>
                <a:latin typeface="Courier New" pitchFamily="49" charset="0"/>
              </a:rPr>
              <a:t>отправить</a:t>
            </a:r>
            <a:endParaRPr lang="uk-UA" b="1" dirty="0">
              <a:solidFill>
                <a:srgbClr val="FF0000"/>
              </a:solidFill>
              <a:latin typeface="Courier New" pitchFamily="49" charset="0"/>
            </a:endParaRPr>
          </a:p>
        </p:txBody>
      </p:sp>
      <p:cxnSp>
        <p:nvCxnSpPr>
          <p:cNvPr id="14" name="Прямая со стрелкой 13"/>
          <p:cNvCxnSpPr/>
          <p:nvPr/>
        </p:nvCxnSpPr>
        <p:spPr>
          <a:xfrm flipV="1">
            <a:off x="4864224" y="3582308"/>
            <a:ext cx="571872" cy="12148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66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5496" y="44624"/>
            <a:ext cx="5040560" cy="504056"/>
          </a:xfr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2000" dirty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Однострочное текстовое поле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71500" y="1556792"/>
          <a:ext cx="8964996" cy="35720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4482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size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Например 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size=“20”</a:t>
                      </a:r>
                      <a:endParaRPr kumimoji="0" lang="ru-RU" sz="1800" b="1" kern="1200" dirty="0" smtClean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  <a:p>
                      <a:pPr marL="0" algn="l" rtl="0" eaLnBrk="1" latinLnBrk="0" hangingPunct="1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Ширина текстового поля, которое определяется числом символов – а именно шириной буквы 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x </a:t>
                      </a:r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которая вмещается в это поле.</a:t>
                      </a:r>
                      <a:endParaRPr kumimoji="0" lang="en-US" sz="1800" b="1" kern="1200" dirty="0" smtClean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482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name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Имя поля, предназначено для того, чтобы обработчик формы мог его идентифицировать – должно быть уникальным.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482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value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Начальный текст, содержащий в поле.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482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maxlength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Устанавливает максимальное число символов, которое может быть введено пользователем в текстовом поле.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04248" y="116632"/>
            <a:ext cx="2059225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</a:defRPr>
            </a:lvl1pPr>
          </a:lstStyle>
          <a:p>
            <a:r>
              <a:rPr lang="en-US" dirty="0" smtClean="0"/>
              <a:t>index_1.html</a:t>
            </a:r>
            <a:endParaRPr lang="ru-RU" dirty="0"/>
          </a:p>
        </p:txBody>
      </p:sp>
      <p:pic>
        <p:nvPicPr>
          <p:cNvPr id="12" name="Picture 386" descr="tex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0625" y="900227"/>
            <a:ext cx="1749425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23528" y="908720"/>
            <a:ext cx="500970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itchFamily="49" charset="0"/>
              </a:rPr>
              <a:t>&lt;input type="text"    name=" ... "&gt;</a:t>
            </a:r>
            <a:endParaRPr lang="ru-RU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27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07504" y="44624"/>
            <a:ext cx="4176464" cy="432048"/>
          </a:xfr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2000" dirty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Поле для ввода пароля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179512" y="1628800"/>
          <a:ext cx="8568951" cy="37520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4482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size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Например 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size=“20”</a:t>
                      </a:r>
                      <a:endParaRPr kumimoji="0" lang="ru-RU" sz="1800" b="1" kern="1200" dirty="0" smtClean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  <a:p>
                      <a:pPr marL="0" algn="l" rtl="0" eaLnBrk="1" latinLnBrk="0" hangingPunct="1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Ширина текстового поля, которое определяется числом символов – а именно шириной буквы 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x </a:t>
                      </a:r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которая вмещается в это поле.</a:t>
                      </a:r>
                      <a:endParaRPr kumimoji="0" lang="en-US" sz="1800" b="1" kern="1200" dirty="0" smtClean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482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name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Имя поля, предназначено для того, чтобы обработчик формы мог его идентифицировать – должно быть уникальным.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482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value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Начальный текст, содержащий в поле.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482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maxlength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Устанавливает максимальное число символов, которое может быть введено пользователем в текстовом поле.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020272" y="116632"/>
            <a:ext cx="184320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</a:defRPr>
            </a:lvl1pPr>
          </a:lstStyle>
          <a:p>
            <a:r>
              <a:rPr lang="en-US" dirty="0" smtClean="0"/>
              <a:t>index_1.html</a:t>
            </a:r>
            <a:endParaRPr lang="ru-RU" dirty="0"/>
          </a:p>
        </p:txBody>
      </p:sp>
      <p:pic>
        <p:nvPicPr>
          <p:cNvPr id="12" name="Picture 387" descr="passwo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912927"/>
            <a:ext cx="17367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23528" y="908720"/>
            <a:ext cx="418255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itchFamily="49" charset="0"/>
              </a:rPr>
              <a:t>&lt;input type</a:t>
            </a:r>
            <a:r>
              <a:rPr lang="en-US" b="1" dirty="0" smtClean="0">
                <a:latin typeface="Courier New" pitchFamily="49" charset="0"/>
              </a:rPr>
              <a:t>="password"  ... &gt;</a:t>
            </a:r>
            <a:endParaRPr lang="ru-RU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29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107504" y="1124744"/>
          <a:ext cx="8924715" cy="4293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0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4482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name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Имя поля, предназначено для того, чтобы обработчик формы мог его идентифицировать – должно быть уникальным.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44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cols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Ширина поля в символах.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rows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Высота поля в строках текста.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928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disabled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Блокирует доступ и изменение элемента.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4482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readonly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Устанавливает, что поле не может изменяться пользователем.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Применение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readonly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="</a:t>
                      </a:r>
                      <a:r>
                        <a:rPr kumimoji="0" lang="en-US" sz="18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readonly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"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646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wrap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Параметры переноса строк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800" b="1" kern="1200" dirty="0" smtClean="0">
                          <a:solidFill>
                            <a:srgbClr val="0070C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hard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текст, который самостоятельно не помещается в поле по ширине, будет автоматически перенесен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на новую строку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 </a:t>
                      </a:r>
                      <a:endParaRPr kumimoji="0" lang="ru-RU" sz="1800" b="1" kern="1200" dirty="0" smtClean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  <a:p>
                      <a:pPr marL="0" algn="l" rtl="0" eaLnBrk="1" latinLnBrk="0" hangingPunct="1"/>
                      <a:r>
                        <a:rPr kumimoji="0" lang="en-US" sz="1800" b="1" kern="1200" dirty="0" smtClean="0">
                          <a:solidFill>
                            <a:srgbClr val="0070C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off</a:t>
                      </a:r>
                      <a:r>
                        <a:rPr kumimoji="0" lang="ru-RU" sz="1800" b="1" kern="1200" dirty="0" smtClean="0">
                          <a:solidFill>
                            <a:srgbClr val="0070C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–  текст будет печататься в одну строку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07504" y="31467"/>
            <a:ext cx="4140460" cy="373197"/>
          </a:xfr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2000" dirty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Многострочное поле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116632"/>
            <a:ext cx="184320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</a:defRPr>
            </a:lvl1pPr>
          </a:lstStyle>
          <a:p>
            <a:r>
              <a:rPr lang="en-US" dirty="0" smtClean="0"/>
              <a:t>index_1.html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07504" y="620688"/>
            <a:ext cx="4871847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Courier New" pitchFamily="49" charset="0"/>
              </a:rPr>
              <a:t>&lt;</a:t>
            </a:r>
            <a:r>
              <a:rPr lang="en-US" b="1" dirty="0" err="1" smtClean="0">
                <a:latin typeface="Courier New" pitchFamily="49" charset="0"/>
              </a:rPr>
              <a:t>textarea</a:t>
            </a:r>
            <a:r>
              <a:rPr lang="en-US" b="1" dirty="0" smtClean="0">
                <a:latin typeface="Courier New" pitchFamily="49" charset="0"/>
              </a:rPr>
              <a:t> name="..."  &gt;&lt;/</a:t>
            </a:r>
            <a:r>
              <a:rPr lang="en-US" b="1" dirty="0" err="1" smtClean="0">
                <a:latin typeface="Courier New" pitchFamily="49" charset="0"/>
              </a:rPr>
              <a:t>textarea</a:t>
            </a:r>
            <a:r>
              <a:rPr lang="en-US" b="1" dirty="0" smtClean="0">
                <a:latin typeface="Courier New" pitchFamily="49" charset="0"/>
              </a:rPr>
              <a:t>&gt;</a:t>
            </a:r>
            <a:endParaRPr lang="ru-RU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8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79512" y="116632"/>
            <a:ext cx="3515587" cy="360040"/>
          </a:xfr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2000" dirty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Переключатели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44517" y="611396"/>
            <a:ext cx="514756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&lt;input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type="radio"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  параметры&gt; 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107504" y="1124744"/>
          <a:ext cx="8856984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7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9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4482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name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Имя группы </a:t>
                      </a:r>
                      <a:r>
                        <a:rPr kumimoji="0" lang="ru-RU" sz="18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перелючателей</a:t>
                      </a:r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для идентификации поля. Поскольку переключатели являются групповыми элементами, то имя у всех элементов группы должно быть одинаковым. 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value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Задает, какое значение будет отправлено на сервер. Здесь уже каждый элемент должен иметь свое уникальное значение, чтобы можно было идентифицировать, какой пункт был выбран пользователем. 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checked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Предварительное выделение переключателя. По определению, набор переключателей может иметь только один выделенный пункт, поэтому добавление </a:t>
                      </a:r>
                      <a:r>
                        <a:rPr kumimoji="0" lang="ru-RU" sz="18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checked</a:t>
                      </a:r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сразу к нескольким полям не даст особого результата. В любом случае, будет отмечен элемент, находящийся в коде HTML последним.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1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5463" y="260648"/>
            <a:ext cx="8801047" cy="2308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&lt;form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action =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file.php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"&gt;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&lt;b&gt;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Выбирайте один из пунктов&lt;/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b&gt;&lt;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&gt;</a:t>
            </a:r>
            <a:endParaRPr lang="ru-RU" b="1" dirty="0" smtClean="0">
              <a:latin typeface="Courier New" pitchFamily="49" charset="0"/>
              <a:cs typeface="Courier New" pitchFamily="49" charset="0"/>
            </a:endParaRPr>
          </a:p>
          <a:p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input 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="f1"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="radio" 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value=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asp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"&gt;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ASP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&lt;input 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="f1"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="radio" 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value=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err="1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jsc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"&gt;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&lt;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input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name="f1"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="radio"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value=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err="1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php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"&gt;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PHP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&lt;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input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name="f1"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="radio"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value=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"&gt;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HTML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form&gt; 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1534" y="4365104"/>
            <a:ext cx="8784976" cy="1872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 smtClean="0">
                <a:latin typeface="Courier New" pitchFamily="49" charset="0"/>
                <a:cs typeface="Courier New" pitchFamily="49" charset="0"/>
              </a:rPr>
              <a:t>Параметр 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для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всех переключателей </a:t>
            </a:r>
            <a:r>
              <a:rPr lang="ru-RU" b="1" i="1" dirty="0" smtClean="0">
                <a:latin typeface="Courier New" pitchFamily="49" charset="0"/>
                <a:cs typeface="Courier New" pitchFamily="49" charset="0"/>
              </a:rPr>
              <a:t>одинаков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и 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именно в таком случае браузер будет понимать, что переключатели связаны между собой и помечать только один пункт из предложенных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.</a:t>
            </a: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 smtClean="0">
                <a:latin typeface="Courier New" pitchFamily="49" charset="0"/>
                <a:cs typeface="Courier New" pitchFamily="49" charset="0"/>
              </a:rPr>
              <a:t>Значение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параметра 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должно 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различаться,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чтобы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обработчик формы мог понять, какой вариант выбран пользователем. </a:t>
            </a:r>
          </a:p>
        </p:txBody>
      </p:sp>
      <p:pic>
        <p:nvPicPr>
          <p:cNvPr id="6" name="Picture 11" descr="radi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50" y="2636912"/>
            <a:ext cx="1853762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2771800" y="1052736"/>
            <a:ext cx="1512168" cy="1152128"/>
          </a:xfrm>
          <a:prstGeom prst="rect">
            <a:avLst/>
          </a:prstGeom>
          <a:solidFill>
            <a:srgbClr val="ABDFEB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2771800" y="2996952"/>
            <a:ext cx="4248472" cy="461665"/>
          </a:xfrm>
          <a:prstGeom prst="rect">
            <a:avLst/>
          </a:prstGeom>
          <a:solidFill>
            <a:srgbClr val="ABDFEB">
              <a:alpha val="17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Courier New" pitchFamily="49" charset="0"/>
                <a:cs typeface="Courier New" pitchFamily="49" charset="0"/>
              </a:rPr>
              <a:t>На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сервер уйдет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f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=html</a:t>
            </a:r>
            <a:endParaRPr lang="ru-RU" sz="2400" b="1" dirty="0" smtClean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2771800" y="2204864"/>
            <a:ext cx="2448272" cy="93610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H="1">
            <a:off x="6084168" y="2204864"/>
            <a:ext cx="216024" cy="93610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300192" y="79128"/>
            <a:ext cx="244827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</a:defRPr>
            </a:lvl1pPr>
          </a:lstStyle>
          <a:p>
            <a:r>
              <a:rPr lang="en-US" dirty="0" smtClean="0"/>
              <a:t>index_2.html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06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04429" y="1446274"/>
            <a:ext cx="569899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&lt;input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type="checkbox"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   параметры&gt; 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059832" y="96597"/>
            <a:ext cx="2232248" cy="400110"/>
          </a:xfr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Flags</a:t>
            </a:r>
            <a:endParaRPr lang="ru-RU" sz="2000" dirty="0">
              <a:solidFill>
                <a:schemeClr val="tx1"/>
              </a:solidFill>
              <a:latin typeface="Courier New" pitchFamily="49" charset="0"/>
              <a:ea typeface="+mn-ea"/>
              <a:cs typeface="+mn-cs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27208" y="2011924"/>
          <a:ext cx="9009288" cy="13450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82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name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Имя флажка для его идентификации обработчиком формы.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value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Задает, какое значение будет отправлено на сервер. 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checked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Предварительное выделение флажка.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9338" y="548680"/>
            <a:ext cx="9017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</a:rPr>
              <a:t>Флажки используют, когда необходимо выбрать два или более </a:t>
            </a:r>
            <a:endParaRPr lang="en-US" b="1" dirty="0" smtClean="0">
              <a:latin typeface="Courier New" pitchFamily="49" charset="0"/>
            </a:endParaRPr>
          </a:p>
          <a:p>
            <a:r>
              <a:rPr lang="ru-RU" b="1" dirty="0" smtClean="0">
                <a:latin typeface="Courier New" pitchFamily="49" charset="0"/>
              </a:rPr>
              <a:t>варианта из</a:t>
            </a:r>
            <a:r>
              <a:rPr lang="en-US" b="1" dirty="0" smtClean="0">
                <a:latin typeface="Courier New" pitchFamily="49" charset="0"/>
              </a:rPr>
              <a:t>   </a:t>
            </a:r>
            <a:r>
              <a:rPr lang="ru-RU" b="1" dirty="0" smtClean="0">
                <a:latin typeface="Courier New" pitchFamily="49" charset="0"/>
              </a:rPr>
              <a:t>предложенного </a:t>
            </a:r>
            <a:r>
              <a:rPr lang="ru-RU" b="1" dirty="0">
                <a:latin typeface="Courier New" pitchFamily="49" charset="0"/>
              </a:rPr>
              <a:t>списка</a:t>
            </a:r>
          </a:p>
        </p:txBody>
      </p:sp>
    </p:spTree>
    <p:extLst>
      <p:ext uri="{BB962C8B-B14F-4D97-AF65-F5344CB8AC3E}">
        <p14:creationId xmlns:p14="http://schemas.microsoft.com/office/powerpoint/2010/main" val="33798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5463" y="260648"/>
            <a:ext cx="8869736" cy="2308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itchFamily="49" charset="0"/>
              </a:rPr>
              <a:t>&lt;form action = "</a:t>
            </a:r>
            <a:r>
              <a:rPr lang="en-US" b="1" dirty="0" err="1">
                <a:latin typeface="Courier New" pitchFamily="49" charset="0"/>
              </a:rPr>
              <a:t>file.php</a:t>
            </a:r>
            <a:r>
              <a:rPr lang="en-US" b="1" dirty="0">
                <a:latin typeface="Courier New" pitchFamily="49" charset="0"/>
              </a:rPr>
              <a:t>"&gt;</a:t>
            </a:r>
            <a:br>
              <a:rPr lang="en-US" b="1" dirty="0">
                <a:latin typeface="Courier New" pitchFamily="49" charset="0"/>
              </a:rPr>
            </a:br>
            <a:r>
              <a:rPr lang="en-US" b="1" dirty="0" smtClean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&lt;b&gt;</a:t>
            </a:r>
            <a:r>
              <a:rPr lang="ru-RU" b="1" dirty="0">
                <a:latin typeface="Courier New" pitchFamily="49" charset="0"/>
              </a:rPr>
              <a:t>какой язык программирования Вы предпочитаете 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</a:rPr>
              <a:t>?&lt;/</a:t>
            </a:r>
            <a:r>
              <a:rPr lang="en-US" b="1" dirty="0">
                <a:latin typeface="Courier New" pitchFamily="49" charset="0"/>
              </a:rPr>
              <a:t>b&gt; </a:t>
            </a:r>
            <a:endParaRPr lang="ru-RU" b="1" dirty="0">
              <a:latin typeface="Courier New" pitchFamily="49" charset="0"/>
            </a:endParaRPr>
          </a:p>
          <a:p>
            <a:endParaRPr lang="en-US" b="1" dirty="0">
              <a:latin typeface="Courier New" pitchFamily="49" charset="0"/>
            </a:endParaRPr>
          </a:p>
          <a:p>
            <a:r>
              <a:rPr lang="en-US" b="1" dirty="0">
                <a:latin typeface="Courier New" pitchFamily="49" charset="0"/>
              </a:rPr>
              <a:t> &lt;input type="checkbox" </a:t>
            </a:r>
            <a:r>
              <a:rPr lang="en-US" b="1" dirty="0" smtClean="0">
                <a:latin typeface="Courier New" pitchFamily="49" charset="0"/>
              </a:rPr>
              <a:t>name</a:t>
            </a:r>
            <a:r>
              <a:rPr lang="en-US" b="1" dirty="0">
                <a:latin typeface="Courier New" pitchFamily="49" charset="0"/>
              </a:rPr>
              <a:t>="</a:t>
            </a:r>
            <a:r>
              <a:rPr lang="en-US" b="1" dirty="0" smtClean="0">
                <a:latin typeface="Courier New" pitchFamily="49" charset="0"/>
              </a:rPr>
              <a:t>op" </a:t>
            </a:r>
            <a:r>
              <a:rPr lang="ru-RU" b="1" dirty="0" smtClean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value=“a1"&gt;</a:t>
            </a:r>
            <a:r>
              <a:rPr lang="en-US" b="1" dirty="0" smtClean="0">
                <a:latin typeface="Courier New" pitchFamily="49" charset="0"/>
              </a:rPr>
              <a:t>ASP &lt;</a:t>
            </a:r>
            <a:r>
              <a:rPr lang="en-US" b="1" dirty="0" err="1">
                <a:latin typeface="Courier New" pitchFamily="49" charset="0"/>
              </a:rPr>
              <a:t>br</a:t>
            </a:r>
            <a:r>
              <a:rPr lang="en-US" b="1" dirty="0">
                <a:latin typeface="Courier New" pitchFamily="49" charset="0"/>
              </a:rPr>
              <a:t>&gt; </a:t>
            </a:r>
          </a:p>
          <a:p>
            <a:r>
              <a:rPr lang="en-US" b="1" dirty="0">
                <a:latin typeface="Courier New" pitchFamily="49" charset="0"/>
              </a:rPr>
              <a:t> &lt;input type="checkbox" </a:t>
            </a:r>
            <a:r>
              <a:rPr lang="ru-RU" b="1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name="</a:t>
            </a:r>
            <a:r>
              <a:rPr lang="en-US" b="1" dirty="0" smtClean="0">
                <a:latin typeface="Courier New" pitchFamily="49" charset="0"/>
              </a:rPr>
              <a:t>op" value</a:t>
            </a:r>
            <a:r>
              <a:rPr lang="en-US" b="1" dirty="0">
                <a:latin typeface="Courier New" pitchFamily="49" charset="0"/>
              </a:rPr>
              <a:t>="a2</a:t>
            </a:r>
            <a:r>
              <a:rPr lang="en-US" b="1" dirty="0" smtClean="0">
                <a:latin typeface="Courier New" pitchFamily="49" charset="0"/>
              </a:rPr>
              <a:t>"&gt; </a:t>
            </a:r>
            <a:r>
              <a:rPr lang="en-US" b="1" dirty="0">
                <a:latin typeface="Courier New" pitchFamily="49" charset="0"/>
              </a:rPr>
              <a:t>Java </a:t>
            </a:r>
            <a:r>
              <a:rPr lang="en-US" b="1" dirty="0" smtClean="0">
                <a:latin typeface="Courier New" pitchFamily="49" charset="0"/>
              </a:rPr>
              <a:t>Script </a:t>
            </a:r>
            <a:r>
              <a:rPr lang="en-US" b="1" dirty="0">
                <a:latin typeface="Courier New" pitchFamily="49" charset="0"/>
              </a:rPr>
              <a:t>&lt;</a:t>
            </a:r>
            <a:r>
              <a:rPr lang="en-US" b="1" dirty="0" err="1">
                <a:latin typeface="Courier New" pitchFamily="49" charset="0"/>
              </a:rPr>
              <a:t>br</a:t>
            </a:r>
            <a:r>
              <a:rPr lang="en-US" b="1" dirty="0">
                <a:latin typeface="Courier New" pitchFamily="49" charset="0"/>
              </a:rPr>
              <a:t>&gt;</a:t>
            </a:r>
          </a:p>
          <a:p>
            <a:r>
              <a:rPr lang="en-US" b="1" dirty="0">
                <a:latin typeface="Courier New" pitchFamily="49" charset="0"/>
              </a:rPr>
              <a:t> &lt;input type="checkbox" </a:t>
            </a:r>
            <a:r>
              <a:rPr lang="ru-RU" b="1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name="</a:t>
            </a:r>
            <a:r>
              <a:rPr lang="en-US" b="1" dirty="0" smtClean="0">
                <a:latin typeface="Courier New" pitchFamily="49" charset="0"/>
              </a:rPr>
              <a:t>op" value</a:t>
            </a:r>
            <a:r>
              <a:rPr lang="en-US" b="1" dirty="0">
                <a:latin typeface="Courier New" pitchFamily="49" charset="0"/>
              </a:rPr>
              <a:t>="a3"&gt; PHP&lt;</a:t>
            </a:r>
            <a:r>
              <a:rPr lang="en-US" b="1" dirty="0" err="1">
                <a:latin typeface="Courier New" pitchFamily="49" charset="0"/>
              </a:rPr>
              <a:t>br</a:t>
            </a:r>
            <a:r>
              <a:rPr lang="en-US" b="1" dirty="0">
                <a:latin typeface="Courier New" pitchFamily="49" charset="0"/>
              </a:rPr>
              <a:t>&gt;</a:t>
            </a:r>
          </a:p>
          <a:p>
            <a:r>
              <a:rPr lang="en-US" b="1" dirty="0">
                <a:latin typeface="Courier New" pitchFamily="49" charset="0"/>
              </a:rPr>
              <a:t> &lt;input type="checkbox" </a:t>
            </a:r>
            <a:r>
              <a:rPr lang="ru-RU" b="1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name="</a:t>
            </a:r>
            <a:r>
              <a:rPr lang="en-US" b="1" dirty="0" smtClean="0">
                <a:latin typeface="Courier New" pitchFamily="49" charset="0"/>
              </a:rPr>
              <a:t>op" value</a:t>
            </a:r>
            <a:r>
              <a:rPr lang="en-US" b="1" dirty="0">
                <a:latin typeface="Courier New" pitchFamily="49" charset="0"/>
              </a:rPr>
              <a:t>="</a:t>
            </a:r>
            <a:r>
              <a:rPr lang="en-US" b="1" dirty="0" smtClean="0">
                <a:latin typeface="Courier New" pitchFamily="49" charset="0"/>
              </a:rPr>
              <a:t>a4</a:t>
            </a:r>
            <a:r>
              <a:rPr lang="en-US" b="1" dirty="0">
                <a:latin typeface="Courier New" pitchFamily="49" charset="0"/>
              </a:rPr>
              <a:t>"</a:t>
            </a:r>
            <a:r>
              <a:rPr lang="en-US" b="1" dirty="0" smtClean="0">
                <a:latin typeface="Courier New" pitchFamily="49" charset="0"/>
              </a:rPr>
              <a:t>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</a:rPr>
              <a:t>checked</a:t>
            </a:r>
            <a:r>
              <a:rPr lang="en-US" b="1" dirty="0" smtClean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&gt;</a:t>
            </a:r>
            <a:r>
              <a:rPr lang="en-US" b="1" dirty="0" smtClean="0">
                <a:latin typeface="Courier New" pitchFamily="49" charset="0"/>
              </a:rPr>
              <a:t>HTML</a:t>
            </a:r>
            <a:endParaRPr lang="en-US" b="1" dirty="0">
              <a:latin typeface="Courier New" pitchFamily="49" charset="0"/>
            </a:endParaRPr>
          </a:p>
          <a:p>
            <a:r>
              <a:rPr lang="en-US" b="1" dirty="0">
                <a:latin typeface="Courier New" pitchFamily="49" charset="0"/>
              </a:rPr>
              <a:t>&lt;/form&gt; </a:t>
            </a:r>
            <a:endParaRPr lang="ru-RU" b="1" dirty="0"/>
          </a:p>
        </p:txBody>
      </p:sp>
      <p:pic>
        <p:nvPicPr>
          <p:cNvPr id="4" name="Picture 12" descr="check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35" y="2780928"/>
            <a:ext cx="2480630" cy="208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020272" y="116632"/>
            <a:ext cx="197062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</a:defRPr>
            </a:lvl1pPr>
          </a:lstStyle>
          <a:p>
            <a:r>
              <a:rPr lang="en-US" dirty="0" smtClean="0"/>
              <a:t>index_2.html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699791" y="2780928"/>
            <a:ext cx="6295407" cy="1107996"/>
          </a:xfrm>
          <a:prstGeom prst="rect">
            <a:avLst/>
          </a:prstGeom>
          <a:solidFill>
            <a:srgbClr val="ABDFEB">
              <a:alpha val="17000"/>
            </a:srgbClr>
          </a:solidFill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Если выбрать  2-й и 4-й то на сервер уйдет  </a:t>
            </a:r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0070C0"/>
                </a:solidFill>
              </a:rPr>
              <a:t>    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</a:rPr>
              <a:t>            op=a2</a:t>
            </a:r>
            <a:r>
              <a:rPr lang="en-US" sz="2400" b="1" dirty="0" smtClean="0">
                <a:solidFill>
                  <a:schemeClr val="accent2"/>
                </a:solidFill>
              </a:rPr>
              <a:t>&amp;</a:t>
            </a:r>
            <a:r>
              <a:rPr lang="en-US" sz="2400" b="1" dirty="0" smtClean="0">
                <a:solidFill>
                  <a:srgbClr val="0070C0"/>
                </a:solidFill>
              </a:rPr>
              <a:t>op=a4</a:t>
            </a:r>
            <a:endParaRPr lang="ru-RU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22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5496" y="44624"/>
            <a:ext cx="3036366" cy="369332"/>
          </a:xfr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2000" dirty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Поле со списком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03573" y="548680"/>
            <a:ext cx="5736579" cy="1815882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ru-RU"/>
            </a:defPPr>
            <a:lvl1pPr eaLnBrk="0" hangingPunct="0">
              <a:defRPr sz="1400" b="1">
                <a:latin typeface="Courier New" pitchFamily="49" charset="0"/>
              </a:defRPr>
            </a:lvl1pPr>
          </a:lstStyle>
          <a:p>
            <a:r>
              <a:rPr lang="en-US" sz="1600" dirty="0"/>
              <a:t>&lt;form </a:t>
            </a:r>
            <a:r>
              <a:rPr lang="en-US" sz="1600" dirty="0" smtClean="0"/>
              <a:t>action=</a:t>
            </a:r>
            <a:r>
              <a:rPr lang="en-US" sz="1600" dirty="0"/>
              <a:t>"</a:t>
            </a:r>
            <a:r>
              <a:rPr lang="en-US" sz="1600" dirty="0" err="1" smtClean="0"/>
              <a:t>file.php</a:t>
            </a:r>
            <a:r>
              <a:rPr lang="en-US" sz="1600" dirty="0"/>
              <a:t>"&gt;</a:t>
            </a:r>
            <a:endParaRPr lang="ru-RU" sz="1600" dirty="0"/>
          </a:p>
          <a:p>
            <a:r>
              <a:rPr lang="en-US" sz="1600" dirty="0"/>
              <a:t>       &lt;select </a:t>
            </a:r>
            <a:r>
              <a:rPr lang="ru-RU" sz="1600" dirty="0"/>
              <a:t>параметры&gt;</a:t>
            </a:r>
            <a:br>
              <a:rPr lang="ru-RU" sz="1600" dirty="0"/>
            </a:br>
            <a:r>
              <a:rPr lang="ru-RU" sz="1600" dirty="0"/>
              <a:t>   </a:t>
            </a:r>
            <a:r>
              <a:rPr lang="en-US" sz="1600" dirty="0"/>
              <a:t>        </a:t>
            </a:r>
            <a:r>
              <a:rPr lang="ru-RU" sz="1600" dirty="0"/>
              <a:t>  &lt;</a:t>
            </a:r>
            <a:r>
              <a:rPr lang="en-US" sz="1600" dirty="0" smtClean="0"/>
              <a:t>option</a:t>
            </a:r>
            <a:r>
              <a:rPr lang="ru-RU" sz="1600" dirty="0" smtClean="0"/>
              <a:t>&gt;Пункт </a:t>
            </a:r>
            <a:r>
              <a:rPr lang="ru-RU" sz="1600" dirty="0"/>
              <a:t>1&lt;/</a:t>
            </a:r>
            <a:r>
              <a:rPr lang="en-US" sz="1600" dirty="0"/>
              <a:t>option&gt;</a:t>
            </a:r>
            <a:br>
              <a:rPr lang="en-US" sz="1600" dirty="0"/>
            </a:br>
            <a:r>
              <a:rPr lang="en-US" sz="1600" dirty="0"/>
              <a:t>             &lt;option&gt;</a:t>
            </a:r>
            <a:r>
              <a:rPr lang="ru-RU" sz="1600" dirty="0"/>
              <a:t>Пункт 2&lt;/</a:t>
            </a:r>
            <a:r>
              <a:rPr lang="en-US" sz="1600" dirty="0"/>
              <a:t>option&gt;</a:t>
            </a:r>
            <a:br>
              <a:rPr lang="en-US" sz="1600" dirty="0"/>
            </a:br>
            <a:r>
              <a:rPr lang="en-US" sz="1600" dirty="0"/>
              <a:t>             &lt;option&gt;</a:t>
            </a:r>
            <a:r>
              <a:rPr lang="ru-RU" sz="1600" dirty="0"/>
              <a:t>Пункт 3&lt;/</a:t>
            </a:r>
            <a:r>
              <a:rPr lang="en-US" sz="1600" dirty="0"/>
              <a:t>option&gt; </a:t>
            </a:r>
            <a:br>
              <a:rPr lang="en-US" sz="1600" dirty="0"/>
            </a:br>
            <a:r>
              <a:rPr lang="en-US" sz="1600" dirty="0"/>
              <a:t>        &lt;/select&gt;</a:t>
            </a:r>
          </a:p>
          <a:p>
            <a:r>
              <a:rPr lang="en-US" sz="1600" dirty="0"/>
              <a:t>&lt;form&gt;</a:t>
            </a:r>
            <a:endParaRPr lang="ru-RU" sz="16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5496" y="2492896"/>
            <a:ext cx="9001000" cy="424731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itchFamily="49" charset="0"/>
              </a:rPr>
              <a:t>Атрибуты  элемента  &lt;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SELECT&gt;</a:t>
            </a:r>
          </a:p>
          <a:p>
            <a:endParaRPr lang="en-US" b="1" dirty="0">
              <a:solidFill>
                <a:schemeClr val="tx1"/>
              </a:solidFill>
              <a:latin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name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-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уникальное имя элемента &lt;SELECT&gt;</a:t>
            </a:r>
            <a:endParaRPr lang="en-US" b="1" dirty="0">
              <a:solidFill>
                <a:schemeClr val="tx1"/>
              </a:solidFill>
              <a:latin typeface="Courier New" pitchFamily="49" charset="0"/>
            </a:endParaRPr>
          </a:p>
          <a:p>
            <a:endParaRPr lang="en-US" b="1" dirty="0">
              <a:solidFill>
                <a:schemeClr val="tx1"/>
              </a:solidFill>
              <a:latin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size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-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высот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a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списка.</a:t>
            </a:r>
          </a:p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Если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</a:rPr>
              <a:t>size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=1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, то список превращается в раскрывающийся.</a:t>
            </a:r>
            <a:endParaRPr lang="en-US" b="1" dirty="0">
              <a:solidFill>
                <a:schemeClr val="tx1"/>
              </a:solidFill>
              <a:latin typeface="Courier New" pitchFamily="49" charset="0"/>
            </a:endParaRPr>
          </a:p>
          <a:p>
            <a:endParaRPr lang="en-US" b="1" dirty="0">
              <a:solidFill>
                <a:schemeClr val="tx1"/>
              </a:solidFill>
              <a:latin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multiple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-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отображать содержимое элемента &lt;SELECT&gt; как список </a:t>
            </a:r>
            <a:endParaRPr lang="ru-RU" b="1" dirty="0" smtClean="0">
              <a:solidFill>
                <a:schemeClr val="tx1"/>
              </a:solidFill>
              <a:latin typeface="Courier New" pitchFamily="49" charset="0"/>
            </a:endParaRPr>
          </a:p>
          <a:p>
            <a:r>
              <a:rPr lang="ru-RU" b="1" dirty="0">
                <a:latin typeface="Courier New" pitchFamily="49" charset="0"/>
              </a:rPr>
              <a:t> </a:t>
            </a:r>
            <a:r>
              <a:rPr lang="ru-RU" b="1" dirty="0" smtClean="0">
                <a:latin typeface="Courier New" pitchFamily="49" charset="0"/>
              </a:rPr>
              <a:t>          </a:t>
            </a:r>
            <a:r>
              <a:rPr lang="ru-RU" b="1" dirty="0" smtClean="0">
                <a:solidFill>
                  <a:schemeClr val="tx1"/>
                </a:solidFill>
                <a:latin typeface="Courier New" pitchFamily="49" charset="0"/>
              </a:rPr>
              <a:t>множественного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выбора. </a:t>
            </a:r>
            <a:endParaRPr lang="ru-RU" b="1" dirty="0" smtClean="0">
              <a:solidFill>
                <a:schemeClr val="tx1"/>
              </a:solidFill>
              <a:latin typeface="Courier New" pitchFamily="49" charset="0"/>
            </a:endParaRPr>
          </a:p>
          <a:p>
            <a:endParaRPr lang="ru-RU" b="1" dirty="0">
              <a:latin typeface="Courier New" pitchFamily="49" charset="0"/>
            </a:endParaRPr>
          </a:p>
          <a:p>
            <a:r>
              <a:rPr lang="ru-RU" b="1" dirty="0" smtClean="0">
                <a:solidFill>
                  <a:schemeClr val="tx1"/>
                </a:solidFill>
                <a:latin typeface="Courier New" pitchFamily="49" charset="0"/>
              </a:rPr>
              <a:t>Вид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списка зависит от используемого параметра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</a:rPr>
              <a:t>size</a:t>
            </a:r>
            <a:endParaRPr lang="ru-RU" b="1" dirty="0">
              <a:solidFill>
                <a:schemeClr val="tx1"/>
              </a:solidFill>
              <a:latin typeface="Courier New" pitchFamily="49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- если он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</a:rPr>
              <a:t>отсутствует,то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высота списка равна количеству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пунктов </a:t>
            </a:r>
          </a:p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- если значение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</a:rPr>
              <a:t>size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меньше числа пунктов, то появляется </a:t>
            </a:r>
            <a:endParaRPr lang="en-US" b="1" dirty="0">
              <a:solidFill>
                <a:schemeClr val="tx1"/>
              </a:solidFill>
              <a:latin typeface="Courier New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вертикальная  полоса </a:t>
            </a:r>
            <a:r>
              <a:rPr lang="ru-RU" b="1" dirty="0" smtClean="0">
                <a:solidFill>
                  <a:schemeClr val="tx1"/>
                </a:solidFill>
                <a:latin typeface="Courier New" pitchFamily="49" charset="0"/>
              </a:rPr>
              <a:t>прокрутки</a:t>
            </a:r>
            <a:endParaRPr lang="en-US" b="1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04248" y="44624"/>
            <a:ext cx="214138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</a:defRPr>
            </a:lvl1pPr>
          </a:lstStyle>
          <a:p>
            <a:r>
              <a:rPr lang="en-US" dirty="0" smtClean="0"/>
              <a:t>index</a:t>
            </a:r>
            <a:r>
              <a:rPr lang="ru-RU" dirty="0" smtClean="0"/>
              <a:t>_</a:t>
            </a:r>
            <a:r>
              <a:rPr lang="en-US" dirty="0" smtClean="0"/>
              <a:t>3.html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06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4456113" y="7993063"/>
            <a:ext cx="230187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300" b="1">
                <a:solidFill>
                  <a:srgbClr val="800000"/>
                </a:solidFill>
                <a:latin typeface="Arial Cyr" charset="0"/>
              </a:rPr>
              <a:t> </a:t>
            </a:r>
          </a:p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30724" name="Rectangle 13"/>
          <p:cNvSpPr>
            <a:spLocks noChangeArrowheads="1"/>
          </p:cNvSpPr>
          <p:nvPr/>
        </p:nvSpPr>
        <p:spPr bwMode="auto">
          <a:xfrm>
            <a:off x="847725" y="2254250"/>
            <a:ext cx="5884515" cy="18034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ru-RU" sz="1600" b="1" dirty="0">
                <a:latin typeface="Courier New" pitchFamily="49" charset="0"/>
              </a:rPr>
              <a:t>&lt;</a:t>
            </a:r>
            <a:r>
              <a:rPr lang="ru-RU" sz="1600" b="1" dirty="0" err="1">
                <a:solidFill>
                  <a:srgbClr val="0000FF"/>
                </a:solidFill>
                <a:latin typeface="Courier New" pitchFamily="49" charset="0"/>
              </a:rPr>
              <a:t>select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ru-RU" sz="1600" b="1" dirty="0" err="1">
                <a:solidFill>
                  <a:srgbClr val="0000FF"/>
                </a:solidFill>
                <a:latin typeface="Courier New" pitchFamily="49" charset="0"/>
              </a:rPr>
              <a:t>name</a:t>
            </a:r>
            <a:r>
              <a:rPr lang="ru-RU" sz="1600" b="1" dirty="0">
                <a:latin typeface="Courier New" pitchFamily="49" charset="0"/>
              </a:rPr>
              <a:t>="</a:t>
            </a:r>
            <a:r>
              <a:rPr lang="ru-RU" sz="1600" b="1" dirty="0" err="1">
                <a:latin typeface="Courier New" pitchFamily="49" charset="0"/>
              </a:rPr>
              <a:t>book</a:t>
            </a:r>
            <a:r>
              <a:rPr lang="ru-RU" sz="1600" b="1" dirty="0">
                <a:latin typeface="Courier New" pitchFamily="49" charset="0"/>
              </a:rPr>
              <a:t>" </a:t>
            </a:r>
            <a:r>
              <a:rPr lang="ru-RU" sz="1600" b="1" dirty="0" err="1" smtClean="0">
                <a:solidFill>
                  <a:srgbClr val="0000FF"/>
                </a:solidFill>
                <a:latin typeface="Courier New" pitchFamily="49" charset="0"/>
              </a:rPr>
              <a:t>size</a:t>
            </a:r>
            <a:r>
              <a:rPr lang="ru-RU" sz="1600" b="1" dirty="0" smtClean="0">
                <a:latin typeface="Courier New" pitchFamily="49" charset="0"/>
              </a:rPr>
              <a:t>=</a:t>
            </a:r>
            <a:r>
              <a:rPr lang="en-US" sz="1600" b="1" dirty="0" smtClean="0">
                <a:latin typeface="Courier New" pitchFamily="49" charset="0"/>
              </a:rPr>
              <a:t>"</a:t>
            </a:r>
            <a:r>
              <a:rPr 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8</a:t>
            </a:r>
            <a:r>
              <a:rPr lang="en-US" sz="1600" b="1" dirty="0" smtClean="0">
                <a:latin typeface="Courier New" pitchFamily="49" charset="0"/>
              </a:rPr>
              <a:t>"</a:t>
            </a:r>
            <a:r>
              <a:rPr lang="ru-RU" sz="16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en-US" sz="1600" b="1" dirty="0">
                <a:latin typeface="Courier New" pitchFamily="49" charset="0"/>
              </a:rPr>
              <a:t>  </a:t>
            </a:r>
            <a:r>
              <a:rPr lang="ru-RU" sz="1600" b="1" dirty="0">
                <a:latin typeface="Courier New" pitchFamily="49" charset="0"/>
              </a:rPr>
              <a:t>&lt;</a:t>
            </a:r>
            <a:r>
              <a:rPr lang="ru-RU" sz="1600" b="1" dirty="0" err="1">
                <a:solidFill>
                  <a:srgbClr val="0000FF"/>
                </a:solidFill>
                <a:latin typeface="Courier New" pitchFamily="49" charset="0"/>
              </a:rPr>
              <a:t>option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ru-RU" sz="1600" b="1" dirty="0" err="1">
                <a:solidFill>
                  <a:srgbClr val="0000FF"/>
                </a:solidFill>
                <a:latin typeface="Courier New" pitchFamily="49" charset="0"/>
              </a:rPr>
              <a:t>value</a:t>
            </a:r>
            <a:r>
              <a:rPr lang="ru-RU" sz="1600" b="1" dirty="0">
                <a:latin typeface="Courier New" pitchFamily="49" charset="0"/>
              </a:rPr>
              <a:t>="</a:t>
            </a:r>
            <a:r>
              <a:rPr lang="ru-RU" sz="1600" b="1" dirty="0" err="1">
                <a:solidFill>
                  <a:srgbClr val="FF0000"/>
                </a:solidFill>
                <a:latin typeface="Courier New" pitchFamily="49" charset="0"/>
              </a:rPr>
              <a:t>asp</a:t>
            </a:r>
            <a:r>
              <a:rPr lang="ru-RU" sz="1600" b="1" dirty="0">
                <a:latin typeface="Courier New" pitchFamily="49" charset="0"/>
              </a:rPr>
              <a:t>"&gt;ASP&lt;/</a:t>
            </a:r>
            <a:r>
              <a:rPr lang="ru-RU" sz="1600" b="1" dirty="0" err="1">
                <a:solidFill>
                  <a:srgbClr val="0000FF"/>
                </a:solidFill>
                <a:latin typeface="Courier New" pitchFamily="49" charset="0"/>
              </a:rPr>
              <a:t>option</a:t>
            </a:r>
            <a:r>
              <a:rPr lang="ru-RU" sz="16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ru-RU" sz="1600" b="1" dirty="0">
                <a:latin typeface="Arial Narrow" pitchFamily="34" charset="0"/>
              </a:rPr>
              <a:t>     </a:t>
            </a:r>
            <a:r>
              <a:rPr lang="en-US" sz="1600" b="1" dirty="0">
                <a:latin typeface="Arial Narrow" pitchFamily="34" charset="0"/>
              </a:rPr>
              <a:t> </a:t>
            </a:r>
            <a:r>
              <a:rPr lang="ru-RU" sz="1600" b="1" dirty="0">
                <a:latin typeface="Courier New" pitchFamily="49" charset="0"/>
              </a:rPr>
              <a:t>&lt;</a:t>
            </a:r>
            <a:r>
              <a:rPr lang="ru-RU" sz="1600" b="1" dirty="0" err="1">
                <a:latin typeface="Courier New" pitchFamily="49" charset="0"/>
              </a:rPr>
              <a:t>option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ru-RU" sz="1600" b="1" dirty="0" err="1">
                <a:latin typeface="Courier New" pitchFamily="49" charset="0"/>
              </a:rPr>
              <a:t>value</a:t>
            </a:r>
            <a:r>
              <a:rPr lang="ru-RU" sz="1600" b="1" dirty="0">
                <a:latin typeface="Courier New" pitchFamily="49" charset="0"/>
              </a:rPr>
              <a:t>="</a:t>
            </a:r>
            <a:r>
              <a:rPr lang="en-US" sz="1600" b="1" dirty="0" err="1">
                <a:latin typeface="Courier New" pitchFamily="49" charset="0"/>
              </a:rPr>
              <a:t>js</a:t>
            </a:r>
            <a:r>
              <a:rPr lang="ru-RU" sz="1600" b="1" dirty="0">
                <a:latin typeface="Courier New" pitchFamily="49" charset="0"/>
              </a:rPr>
              <a:t>"&gt;</a:t>
            </a:r>
            <a:r>
              <a:rPr lang="en-US" sz="1600" b="1" dirty="0">
                <a:latin typeface="Courier New" pitchFamily="49" charset="0"/>
              </a:rPr>
              <a:t>JavaScript</a:t>
            </a:r>
            <a:r>
              <a:rPr lang="ru-RU" sz="1600" b="1" dirty="0">
                <a:latin typeface="Courier New" pitchFamily="49" charset="0"/>
              </a:rPr>
              <a:t>&lt;/</a:t>
            </a:r>
            <a:r>
              <a:rPr lang="ru-RU" sz="1600" b="1" dirty="0" err="1">
                <a:latin typeface="Courier New" pitchFamily="49" charset="0"/>
              </a:rPr>
              <a:t>option</a:t>
            </a:r>
            <a:r>
              <a:rPr lang="ru-RU" sz="16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ru-RU" sz="1600" b="1" dirty="0">
                <a:latin typeface="Courier New" pitchFamily="49" charset="0"/>
              </a:rPr>
              <a:t>  &lt;</a:t>
            </a:r>
            <a:r>
              <a:rPr lang="ru-RU" sz="1600" b="1" dirty="0" err="1">
                <a:latin typeface="Courier New" pitchFamily="49" charset="0"/>
              </a:rPr>
              <a:t>option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ru-RU" sz="1600" b="1" dirty="0" err="1">
                <a:latin typeface="Courier New" pitchFamily="49" charset="0"/>
              </a:rPr>
              <a:t>value</a:t>
            </a:r>
            <a:r>
              <a:rPr lang="ru-RU" sz="1600" b="1" dirty="0">
                <a:latin typeface="Courier New" pitchFamily="49" charset="0"/>
              </a:rPr>
              <a:t>="</a:t>
            </a:r>
            <a:r>
              <a:rPr lang="en-US" sz="1600" b="1" dirty="0" err="1">
                <a:latin typeface="Courier New" pitchFamily="49" charset="0"/>
              </a:rPr>
              <a:t>php</a:t>
            </a:r>
            <a:r>
              <a:rPr lang="ru-RU" sz="1600" b="1" dirty="0">
                <a:latin typeface="Courier New" pitchFamily="49" charset="0"/>
              </a:rPr>
              <a:t>"&gt;</a:t>
            </a:r>
            <a:r>
              <a:rPr lang="en-US" sz="1600" b="1" dirty="0">
                <a:latin typeface="Courier New" pitchFamily="49" charset="0"/>
              </a:rPr>
              <a:t>PHP</a:t>
            </a:r>
            <a:r>
              <a:rPr lang="ru-RU" sz="1600" b="1" dirty="0">
                <a:latin typeface="Courier New" pitchFamily="49" charset="0"/>
              </a:rPr>
              <a:t>&lt;/</a:t>
            </a:r>
            <a:r>
              <a:rPr lang="ru-RU" sz="1600" b="1" dirty="0" err="1">
                <a:latin typeface="Courier New" pitchFamily="49" charset="0"/>
              </a:rPr>
              <a:t>option</a:t>
            </a:r>
            <a:r>
              <a:rPr lang="ru-RU" sz="16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en-US" sz="1600" b="1" dirty="0">
                <a:latin typeface="Courier New" pitchFamily="49" charset="0"/>
              </a:rPr>
              <a:t>  </a:t>
            </a:r>
            <a:r>
              <a:rPr lang="ru-RU" sz="1600" b="1" dirty="0">
                <a:latin typeface="Courier New" pitchFamily="49" charset="0"/>
              </a:rPr>
              <a:t>&lt;</a:t>
            </a:r>
            <a:r>
              <a:rPr lang="ru-RU" sz="1600" b="1" dirty="0" err="1">
                <a:latin typeface="Courier New" pitchFamily="49" charset="0"/>
              </a:rPr>
              <a:t>option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ru-RU" sz="1600" b="1" dirty="0" err="1">
                <a:latin typeface="Courier New" pitchFamily="49" charset="0"/>
              </a:rPr>
              <a:t>value</a:t>
            </a:r>
            <a:r>
              <a:rPr lang="ru-RU" sz="1600" b="1" dirty="0">
                <a:latin typeface="Courier New" pitchFamily="49" charset="0"/>
              </a:rPr>
              <a:t>="</a:t>
            </a:r>
            <a:r>
              <a:rPr lang="ru-RU" sz="1600" b="1" dirty="0" err="1">
                <a:latin typeface="Courier New" pitchFamily="49" charset="0"/>
              </a:rPr>
              <a:t>html</a:t>
            </a:r>
            <a:r>
              <a:rPr lang="ru-RU" sz="1600" b="1" dirty="0">
                <a:latin typeface="Courier New" pitchFamily="49" charset="0"/>
              </a:rPr>
              <a:t>"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selected</a:t>
            </a:r>
            <a:r>
              <a:rPr lang="ru-RU" sz="1600" b="1" dirty="0">
                <a:latin typeface="Courier New" pitchFamily="49" charset="0"/>
              </a:rPr>
              <a:t>&gt;HTML&lt;/</a:t>
            </a:r>
            <a:r>
              <a:rPr lang="ru-RU" sz="1600" b="1" dirty="0" err="1">
                <a:latin typeface="Courier New" pitchFamily="49" charset="0"/>
              </a:rPr>
              <a:t>option</a:t>
            </a:r>
            <a:r>
              <a:rPr lang="ru-RU" sz="16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en-US" sz="1600" b="1" dirty="0">
                <a:latin typeface="Courier New" pitchFamily="49" charset="0"/>
              </a:rPr>
              <a:t>    ...</a:t>
            </a:r>
          </a:p>
          <a:p>
            <a:pPr eaLnBrk="0" hangingPunct="0"/>
            <a:r>
              <a:rPr lang="ru-RU" sz="1600" b="1" dirty="0">
                <a:latin typeface="Courier New" pitchFamily="49" charset="0"/>
              </a:rPr>
              <a:t>&lt;/</a:t>
            </a:r>
            <a:r>
              <a:rPr lang="ru-RU" sz="1600" b="1" dirty="0" err="1">
                <a:solidFill>
                  <a:srgbClr val="0000FF"/>
                </a:solidFill>
                <a:latin typeface="Courier New" pitchFamily="49" charset="0"/>
              </a:rPr>
              <a:t>select</a:t>
            </a:r>
            <a:r>
              <a:rPr lang="ru-RU" sz="1600" b="1" dirty="0">
                <a:latin typeface="Courier New" pitchFamily="49" charset="0"/>
              </a:rPr>
              <a:t>&gt;</a:t>
            </a:r>
          </a:p>
        </p:txBody>
      </p:sp>
      <p:grpSp>
        <p:nvGrpSpPr>
          <p:cNvPr id="3" name="Группа 2"/>
          <p:cNvGrpSpPr/>
          <p:nvPr/>
        </p:nvGrpSpPr>
        <p:grpSpPr>
          <a:xfrm>
            <a:off x="374361" y="116632"/>
            <a:ext cx="7185025" cy="1817687"/>
            <a:chOff x="895350" y="1350963"/>
            <a:chExt cx="7185025" cy="1817687"/>
          </a:xfrm>
        </p:grpSpPr>
        <p:sp>
          <p:nvSpPr>
            <p:cNvPr id="30727" name="AutoShape 18"/>
            <p:cNvSpPr>
              <a:spLocks noChangeArrowheads="1"/>
            </p:cNvSpPr>
            <p:nvPr/>
          </p:nvSpPr>
          <p:spPr bwMode="auto">
            <a:xfrm>
              <a:off x="2149475" y="1350963"/>
              <a:ext cx="1593850" cy="444500"/>
            </a:xfrm>
            <a:prstGeom prst="leftArrow">
              <a:avLst>
                <a:gd name="adj1" fmla="val 50000"/>
                <a:gd name="adj2" fmla="val 89643"/>
              </a:avLst>
            </a:prstGeom>
            <a:solidFill>
              <a:schemeClr val="bg1"/>
            </a:solidFill>
            <a:ln w="952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uk-UA" b="1">
                  <a:latin typeface="Courier New" pitchFamily="49" charset="0"/>
                </a:rPr>
                <a:t>закрыт</a:t>
              </a:r>
              <a:endParaRPr lang="ru-RU" b="1">
                <a:latin typeface="Courier New" pitchFamily="49" charset="0"/>
              </a:endParaRPr>
            </a:p>
          </p:txBody>
        </p:sp>
        <p:sp>
          <p:nvSpPr>
            <p:cNvPr id="30728" name="AutoShape 19"/>
            <p:cNvSpPr>
              <a:spLocks noChangeArrowheads="1"/>
            </p:cNvSpPr>
            <p:nvPr/>
          </p:nvSpPr>
          <p:spPr bwMode="auto">
            <a:xfrm>
              <a:off x="4249738" y="1358900"/>
              <a:ext cx="1916112" cy="444500"/>
            </a:xfrm>
            <a:prstGeom prst="rightArrow">
              <a:avLst>
                <a:gd name="adj1" fmla="val 50000"/>
                <a:gd name="adj2" fmla="val 107768"/>
              </a:avLst>
            </a:prstGeom>
            <a:solidFill>
              <a:schemeClr val="bg1"/>
            </a:solidFill>
            <a:ln w="952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uk-UA" b="1">
                  <a:latin typeface="Courier New" pitchFamily="49" charset="0"/>
                </a:rPr>
                <a:t>открыт</a:t>
              </a:r>
              <a:endParaRPr lang="ru-RU" b="1">
                <a:latin typeface="Courier New" pitchFamily="49" charset="0"/>
              </a:endParaRPr>
            </a:p>
          </p:txBody>
        </p:sp>
        <p:pic>
          <p:nvPicPr>
            <p:cNvPr id="30729" name="Picture 20" descr="clos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350" y="1395413"/>
              <a:ext cx="1200150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30" name="Picture 21" descr="open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9350" y="1397000"/>
              <a:ext cx="1851025" cy="1771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Группа 3"/>
          <p:cNvGrpSpPr/>
          <p:nvPr/>
        </p:nvGrpSpPr>
        <p:grpSpPr>
          <a:xfrm>
            <a:off x="931863" y="4303713"/>
            <a:ext cx="7097712" cy="1622425"/>
            <a:chOff x="931863" y="4303713"/>
            <a:chExt cx="7097712" cy="1622425"/>
          </a:xfrm>
        </p:grpSpPr>
        <p:sp>
          <p:nvSpPr>
            <p:cNvPr id="30725" name="AutoShape 16"/>
            <p:cNvSpPr>
              <a:spLocks noChangeArrowheads="1"/>
            </p:cNvSpPr>
            <p:nvPr/>
          </p:nvSpPr>
          <p:spPr bwMode="auto">
            <a:xfrm>
              <a:off x="2963863" y="4721225"/>
              <a:ext cx="1382712" cy="779463"/>
            </a:xfrm>
            <a:prstGeom prst="leftArrow">
              <a:avLst>
                <a:gd name="adj1" fmla="val 50000"/>
                <a:gd name="adj2" fmla="val 44348"/>
              </a:avLst>
            </a:prstGeom>
            <a:solidFill>
              <a:schemeClr val="bg1"/>
            </a:solidFill>
            <a:ln w="952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latin typeface="Courier New" pitchFamily="49" charset="0"/>
                </a:rPr>
                <a:t>size="5"</a:t>
              </a:r>
              <a:endParaRPr lang="ru-RU" b="1">
                <a:latin typeface="Courier New" pitchFamily="49" charset="0"/>
              </a:endParaRPr>
            </a:p>
          </p:txBody>
        </p:sp>
        <p:sp>
          <p:nvSpPr>
            <p:cNvPr id="30726" name="AutoShape 17"/>
            <p:cNvSpPr>
              <a:spLocks noChangeArrowheads="1"/>
            </p:cNvSpPr>
            <p:nvPr/>
          </p:nvSpPr>
          <p:spPr bwMode="auto">
            <a:xfrm>
              <a:off x="4510088" y="4719638"/>
              <a:ext cx="1495425" cy="754062"/>
            </a:xfrm>
            <a:prstGeom prst="rightArrow">
              <a:avLst>
                <a:gd name="adj1" fmla="val 50000"/>
                <a:gd name="adj2" fmla="val 49579"/>
              </a:avLst>
            </a:prstGeom>
            <a:solidFill>
              <a:schemeClr val="bg1"/>
            </a:solidFill>
            <a:ln w="952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latin typeface="Courier New" pitchFamily="49" charset="0"/>
                </a:rPr>
                <a:t>size="8"</a:t>
              </a:r>
              <a:endParaRPr lang="ru-RU" b="1">
                <a:latin typeface="Courier New" pitchFamily="49" charset="0"/>
              </a:endParaRPr>
            </a:p>
          </p:txBody>
        </p:sp>
        <p:pic>
          <p:nvPicPr>
            <p:cNvPr id="30731" name="Picture 22" descr="size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1550" y="4303713"/>
              <a:ext cx="1978025" cy="162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32" name="Picture 23" descr="size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1863" y="4559300"/>
              <a:ext cx="1897062" cy="1074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33" name="Freeform 25"/>
          <p:cNvSpPr>
            <a:spLocks/>
          </p:cNvSpPr>
          <p:nvPr/>
        </p:nvSpPr>
        <p:spPr bwMode="auto">
          <a:xfrm>
            <a:off x="4341813" y="3492500"/>
            <a:ext cx="3416300" cy="1533525"/>
          </a:xfrm>
          <a:custGeom>
            <a:avLst/>
            <a:gdLst>
              <a:gd name="T0" fmla="*/ 0 w 2152"/>
              <a:gd name="T1" fmla="*/ 0 h 1198"/>
              <a:gd name="T2" fmla="*/ 2147483647 w 2152"/>
              <a:gd name="T3" fmla="*/ 394898048 h 1198"/>
              <a:gd name="T4" fmla="*/ 2147483647 w 2152"/>
              <a:gd name="T5" fmla="*/ 1963020806 h 1198"/>
              <a:gd name="T6" fmla="*/ 0 60000 65536"/>
              <a:gd name="T7" fmla="*/ 0 60000 65536"/>
              <a:gd name="T8" fmla="*/ 0 60000 65536"/>
              <a:gd name="T9" fmla="*/ 0 w 2152"/>
              <a:gd name="T10" fmla="*/ 0 h 1198"/>
              <a:gd name="T11" fmla="*/ 2152 w 2152"/>
              <a:gd name="T12" fmla="*/ 1198 h 11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2" h="1198">
                <a:moveTo>
                  <a:pt x="0" y="0"/>
                </a:moveTo>
                <a:cubicBezTo>
                  <a:pt x="831" y="20"/>
                  <a:pt x="1662" y="41"/>
                  <a:pt x="1907" y="241"/>
                </a:cubicBezTo>
                <a:cubicBezTo>
                  <a:pt x="2152" y="441"/>
                  <a:pt x="1811" y="819"/>
                  <a:pt x="1471" y="1198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979712" y="571936"/>
            <a:ext cx="134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0000FF"/>
                </a:solidFill>
                <a:latin typeface="Courier New" pitchFamily="49" charset="0"/>
              </a:rPr>
              <a:t>size</a:t>
            </a:r>
            <a:r>
              <a:rPr lang="ru-RU" b="1" dirty="0">
                <a:latin typeface="Courier New" pitchFamily="49" charset="0"/>
              </a:rPr>
              <a:t>=</a:t>
            </a:r>
            <a:r>
              <a:rPr lang="en-US" b="1" dirty="0">
                <a:latin typeface="Courier New" pitchFamily="49" charset="0"/>
              </a:rPr>
              <a:t>"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</a:rPr>
              <a:t>"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754004" y="571936"/>
            <a:ext cx="1322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 smtClean="0">
                <a:solidFill>
                  <a:srgbClr val="0000FF"/>
                </a:solidFill>
                <a:latin typeface="Courier New" pitchFamily="49" charset="0"/>
              </a:rPr>
              <a:t>size</a:t>
            </a:r>
            <a:r>
              <a:rPr lang="ru-RU" b="1" dirty="0" smtClean="0">
                <a:latin typeface="Courier New" pitchFamily="49" charset="0"/>
              </a:rPr>
              <a:t>=</a:t>
            </a:r>
            <a:r>
              <a:rPr lang="en-US" b="1" dirty="0" smtClean="0">
                <a:latin typeface="Courier New" pitchFamily="49" charset="0"/>
              </a:rPr>
              <a:t>"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8</a:t>
            </a:r>
            <a:r>
              <a:rPr lang="en-US" b="1" dirty="0" smtClean="0">
                <a:latin typeface="Courier New" pitchFamily="49" charset="0"/>
              </a:rPr>
              <a:t>"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847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35696" y="44624"/>
            <a:ext cx="5472608" cy="432048"/>
          </a:xfr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2000" dirty="0" err="1" smtClean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Группиро</a:t>
            </a:r>
            <a:r>
              <a:rPr lang="uk-UA" sz="2000" dirty="0" smtClean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ка</a:t>
            </a:r>
            <a:r>
              <a:rPr lang="ru-RU" sz="2000" dirty="0" smtClean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элементов списка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7504" y="1484784"/>
            <a:ext cx="8784976" cy="45550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&lt;</a:t>
            </a:r>
            <a:r>
              <a:rPr lang="en-US" sz="1600" b="1" dirty="0">
                <a:latin typeface="Courier New" pitchFamily="49" charset="0"/>
              </a:rPr>
              <a:t>form </a:t>
            </a:r>
            <a:r>
              <a:rPr lang="en-US" sz="1600" b="1" dirty="0" smtClean="0">
                <a:latin typeface="Courier New" pitchFamily="49" charset="0"/>
              </a:rPr>
              <a:t>  action</a:t>
            </a:r>
            <a:r>
              <a:rPr lang="en-US" sz="1600" b="1" dirty="0">
                <a:latin typeface="Courier New" pitchFamily="49" charset="0"/>
              </a:rPr>
              <a:t>="</a:t>
            </a:r>
            <a:r>
              <a:rPr lang="en-US" sz="1600" b="1" dirty="0" err="1">
                <a:latin typeface="Courier New" pitchFamily="49" charset="0"/>
              </a:rPr>
              <a:t>file.php</a:t>
            </a:r>
            <a:r>
              <a:rPr lang="en-US" sz="1600" b="1" dirty="0">
                <a:latin typeface="Courier New" pitchFamily="49" charset="0"/>
              </a:rPr>
              <a:t>"&gt;</a:t>
            </a:r>
            <a:endParaRPr lang="ru-RU" sz="1600" b="1" dirty="0">
              <a:latin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</a:rPr>
              <a:t>       &lt;select </a:t>
            </a:r>
            <a:r>
              <a:rPr lang="ru-RU" sz="1600" b="1" dirty="0">
                <a:latin typeface="Courier New" pitchFamily="49" charset="0"/>
              </a:rPr>
              <a:t>параметры&gt;</a:t>
            </a:r>
            <a:br>
              <a:rPr lang="ru-RU" sz="1600" b="1" dirty="0">
                <a:latin typeface="Courier New" pitchFamily="49" charset="0"/>
              </a:rPr>
            </a:br>
            <a:r>
              <a:rPr lang="ru-RU" sz="1600" b="1" dirty="0">
                <a:latin typeface="Courier New" pitchFamily="49" charset="0"/>
              </a:rPr>
              <a:t>   </a:t>
            </a:r>
            <a:r>
              <a:rPr lang="en-US" sz="1600" b="1" dirty="0">
                <a:latin typeface="Courier New" pitchFamily="49" charset="0"/>
              </a:rPr>
              <a:t>        </a:t>
            </a:r>
            <a:r>
              <a:rPr lang="ru-RU" sz="1600" b="1" dirty="0">
                <a:latin typeface="Courier New" pitchFamily="49" charset="0"/>
              </a:rPr>
              <a:t>  </a:t>
            </a:r>
          </a:p>
          <a:p>
            <a:r>
              <a:rPr lang="uk-UA" sz="1600" b="1" dirty="0">
                <a:latin typeface="Courier New" pitchFamily="49" charset="0"/>
              </a:rPr>
              <a:t> 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ru-RU" sz="1600" b="1" dirty="0">
                <a:latin typeface="Courier New" pitchFamily="49" charset="0"/>
              </a:rPr>
              <a:t>         </a:t>
            </a:r>
            <a:r>
              <a:rPr lang="ru-RU" sz="1600" b="1" dirty="0">
                <a:solidFill>
                  <a:schemeClr val="accent2"/>
                </a:solidFill>
                <a:latin typeface="Courier New" pitchFamily="49" charset="0"/>
              </a:rPr>
              <a:t>   </a:t>
            </a:r>
            <a:r>
              <a:rPr lang="en-US" sz="1600" b="1" dirty="0">
                <a:solidFill>
                  <a:schemeClr val="accent2"/>
                </a:solidFill>
                <a:latin typeface="Courier New" pitchFamily="49" charset="0"/>
              </a:rPr>
              <a:t>&lt;</a:t>
            </a:r>
            <a:r>
              <a:rPr lang="en-US" sz="1600" b="1" dirty="0" err="1">
                <a:solidFill>
                  <a:schemeClr val="accent2"/>
                </a:solidFill>
                <a:latin typeface="Courier New" pitchFamily="49" charset="0"/>
              </a:rPr>
              <a:t>optgroup</a:t>
            </a:r>
            <a:r>
              <a:rPr lang="en-US" sz="1600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uk-UA" sz="1600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US" sz="1600" b="1" dirty="0">
                <a:solidFill>
                  <a:schemeClr val="accent2"/>
                </a:solidFill>
                <a:latin typeface="Courier New" pitchFamily="49" charset="0"/>
              </a:rPr>
              <a:t>label="</a:t>
            </a:r>
            <a:r>
              <a:rPr lang="ru-RU" sz="1600" b="1" dirty="0">
                <a:solidFill>
                  <a:schemeClr val="accent2"/>
                </a:solidFill>
                <a:latin typeface="Courier New" pitchFamily="49" charset="0"/>
              </a:rPr>
              <a:t>имя группы</a:t>
            </a:r>
            <a:r>
              <a:rPr lang="en-US" sz="1600" b="1" dirty="0">
                <a:solidFill>
                  <a:schemeClr val="accent2"/>
                </a:solidFill>
                <a:latin typeface="Courier New" pitchFamily="49" charset="0"/>
              </a:rPr>
              <a:t>"&gt; </a:t>
            </a:r>
            <a:endParaRPr lang="ru-RU" sz="1600" b="1" dirty="0">
              <a:solidFill>
                <a:schemeClr val="accent2"/>
              </a:solidFill>
              <a:latin typeface="Courier New" pitchFamily="49" charset="0"/>
            </a:endParaRPr>
          </a:p>
          <a:p>
            <a:r>
              <a:rPr lang="ru-RU" sz="1600" b="1" dirty="0">
                <a:latin typeface="Courier New" pitchFamily="49" charset="0"/>
              </a:rPr>
              <a:t>                     &lt;</a:t>
            </a:r>
            <a:r>
              <a:rPr lang="en-US" sz="1600" b="1" dirty="0">
                <a:latin typeface="Courier New" pitchFamily="49" charset="0"/>
              </a:rPr>
              <a:t>option</a:t>
            </a:r>
            <a:r>
              <a:rPr lang="ru-RU" sz="1600" b="1" dirty="0">
                <a:latin typeface="Courier New" pitchFamily="49" charset="0"/>
              </a:rPr>
              <a:t> &gt;Пункт 1&lt;/</a:t>
            </a:r>
            <a:r>
              <a:rPr lang="en-US" sz="1600" b="1" dirty="0">
                <a:latin typeface="Courier New" pitchFamily="49" charset="0"/>
              </a:rPr>
              <a:t>option&gt;</a:t>
            </a:r>
            <a:br>
              <a:rPr lang="en-US" sz="1600" b="1" dirty="0">
                <a:latin typeface="Courier New" pitchFamily="49" charset="0"/>
              </a:rPr>
            </a:br>
            <a:r>
              <a:rPr lang="en-US" sz="1600" b="1" dirty="0">
                <a:latin typeface="Courier New" pitchFamily="49" charset="0"/>
              </a:rPr>
              <a:t>             </a:t>
            </a:r>
            <a:r>
              <a:rPr lang="ru-RU" sz="1600" b="1" dirty="0">
                <a:latin typeface="Courier New" pitchFamily="49" charset="0"/>
              </a:rPr>
              <a:t>        </a:t>
            </a:r>
            <a:r>
              <a:rPr lang="en-US" sz="1600" b="1" dirty="0">
                <a:latin typeface="Courier New" pitchFamily="49" charset="0"/>
              </a:rPr>
              <a:t>&lt;option&gt;</a:t>
            </a:r>
            <a:r>
              <a:rPr lang="ru-RU" sz="1600" b="1" dirty="0">
                <a:latin typeface="Courier New" pitchFamily="49" charset="0"/>
              </a:rPr>
              <a:t>Пункт 2&lt;/</a:t>
            </a:r>
            <a:r>
              <a:rPr lang="en-US" sz="1600" b="1" dirty="0">
                <a:latin typeface="Courier New" pitchFamily="49" charset="0"/>
              </a:rPr>
              <a:t>option&gt;</a:t>
            </a:r>
            <a:br>
              <a:rPr lang="en-US" sz="1600" b="1" dirty="0">
                <a:latin typeface="Courier New" pitchFamily="49" charset="0"/>
              </a:rPr>
            </a:br>
            <a:r>
              <a:rPr lang="en-US" sz="1600" b="1" dirty="0">
                <a:latin typeface="Courier New" pitchFamily="49" charset="0"/>
              </a:rPr>
              <a:t>             </a:t>
            </a:r>
            <a:r>
              <a:rPr lang="ru-RU" sz="1600" b="1" dirty="0">
                <a:latin typeface="Courier New" pitchFamily="49" charset="0"/>
              </a:rPr>
              <a:t>        </a:t>
            </a:r>
            <a:r>
              <a:rPr lang="en-US" sz="1600" b="1" dirty="0">
                <a:latin typeface="Courier New" pitchFamily="49" charset="0"/>
              </a:rPr>
              <a:t>&lt;option&gt;</a:t>
            </a:r>
            <a:r>
              <a:rPr lang="ru-RU" sz="1600" b="1" dirty="0">
                <a:latin typeface="Courier New" pitchFamily="49" charset="0"/>
              </a:rPr>
              <a:t>Пункт 3&lt;/</a:t>
            </a:r>
            <a:r>
              <a:rPr lang="en-US" sz="1600" b="1" dirty="0">
                <a:latin typeface="Courier New" pitchFamily="49" charset="0"/>
              </a:rPr>
              <a:t>option&gt; </a:t>
            </a:r>
            <a:endParaRPr lang="ru-RU" sz="1600" b="1" dirty="0">
              <a:latin typeface="Courier New" pitchFamily="49" charset="0"/>
            </a:endParaRPr>
          </a:p>
          <a:p>
            <a:r>
              <a:rPr lang="ru-RU" sz="1600" b="1" dirty="0">
                <a:solidFill>
                  <a:schemeClr val="accent2"/>
                </a:solidFill>
                <a:latin typeface="Courier New" pitchFamily="49" charset="0"/>
              </a:rPr>
              <a:t>              </a:t>
            </a:r>
            <a:r>
              <a:rPr lang="en-US" sz="1600" b="1" dirty="0">
                <a:solidFill>
                  <a:schemeClr val="accent2"/>
                </a:solidFill>
                <a:latin typeface="Courier New" pitchFamily="49" charset="0"/>
              </a:rPr>
              <a:t>&lt;/</a:t>
            </a:r>
            <a:r>
              <a:rPr lang="en-US" sz="1600" b="1" dirty="0" err="1">
                <a:solidFill>
                  <a:schemeClr val="accent2"/>
                </a:solidFill>
                <a:latin typeface="Courier New" pitchFamily="49" charset="0"/>
              </a:rPr>
              <a:t>optgroup</a:t>
            </a:r>
            <a:r>
              <a:rPr lang="en-US" sz="1600" b="1" dirty="0">
                <a:solidFill>
                  <a:schemeClr val="accent2"/>
                </a:solidFill>
                <a:latin typeface="Courier New" pitchFamily="49" charset="0"/>
              </a:rPr>
              <a:t>&gt;</a:t>
            </a:r>
            <a:r>
              <a:rPr lang="en-US" sz="1600" b="1" dirty="0">
                <a:latin typeface="Courier New" pitchFamily="49" charset="0"/>
              </a:rPr>
              <a:t/>
            </a:r>
            <a:br>
              <a:rPr lang="en-US" sz="1600" b="1" dirty="0">
                <a:latin typeface="Courier New" pitchFamily="49" charset="0"/>
              </a:rPr>
            </a:br>
            <a:endParaRPr lang="uk-UA" sz="1600" b="1" dirty="0">
              <a:latin typeface="Courier New" pitchFamily="49" charset="0"/>
            </a:endParaRPr>
          </a:p>
          <a:p>
            <a:r>
              <a:rPr lang="ru-RU" sz="1600" b="1" dirty="0">
                <a:latin typeface="Courier New" pitchFamily="49" charset="0"/>
              </a:rPr>
              <a:t>             </a:t>
            </a:r>
            <a:r>
              <a:rPr lang="en-US" sz="1600" b="1" dirty="0">
                <a:solidFill>
                  <a:schemeClr val="accent2"/>
                </a:solidFill>
                <a:latin typeface="Courier New" pitchFamily="49" charset="0"/>
              </a:rPr>
              <a:t>&lt;</a:t>
            </a:r>
            <a:r>
              <a:rPr lang="en-US" sz="1600" b="1" dirty="0" err="1">
                <a:solidFill>
                  <a:schemeClr val="accent2"/>
                </a:solidFill>
                <a:latin typeface="Courier New" pitchFamily="49" charset="0"/>
              </a:rPr>
              <a:t>optgroup</a:t>
            </a:r>
            <a:r>
              <a:rPr lang="en-US" sz="1600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uk-UA" sz="1600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US" sz="1600" b="1" dirty="0">
                <a:solidFill>
                  <a:schemeClr val="accent2"/>
                </a:solidFill>
                <a:latin typeface="Courier New" pitchFamily="49" charset="0"/>
              </a:rPr>
              <a:t>label="</a:t>
            </a:r>
            <a:r>
              <a:rPr lang="ru-RU" sz="1600" b="1" dirty="0">
                <a:solidFill>
                  <a:schemeClr val="accent2"/>
                </a:solidFill>
                <a:latin typeface="Courier New" pitchFamily="49" charset="0"/>
              </a:rPr>
              <a:t>имя группы</a:t>
            </a:r>
            <a:r>
              <a:rPr lang="en-US" sz="1600" b="1" dirty="0">
                <a:solidFill>
                  <a:schemeClr val="accent2"/>
                </a:solidFill>
                <a:latin typeface="Courier New" pitchFamily="49" charset="0"/>
              </a:rPr>
              <a:t>"&gt; </a:t>
            </a:r>
            <a:endParaRPr lang="ru-RU" sz="1600" b="1" dirty="0">
              <a:solidFill>
                <a:schemeClr val="accent2"/>
              </a:solidFill>
              <a:latin typeface="Courier New" pitchFamily="49" charset="0"/>
            </a:endParaRPr>
          </a:p>
          <a:p>
            <a:r>
              <a:rPr lang="ru-RU" sz="1600" b="1" dirty="0">
                <a:latin typeface="Courier New" pitchFamily="49" charset="0"/>
              </a:rPr>
              <a:t>                     &lt;</a:t>
            </a:r>
            <a:r>
              <a:rPr lang="en-US" sz="1600" b="1" dirty="0">
                <a:latin typeface="Courier New" pitchFamily="49" charset="0"/>
              </a:rPr>
              <a:t>option </a:t>
            </a:r>
            <a:r>
              <a:rPr lang="ru-RU" sz="1600" b="1" dirty="0">
                <a:latin typeface="Courier New" pitchFamily="49" charset="0"/>
              </a:rPr>
              <a:t>параметры&gt;Пункт 1&lt;/</a:t>
            </a:r>
            <a:r>
              <a:rPr lang="en-US" sz="1600" b="1" dirty="0">
                <a:latin typeface="Courier New" pitchFamily="49" charset="0"/>
              </a:rPr>
              <a:t>option&gt;</a:t>
            </a:r>
            <a:br>
              <a:rPr lang="en-US" sz="1600" b="1" dirty="0">
                <a:latin typeface="Courier New" pitchFamily="49" charset="0"/>
              </a:rPr>
            </a:br>
            <a:r>
              <a:rPr lang="ru-RU" sz="1600" b="1" dirty="0">
                <a:latin typeface="Courier New" pitchFamily="49" charset="0"/>
              </a:rPr>
              <a:t>       </a:t>
            </a:r>
            <a:r>
              <a:rPr lang="en-US" sz="1600" b="1" dirty="0">
                <a:latin typeface="Courier New" pitchFamily="49" charset="0"/>
              </a:rPr>
              <a:t>       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en-US" sz="1600" b="1" dirty="0">
                <a:latin typeface="Courier New" pitchFamily="49" charset="0"/>
              </a:rPr>
              <a:t>      &lt;option&gt;</a:t>
            </a:r>
            <a:r>
              <a:rPr lang="ru-RU" sz="1600" b="1" dirty="0">
                <a:latin typeface="Courier New" pitchFamily="49" charset="0"/>
              </a:rPr>
              <a:t>Пункт 2&lt;/</a:t>
            </a:r>
            <a:r>
              <a:rPr lang="en-US" sz="1600" b="1" dirty="0">
                <a:latin typeface="Courier New" pitchFamily="49" charset="0"/>
              </a:rPr>
              <a:t>option&gt;</a:t>
            </a:r>
            <a:br>
              <a:rPr lang="en-US" sz="1600" b="1" dirty="0">
                <a:latin typeface="Courier New" pitchFamily="49" charset="0"/>
              </a:rPr>
            </a:br>
            <a:r>
              <a:rPr lang="en-US" sz="1600" b="1" dirty="0">
                <a:latin typeface="Courier New" pitchFamily="49" charset="0"/>
              </a:rPr>
              <a:t>       </a:t>
            </a:r>
            <a:r>
              <a:rPr lang="ru-RU" sz="1600" b="1" dirty="0">
                <a:latin typeface="Courier New" pitchFamily="49" charset="0"/>
              </a:rPr>
              <a:t>       </a:t>
            </a:r>
            <a:r>
              <a:rPr lang="en-US" sz="1600" b="1" dirty="0">
                <a:latin typeface="Courier New" pitchFamily="49" charset="0"/>
              </a:rPr>
              <a:t>      &lt;option&gt;</a:t>
            </a:r>
            <a:r>
              <a:rPr lang="ru-RU" sz="1600" b="1" dirty="0">
                <a:latin typeface="Courier New" pitchFamily="49" charset="0"/>
              </a:rPr>
              <a:t>Пункт 3&lt;/</a:t>
            </a:r>
            <a:r>
              <a:rPr lang="en-US" sz="1600" b="1" dirty="0">
                <a:latin typeface="Courier New" pitchFamily="49" charset="0"/>
              </a:rPr>
              <a:t>option&gt;</a:t>
            </a:r>
            <a:endParaRPr lang="uk-UA" sz="1600" b="1" dirty="0">
              <a:latin typeface="Courier New" pitchFamily="49" charset="0"/>
            </a:endParaRPr>
          </a:p>
          <a:p>
            <a:r>
              <a:rPr lang="ru-RU" sz="1600" b="1" dirty="0">
                <a:solidFill>
                  <a:schemeClr val="accent2"/>
                </a:solidFill>
                <a:latin typeface="Courier New" pitchFamily="49" charset="0"/>
              </a:rPr>
              <a:t>             </a:t>
            </a:r>
            <a:r>
              <a:rPr lang="en-US" sz="1600" b="1" dirty="0">
                <a:solidFill>
                  <a:schemeClr val="accent2"/>
                </a:solidFill>
                <a:latin typeface="Courier New" pitchFamily="49" charset="0"/>
              </a:rPr>
              <a:t>&lt;/</a:t>
            </a:r>
            <a:r>
              <a:rPr lang="en-US" sz="1600" b="1" dirty="0" err="1">
                <a:solidFill>
                  <a:schemeClr val="accent2"/>
                </a:solidFill>
                <a:latin typeface="Courier New" pitchFamily="49" charset="0"/>
              </a:rPr>
              <a:t>optgroup</a:t>
            </a:r>
            <a:r>
              <a:rPr lang="en-US" sz="1600" b="1" dirty="0">
                <a:solidFill>
                  <a:schemeClr val="accent2"/>
                </a:solidFill>
                <a:latin typeface="Courier New" pitchFamily="49" charset="0"/>
              </a:rPr>
              <a:t>&gt;</a:t>
            </a:r>
            <a:endParaRPr lang="uk-UA" sz="1600" b="1" dirty="0">
              <a:solidFill>
                <a:schemeClr val="accent2"/>
              </a:solidFill>
              <a:latin typeface="Courier New" pitchFamily="49" charset="0"/>
            </a:endParaRPr>
          </a:p>
          <a:p>
            <a:r>
              <a:rPr lang="uk-UA" sz="1600" b="1" dirty="0">
                <a:latin typeface="Courier New" pitchFamily="49" charset="0"/>
              </a:rPr>
              <a:t>     </a:t>
            </a:r>
          </a:p>
          <a:p>
            <a:endParaRPr lang="uk-UA" sz="1600" b="1" dirty="0">
              <a:latin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</a:rPr>
              <a:t>&lt;/select&gt;</a:t>
            </a:r>
          </a:p>
          <a:p>
            <a:r>
              <a:rPr lang="en-US" sz="1600" b="1" dirty="0">
                <a:latin typeface="Courier New" pitchFamily="49" charset="0"/>
              </a:rPr>
              <a:t>&lt;form&gt;</a:t>
            </a:r>
            <a:endParaRPr lang="ru-RU" sz="1600" b="1" dirty="0">
              <a:latin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4" y="692696"/>
            <a:ext cx="8784976" cy="584775"/>
          </a:xfrm>
          <a:prstGeom prst="rect">
            <a:avLst/>
          </a:prstGeom>
          <a:solidFill>
            <a:srgbClr val="92D050">
              <a:alpha val="11000"/>
            </a:srgbClr>
          </a:solidFill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При группировании по группам значения смещаются вправо, а имя группы, которое задается в атрибуте  </a:t>
            </a:r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label </a:t>
            </a:r>
            <a:r>
              <a:rPr lang="ru-RU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выделяется полужирным шрифтом</a:t>
            </a:r>
            <a:endParaRPr lang="ru-RU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73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4456113" y="7993063"/>
            <a:ext cx="230187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300" b="1">
                <a:solidFill>
                  <a:srgbClr val="800000"/>
                </a:solidFill>
                <a:latin typeface="Arial Cyr" charset="0"/>
              </a:rPr>
              <a:t> </a:t>
            </a:r>
          </a:p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31748" name="Rectangle 14"/>
          <p:cNvSpPr>
            <a:spLocks noChangeArrowheads="1"/>
          </p:cNvSpPr>
          <p:nvPr/>
        </p:nvSpPr>
        <p:spPr bwMode="auto">
          <a:xfrm>
            <a:off x="35497" y="144317"/>
            <a:ext cx="5976664" cy="2246769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ru-RU" sz="1400" b="1" dirty="0">
                <a:latin typeface="Courier New" pitchFamily="49" charset="0"/>
              </a:rPr>
              <a:t>&lt;</a:t>
            </a:r>
            <a:r>
              <a:rPr lang="ru-RU" sz="1400" b="1" dirty="0" err="1">
                <a:latin typeface="Courier New" pitchFamily="49" charset="0"/>
              </a:rPr>
              <a:t>select</a:t>
            </a:r>
            <a:r>
              <a:rPr lang="ru-RU" sz="1400" b="1" dirty="0">
                <a:latin typeface="Courier New" pitchFamily="49" charset="0"/>
              </a:rPr>
              <a:t> </a:t>
            </a:r>
            <a:r>
              <a:rPr lang="ru-RU" sz="1400" b="1" dirty="0" err="1">
                <a:latin typeface="Courier New" pitchFamily="49" charset="0"/>
              </a:rPr>
              <a:t>name</a:t>
            </a:r>
            <a:r>
              <a:rPr lang="ru-RU" sz="1400" b="1" dirty="0">
                <a:latin typeface="Courier New" pitchFamily="49" charset="0"/>
              </a:rPr>
              <a:t>="</a:t>
            </a:r>
            <a:r>
              <a:rPr lang="ru-RU" sz="1400" b="1" dirty="0" err="1">
                <a:latin typeface="Courier New" pitchFamily="49" charset="0"/>
              </a:rPr>
              <a:t>book</a:t>
            </a:r>
            <a:r>
              <a:rPr lang="ru-RU" sz="1400" b="1" dirty="0">
                <a:latin typeface="Courier New" pitchFamily="49" charset="0"/>
              </a:rPr>
              <a:t>" </a:t>
            </a:r>
            <a:r>
              <a:rPr lang="ru-RU" sz="1400" b="1" dirty="0" err="1">
                <a:latin typeface="Courier New" pitchFamily="49" charset="0"/>
              </a:rPr>
              <a:t>size</a:t>
            </a:r>
            <a:r>
              <a:rPr lang="ru-RU" sz="1400" b="1" dirty="0">
                <a:latin typeface="Courier New" pitchFamily="49" charset="0"/>
              </a:rPr>
              <a:t>=</a:t>
            </a:r>
            <a:r>
              <a:rPr lang="en-US" sz="1400" b="1" dirty="0">
                <a:latin typeface="Courier New" pitchFamily="49" charset="0"/>
              </a:rPr>
              <a:t>"</a:t>
            </a:r>
            <a:r>
              <a:rPr lang="ru-RU" sz="1400" b="1" dirty="0">
                <a:latin typeface="Courier New" pitchFamily="49" charset="0"/>
              </a:rPr>
              <a:t>8</a:t>
            </a:r>
            <a:r>
              <a:rPr lang="en-US" sz="1400" b="1" dirty="0">
                <a:latin typeface="Courier New" pitchFamily="49" charset="0"/>
              </a:rPr>
              <a:t>"</a:t>
            </a:r>
            <a:r>
              <a:rPr lang="ru-RU" sz="14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ru-RU" sz="1400" b="1" dirty="0">
                <a:latin typeface="Courier New" pitchFamily="49" charset="0"/>
              </a:rPr>
              <a:t>    &lt;</a:t>
            </a:r>
            <a:r>
              <a:rPr lang="ru-RU" sz="1400" b="1" dirty="0" err="1">
                <a:solidFill>
                  <a:srgbClr val="0000FF"/>
                </a:solidFill>
                <a:latin typeface="Courier New" pitchFamily="49" charset="0"/>
              </a:rPr>
              <a:t>optgroup</a:t>
            </a:r>
            <a:r>
              <a:rPr lang="ru-RU" sz="1400" b="1" dirty="0">
                <a:latin typeface="Courier New" pitchFamily="49" charset="0"/>
              </a:rPr>
              <a:t> </a:t>
            </a:r>
            <a:r>
              <a:rPr lang="ru-RU" sz="1400" b="1" dirty="0" err="1">
                <a:solidFill>
                  <a:srgbClr val="0000FF"/>
                </a:solidFill>
                <a:latin typeface="Courier New" pitchFamily="49" charset="0"/>
              </a:rPr>
              <a:t>label</a:t>
            </a:r>
            <a:r>
              <a:rPr lang="ru-RU" sz="1400" b="1" dirty="0">
                <a:latin typeface="Courier New" pitchFamily="49" charset="0"/>
              </a:rPr>
              <a:t>="</a:t>
            </a:r>
            <a:r>
              <a:rPr lang="ru-RU" sz="1400" b="1" dirty="0">
                <a:solidFill>
                  <a:srgbClr val="FF0000"/>
                </a:solidFill>
                <a:latin typeface="Courier New" pitchFamily="49" charset="0"/>
              </a:rPr>
              <a:t>Английские</a:t>
            </a:r>
            <a:r>
              <a:rPr lang="ru-RU" sz="1400" b="1" dirty="0">
                <a:latin typeface="Courier New" pitchFamily="49" charset="0"/>
              </a:rPr>
              <a:t>"&gt;</a:t>
            </a:r>
          </a:p>
          <a:p>
            <a:pPr eaLnBrk="0" hangingPunct="0"/>
            <a:r>
              <a:rPr lang="ru-RU" sz="1400" b="1" dirty="0">
                <a:latin typeface="Courier New" pitchFamily="49" charset="0"/>
              </a:rPr>
              <a:t>      &lt;</a:t>
            </a:r>
            <a:r>
              <a:rPr lang="ru-RU" sz="1400" b="1" dirty="0" err="1">
                <a:latin typeface="Courier New" pitchFamily="49" charset="0"/>
              </a:rPr>
              <a:t>option</a:t>
            </a:r>
            <a:r>
              <a:rPr lang="ru-RU" sz="1400" b="1" dirty="0">
                <a:latin typeface="Courier New" pitchFamily="49" charset="0"/>
              </a:rPr>
              <a:t> </a:t>
            </a:r>
            <a:r>
              <a:rPr lang="ru-RU" sz="1400" b="1" dirty="0" err="1">
                <a:latin typeface="Courier New" pitchFamily="49" charset="0"/>
              </a:rPr>
              <a:t>value</a:t>
            </a:r>
            <a:r>
              <a:rPr lang="ru-RU" sz="1400" b="1" dirty="0">
                <a:latin typeface="Courier New" pitchFamily="49" charset="0"/>
              </a:rPr>
              <a:t>="</a:t>
            </a:r>
            <a:r>
              <a:rPr lang="ru-RU" sz="1400" b="1" dirty="0" err="1">
                <a:latin typeface="Courier New" pitchFamily="49" charset="0"/>
              </a:rPr>
              <a:t>asp</a:t>
            </a:r>
            <a:r>
              <a:rPr lang="ru-RU" sz="1400" b="1" dirty="0">
                <a:latin typeface="Courier New" pitchFamily="49" charset="0"/>
              </a:rPr>
              <a:t>"&gt;ASP&lt;/</a:t>
            </a:r>
            <a:r>
              <a:rPr lang="ru-RU" sz="1400" b="1" dirty="0" err="1">
                <a:latin typeface="Courier New" pitchFamily="49" charset="0"/>
              </a:rPr>
              <a:t>option</a:t>
            </a:r>
            <a:r>
              <a:rPr lang="ru-RU" sz="14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en-US" sz="1400" b="1" dirty="0">
                <a:latin typeface="Courier New" pitchFamily="49" charset="0"/>
              </a:rPr>
              <a:t>      ...</a:t>
            </a:r>
          </a:p>
          <a:p>
            <a:pPr eaLnBrk="0" hangingPunct="0"/>
            <a:r>
              <a:rPr lang="en-US" sz="1400" b="1" dirty="0">
                <a:latin typeface="Courier New" pitchFamily="49" charset="0"/>
              </a:rPr>
              <a:t>    </a:t>
            </a:r>
            <a:r>
              <a:rPr lang="ru-RU" sz="1400" b="1" dirty="0">
                <a:latin typeface="Courier New" pitchFamily="49" charset="0"/>
              </a:rPr>
              <a:t>&lt;/</a:t>
            </a:r>
            <a:r>
              <a:rPr lang="ru-RU" sz="1400" b="1" dirty="0" err="1">
                <a:solidFill>
                  <a:srgbClr val="0000FF"/>
                </a:solidFill>
                <a:latin typeface="Courier New" pitchFamily="49" charset="0"/>
              </a:rPr>
              <a:t>optgroup</a:t>
            </a:r>
            <a:r>
              <a:rPr lang="ru-RU" sz="14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ru-RU" sz="1400" b="1" dirty="0">
                <a:latin typeface="Courier New" pitchFamily="49" charset="0"/>
              </a:rPr>
              <a:t>    &lt;</a:t>
            </a:r>
            <a:r>
              <a:rPr lang="ru-RU" sz="1400" b="1" dirty="0" err="1">
                <a:latin typeface="Courier New" pitchFamily="49" charset="0"/>
              </a:rPr>
              <a:t>optgroup</a:t>
            </a:r>
            <a:r>
              <a:rPr lang="ru-RU" sz="1400" b="1" dirty="0">
                <a:latin typeface="Courier New" pitchFamily="49" charset="0"/>
              </a:rPr>
              <a:t> </a:t>
            </a:r>
            <a:r>
              <a:rPr lang="ru-RU" sz="1400" b="1" dirty="0" err="1">
                <a:latin typeface="Courier New" pitchFamily="49" charset="0"/>
              </a:rPr>
              <a:t>label</a:t>
            </a:r>
            <a:r>
              <a:rPr lang="ru-RU" sz="1400" b="1" dirty="0">
                <a:latin typeface="Courier New" pitchFamily="49" charset="0"/>
              </a:rPr>
              <a:t>="Русские"&gt;</a:t>
            </a:r>
          </a:p>
          <a:p>
            <a:pPr eaLnBrk="0" hangingPunct="0"/>
            <a:r>
              <a:rPr lang="ru-RU" sz="1400" b="1" dirty="0">
                <a:latin typeface="Courier New" pitchFamily="49" charset="0"/>
              </a:rPr>
              <a:t>      &lt;</a:t>
            </a:r>
            <a:r>
              <a:rPr lang="ru-RU" sz="1400" b="1" dirty="0" err="1">
                <a:latin typeface="Courier New" pitchFamily="49" charset="0"/>
              </a:rPr>
              <a:t>option</a:t>
            </a:r>
            <a:r>
              <a:rPr lang="ru-RU" sz="1400" b="1" dirty="0">
                <a:latin typeface="Courier New" pitchFamily="49" charset="0"/>
              </a:rPr>
              <a:t> </a:t>
            </a:r>
            <a:r>
              <a:rPr lang="ru-RU" sz="1400" b="1" dirty="0" err="1">
                <a:latin typeface="Courier New" pitchFamily="49" charset="0"/>
              </a:rPr>
              <a:t>value</a:t>
            </a:r>
            <a:r>
              <a:rPr lang="ru-RU" sz="1400" b="1" dirty="0">
                <a:latin typeface="Courier New" pitchFamily="49" charset="0"/>
              </a:rPr>
              <a:t>="</a:t>
            </a:r>
            <a:r>
              <a:rPr lang="ru-RU" sz="1400" b="1" dirty="0" err="1">
                <a:latin typeface="Courier New" pitchFamily="49" charset="0"/>
              </a:rPr>
              <a:t>asp_rus</a:t>
            </a:r>
            <a:r>
              <a:rPr lang="ru-RU" sz="1400" b="1" dirty="0">
                <a:latin typeface="Courier New" pitchFamily="49" charset="0"/>
              </a:rPr>
              <a:t>"&gt;ASP по-русски&lt;/</a:t>
            </a:r>
            <a:r>
              <a:rPr lang="ru-RU" sz="1400" b="1" dirty="0" err="1">
                <a:latin typeface="Courier New" pitchFamily="49" charset="0"/>
              </a:rPr>
              <a:t>option</a:t>
            </a:r>
            <a:r>
              <a:rPr lang="ru-RU" sz="14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ru-RU" sz="1400" b="1" dirty="0">
                <a:latin typeface="Courier New" pitchFamily="49" charset="0"/>
              </a:rPr>
              <a:t>      </a:t>
            </a:r>
            <a:r>
              <a:rPr lang="en-US" sz="1400" b="1" dirty="0">
                <a:latin typeface="Courier New" pitchFamily="49" charset="0"/>
              </a:rPr>
              <a:t>...</a:t>
            </a:r>
            <a:endParaRPr lang="ru-RU" sz="1400" b="1" dirty="0">
              <a:latin typeface="Courier New" pitchFamily="49" charset="0"/>
            </a:endParaRPr>
          </a:p>
          <a:p>
            <a:pPr eaLnBrk="0" hangingPunct="0"/>
            <a:r>
              <a:rPr lang="ru-RU" sz="1400" b="1" dirty="0">
                <a:latin typeface="Courier New" pitchFamily="49" charset="0"/>
              </a:rPr>
              <a:t>    &lt;/</a:t>
            </a:r>
            <a:r>
              <a:rPr lang="ru-RU" sz="1400" b="1" dirty="0" err="1">
                <a:latin typeface="Courier New" pitchFamily="49" charset="0"/>
              </a:rPr>
              <a:t>optgroup</a:t>
            </a:r>
            <a:r>
              <a:rPr lang="ru-RU" sz="14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ru-RU" sz="1400" b="1" dirty="0">
                <a:latin typeface="Courier New" pitchFamily="49" charset="0"/>
              </a:rPr>
              <a:t>&lt;/</a:t>
            </a:r>
            <a:r>
              <a:rPr lang="ru-RU" sz="1400" b="1" dirty="0" err="1">
                <a:latin typeface="Courier New" pitchFamily="49" charset="0"/>
              </a:rPr>
              <a:t>select</a:t>
            </a:r>
            <a:r>
              <a:rPr lang="ru-RU" sz="1400" b="1" dirty="0">
                <a:latin typeface="Courier New" pitchFamily="49" charset="0"/>
              </a:rPr>
              <a:t>&gt;</a:t>
            </a:r>
          </a:p>
        </p:txBody>
      </p:sp>
      <p:pic>
        <p:nvPicPr>
          <p:cNvPr id="31749" name="Picture 15" descr="multi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3" y="3430588"/>
            <a:ext cx="1931987" cy="161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16" descr="optgrou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1109663"/>
            <a:ext cx="2092325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1" name="AutoShape 17"/>
          <p:cNvSpPr>
            <a:spLocks noChangeArrowheads="1"/>
          </p:cNvSpPr>
          <p:nvPr/>
        </p:nvSpPr>
        <p:spPr bwMode="auto">
          <a:xfrm>
            <a:off x="2547938" y="3306763"/>
            <a:ext cx="5030787" cy="792162"/>
          </a:xfrm>
          <a:prstGeom prst="leftArrow">
            <a:avLst>
              <a:gd name="adj1" fmla="val 50000"/>
              <a:gd name="adj2" fmla="val 158768"/>
            </a:avLst>
          </a:prstGeom>
          <a:solidFill>
            <a:schemeClr val="bg1"/>
          </a:solidFill>
          <a:ln w="9525" algn="ctr">
            <a:solidFill>
              <a:srgbClr val="333333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ru-RU" sz="1400" b="1">
                <a:latin typeface="Courier New" pitchFamily="49" charset="0"/>
              </a:rPr>
              <a:t>&lt;select name="book" size=</a:t>
            </a:r>
            <a:r>
              <a:rPr lang="en-US" sz="1400" b="1">
                <a:latin typeface="Courier New" pitchFamily="49" charset="0"/>
              </a:rPr>
              <a:t>"</a:t>
            </a:r>
            <a:r>
              <a:rPr lang="ru-RU" sz="1400" b="1">
                <a:latin typeface="Courier New" pitchFamily="49" charset="0"/>
              </a:rPr>
              <a:t>8</a:t>
            </a:r>
            <a:r>
              <a:rPr lang="en-US" sz="1400" b="1">
                <a:latin typeface="Courier New" pitchFamily="49" charset="0"/>
              </a:rPr>
              <a:t>"</a:t>
            </a:r>
            <a:r>
              <a:rPr lang="ru-RU" sz="1400" b="1">
                <a:latin typeface="Courier New" pitchFamily="49" charset="0"/>
              </a:rPr>
              <a:t> </a:t>
            </a:r>
            <a:r>
              <a:rPr lang="en-US" sz="1400" b="1">
                <a:solidFill>
                  <a:srgbClr val="0000FF"/>
                </a:solidFill>
                <a:latin typeface="Courier New" pitchFamily="49" charset="0"/>
              </a:rPr>
              <a:t>multiple</a:t>
            </a:r>
            <a:r>
              <a:rPr lang="ru-RU" sz="1400" b="1">
                <a:latin typeface="Courier New" pitchFamily="49" charset="0"/>
              </a:rPr>
              <a:t>&gt;</a:t>
            </a:r>
          </a:p>
        </p:txBody>
      </p:sp>
      <p:sp>
        <p:nvSpPr>
          <p:cNvPr id="31752" name="AutoShape 18"/>
          <p:cNvSpPr>
            <a:spLocks noChangeArrowheads="1"/>
          </p:cNvSpPr>
          <p:nvPr/>
        </p:nvSpPr>
        <p:spPr bwMode="auto">
          <a:xfrm>
            <a:off x="35497" y="5301208"/>
            <a:ext cx="9108503" cy="584775"/>
          </a:xfrm>
          <a:prstGeom prst="flowChartProcess">
            <a:avLst/>
          </a:prstGeom>
          <a:solidFill>
            <a:srgbClr val="FF0000">
              <a:alpha val="3000"/>
            </a:srgbClr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uk-UA" sz="1600" b="1" dirty="0" err="1">
                <a:solidFill>
                  <a:schemeClr val="tx1"/>
                </a:solidFill>
                <a:latin typeface="Courier New" pitchFamily="49" charset="0"/>
              </a:rPr>
              <a:t>Нельзя</a:t>
            </a:r>
            <a:r>
              <a:rPr lang="uk-UA" sz="16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uk-UA" sz="1600" b="1" dirty="0" err="1">
                <a:solidFill>
                  <a:schemeClr val="tx1"/>
                </a:solidFill>
                <a:latin typeface="Courier New" pitchFamily="49" charset="0"/>
              </a:rPr>
              <a:t>применять</a:t>
            </a:r>
            <a:r>
              <a:rPr lang="uk-UA" sz="16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uk-UA" sz="1600" b="1" dirty="0" err="1">
                <a:solidFill>
                  <a:schemeClr val="tx1"/>
                </a:solidFill>
                <a:latin typeface="Courier New" pitchFamily="49" charset="0"/>
              </a:rPr>
              <a:t>одновременно</a:t>
            </a:r>
            <a:r>
              <a:rPr lang="uk-UA" sz="16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</a:rPr>
              <a:t>size="1"</a:t>
            </a:r>
            <a:r>
              <a:rPr lang="ru-RU" sz="1600" b="1" dirty="0">
                <a:solidFill>
                  <a:schemeClr val="tx1"/>
                </a:solidFill>
                <a:latin typeface="Courier New" pitchFamily="49" charset="0"/>
              </a:rPr>
              <a:t>  и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</a:rPr>
              <a:t> multiple</a:t>
            </a:r>
            <a:r>
              <a:rPr lang="uk-UA" sz="16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</a:p>
          <a:p>
            <a:pPr eaLnBrk="0" hangingPunct="0"/>
            <a:r>
              <a:rPr lang="ru-RU" sz="1600" b="1" dirty="0">
                <a:solidFill>
                  <a:schemeClr val="tx1"/>
                </a:solidFill>
                <a:latin typeface="Courier New" pitchFamily="49" charset="0"/>
              </a:rPr>
              <a:t>     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</a:rPr>
              <a:t>&lt;select size="1" multiple&gt; </a:t>
            </a:r>
            <a:endParaRPr lang="ru-RU" sz="1600" b="1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48264" y="116632"/>
            <a:ext cx="216205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</a:defRPr>
            </a:lvl1pPr>
          </a:lstStyle>
          <a:p>
            <a:r>
              <a:rPr lang="en-US" dirty="0" smtClean="0"/>
              <a:t>index</a:t>
            </a:r>
            <a:r>
              <a:rPr lang="ru-RU" dirty="0" smtClean="0"/>
              <a:t>_</a:t>
            </a:r>
            <a:r>
              <a:rPr lang="en-US" dirty="0" smtClean="0"/>
              <a:t>3.html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210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73186" y="105673"/>
            <a:ext cx="1887466" cy="360040"/>
          </a:xfr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2000" dirty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Кнопки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5496" y="611396"/>
            <a:ext cx="500970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&lt;input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</a:rPr>
              <a:t>type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="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</a:rPr>
              <a:t>submit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  параметры&gt; 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116433" y="1124744"/>
          <a:ext cx="8568951" cy="1468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4482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name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Имя кнопки, предназначено для того, чтобы обработчик формы мог его идентифицировать.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482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value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Значение кнопки и одновременно надпись на ней.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732240" y="116632"/>
            <a:ext cx="187402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</a:defRPr>
            </a:lvl1pPr>
          </a:lstStyle>
          <a:p>
            <a:r>
              <a:rPr lang="en-US" dirty="0" smtClean="0"/>
              <a:t>index</a:t>
            </a:r>
            <a:r>
              <a:rPr lang="ru-RU" dirty="0" smtClean="0"/>
              <a:t>_</a:t>
            </a:r>
            <a:r>
              <a:rPr lang="en-US" dirty="0" smtClean="0"/>
              <a:t>4.html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35496" y="3801814"/>
            <a:ext cx="90010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</a:rPr>
              <a:t>&lt;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input type</a:t>
            </a:r>
            <a:r>
              <a:rPr lang="en-US" b="1" dirty="0">
                <a:latin typeface="Courier New" pitchFamily="49" charset="0"/>
              </a:rPr>
              <a:t>="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image</a:t>
            </a:r>
            <a:r>
              <a:rPr lang="en-US" b="1" dirty="0">
                <a:latin typeface="Courier New" pitchFamily="49" charset="0"/>
              </a:rPr>
              <a:t>"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name</a:t>
            </a:r>
            <a:r>
              <a:rPr lang="en-US" b="1" dirty="0">
                <a:latin typeface="Courier New" pitchFamily="49" charset="0"/>
              </a:rPr>
              <a:t>="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enter</a:t>
            </a:r>
            <a:r>
              <a:rPr lang="en-US" b="1" dirty="0">
                <a:latin typeface="Courier New" pitchFamily="49" charset="0"/>
              </a:rPr>
              <a:t>" 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</a:rPr>
              <a:t>src</a:t>
            </a:r>
            <a:r>
              <a:rPr lang="en-US" b="1" dirty="0">
                <a:latin typeface="Courier New" pitchFamily="49" charset="0"/>
              </a:rPr>
              <a:t>="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btn.png</a:t>
            </a:r>
            <a:r>
              <a:rPr lang="en-US" b="1" dirty="0">
                <a:latin typeface="Courier New" pitchFamily="49" charset="0"/>
              </a:rPr>
              <a:t>" </a:t>
            </a:r>
            <a:endParaRPr lang="en-US" b="1" dirty="0" smtClean="0">
              <a:latin typeface="Courier New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</a:rPr>
              <a:t>                                        width</a:t>
            </a:r>
            <a:r>
              <a:rPr lang="en-US" b="1" dirty="0">
                <a:latin typeface="Courier New" pitchFamily="49" charset="0"/>
              </a:rPr>
              <a:t>="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</a:rPr>
              <a:t>32</a:t>
            </a:r>
            <a:r>
              <a:rPr lang="en-US" b="1" dirty="0" smtClean="0">
                <a:latin typeface="Courier New" pitchFamily="49" charset="0"/>
              </a:rPr>
              <a:t>" </a:t>
            </a: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</a:rPr>
              <a:t>height</a:t>
            </a:r>
            <a:r>
              <a:rPr lang="en-US" b="1" dirty="0">
                <a:latin typeface="Courier New" pitchFamily="49" charset="0"/>
              </a:rPr>
              <a:t>="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32</a:t>
            </a:r>
            <a:r>
              <a:rPr lang="en-US" b="1" dirty="0">
                <a:latin typeface="Courier New" pitchFamily="49" charset="0"/>
              </a:rPr>
              <a:t>"&gt;</a:t>
            </a:r>
            <a:endParaRPr lang="ru-RU" b="1" dirty="0">
              <a:latin typeface="Courier New" pitchFamily="49" charset="0"/>
            </a:endParaRPr>
          </a:p>
          <a:p>
            <a:endParaRPr lang="ru-RU" dirty="0"/>
          </a:p>
        </p:txBody>
      </p:sp>
      <p:sp>
        <p:nvSpPr>
          <p:cNvPr id="10" name="Rectangle 383"/>
          <p:cNvSpPr>
            <a:spLocks noChangeArrowheads="1"/>
          </p:cNvSpPr>
          <p:nvPr/>
        </p:nvSpPr>
        <p:spPr bwMode="auto">
          <a:xfrm>
            <a:off x="35496" y="4862487"/>
            <a:ext cx="6327775" cy="366713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ru-RU" b="1" dirty="0">
                <a:latin typeface="Courier New" pitchFamily="49" charset="0"/>
              </a:rPr>
              <a:t>&lt;</a:t>
            </a:r>
            <a:r>
              <a:rPr lang="ru-RU" b="1" dirty="0" err="1">
                <a:solidFill>
                  <a:srgbClr val="0000FF"/>
                </a:solidFill>
                <a:latin typeface="Courier New" pitchFamily="49" charset="0"/>
              </a:rPr>
              <a:t>input</a:t>
            </a:r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ru-RU" b="1" dirty="0" err="1">
                <a:solidFill>
                  <a:srgbClr val="0000FF"/>
                </a:solidFill>
                <a:latin typeface="Courier New" pitchFamily="49" charset="0"/>
              </a:rPr>
              <a:t>type</a:t>
            </a:r>
            <a:r>
              <a:rPr lang="ru-RU" b="1" dirty="0">
                <a:latin typeface="Courier New" pitchFamily="49" charset="0"/>
              </a:rPr>
              <a:t>="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</a:rPr>
              <a:t>reset</a:t>
            </a:r>
            <a:r>
              <a:rPr lang="ru-RU" b="1" dirty="0">
                <a:latin typeface="Courier New" pitchFamily="49" charset="0"/>
              </a:rPr>
              <a:t>" </a:t>
            </a:r>
            <a:r>
              <a:rPr lang="ru-RU" b="1" dirty="0" err="1">
                <a:solidFill>
                  <a:srgbClr val="0000FF"/>
                </a:solidFill>
                <a:latin typeface="Courier New" pitchFamily="49" charset="0"/>
              </a:rPr>
              <a:t>value</a:t>
            </a:r>
            <a:r>
              <a:rPr lang="ru-RU" b="1" dirty="0">
                <a:latin typeface="Courier New" pitchFamily="49" charset="0"/>
              </a:rPr>
              <a:t>="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Очистить форму</a:t>
            </a:r>
            <a:r>
              <a:rPr lang="ru-RU" b="1" dirty="0">
                <a:latin typeface="Courier New" pitchFamily="49" charset="0"/>
              </a:rPr>
              <a:t> "&gt;</a:t>
            </a:r>
          </a:p>
        </p:txBody>
      </p:sp>
      <p:sp>
        <p:nvSpPr>
          <p:cNvPr id="13" name="Rectangle 383"/>
          <p:cNvSpPr>
            <a:spLocks noChangeArrowheads="1"/>
          </p:cNvSpPr>
          <p:nvPr/>
        </p:nvSpPr>
        <p:spPr bwMode="auto">
          <a:xfrm>
            <a:off x="116433" y="3140968"/>
            <a:ext cx="5836854" cy="369332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ru-RU" b="1" dirty="0">
                <a:latin typeface="Courier New" pitchFamily="49" charset="0"/>
              </a:rPr>
              <a:t>&lt;</a:t>
            </a:r>
            <a:r>
              <a:rPr lang="ru-RU" b="1" dirty="0" err="1">
                <a:solidFill>
                  <a:srgbClr val="0000FF"/>
                </a:solidFill>
                <a:latin typeface="Courier New" pitchFamily="49" charset="0"/>
              </a:rPr>
              <a:t>input</a:t>
            </a:r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ru-RU" b="1" dirty="0" err="1" smtClean="0">
                <a:solidFill>
                  <a:srgbClr val="0000FF"/>
                </a:solidFill>
                <a:latin typeface="Courier New" pitchFamily="49" charset="0"/>
              </a:rPr>
              <a:t>type</a:t>
            </a:r>
            <a:r>
              <a:rPr lang="ru-RU" b="1" dirty="0" smtClean="0">
                <a:latin typeface="Courier New" pitchFamily="49" charset="0"/>
              </a:rPr>
              <a:t>=</a:t>
            </a:r>
            <a:r>
              <a:rPr lang="ru-RU" b="1" dirty="0">
                <a:latin typeface="Courier New" pitchFamily="49" charset="0"/>
              </a:rPr>
              <a:t> </a:t>
            </a:r>
            <a:r>
              <a:rPr lang="ru-RU" b="1" dirty="0" smtClean="0">
                <a:latin typeface="Courier New" pitchFamily="49" charset="0"/>
              </a:rPr>
              <a:t>"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button</a:t>
            </a:r>
            <a:r>
              <a:rPr lang="ru-RU" b="1" dirty="0" smtClean="0">
                <a:latin typeface="Courier New" pitchFamily="49" charset="0"/>
              </a:rPr>
              <a:t>" </a:t>
            </a:r>
            <a:r>
              <a:rPr lang="ru-RU" b="1" dirty="0" err="1" smtClean="0">
                <a:solidFill>
                  <a:srgbClr val="0000FF"/>
                </a:solidFill>
                <a:latin typeface="Courier New" pitchFamily="49" charset="0"/>
              </a:rPr>
              <a:t>value</a:t>
            </a:r>
            <a:r>
              <a:rPr lang="ru-RU" b="1" dirty="0" smtClean="0">
                <a:latin typeface="Courier New" pitchFamily="49" charset="0"/>
              </a:rPr>
              <a:t>=</a:t>
            </a:r>
            <a:r>
              <a:rPr lang="ru-RU" b="1" dirty="0">
                <a:latin typeface="Courier New" pitchFamily="49" charset="0"/>
              </a:rPr>
              <a:t> </a:t>
            </a:r>
            <a:r>
              <a:rPr lang="ru-RU" b="1" dirty="0" smtClean="0">
                <a:latin typeface="Courier New" pitchFamily="49" charset="0"/>
              </a:rPr>
              <a:t>"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Click me</a:t>
            </a:r>
            <a:r>
              <a:rPr lang="ru-RU" b="1" dirty="0" smtClean="0">
                <a:latin typeface="Courier New" pitchFamily="49" charset="0"/>
              </a:rPr>
              <a:t>"&gt;</a:t>
            </a:r>
            <a:endParaRPr lang="ru-RU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745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07504" y="44624"/>
            <a:ext cx="3672408" cy="432048"/>
          </a:xfr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2000" dirty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Поле отправки файла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79512" y="692696"/>
            <a:ext cx="390683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&lt;input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</a:rPr>
              <a:t>type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="file"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b="1" dirty="0" smtClean="0">
                <a:latin typeface="Courier New" pitchFamily="49" charset="0"/>
              </a:rPr>
              <a:t>... </a:t>
            </a:r>
            <a:r>
              <a:rPr lang="ru-RU" b="1" dirty="0" smtClean="0">
                <a:solidFill>
                  <a:schemeClr val="tx1"/>
                </a:solidFill>
                <a:latin typeface="Courier New" pitchFamily="49" charset="0"/>
              </a:rPr>
              <a:t>&gt; </a:t>
            </a:r>
            <a:endParaRPr lang="ru-RU" b="1" dirty="0">
              <a:solidFill>
                <a:schemeClr val="tx1"/>
              </a:solidFill>
              <a:latin typeface="Courier New" pitchFamily="49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107504" y="1268760"/>
          <a:ext cx="8928992" cy="18562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name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Имя флажка для его идентификации обработчиком формы.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size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Ширина текстового поля, которое определяется числом символов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maxlength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Устанавливает максимальное число символов, которое может быть введено пользователем в текстовом поле.</a:t>
                      </a:r>
                      <a:endParaRPr kumimoji="0"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128178" y="3356992"/>
            <a:ext cx="8731878" cy="92333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При наличии этого поля в форме для тега  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&lt;form&gt;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</a:rPr>
              <a:t>обязательно  </a:t>
            </a:r>
          </a:p>
          <a:p>
            <a:pPr eaLnBrk="0" hangingPunct="0"/>
            <a:r>
              <a:rPr lang="ru-RU" b="1" dirty="0" smtClean="0">
                <a:solidFill>
                  <a:schemeClr val="tx1"/>
                </a:solidFill>
                <a:latin typeface="Courier New" pitchFamily="49" charset="0"/>
              </a:rPr>
              <a:t>указываются параметры</a:t>
            </a:r>
            <a:endParaRPr lang="en-US" b="1" dirty="0" smtClean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/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</a:rPr>
              <a:t>    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</a:rPr>
              <a:t>enctype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="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</a:rPr>
              <a:t>multipart/form-data" </a:t>
            </a:r>
            <a:r>
              <a:rPr lang="ru-RU" b="1" dirty="0" smtClean="0">
                <a:solidFill>
                  <a:srgbClr val="0070C0"/>
                </a:solidFill>
                <a:latin typeface="Courier New" pitchFamily="49" charset="0"/>
              </a:rPr>
              <a:t>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</a:rPr>
              <a:t>method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= "POST"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</a:rPr>
              <a:t>	</a:t>
            </a:r>
            <a:endParaRPr lang="en-US" b="1" dirty="0">
              <a:solidFill>
                <a:srgbClr val="0070C0"/>
              </a:solidFill>
              <a:latin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48264" y="116632"/>
            <a:ext cx="201804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</a:defRPr>
            </a:lvl1pPr>
          </a:lstStyle>
          <a:p>
            <a:r>
              <a:rPr lang="en-US" dirty="0" smtClean="0"/>
              <a:t>index</a:t>
            </a:r>
            <a:r>
              <a:rPr lang="ru-RU" dirty="0" smtClean="0"/>
              <a:t>_</a:t>
            </a:r>
            <a:r>
              <a:rPr lang="en-US" dirty="0" smtClean="0"/>
              <a:t>4.html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307316" y="4509120"/>
            <a:ext cx="8373602" cy="369332"/>
          </a:xfrm>
          <a:prstGeom prst="rect">
            <a:avLst/>
          </a:prstGeom>
          <a:solidFill>
            <a:srgbClr val="ABDFEB">
              <a:alpha val="7000"/>
            </a:srgbClr>
          </a:solidFill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Для  поля с типом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b="1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b="1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нет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атрибута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76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/>
          <p:cNvSpPr>
            <a:spLocks noChangeArrowheads="1"/>
          </p:cNvSpPr>
          <p:nvPr/>
        </p:nvSpPr>
        <p:spPr bwMode="auto">
          <a:xfrm>
            <a:off x="107504" y="764704"/>
            <a:ext cx="6664004" cy="369332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ru-RU" b="1" dirty="0">
                <a:latin typeface="Courier New" pitchFamily="49" charset="0"/>
              </a:rPr>
              <a:t>&lt;</a:t>
            </a:r>
            <a:r>
              <a:rPr lang="ru-RU" b="1" dirty="0" err="1">
                <a:solidFill>
                  <a:srgbClr val="0000FF"/>
                </a:solidFill>
                <a:latin typeface="Courier New" pitchFamily="49" charset="0"/>
              </a:rPr>
              <a:t>input</a:t>
            </a:r>
            <a:r>
              <a:rPr lang="ru-RU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ru-RU" b="1" dirty="0" err="1">
                <a:solidFill>
                  <a:srgbClr val="0000FF"/>
                </a:solidFill>
                <a:latin typeface="Courier New" pitchFamily="49" charset="0"/>
              </a:rPr>
              <a:t>type</a:t>
            </a:r>
            <a:r>
              <a:rPr lang="ru-RU" b="1" dirty="0">
                <a:latin typeface="Courier New" pitchFamily="49" charset="0"/>
              </a:rPr>
              <a:t>="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</a:rPr>
              <a:t>hidden</a:t>
            </a:r>
            <a:r>
              <a:rPr lang="ru-RU" b="1" dirty="0">
                <a:latin typeface="Courier New" pitchFamily="49" charset="0"/>
              </a:rPr>
              <a:t>" </a:t>
            </a:r>
            <a:r>
              <a:rPr lang="ru-RU" b="1" dirty="0" err="1" smtClean="0">
                <a:solidFill>
                  <a:srgbClr val="0000FF"/>
                </a:solidFill>
                <a:latin typeface="Courier New" pitchFamily="49" charset="0"/>
              </a:rPr>
              <a:t>name</a:t>
            </a:r>
            <a:r>
              <a:rPr lang="ru-RU" b="1" dirty="0" smtClean="0">
                <a:latin typeface="Courier New" pitchFamily="49" charset="0"/>
              </a:rPr>
              <a:t>="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</a:rPr>
              <a:t>inid</a:t>
            </a:r>
            <a:r>
              <a:rPr lang="ru-RU" b="1" dirty="0" smtClean="0">
                <a:latin typeface="Courier New" pitchFamily="49" charset="0"/>
              </a:rPr>
              <a:t>" </a:t>
            </a:r>
            <a:r>
              <a:rPr lang="ru-RU" b="1" dirty="0" err="1">
                <a:solidFill>
                  <a:srgbClr val="0000FF"/>
                </a:solidFill>
                <a:latin typeface="Courier New" pitchFamily="49" charset="0"/>
              </a:rPr>
              <a:t>value</a:t>
            </a:r>
            <a:r>
              <a:rPr lang="ru-RU" b="1" dirty="0">
                <a:latin typeface="Courier New" pitchFamily="49" charset="0"/>
              </a:rPr>
              <a:t>="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15263</a:t>
            </a:r>
            <a:r>
              <a:rPr lang="ru-RU" b="1" dirty="0">
                <a:latin typeface="Courier New" pitchFamily="49" charset="0"/>
              </a:rPr>
              <a:t>"&gt;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1720" y="44624"/>
            <a:ext cx="4968552" cy="419854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sz="2000" b="1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itchFamily="49" charset="0"/>
              </a:defRPr>
            </a:lvl1pPr>
            <a:extLst/>
          </a:lstStyle>
          <a:p>
            <a:r>
              <a:rPr lang="ru-RU" dirty="0"/>
              <a:t>Служебные элементы форм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1412776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</a:rPr>
              <a:t>Отправляют на сервер служебную информацию</a:t>
            </a:r>
          </a:p>
        </p:txBody>
      </p:sp>
    </p:spTree>
    <p:extLst>
      <p:ext uri="{BB962C8B-B14F-4D97-AF65-F5344CB8AC3E}">
        <p14:creationId xmlns:p14="http://schemas.microsoft.com/office/powerpoint/2010/main" val="1917939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43808" y="4554"/>
            <a:ext cx="3600400" cy="40011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sz="2000" b="1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itchFamily="49" charset="0"/>
              </a:defRPr>
            </a:lvl1pPr>
            <a:extLst/>
          </a:lstStyle>
          <a:p>
            <a:r>
              <a:rPr lang="ru-RU" dirty="0"/>
              <a:t>Элемент </a:t>
            </a:r>
            <a:r>
              <a:rPr lang="en-US" dirty="0"/>
              <a:t>&lt;input</a:t>
            </a:r>
            <a:r>
              <a:rPr lang="en-US" dirty="0" smtClean="0"/>
              <a:t>&gt; HTML 5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82621" y="494680"/>
          <a:ext cx="9025883" cy="5785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2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Дополнительные атрибуты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yyyy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-mm-</a:t>
                      </a: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dd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min, max -&gt;   </a:t>
                      </a: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yyyy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-mm-</a:t>
                      </a: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dd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datetime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yyyy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-mm-</a:t>
                      </a: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dd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HH:MM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datetime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-local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yyyy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-mm-</a:t>
                      </a: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dd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HH:MM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RGB,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HEX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number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или 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 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min,max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-&gt; </a:t>
                      </a:r>
                      <a:r>
                        <a:rPr lang="ru-RU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задают диапазон</a:t>
                      </a:r>
                    </a:p>
                    <a:p>
                      <a:pPr algn="l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step -&gt; </a:t>
                      </a:r>
                      <a:r>
                        <a:rPr lang="ru-RU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задают шаг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изменения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или 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 </a:t>
                      </a:r>
                      <a:endParaRPr lang="ru-RU" b="1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ctr"/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min,max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-&gt; </a:t>
                      </a:r>
                      <a:r>
                        <a:rPr lang="ru-RU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задают диапазон</a:t>
                      </a:r>
                    </a:p>
                    <a:p>
                      <a:pPr algn="l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step -&gt; </a:t>
                      </a:r>
                      <a:r>
                        <a:rPr lang="ru-RU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задают шаг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изменения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email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формат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e-mail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search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нач. значение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results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tel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pattern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yyyy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-mm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min,max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-&gt; </a:t>
                      </a: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yyyy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-mm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HH:MM:SS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url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нач. значение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yyyy-mmW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129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79512" y="116632"/>
            <a:ext cx="3456384" cy="389711"/>
          </a:xfr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2000" dirty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Применение тега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rPr>
              <a:t>LABEL</a:t>
            </a:r>
            <a:endParaRPr lang="ru-RU" sz="2000" dirty="0">
              <a:solidFill>
                <a:schemeClr val="tx1"/>
              </a:solidFill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3" y="692696"/>
            <a:ext cx="8856984" cy="203132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  <a:latin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Тег </a:t>
            </a:r>
            <a:r>
              <a:rPr lang="ru-RU" dirty="0" smtClean="0">
                <a:solidFill>
                  <a:srgbClr val="0070C0"/>
                </a:solidFill>
              </a:rPr>
              <a:t>&lt;</a:t>
            </a:r>
            <a:r>
              <a:rPr lang="en-US" dirty="0" smtClean="0">
                <a:solidFill>
                  <a:srgbClr val="0070C0"/>
                </a:solidFill>
              </a:rPr>
              <a:t>label</a:t>
            </a:r>
            <a:r>
              <a:rPr lang="ru-RU" dirty="0" smtClean="0">
                <a:solidFill>
                  <a:srgbClr val="0070C0"/>
                </a:solidFill>
              </a:rPr>
              <a:t>&gt;</a:t>
            </a:r>
            <a:r>
              <a:rPr lang="en-US" dirty="0" smtClean="0">
                <a:solidFill>
                  <a:srgbClr val="0070C0"/>
                </a:solidFill>
              </a:rPr>
              <a:t>&lt;/label&gt;</a:t>
            </a:r>
            <a:r>
              <a:rPr lang="ru-RU" dirty="0" smtClean="0">
                <a:solidFill>
                  <a:srgbClr val="0070C0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связывает текст с определенным элементом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ru-RU" dirty="0" smtClean="0">
                <a:solidFill>
                  <a:schemeClr val="tx1"/>
                </a:solidFill>
              </a:rPr>
              <a:t>формы.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 smtClean="0">
                <a:solidFill>
                  <a:schemeClr val="tx1"/>
                </a:solidFill>
              </a:rPr>
              <a:t>Такая </a:t>
            </a:r>
            <a:r>
              <a:rPr lang="ru-RU" dirty="0">
                <a:solidFill>
                  <a:schemeClr val="tx1"/>
                </a:solidFill>
              </a:rPr>
              <a:t>связь необходима, чтобы изменять значение переключателей и </a:t>
            </a:r>
            <a:r>
              <a:rPr lang="ru-RU" dirty="0" smtClean="0">
                <a:solidFill>
                  <a:schemeClr val="tx1"/>
                </a:solidFill>
              </a:rPr>
              <a:t>флажков </a:t>
            </a:r>
            <a:r>
              <a:rPr lang="ru-RU" dirty="0">
                <a:solidFill>
                  <a:schemeClr val="tx1"/>
                </a:solidFill>
              </a:rPr>
              <a:t>при нажатии курсором мыши на текст.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Для связывания элемента формы и текста в теге </a:t>
            </a:r>
            <a:r>
              <a:rPr lang="ru-RU" dirty="0" smtClean="0">
                <a:solidFill>
                  <a:srgbClr val="0070C0"/>
                </a:solidFill>
              </a:rPr>
              <a:t>&lt;</a:t>
            </a:r>
            <a:r>
              <a:rPr lang="en-US" dirty="0" smtClean="0">
                <a:solidFill>
                  <a:srgbClr val="0070C0"/>
                </a:solidFill>
              </a:rPr>
              <a:t>label</a:t>
            </a:r>
            <a:r>
              <a:rPr lang="ru-RU" dirty="0" smtClean="0">
                <a:solidFill>
                  <a:srgbClr val="0070C0"/>
                </a:solidFill>
              </a:rPr>
              <a:t>&gt; </a:t>
            </a:r>
            <a:endParaRPr lang="en-US" dirty="0" smtClean="0">
              <a:solidFill>
                <a:srgbClr val="0070C0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и</a:t>
            </a:r>
            <a:r>
              <a:rPr lang="ru-RU" dirty="0" smtClean="0">
                <a:solidFill>
                  <a:schemeClr val="tx1"/>
                </a:solidFill>
              </a:rPr>
              <a:t>спользуется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 smtClean="0">
                <a:solidFill>
                  <a:schemeClr val="tx1"/>
                </a:solidFill>
              </a:rPr>
              <a:t>параметр </a:t>
            </a:r>
            <a:r>
              <a:rPr lang="ru-RU" dirty="0" err="1">
                <a:solidFill>
                  <a:srgbClr val="0070C0"/>
                </a:solidFill>
              </a:rPr>
              <a:t>for</a:t>
            </a:r>
            <a:r>
              <a:rPr lang="ru-RU" dirty="0">
                <a:solidFill>
                  <a:schemeClr val="tx1"/>
                </a:solidFill>
              </a:rPr>
              <a:t>, аргументом для которого служит </a:t>
            </a:r>
            <a:r>
              <a:rPr lang="en-US" dirty="0">
                <a:solidFill>
                  <a:srgbClr val="0070C0"/>
                </a:solidFill>
              </a:rPr>
              <a:t>id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 элемента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511" y="2818671"/>
            <a:ext cx="8856985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form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&lt;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label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="radio1"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Импритинг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label&gt;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&lt;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 type="radio" name="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="radio1</a:t>
            </a:r>
            <a:r>
              <a:rPr lang="en-US" sz="20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ru-RU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&lt;label </a:t>
            </a:r>
            <a:r>
              <a:rPr lang="en-US" sz="20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for="radio2"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Реимпритинг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label&gt;</a:t>
            </a:r>
          </a:p>
          <a:p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&lt;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 type="radio"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name=</a:t>
            </a:r>
            <a:r>
              <a:rPr lang="en-US" sz="2000" b="1" dirty="0" smtClean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ru-RU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 smtClean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smtClean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sz="20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="radio2</a:t>
            </a:r>
            <a:r>
              <a:rPr lang="en-US" sz="2000" b="1" dirty="0" smtClean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&lt;/form&gt;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92279" y="116632"/>
            <a:ext cx="194421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</a:defRPr>
            </a:lvl1pPr>
          </a:lstStyle>
          <a:p>
            <a:r>
              <a:rPr lang="en-US" dirty="0" smtClean="0"/>
              <a:t>index</a:t>
            </a:r>
            <a:r>
              <a:rPr lang="ru-RU" dirty="0" smtClean="0"/>
              <a:t>_</a:t>
            </a:r>
            <a:r>
              <a:rPr lang="en-US" dirty="0" smtClean="0"/>
              <a:t>5.html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598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4456113" y="7993063"/>
            <a:ext cx="230187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300" b="1">
                <a:solidFill>
                  <a:srgbClr val="800000"/>
                </a:solidFill>
                <a:latin typeface="Arial Cyr" charset="0"/>
              </a:rPr>
              <a:t> </a:t>
            </a:r>
          </a:p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pic>
        <p:nvPicPr>
          <p:cNvPr id="34821" name="Picture 11" descr="cap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708920"/>
            <a:ext cx="5237706" cy="2187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Rectangle 12"/>
          <p:cNvSpPr>
            <a:spLocks noChangeArrowheads="1"/>
          </p:cNvSpPr>
          <p:nvPr/>
        </p:nvSpPr>
        <p:spPr bwMode="auto">
          <a:xfrm>
            <a:off x="127420" y="620688"/>
            <a:ext cx="7192963" cy="2014538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ru-RU" b="1" dirty="0">
                <a:latin typeface="Courier New" pitchFamily="49" charset="0"/>
              </a:rPr>
              <a:t>&lt;</a:t>
            </a:r>
            <a:r>
              <a:rPr lang="ru-RU" b="1" dirty="0" err="1">
                <a:solidFill>
                  <a:srgbClr val="0000FF"/>
                </a:solidFill>
                <a:latin typeface="Courier New" pitchFamily="49" charset="0"/>
              </a:rPr>
              <a:t>fieldset</a:t>
            </a:r>
            <a:r>
              <a:rPr lang="ru-RU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en-US" b="1" dirty="0">
                <a:latin typeface="Courier New" pitchFamily="49" charset="0"/>
              </a:rPr>
              <a:t>&lt;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legend</a:t>
            </a:r>
            <a:r>
              <a:rPr lang="en-US" b="1" dirty="0">
                <a:latin typeface="Courier New" pitchFamily="49" charset="0"/>
              </a:rPr>
              <a:t>&gt;</a:t>
            </a:r>
            <a:r>
              <a:rPr lang="en-US" b="1" dirty="0" err="1">
                <a:latin typeface="Courier New" pitchFamily="49" charset="0"/>
              </a:rPr>
              <a:t>Книги</a:t>
            </a:r>
            <a:r>
              <a:rPr lang="en-US" b="1" dirty="0">
                <a:latin typeface="Courier New" pitchFamily="49" charset="0"/>
              </a:rPr>
              <a:t>&lt;/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legend</a:t>
            </a:r>
            <a:r>
              <a:rPr lang="en-US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ru-RU" b="1" dirty="0">
                <a:latin typeface="Courier New" pitchFamily="49" charset="0"/>
              </a:rPr>
              <a:t>&lt;</a:t>
            </a:r>
            <a:r>
              <a:rPr lang="ru-RU" b="1" dirty="0" err="1">
                <a:latin typeface="Courier New" pitchFamily="49" charset="0"/>
              </a:rPr>
              <a:t>input</a:t>
            </a:r>
            <a:r>
              <a:rPr lang="ru-RU" b="1" dirty="0">
                <a:latin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</a:rPr>
              <a:t>type</a:t>
            </a:r>
            <a:r>
              <a:rPr lang="ru-RU" b="1" dirty="0">
                <a:latin typeface="Courier New" pitchFamily="49" charset="0"/>
              </a:rPr>
              <a:t>="</a:t>
            </a:r>
            <a:r>
              <a:rPr lang="ru-RU" b="1" dirty="0" err="1">
                <a:latin typeface="Courier New" pitchFamily="49" charset="0"/>
              </a:rPr>
              <a:t>checkbox</a:t>
            </a:r>
            <a:r>
              <a:rPr lang="ru-RU" b="1" dirty="0">
                <a:latin typeface="Courier New" pitchFamily="49" charset="0"/>
              </a:rPr>
              <a:t>" </a:t>
            </a:r>
            <a:r>
              <a:rPr lang="ru-RU" b="1" dirty="0" err="1">
                <a:latin typeface="Courier New" pitchFamily="49" charset="0"/>
              </a:rPr>
              <a:t>id</a:t>
            </a:r>
            <a:r>
              <a:rPr lang="ru-RU" b="1" dirty="0">
                <a:latin typeface="Courier New" pitchFamily="49" charset="0"/>
              </a:rPr>
              <a:t>="</a:t>
            </a:r>
            <a:r>
              <a:rPr lang="ru-RU" b="1" dirty="0" err="1">
                <a:latin typeface="Courier New" pitchFamily="49" charset="0"/>
              </a:rPr>
              <a:t>asp</a:t>
            </a:r>
            <a:r>
              <a:rPr lang="ru-RU" b="1" dirty="0">
                <a:latin typeface="Courier New" pitchFamily="49" charset="0"/>
              </a:rPr>
              <a:t>"&gt;ASP&lt;</a:t>
            </a:r>
            <a:r>
              <a:rPr lang="ru-RU" b="1" dirty="0" err="1">
                <a:latin typeface="Courier New" pitchFamily="49" charset="0"/>
              </a:rPr>
              <a:t>br</a:t>
            </a:r>
            <a:r>
              <a:rPr lang="ru-RU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ru-RU" b="1" dirty="0">
                <a:latin typeface="Courier New" pitchFamily="49" charset="0"/>
              </a:rPr>
              <a:t>&lt;</a:t>
            </a:r>
            <a:r>
              <a:rPr lang="ru-RU" b="1" dirty="0" err="1">
                <a:latin typeface="Courier New" pitchFamily="49" charset="0"/>
              </a:rPr>
              <a:t>input</a:t>
            </a:r>
            <a:r>
              <a:rPr lang="ru-RU" b="1" dirty="0">
                <a:latin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</a:rPr>
              <a:t>type</a:t>
            </a:r>
            <a:r>
              <a:rPr lang="ru-RU" b="1" dirty="0">
                <a:latin typeface="Courier New" pitchFamily="49" charset="0"/>
              </a:rPr>
              <a:t>="</a:t>
            </a:r>
            <a:r>
              <a:rPr lang="ru-RU" b="1" dirty="0" err="1">
                <a:latin typeface="Courier New" pitchFamily="49" charset="0"/>
              </a:rPr>
              <a:t>checkbox</a:t>
            </a:r>
            <a:r>
              <a:rPr lang="ru-RU" b="1" dirty="0">
                <a:latin typeface="Courier New" pitchFamily="49" charset="0"/>
              </a:rPr>
              <a:t>" </a:t>
            </a:r>
            <a:r>
              <a:rPr lang="ru-RU" b="1" dirty="0" err="1">
                <a:latin typeface="Courier New" pitchFamily="49" charset="0"/>
              </a:rPr>
              <a:t>id</a:t>
            </a:r>
            <a:r>
              <a:rPr lang="ru-RU" b="1" dirty="0">
                <a:latin typeface="Courier New" pitchFamily="49" charset="0"/>
              </a:rPr>
              <a:t>="</a:t>
            </a:r>
            <a:r>
              <a:rPr lang="ru-RU" b="1" dirty="0" err="1">
                <a:latin typeface="Courier New" pitchFamily="49" charset="0"/>
              </a:rPr>
              <a:t>js</a:t>
            </a:r>
            <a:r>
              <a:rPr lang="ru-RU" b="1" dirty="0">
                <a:latin typeface="Courier New" pitchFamily="49" charset="0"/>
              </a:rPr>
              <a:t>"&gt;</a:t>
            </a:r>
            <a:r>
              <a:rPr lang="ru-RU" b="1" dirty="0" err="1">
                <a:latin typeface="Courier New" pitchFamily="49" charset="0"/>
              </a:rPr>
              <a:t>JavaScript</a:t>
            </a:r>
            <a:r>
              <a:rPr lang="ru-RU" b="1" dirty="0">
                <a:latin typeface="Courier New" pitchFamily="49" charset="0"/>
              </a:rPr>
              <a:t>&lt;</a:t>
            </a:r>
            <a:r>
              <a:rPr lang="ru-RU" b="1" dirty="0" err="1">
                <a:latin typeface="Courier New" pitchFamily="49" charset="0"/>
              </a:rPr>
              <a:t>br</a:t>
            </a:r>
            <a:r>
              <a:rPr lang="ru-RU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ru-RU" b="1" dirty="0">
                <a:latin typeface="Courier New" pitchFamily="49" charset="0"/>
              </a:rPr>
              <a:t>&lt;</a:t>
            </a:r>
            <a:r>
              <a:rPr lang="ru-RU" b="1" dirty="0" err="1">
                <a:latin typeface="Courier New" pitchFamily="49" charset="0"/>
              </a:rPr>
              <a:t>input</a:t>
            </a:r>
            <a:r>
              <a:rPr lang="ru-RU" b="1" dirty="0">
                <a:latin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</a:rPr>
              <a:t>type</a:t>
            </a:r>
            <a:r>
              <a:rPr lang="ru-RU" b="1" dirty="0">
                <a:latin typeface="Courier New" pitchFamily="49" charset="0"/>
              </a:rPr>
              <a:t>="</a:t>
            </a:r>
            <a:r>
              <a:rPr lang="ru-RU" b="1" dirty="0" err="1">
                <a:latin typeface="Courier New" pitchFamily="49" charset="0"/>
              </a:rPr>
              <a:t>checkbox</a:t>
            </a:r>
            <a:r>
              <a:rPr lang="ru-RU" b="1" dirty="0">
                <a:latin typeface="Courier New" pitchFamily="49" charset="0"/>
              </a:rPr>
              <a:t>" </a:t>
            </a:r>
            <a:r>
              <a:rPr lang="ru-RU" b="1" dirty="0" err="1">
                <a:latin typeface="Courier New" pitchFamily="49" charset="0"/>
              </a:rPr>
              <a:t>id</a:t>
            </a:r>
            <a:r>
              <a:rPr lang="ru-RU" b="1" dirty="0">
                <a:latin typeface="Courier New" pitchFamily="49" charset="0"/>
              </a:rPr>
              <a:t>="</a:t>
            </a:r>
            <a:r>
              <a:rPr lang="ru-RU" b="1" dirty="0" err="1">
                <a:latin typeface="Courier New" pitchFamily="49" charset="0"/>
              </a:rPr>
              <a:t>php</a:t>
            </a:r>
            <a:r>
              <a:rPr lang="ru-RU" b="1" dirty="0">
                <a:latin typeface="Courier New" pitchFamily="49" charset="0"/>
              </a:rPr>
              <a:t>"&gt;PHP&lt;</a:t>
            </a:r>
            <a:r>
              <a:rPr lang="ru-RU" b="1" dirty="0" err="1">
                <a:latin typeface="Courier New" pitchFamily="49" charset="0"/>
              </a:rPr>
              <a:t>br</a:t>
            </a:r>
            <a:r>
              <a:rPr lang="ru-RU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ru-RU" b="1" dirty="0">
                <a:latin typeface="Courier New" pitchFamily="49" charset="0"/>
              </a:rPr>
              <a:t>&lt;</a:t>
            </a:r>
            <a:r>
              <a:rPr lang="ru-RU" b="1" dirty="0" err="1">
                <a:latin typeface="Courier New" pitchFamily="49" charset="0"/>
              </a:rPr>
              <a:t>input</a:t>
            </a:r>
            <a:r>
              <a:rPr lang="ru-RU" b="1" dirty="0">
                <a:latin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</a:rPr>
              <a:t>type</a:t>
            </a:r>
            <a:r>
              <a:rPr lang="ru-RU" b="1" dirty="0">
                <a:latin typeface="Courier New" pitchFamily="49" charset="0"/>
              </a:rPr>
              <a:t>="</a:t>
            </a:r>
            <a:r>
              <a:rPr lang="ru-RU" b="1" dirty="0" err="1">
                <a:latin typeface="Courier New" pitchFamily="49" charset="0"/>
              </a:rPr>
              <a:t>checkbox</a:t>
            </a:r>
            <a:r>
              <a:rPr lang="ru-RU" b="1" dirty="0">
                <a:latin typeface="Courier New" pitchFamily="49" charset="0"/>
              </a:rPr>
              <a:t>" </a:t>
            </a:r>
            <a:r>
              <a:rPr lang="ru-RU" b="1" dirty="0" err="1">
                <a:latin typeface="Courier New" pitchFamily="49" charset="0"/>
              </a:rPr>
              <a:t>id</a:t>
            </a:r>
            <a:r>
              <a:rPr lang="ru-RU" b="1" dirty="0">
                <a:latin typeface="Courier New" pitchFamily="49" charset="0"/>
              </a:rPr>
              <a:t>="</a:t>
            </a:r>
            <a:r>
              <a:rPr lang="ru-RU" b="1" dirty="0" err="1">
                <a:latin typeface="Courier New" pitchFamily="49" charset="0"/>
              </a:rPr>
              <a:t>html</a:t>
            </a:r>
            <a:r>
              <a:rPr lang="ru-RU" b="1" dirty="0">
                <a:latin typeface="Courier New" pitchFamily="49" charset="0"/>
              </a:rPr>
              <a:t>"&gt;HTML&lt;</a:t>
            </a:r>
            <a:r>
              <a:rPr lang="ru-RU" b="1" dirty="0" err="1">
                <a:latin typeface="Courier New" pitchFamily="49" charset="0"/>
              </a:rPr>
              <a:t>br</a:t>
            </a:r>
            <a:r>
              <a:rPr lang="ru-RU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ru-RU" b="1" dirty="0">
                <a:latin typeface="Courier New" pitchFamily="49" charset="0"/>
              </a:rPr>
              <a:t>&lt;/</a:t>
            </a:r>
            <a:r>
              <a:rPr lang="ru-RU" b="1" dirty="0" err="1">
                <a:solidFill>
                  <a:srgbClr val="0000FF"/>
                </a:solidFill>
                <a:latin typeface="Courier New" pitchFamily="49" charset="0"/>
              </a:rPr>
              <a:t>fieldset</a:t>
            </a:r>
            <a:r>
              <a:rPr lang="ru-RU" b="1" dirty="0">
                <a:latin typeface="Courier New" pitchFamily="49" charset="0"/>
              </a:rPr>
              <a:t>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420" y="77536"/>
            <a:ext cx="4218818" cy="369332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sz="2000" b="1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itchFamily="49" charset="0"/>
              </a:defRPr>
            </a:lvl1pPr>
            <a:extLst/>
          </a:lstStyle>
          <a:p>
            <a:r>
              <a:rPr lang="ru-RU" dirty="0"/>
              <a:t>Группировка элементов форм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2280" y="75982"/>
            <a:ext cx="194603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</a:defRPr>
            </a:lvl1pPr>
          </a:lstStyle>
          <a:p>
            <a:r>
              <a:rPr lang="en-US" dirty="0" smtClean="0"/>
              <a:t>index</a:t>
            </a:r>
            <a:r>
              <a:rPr lang="ru-RU" dirty="0" smtClean="0"/>
              <a:t>_</a:t>
            </a:r>
            <a:r>
              <a:rPr lang="en-US" dirty="0" smtClean="0"/>
              <a:t>5.html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7143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76565" y="81738"/>
            <a:ext cx="6190870" cy="419854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sz="2000" b="1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itchFamily="49" charset="0"/>
              </a:defRPr>
            </a:lvl1pPr>
          </a:lstStyle>
          <a:p>
            <a:r>
              <a:rPr lang="ru-RU" dirty="0"/>
              <a:t>Дополнительные атрибуты элементов форм 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/>
          </p:nvPr>
        </p:nvGraphicFramePr>
        <p:xfrm>
          <a:off x="185319" y="693793"/>
          <a:ext cx="8851177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disabled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Делает элемент неактивным (то есть не </a:t>
                      </a:r>
                      <a:r>
                        <a:rPr lang="ru-RU" sz="18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кликабельным</a:t>
                      </a:r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Применяется ко всем видимым элементам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На сервер не отправляется 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readonly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Поле с этим атрибутом изменить нельзя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Применяется только к элементам ввода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ru-RU" sz="18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tabindex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Задает очередность </a:t>
                      </a:r>
                      <a:r>
                        <a:rPr lang="ru-RU" sz="18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перемещеня</a:t>
                      </a:r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с помощью клавиши  </a:t>
                      </a:r>
                      <a:r>
                        <a:rPr lang="ru-RU" sz="1800" b="1" kern="1200" dirty="0" smtClean="0">
                          <a:solidFill>
                            <a:schemeClr val="accent2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ТАВ</a:t>
                      </a:r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 по элементам форм (</a:t>
                      </a:r>
                      <a:r>
                        <a:rPr lang="en-US" sz="1800" b="1" kern="1200" dirty="0" smtClean="0">
                          <a:solidFill>
                            <a:schemeClr val="accent2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SHIFT</a:t>
                      </a:r>
                      <a:r>
                        <a:rPr lang="ru-RU" sz="1800" b="1" kern="1200" dirty="0" smtClean="0">
                          <a:solidFill>
                            <a:schemeClr val="accent2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+ТАВ</a:t>
                      </a:r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- обратное перемещение) 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3792">
                <a:tc>
                  <a:txBody>
                    <a:bodyPr/>
                    <a:lstStyle/>
                    <a:p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accesskey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Возможность назначить элементу 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“</a:t>
                      </a:r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горячую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”</a:t>
                      </a:r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клавишу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Поле будет получать фокус с помощью</a:t>
                      </a:r>
                    </a:p>
                    <a:p>
                      <a:r>
                        <a:rPr lang="en-US" sz="1800" b="1" kern="1200" dirty="0" smtClean="0">
                          <a:solidFill>
                            <a:schemeClr val="accent2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Shift + Alt + </a:t>
                      </a:r>
                      <a:r>
                        <a:rPr lang="ru-RU" sz="1800" b="1" kern="1200" dirty="0" err="1" smtClean="0">
                          <a:solidFill>
                            <a:schemeClr val="accent2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присвоенная_клавиша</a:t>
                      </a:r>
                      <a:endParaRPr lang="ru-RU" sz="1800" b="1" kern="1200" dirty="0" smtClean="0">
                        <a:solidFill>
                          <a:schemeClr val="accent2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131794" y="4293096"/>
            <a:ext cx="3217547" cy="92333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b="1" dirty="0">
                <a:latin typeface="Courier New" pitchFamily="49" charset="0"/>
              </a:rPr>
              <a:t>&lt;</a:t>
            </a:r>
            <a:r>
              <a:rPr lang="uk-UA" b="1" dirty="0" err="1">
                <a:latin typeface="Courier New" pitchFamily="49" charset="0"/>
              </a:rPr>
              <a:t>элемент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ru-RU" b="1" dirty="0" err="1">
                <a:solidFill>
                  <a:srgbClr val="0000FF"/>
                </a:solidFill>
                <a:latin typeface="Courier New" pitchFamily="49" charset="0"/>
              </a:rPr>
              <a:t>tabindex</a:t>
            </a:r>
            <a:r>
              <a:rPr lang="ru-RU" b="1" dirty="0">
                <a:latin typeface="Courier New" pitchFamily="49" charset="0"/>
              </a:rPr>
              <a:t>=</a:t>
            </a:r>
            <a:r>
              <a:rPr lang="en-US" b="1" dirty="0">
                <a:latin typeface="Courier New" pitchFamily="49" charset="0"/>
              </a:rPr>
              <a:t>"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b="1" dirty="0" smtClean="0">
                <a:latin typeface="Courier New" pitchFamily="49" charset="0"/>
              </a:rPr>
              <a:t>"&gt;</a:t>
            </a:r>
            <a:endParaRPr lang="ru-RU" b="1" dirty="0" smtClean="0">
              <a:latin typeface="Courier New" pitchFamily="49" charset="0"/>
            </a:endParaRPr>
          </a:p>
          <a:p>
            <a:pPr algn="ctr" eaLnBrk="0" hangingPunct="0"/>
            <a:r>
              <a:rPr lang="en-US" b="1" dirty="0">
                <a:latin typeface="Courier New" pitchFamily="49" charset="0"/>
              </a:rPr>
              <a:t>&lt;</a:t>
            </a:r>
            <a:r>
              <a:rPr lang="uk-UA" b="1" dirty="0" err="1">
                <a:latin typeface="Courier New" pitchFamily="49" charset="0"/>
              </a:rPr>
              <a:t>элемент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ru-RU" b="1" dirty="0" err="1" smtClean="0">
                <a:solidFill>
                  <a:srgbClr val="0000FF"/>
                </a:solidFill>
                <a:latin typeface="Courier New" pitchFamily="49" charset="0"/>
              </a:rPr>
              <a:t>tabindex</a:t>
            </a:r>
            <a:r>
              <a:rPr lang="ru-RU" b="1" dirty="0" smtClean="0">
                <a:latin typeface="Courier New" pitchFamily="49" charset="0"/>
              </a:rPr>
              <a:t>=</a:t>
            </a:r>
            <a:r>
              <a:rPr lang="en-US" b="1" dirty="0" smtClean="0">
                <a:latin typeface="Courier New" pitchFamily="49" charset="0"/>
              </a:rPr>
              <a:t>"</a:t>
            </a:r>
            <a:r>
              <a:rPr lang="ru-RU" b="1" dirty="0" smtClean="0">
                <a:solidFill>
                  <a:schemeClr val="accent2"/>
                </a:solidFill>
                <a:latin typeface="Courier New" pitchFamily="49" charset="0"/>
              </a:rPr>
              <a:t>2</a:t>
            </a:r>
            <a:r>
              <a:rPr lang="en-US" b="1" dirty="0" smtClean="0">
                <a:latin typeface="Courier New" pitchFamily="49" charset="0"/>
              </a:rPr>
              <a:t>"&gt;</a:t>
            </a:r>
            <a:endParaRPr lang="ru-RU" b="1" dirty="0" smtClean="0">
              <a:latin typeface="Courier New" pitchFamily="49" charset="0"/>
            </a:endParaRPr>
          </a:p>
          <a:p>
            <a:pPr algn="ctr" eaLnBrk="0" hangingPunct="0"/>
            <a:r>
              <a:rPr lang="en-US" b="1" dirty="0">
                <a:latin typeface="Courier New" pitchFamily="49" charset="0"/>
              </a:rPr>
              <a:t>&lt;</a:t>
            </a:r>
            <a:r>
              <a:rPr lang="uk-UA" b="1" dirty="0" err="1">
                <a:latin typeface="Courier New" pitchFamily="49" charset="0"/>
              </a:rPr>
              <a:t>элемент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ru-RU" b="1" dirty="0" err="1" smtClean="0">
                <a:solidFill>
                  <a:srgbClr val="0000FF"/>
                </a:solidFill>
                <a:latin typeface="Courier New" pitchFamily="49" charset="0"/>
              </a:rPr>
              <a:t>tabindex</a:t>
            </a:r>
            <a:r>
              <a:rPr lang="ru-RU" b="1" dirty="0" smtClean="0">
                <a:latin typeface="Courier New" pitchFamily="49" charset="0"/>
              </a:rPr>
              <a:t>=</a:t>
            </a:r>
            <a:r>
              <a:rPr lang="en-US" b="1" dirty="0" smtClean="0">
                <a:latin typeface="Courier New" pitchFamily="49" charset="0"/>
              </a:rPr>
              <a:t>"</a:t>
            </a:r>
            <a:r>
              <a:rPr lang="ru-RU" b="1" dirty="0" smtClean="0">
                <a:solidFill>
                  <a:schemeClr val="accent2"/>
                </a:solidFill>
                <a:latin typeface="Courier New" pitchFamily="49" charset="0"/>
              </a:rPr>
              <a:t>3</a:t>
            </a:r>
            <a:r>
              <a:rPr lang="en-US" b="1" dirty="0" smtClean="0">
                <a:latin typeface="Courier New" pitchFamily="49" charset="0"/>
              </a:rPr>
              <a:t>"&gt;</a:t>
            </a:r>
            <a:endParaRPr lang="ru-RU" b="1" dirty="0">
              <a:latin typeface="Courier New" pitchFamily="49" charset="0"/>
            </a:endParaRP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62865" y="5445224"/>
            <a:ext cx="3355406" cy="369332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b="1" dirty="0">
                <a:latin typeface="Courier New" pitchFamily="49" charset="0"/>
              </a:rPr>
              <a:t>&lt;</a:t>
            </a:r>
            <a:r>
              <a:rPr lang="uk-UA" b="1" dirty="0" err="1">
                <a:latin typeface="Courier New" pitchFamily="49" charset="0"/>
              </a:rPr>
              <a:t>элемент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</a:rPr>
              <a:t>accesskey</a:t>
            </a:r>
            <a:r>
              <a:rPr lang="ru-RU" b="1" dirty="0">
                <a:latin typeface="Courier New" pitchFamily="49" charset="0"/>
              </a:rPr>
              <a:t>=</a:t>
            </a:r>
            <a:r>
              <a:rPr lang="en-US" b="1" dirty="0">
                <a:latin typeface="Courier New" pitchFamily="49" charset="0"/>
              </a:rPr>
              <a:t>"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q</a:t>
            </a:r>
            <a:r>
              <a:rPr lang="en-US" b="1" dirty="0">
                <a:latin typeface="Courier New" pitchFamily="49" charset="0"/>
              </a:rPr>
              <a:t>"</a:t>
            </a:r>
            <a:r>
              <a:rPr lang="en-US" b="1" dirty="0" smtClean="0">
                <a:latin typeface="Courier New" pitchFamily="49" charset="0"/>
              </a:rPr>
              <a:t>&gt;</a:t>
            </a:r>
            <a:endParaRPr lang="ru-RU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2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496" y="476672"/>
            <a:ext cx="8928992" cy="39703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&lt;</a:t>
            </a:r>
            <a:r>
              <a:rPr lang="en-US" b="1" dirty="0" err="1" smtClean="0">
                <a:solidFill>
                  <a:schemeClr val="accent2"/>
                </a:solidFill>
              </a:rPr>
              <a:t>datalist</a:t>
            </a:r>
            <a:r>
              <a:rPr lang="en-US" b="1" dirty="0" smtClean="0">
                <a:solidFill>
                  <a:schemeClr val="accent2"/>
                </a:solidFill>
              </a:rPr>
              <a:t>&gt; </a:t>
            </a:r>
            <a:r>
              <a:rPr lang="en-US" b="1" dirty="0" smtClean="0"/>
              <a:t>-</a:t>
            </a:r>
            <a:r>
              <a:rPr lang="en-US" i="1" dirty="0" smtClean="0"/>
              <a:t> </a:t>
            </a:r>
            <a:r>
              <a:rPr lang="en-US" b="1" i="1" dirty="0" smtClean="0">
                <a:solidFill>
                  <a:srgbClr val="0070C0"/>
                </a:solidFill>
              </a:rPr>
              <a:t>c</a:t>
            </a:r>
            <a:r>
              <a:rPr lang="ru-RU" b="1" i="1" dirty="0" err="1" smtClean="0">
                <a:solidFill>
                  <a:srgbClr val="0070C0"/>
                </a:solidFill>
              </a:rPr>
              <a:t>оздает</a:t>
            </a:r>
            <a:r>
              <a:rPr lang="ru-RU" b="1" i="1" dirty="0" smtClean="0">
                <a:solidFill>
                  <a:srgbClr val="0070C0"/>
                </a:solidFill>
              </a:rPr>
              <a:t> </a:t>
            </a:r>
            <a:r>
              <a:rPr lang="ru-RU" b="1" i="1" dirty="0">
                <a:solidFill>
                  <a:srgbClr val="0070C0"/>
                </a:solidFill>
              </a:rPr>
              <a:t>список вариантов, </a:t>
            </a:r>
            <a:r>
              <a:rPr lang="ru-RU" b="1" i="1" dirty="0" smtClean="0">
                <a:solidFill>
                  <a:srgbClr val="0070C0"/>
                </a:solidFill>
              </a:rPr>
              <a:t>которые</a:t>
            </a:r>
            <a:endParaRPr lang="en-US" b="1" i="1" dirty="0" smtClean="0">
              <a:solidFill>
                <a:srgbClr val="0070C0"/>
              </a:solidFill>
            </a:endParaRPr>
          </a:p>
          <a:p>
            <a:r>
              <a:rPr lang="ru-RU" b="1" i="1" dirty="0" smtClean="0">
                <a:solidFill>
                  <a:srgbClr val="0070C0"/>
                </a:solidFill>
              </a:rPr>
              <a:t>можно </a:t>
            </a:r>
            <a:r>
              <a:rPr lang="ru-RU" b="1" i="1" dirty="0">
                <a:solidFill>
                  <a:srgbClr val="0070C0"/>
                </a:solidFill>
              </a:rPr>
              <a:t>выбирать при наборе в текстовом поле.</a:t>
            </a:r>
            <a:endParaRPr lang="ru-RU" b="1" i="1" dirty="0" smtClean="0">
              <a:solidFill>
                <a:srgbClr val="0070C0"/>
              </a:solidFill>
            </a:endParaRPr>
          </a:p>
          <a:p>
            <a:endParaRPr lang="ru-RU" b="1" dirty="0"/>
          </a:p>
          <a:p>
            <a:r>
              <a:rPr lang="en-US" b="1" dirty="0" smtClean="0"/>
              <a:t>&lt;</a:t>
            </a:r>
            <a:r>
              <a:rPr lang="en-US" b="1" dirty="0"/>
              <a:t>input </a:t>
            </a:r>
            <a:r>
              <a:rPr lang="en-US" b="1" dirty="0">
                <a:solidFill>
                  <a:schemeClr val="accent2"/>
                </a:solidFill>
              </a:rPr>
              <a:t>list</a:t>
            </a:r>
            <a:r>
              <a:rPr lang="en-US" b="1" dirty="0" smtClean="0"/>
              <a:t>="</a:t>
            </a:r>
            <a:r>
              <a:rPr lang="en-US" b="1" dirty="0">
                <a:solidFill>
                  <a:schemeClr val="accent2"/>
                </a:solidFill>
              </a:rPr>
              <a:t>browsers</a:t>
            </a:r>
            <a:r>
              <a:rPr lang="en-US" b="1" dirty="0"/>
              <a:t>" name= "browser</a:t>
            </a:r>
            <a:r>
              <a:rPr lang="en-US" b="1" dirty="0" smtClean="0"/>
              <a:t>"&gt;</a:t>
            </a:r>
          </a:p>
          <a:p>
            <a:endParaRPr lang="en-US" b="1" dirty="0"/>
          </a:p>
          <a:p>
            <a:r>
              <a:rPr lang="en-US" b="1" dirty="0" smtClean="0"/>
              <a:t>&lt;</a:t>
            </a:r>
            <a:r>
              <a:rPr lang="en-US" b="1" dirty="0" err="1" smtClean="0">
                <a:solidFill>
                  <a:srgbClr val="3F601A"/>
                </a:solidFill>
              </a:rPr>
              <a:t>datalist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id</a:t>
            </a:r>
            <a:r>
              <a:rPr lang="en-US" b="1" dirty="0" smtClean="0"/>
              <a:t>="</a:t>
            </a:r>
            <a:r>
              <a:rPr lang="en-US" b="1" dirty="0">
                <a:solidFill>
                  <a:schemeClr val="accent2"/>
                </a:solidFill>
              </a:rPr>
              <a:t>browsers</a:t>
            </a:r>
            <a:r>
              <a:rPr lang="en-US" b="1" dirty="0"/>
              <a:t>"&gt;</a:t>
            </a:r>
            <a:endParaRPr lang="en-US" b="1" dirty="0" smtClean="0"/>
          </a:p>
          <a:p>
            <a:r>
              <a:rPr lang="en-US" b="1" dirty="0"/>
              <a:t>	&lt;option value= "Internet Explorer"&gt;</a:t>
            </a:r>
          </a:p>
          <a:p>
            <a:r>
              <a:rPr lang="en-US" b="1" dirty="0" smtClean="0"/>
              <a:t>	&lt;</a:t>
            </a:r>
            <a:r>
              <a:rPr lang="en-US" b="1" dirty="0"/>
              <a:t>option value= "Firefox"&gt;</a:t>
            </a:r>
          </a:p>
          <a:p>
            <a:r>
              <a:rPr lang="en-US" b="1" dirty="0" smtClean="0"/>
              <a:t>&lt;/</a:t>
            </a:r>
            <a:r>
              <a:rPr lang="en-US" b="1" dirty="0" err="1" smtClean="0">
                <a:solidFill>
                  <a:srgbClr val="3F601A"/>
                </a:solidFill>
              </a:rPr>
              <a:t>datalist</a:t>
            </a:r>
            <a:r>
              <a:rPr lang="en-US" b="1" dirty="0" smtClean="0"/>
              <a:t>&gt;</a:t>
            </a:r>
          </a:p>
          <a:p>
            <a:endParaRPr lang="en-US" b="1" dirty="0"/>
          </a:p>
          <a:p>
            <a:r>
              <a:rPr lang="en-US" b="1" dirty="0">
                <a:hlinkClick r:id="rId2"/>
              </a:rPr>
              <a:t>https://</a:t>
            </a:r>
            <a:r>
              <a:rPr lang="en-US" b="1" dirty="0" smtClean="0">
                <a:hlinkClick r:id="rId2"/>
              </a:rPr>
              <a:t>developer.mozilla.org/ru/docs/Web/HTML/Element/datalist</a:t>
            </a:r>
            <a:r>
              <a:rPr lang="en-US" b="1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>
                <a:hlinkClick r:id="rId3"/>
              </a:rPr>
              <a:t>http</a:t>
            </a:r>
            <a:r>
              <a:rPr lang="en-US" b="1" dirty="0">
                <a:hlinkClick r:id="rId3"/>
              </a:rPr>
              <a:t>://</a:t>
            </a:r>
            <a:r>
              <a:rPr lang="en-US" b="1" dirty="0" smtClean="0">
                <a:hlinkClick r:id="rId3"/>
              </a:rPr>
              <a:t>goo.gl/uwLcMr</a:t>
            </a:r>
            <a:r>
              <a:rPr lang="en-US" b="1" dirty="0" smtClean="0"/>
              <a:t> </a:t>
            </a:r>
          </a:p>
          <a:p>
            <a:endParaRPr lang="ru-RU" b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6978040" y="476672"/>
            <a:ext cx="197682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datalist.html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46259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19872" y="25374"/>
            <a:ext cx="3456384" cy="40011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sz="2000" b="1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itchFamily="49" charset="0"/>
              </a:defRPr>
            </a:lvl1pPr>
          </a:lstStyle>
          <a:p>
            <a:r>
              <a:rPr lang="ru-RU" dirty="0"/>
              <a:t>Атрибуты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476672"/>
            <a:ext cx="8928992" cy="25853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autocomplete</a:t>
            </a:r>
            <a:r>
              <a:rPr lang="ru-RU" b="1" dirty="0" smtClean="0">
                <a:solidFill>
                  <a:schemeClr val="accent2"/>
                </a:solidFill>
              </a:rPr>
              <a:t> </a:t>
            </a:r>
            <a:r>
              <a:rPr lang="ru-RU" b="1" i="1" dirty="0" smtClean="0">
                <a:solidFill>
                  <a:srgbClr val="0070C0"/>
                </a:solidFill>
              </a:rPr>
              <a:t>при перемещении по страницам браузер будет </a:t>
            </a:r>
            <a:r>
              <a:rPr lang="ru-RU" b="1" i="1" dirty="0">
                <a:solidFill>
                  <a:srgbClr val="0070C0"/>
                </a:solidFill>
              </a:rPr>
              <a:t>запоминать текст в  </a:t>
            </a:r>
            <a:r>
              <a:rPr lang="ru-RU" b="1" i="1" dirty="0" smtClean="0">
                <a:solidFill>
                  <a:srgbClr val="0070C0"/>
                </a:solidFill>
              </a:rPr>
              <a:t>полях форм, </a:t>
            </a:r>
            <a:r>
              <a:rPr lang="ru-RU" b="1" i="1" dirty="0">
                <a:solidFill>
                  <a:srgbClr val="0070C0"/>
                </a:solidFill>
              </a:rPr>
              <a:t>который был введён в них ранее</a:t>
            </a:r>
            <a:r>
              <a:rPr lang="ru-RU" b="1" i="1" dirty="0" smtClean="0">
                <a:solidFill>
                  <a:srgbClr val="0070C0"/>
                </a:solidFill>
              </a:rPr>
              <a:t>.</a:t>
            </a:r>
            <a:endParaRPr lang="en-US" b="1" i="1" dirty="0" smtClean="0">
              <a:solidFill>
                <a:srgbClr val="0070C0"/>
              </a:solidFill>
            </a:endParaRPr>
          </a:p>
          <a:p>
            <a:endParaRPr lang="ru-RU" b="1" dirty="0" smtClean="0"/>
          </a:p>
          <a:p>
            <a:r>
              <a:rPr lang="ru-RU" b="1" dirty="0" smtClean="0"/>
              <a:t>Работает с элементами: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&lt;form&gt;</a:t>
            </a:r>
            <a:endParaRPr lang="ru-RU" b="1" dirty="0" smtClean="0">
              <a:solidFill>
                <a:srgbClr val="0070C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</a:rPr>
              <a:t>&lt;input&gt;</a:t>
            </a:r>
            <a:r>
              <a:rPr lang="ru-RU" b="1" dirty="0" smtClean="0">
                <a:solidFill>
                  <a:srgbClr val="0070C0"/>
                </a:solidFill>
              </a:rPr>
              <a:t> </a:t>
            </a:r>
            <a:r>
              <a:rPr lang="ru-RU" b="1" dirty="0" smtClean="0"/>
              <a:t>- </a:t>
            </a:r>
            <a:r>
              <a:rPr lang="en-US" b="1" dirty="0" smtClean="0">
                <a:solidFill>
                  <a:srgbClr val="7030A0"/>
                </a:solidFill>
              </a:rPr>
              <a:t>textbox,</a:t>
            </a:r>
            <a:r>
              <a:rPr lang="ru-RU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datepicker</a:t>
            </a:r>
            <a:r>
              <a:rPr lang="en-US" b="1" dirty="0">
                <a:solidFill>
                  <a:srgbClr val="7030A0"/>
                </a:solidFill>
              </a:rPr>
              <a:t>, range, color, </a:t>
            </a:r>
            <a:r>
              <a:rPr lang="en-US" b="1" dirty="0" err="1">
                <a:solidFill>
                  <a:srgbClr val="7030A0"/>
                </a:solidFill>
              </a:rPr>
              <a:t>url</a:t>
            </a:r>
            <a:r>
              <a:rPr lang="en-US" b="1" dirty="0">
                <a:solidFill>
                  <a:srgbClr val="7030A0"/>
                </a:solidFill>
              </a:rPr>
              <a:t>, </a:t>
            </a:r>
            <a:r>
              <a:rPr lang="en-US" b="1" dirty="0" err="1">
                <a:solidFill>
                  <a:srgbClr val="7030A0"/>
                </a:solidFill>
              </a:rPr>
              <a:t>tel</a:t>
            </a:r>
            <a:r>
              <a:rPr lang="en-US" b="1" dirty="0">
                <a:solidFill>
                  <a:srgbClr val="7030A0"/>
                </a:solidFill>
              </a:rPr>
              <a:t>, search, </a:t>
            </a:r>
            <a:endParaRPr lang="ru-RU" b="1" dirty="0" smtClean="0">
              <a:solidFill>
                <a:srgbClr val="7030A0"/>
              </a:solidFill>
            </a:endParaRPr>
          </a:p>
          <a:p>
            <a:r>
              <a:rPr lang="ru-RU" b="1" dirty="0" smtClean="0">
                <a:solidFill>
                  <a:srgbClr val="7030A0"/>
                </a:solidFill>
              </a:rPr>
              <a:t>          </a:t>
            </a:r>
            <a:r>
              <a:rPr lang="en-US" b="1" dirty="0" smtClean="0">
                <a:solidFill>
                  <a:srgbClr val="7030A0"/>
                </a:solidFill>
              </a:rPr>
              <a:t>email</a:t>
            </a:r>
            <a:r>
              <a:rPr lang="en-US" b="1" dirty="0" smtClean="0"/>
              <a:t>.</a:t>
            </a:r>
            <a:endParaRPr lang="ru-RU" b="1" dirty="0" smtClean="0"/>
          </a:p>
          <a:p>
            <a:endParaRPr lang="ru-RU" b="1" dirty="0"/>
          </a:p>
          <a:p>
            <a:r>
              <a:rPr lang="en-US" b="1" dirty="0"/>
              <a:t>&lt;input type="text" name="city" </a:t>
            </a:r>
            <a:r>
              <a:rPr lang="en-US" b="1" dirty="0">
                <a:solidFill>
                  <a:schemeClr val="accent2"/>
                </a:solidFill>
              </a:rPr>
              <a:t>autocomplete="on"</a:t>
            </a:r>
            <a:r>
              <a:rPr lang="en-US" b="1" dirty="0"/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69" y="3703965"/>
            <a:ext cx="8928992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smtClean="0"/>
              <a:t>Как выключить </a:t>
            </a:r>
            <a:r>
              <a:rPr lang="en-US" b="1" dirty="0" err="1" smtClean="0"/>
              <a:t>autocomplition</a:t>
            </a:r>
            <a:endParaRPr lang="en-US" b="1" dirty="0" smtClean="0">
              <a:hlinkClick r:id="rId2"/>
            </a:endParaRPr>
          </a:p>
          <a:p>
            <a:r>
              <a:rPr lang="en-US" b="1" dirty="0" smtClean="0">
                <a:hlinkClick r:id="rId2"/>
              </a:rPr>
              <a:t>http</a:t>
            </a:r>
            <a:r>
              <a:rPr lang="en-US" b="1" dirty="0">
                <a:hlinkClick r:id="rId2"/>
              </a:rPr>
              <a:t>://</a:t>
            </a:r>
            <a:r>
              <a:rPr lang="en-US" b="1" dirty="0" smtClean="0">
                <a:hlinkClick r:id="rId2"/>
              </a:rPr>
              <a:t>goo.gl/1Mko7x</a:t>
            </a:r>
            <a:r>
              <a:rPr lang="en-US" b="1" dirty="0" smtClean="0"/>
              <a:t> </a:t>
            </a:r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b="1" dirty="0"/>
              <a:t>&lt;input type="text" name="city" </a:t>
            </a:r>
            <a:r>
              <a:rPr lang="en-US" b="1" dirty="0">
                <a:solidFill>
                  <a:schemeClr val="accent2"/>
                </a:solidFill>
              </a:rPr>
              <a:t>autocomplete</a:t>
            </a:r>
            <a:r>
              <a:rPr lang="en-US" b="1" dirty="0" smtClean="0">
                <a:solidFill>
                  <a:schemeClr val="accent2"/>
                </a:solidFill>
              </a:rPr>
              <a:t>="off"</a:t>
            </a:r>
            <a:r>
              <a:rPr lang="en-US" b="1" dirty="0" smtClean="0"/>
              <a:t>&gt;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50762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70761" y="0"/>
            <a:ext cx="3096344" cy="40011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sz="2000" b="1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itchFamily="49" charset="0"/>
              </a:defRPr>
            </a:lvl1pPr>
          </a:lstStyle>
          <a:p>
            <a:r>
              <a:rPr lang="ru-RU" dirty="0"/>
              <a:t>Атрибуты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476672"/>
            <a:ext cx="8928992" cy="23083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autofocus</a:t>
            </a:r>
            <a:r>
              <a:rPr lang="ru-RU" b="1" dirty="0" smtClean="0">
                <a:solidFill>
                  <a:schemeClr val="accent2"/>
                </a:solidFill>
              </a:rPr>
              <a:t> - </a:t>
            </a:r>
            <a:r>
              <a:rPr lang="ru-RU" b="1" i="1" dirty="0" smtClean="0">
                <a:solidFill>
                  <a:srgbClr val="0070C0"/>
                </a:solidFill>
              </a:rPr>
              <a:t>автоматически </a:t>
            </a:r>
            <a:r>
              <a:rPr lang="ru-RU" b="1" i="1" dirty="0">
                <a:solidFill>
                  <a:srgbClr val="0070C0"/>
                </a:solidFill>
              </a:rPr>
              <a:t>устанавливает фокус в поле формы</a:t>
            </a:r>
            <a:r>
              <a:rPr lang="ru-RU" b="1" i="1" dirty="0" smtClean="0">
                <a:solidFill>
                  <a:srgbClr val="0070C0"/>
                </a:solidFill>
              </a:rPr>
              <a:t>.</a:t>
            </a:r>
            <a:endParaRPr lang="en-US" b="1" i="1" dirty="0" smtClean="0">
              <a:solidFill>
                <a:srgbClr val="0070C0"/>
              </a:solidFill>
            </a:endParaRPr>
          </a:p>
          <a:p>
            <a:endParaRPr lang="ru-RU" b="1" dirty="0"/>
          </a:p>
          <a:p>
            <a:r>
              <a:rPr lang="en-US" b="1" dirty="0"/>
              <a:t>&lt;input type="text" name="state" </a:t>
            </a:r>
            <a:r>
              <a:rPr lang="en-US" b="1" dirty="0">
                <a:solidFill>
                  <a:schemeClr val="accent2"/>
                </a:solidFill>
              </a:rPr>
              <a:t>autofocus</a:t>
            </a:r>
            <a:r>
              <a:rPr lang="en-US" b="1" dirty="0" smtClean="0"/>
              <a:t>&gt;</a:t>
            </a:r>
          </a:p>
          <a:p>
            <a:endParaRPr lang="en-US" b="1" dirty="0"/>
          </a:p>
          <a:p>
            <a:r>
              <a:rPr lang="en-US" b="1" dirty="0" smtClean="0"/>
              <a:t>Autofocus </a:t>
            </a:r>
            <a:r>
              <a:rPr lang="en-US" b="1" dirty="0" err="1" smtClean="0"/>
              <a:t>polyfill</a:t>
            </a:r>
            <a:endParaRPr lang="en-US" b="1" dirty="0" smtClean="0"/>
          </a:p>
          <a:p>
            <a:r>
              <a:rPr lang="en-US" b="1" dirty="0">
                <a:hlinkClick r:id="rId2"/>
              </a:rPr>
              <a:t>http://</a:t>
            </a:r>
            <a:r>
              <a:rPr lang="en-US" b="1" dirty="0" smtClean="0">
                <a:hlinkClick r:id="rId2"/>
              </a:rPr>
              <a:t>sampsonblog.com/489/creating-a-autofocus-polyfill</a:t>
            </a:r>
            <a:r>
              <a:rPr lang="en-US" b="1" dirty="0" smtClean="0"/>
              <a:t> </a:t>
            </a:r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2996952"/>
            <a:ext cx="8928992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placeholder</a:t>
            </a:r>
            <a:r>
              <a:rPr lang="ru-RU" b="1" dirty="0" smtClean="0">
                <a:solidFill>
                  <a:schemeClr val="accent2"/>
                </a:solidFill>
              </a:rPr>
              <a:t> - </a:t>
            </a:r>
            <a:r>
              <a:rPr lang="ru-RU" b="1" i="1" dirty="0">
                <a:solidFill>
                  <a:srgbClr val="0070C0"/>
                </a:solidFill>
              </a:rPr>
              <a:t>Выводит текст внутри поля формы, который исчезает при получении фокуса</a:t>
            </a:r>
            <a:r>
              <a:rPr lang="ru-RU" b="1" i="1" dirty="0" smtClean="0">
                <a:solidFill>
                  <a:srgbClr val="0070C0"/>
                </a:solidFill>
              </a:rPr>
              <a:t>.</a:t>
            </a:r>
          </a:p>
          <a:p>
            <a:endParaRPr lang="ru-RU" b="1" i="1" dirty="0">
              <a:solidFill>
                <a:srgbClr val="0070C0"/>
              </a:solidFill>
            </a:endParaRPr>
          </a:p>
          <a:p>
            <a:r>
              <a:rPr lang="en-US" b="1" dirty="0"/>
              <a:t>&lt;input type="text" name="name" </a:t>
            </a:r>
            <a:r>
              <a:rPr lang="en-US" b="1" dirty="0">
                <a:solidFill>
                  <a:schemeClr val="accent2"/>
                </a:solidFill>
              </a:rPr>
              <a:t>placeholder</a:t>
            </a:r>
            <a:r>
              <a:rPr lang="en-US" b="1" dirty="0"/>
              <a:t>="First Name</a:t>
            </a:r>
            <a:r>
              <a:rPr lang="en-US" b="1" dirty="0" smtClean="0"/>
              <a:t>"&gt;</a:t>
            </a:r>
          </a:p>
        </p:txBody>
      </p:sp>
    </p:spTree>
    <p:extLst>
      <p:ext uri="{BB962C8B-B14F-4D97-AF65-F5344CB8AC3E}">
        <p14:creationId xmlns:p14="http://schemas.microsoft.com/office/powerpoint/2010/main" val="317363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70076" y="8622"/>
            <a:ext cx="3203848" cy="40011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sz="2000" b="1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itchFamily="49" charset="0"/>
              </a:defRPr>
            </a:lvl1pPr>
          </a:lstStyle>
          <a:p>
            <a:r>
              <a:rPr lang="ru-RU" dirty="0"/>
              <a:t>Атрибуты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476672"/>
            <a:ext cx="8928992" cy="23083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min, max - </a:t>
            </a:r>
            <a:r>
              <a:rPr lang="ru-RU" b="1" i="1" dirty="0" smtClean="0">
                <a:solidFill>
                  <a:srgbClr val="0070C0"/>
                </a:solidFill>
              </a:rPr>
              <a:t> </a:t>
            </a:r>
            <a:r>
              <a:rPr lang="ru-RU" b="1" i="1" dirty="0">
                <a:solidFill>
                  <a:srgbClr val="0070C0"/>
                </a:solidFill>
              </a:rPr>
              <a:t>у</a:t>
            </a:r>
            <a:r>
              <a:rPr lang="ru-RU" b="1" i="1" dirty="0" smtClean="0">
                <a:solidFill>
                  <a:srgbClr val="0070C0"/>
                </a:solidFill>
              </a:rPr>
              <a:t>станавливает нижнее</a:t>
            </a:r>
            <a:r>
              <a:rPr lang="en-US" b="1" i="1" dirty="0" smtClean="0">
                <a:solidFill>
                  <a:srgbClr val="0070C0"/>
                </a:solidFill>
              </a:rPr>
              <a:t>/</a:t>
            </a:r>
            <a:r>
              <a:rPr lang="ru-RU" b="1" i="1" dirty="0" smtClean="0">
                <a:solidFill>
                  <a:srgbClr val="0070C0"/>
                </a:solidFill>
              </a:rPr>
              <a:t>верхнее </a:t>
            </a:r>
            <a:r>
              <a:rPr lang="ru-RU" b="1" i="1" dirty="0">
                <a:solidFill>
                  <a:srgbClr val="0070C0"/>
                </a:solidFill>
              </a:rPr>
              <a:t>значение для ввода числа или даты в поле формы</a:t>
            </a:r>
            <a:r>
              <a:rPr lang="ru-RU" b="1" i="1" dirty="0" smtClean="0">
                <a:solidFill>
                  <a:srgbClr val="0070C0"/>
                </a:solidFill>
              </a:rPr>
              <a:t>.</a:t>
            </a:r>
            <a:endParaRPr lang="en-US" b="1" i="1" dirty="0" smtClean="0">
              <a:solidFill>
                <a:srgbClr val="0070C0"/>
              </a:solidFill>
            </a:endParaRPr>
          </a:p>
          <a:p>
            <a:r>
              <a:rPr lang="ru-RU" b="1" dirty="0" smtClean="0"/>
              <a:t>Работает с элементами:</a:t>
            </a:r>
          </a:p>
          <a:p>
            <a:endParaRPr lang="en-US" b="1" dirty="0" smtClean="0">
              <a:solidFill>
                <a:srgbClr val="0070C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</a:rPr>
              <a:t>&lt;input&gt;</a:t>
            </a:r>
            <a:r>
              <a:rPr lang="ru-RU" b="1" dirty="0" smtClean="0">
                <a:solidFill>
                  <a:srgbClr val="0070C0"/>
                </a:solidFill>
              </a:rPr>
              <a:t> </a:t>
            </a:r>
            <a:r>
              <a:rPr lang="ru-RU" b="1" dirty="0" smtClean="0"/>
              <a:t>- </a:t>
            </a:r>
            <a:r>
              <a:rPr lang="en-US" b="1" dirty="0">
                <a:solidFill>
                  <a:srgbClr val="7030A0"/>
                </a:solidFill>
              </a:rPr>
              <a:t>number, range, date, </a:t>
            </a:r>
            <a:r>
              <a:rPr lang="en-US" b="1" dirty="0" err="1">
                <a:solidFill>
                  <a:srgbClr val="7030A0"/>
                </a:solidFill>
              </a:rPr>
              <a:t>datetime</a:t>
            </a:r>
            <a:r>
              <a:rPr lang="en-US" b="1" dirty="0">
                <a:solidFill>
                  <a:srgbClr val="7030A0"/>
                </a:solidFill>
              </a:rPr>
              <a:t>, </a:t>
            </a:r>
            <a:r>
              <a:rPr lang="en-US" b="1" dirty="0" err="1">
                <a:solidFill>
                  <a:srgbClr val="7030A0"/>
                </a:solidFill>
              </a:rPr>
              <a:t>datetime</a:t>
            </a:r>
            <a:r>
              <a:rPr lang="en-US" b="1" dirty="0">
                <a:solidFill>
                  <a:srgbClr val="7030A0"/>
                </a:solidFill>
              </a:rPr>
              <a:t>-local</a:t>
            </a:r>
            <a:r>
              <a:rPr lang="en-US" b="1" dirty="0" smtClean="0">
                <a:solidFill>
                  <a:srgbClr val="7030A0"/>
                </a:solidFill>
              </a:rPr>
              <a:t>,</a:t>
            </a:r>
          </a:p>
          <a:p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         </a:t>
            </a:r>
            <a:r>
              <a:rPr lang="en-US" b="1" dirty="0">
                <a:solidFill>
                  <a:srgbClr val="7030A0"/>
                </a:solidFill>
              </a:rPr>
              <a:t>month, time, </a:t>
            </a:r>
            <a:r>
              <a:rPr lang="ru-RU" b="1" dirty="0" smtClean="0">
                <a:solidFill>
                  <a:srgbClr val="7030A0"/>
                </a:solidFill>
              </a:rPr>
              <a:t>и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week</a:t>
            </a:r>
            <a:endParaRPr lang="ru-RU" b="1" dirty="0" smtClean="0"/>
          </a:p>
          <a:p>
            <a:endParaRPr lang="ru-RU" b="1" dirty="0"/>
          </a:p>
          <a:p>
            <a:r>
              <a:rPr lang="nb-NO" b="1" dirty="0"/>
              <a:t>&lt;input type="number" </a:t>
            </a:r>
            <a:r>
              <a:rPr lang="nb-NO" b="1" dirty="0">
                <a:solidFill>
                  <a:schemeClr val="accent2"/>
                </a:solidFill>
              </a:rPr>
              <a:t>min</a:t>
            </a:r>
            <a:r>
              <a:rPr lang="nb-NO" b="1" dirty="0"/>
              <a:t>="1" </a:t>
            </a:r>
            <a:r>
              <a:rPr lang="nb-NO" b="1" dirty="0">
                <a:solidFill>
                  <a:schemeClr val="accent2"/>
                </a:solidFill>
              </a:rPr>
              <a:t>max</a:t>
            </a:r>
            <a:r>
              <a:rPr lang="nb-NO" b="1" dirty="0"/>
              <a:t>="5"&gt;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07504" y="2852936"/>
            <a:ext cx="8928992" cy="28623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list</a:t>
            </a:r>
            <a:r>
              <a:rPr lang="ru-RU" b="1" dirty="0" smtClean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- </a:t>
            </a:r>
            <a:r>
              <a:rPr lang="ru-RU" b="1" i="1" dirty="0" smtClean="0">
                <a:solidFill>
                  <a:srgbClr val="0070C0"/>
                </a:solidFill>
              </a:rPr>
              <a:t> </a:t>
            </a:r>
            <a:r>
              <a:rPr lang="ru-RU" b="1" i="1" dirty="0">
                <a:solidFill>
                  <a:srgbClr val="0070C0"/>
                </a:solidFill>
              </a:rPr>
              <a:t>Указывает на список вариантов, созданный с помощью тега </a:t>
            </a:r>
            <a:r>
              <a:rPr lang="ru-RU" b="1" i="1" dirty="0">
                <a:solidFill>
                  <a:schemeClr val="accent2"/>
                </a:solidFill>
              </a:rPr>
              <a:t>&lt;</a:t>
            </a:r>
            <a:r>
              <a:rPr lang="ru-RU" b="1" i="1" dirty="0" err="1">
                <a:solidFill>
                  <a:schemeClr val="accent2"/>
                </a:solidFill>
              </a:rPr>
              <a:t>datalist</a:t>
            </a:r>
            <a:r>
              <a:rPr lang="ru-RU" b="1" i="1" dirty="0">
                <a:solidFill>
                  <a:schemeClr val="accent2"/>
                </a:solidFill>
              </a:rPr>
              <a:t>&gt;, </a:t>
            </a:r>
            <a:r>
              <a:rPr lang="ru-RU" b="1" i="1" dirty="0">
                <a:solidFill>
                  <a:srgbClr val="0070C0"/>
                </a:solidFill>
              </a:rPr>
              <a:t>которые можно выбирать при наборе текста. Изначально этот список скрыт и становится доступным при получении полем </a:t>
            </a:r>
            <a:r>
              <a:rPr lang="ru-RU" b="1" i="1" dirty="0" smtClean="0">
                <a:solidFill>
                  <a:srgbClr val="0070C0"/>
                </a:solidFill>
              </a:rPr>
              <a:t>фокуса.</a:t>
            </a:r>
            <a:endParaRPr lang="en-US" b="1" i="1" dirty="0" smtClean="0">
              <a:solidFill>
                <a:srgbClr val="0070C0"/>
              </a:solidFill>
            </a:endParaRPr>
          </a:p>
          <a:p>
            <a:endParaRPr lang="ru-RU" b="1" dirty="0"/>
          </a:p>
          <a:p>
            <a:r>
              <a:rPr lang="nb-NO" b="1" dirty="0"/>
              <a:t>&lt;input </a:t>
            </a:r>
            <a:r>
              <a:rPr lang="nb-NO" b="1" dirty="0">
                <a:solidFill>
                  <a:schemeClr val="accent2"/>
                </a:solidFill>
              </a:rPr>
              <a:t>list</a:t>
            </a:r>
            <a:r>
              <a:rPr lang="nb-NO" b="1" dirty="0" smtClean="0">
                <a:solidFill>
                  <a:schemeClr val="accent2"/>
                </a:solidFill>
              </a:rPr>
              <a:t>="</a:t>
            </a:r>
            <a:r>
              <a:rPr lang="nb-NO" b="1" dirty="0">
                <a:solidFill>
                  <a:schemeClr val="accent2"/>
                </a:solidFill>
              </a:rPr>
              <a:t>browsers" </a:t>
            </a:r>
            <a:r>
              <a:rPr lang="nb-NO" b="1" dirty="0"/>
              <a:t>name</a:t>
            </a:r>
            <a:r>
              <a:rPr lang="nb-NO" b="1" dirty="0" smtClean="0"/>
              <a:t>="</a:t>
            </a:r>
            <a:r>
              <a:rPr lang="nb-NO" b="1" dirty="0"/>
              <a:t>browser"&gt;</a:t>
            </a:r>
          </a:p>
          <a:p>
            <a:r>
              <a:rPr lang="nb-NO" b="1" dirty="0"/>
              <a:t>&lt;datalist </a:t>
            </a:r>
            <a:r>
              <a:rPr lang="nb-NO" b="1" dirty="0">
                <a:solidFill>
                  <a:schemeClr val="accent2"/>
                </a:solidFill>
              </a:rPr>
              <a:t>id</a:t>
            </a:r>
            <a:r>
              <a:rPr lang="nb-NO" b="1" dirty="0" smtClean="0">
                <a:solidFill>
                  <a:schemeClr val="accent2"/>
                </a:solidFill>
              </a:rPr>
              <a:t>="</a:t>
            </a:r>
            <a:r>
              <a:rPr lang="nb-NO" b="1" dirty="0">
                <a:solidFill>
                  <a:schemeClr val="accent2"/>
                </a:solidFill>
              </a:rPr>
              <a:t>browsers"</a:t>
            </a:r>
            <a:r>
              <a:rPr lang="nb-NO" b="1" dirty="0"/>
              <a:t>&gt;</a:t>
            </a:r>
          </a:p>
          <a:p>
            <a:pPr lvl="1"/>
            <a:r>
              <a:rPr lang="nb-NO" b="1" dirty="0"/>
              <a:t>&lt;option value= "Internet Explorer"&gt;</a:t>
            </a:r>
          </a:p>
          <a:p>
            <a:pPr lvl="1"/>
            <a:r>
              <a:rPr lang="nb-NO" b="1" dirty="0"/>
              <a:t>&lt;option value= "Firefox"&gt;</a:t>
            </a:r>
          </a:p>
          <a:p>
            <a:r>
              <a:rPr lang="nb-NO" b="1" dirty="0"/>
              <a:t>&lt;/datalist&gt;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7954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87824" y="22774"/>
            <a:ext cx="2808312" cy="40011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sz="2000" b="1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itchFamily="49" charset="0"/>
              </a:defRPr>
            </a:lvl1pPr>
          </a:lstStyle>
          <a:p>
            <a:r>
              <a:rPr lang="ru-RU" dirty="0"/>
              <a:t>Атрибуты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476672"/>
            <a:ext cx="8928992" cy="23083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accent2"/>
                </a:solidFill>
              </a:rPr>
              <a:t>formnovalidate</a:t>
            </a:r>
            <a:r>
              <a:rPr lang="ru-RU" b="1" dirty="0" smtClean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- </a:t>
            </a:r>
            <a:r>
              <a:rPr lang="ru-RU" b="1" i="1" dirty="0" smtClean="0">
                <a:solidFill>
                  <a:srgbClr val="0070C0"/>
                </a:solidFill>
              </a:rPr>
              <a:t> </a:t>
            </a:r>
            <a:r>
              <a:rPr lang="en-US" b="1" i="1" dirty="0">
                <a:solidFill>
                  <a:srgbClr val="0070C0"/>
                </a:solidFill>
              </a:rPr>
              <a:t>o</a:t>
            </a:r>
            <a:r>
              <a:rPr lang="ru-RU" b="1" i="1" dirty="0" err="1" smtClean="0">
                <a:solidFill>
                  <a:srgbClr val="0070C0"/>
                </a:solidFill>
              </a:rPr>
              <a:t>тменяет</a:t>
            </a:r>
            <a:r>
              <a:rPr lang="ru-RU" b="1" i="1" dirty="0" smtClean="0">
                <a:solidFill>
                  <a:srgbClr val="0070C0"/>
                </a:solidFill>
              </a:rPr>
              <a:t> </a:t>
            </a:r>
            <a:r>
              <a:rPr lang="ru-RU" b="1" i="1" dirty="0">
                <a:solidFill>
                  <a:srgbClr val="0070C0"/>
                </a:solidFill>
              </a:rPr>
              <a:t>встроенную проверку данных введенных пользователем в форме на корректность перед отправкой формы. </a:t>
            </a:r>
            <a:r>
              <a:rPr lang="ru-RU" b="1" dirty="0"/>
              <a:t>Такая проверка делается браузером автоматически для </a:t>
            </a:r>
            <a:r>
              <a:rPr lang="ru-RU" b="1" dirty="0" smtClean="0"/>
              <a:t>полей:</a:t>
            </a:r>
            <a:r>
              <a:rPr lang="ru-RU" b="1" dirty="0"/>
              <a:t> </a:t>
            </a:r>
            <a:endParaRPr lang="en-US" b="1" dirty="0" smtClean="0"/>
          </a:p>
          <a:p>
            <a:r>
              <a:rPr lang="ru-RU" b="1" dirty="0" smtClean="0">
                <a:solidFill>
                  <a:srgbClr val="7030A0"/>
                </a:solidFill>
              </a:rPr>
              <a:t>- &lt;</a:t>
            </a:r>
            <a:r>
              <a:rPr lang="ru-RU" b="1" dirty="0" err="1" smtClean="0">
                <a:solidFill>
                  <a:srgbClr val="7030A0"/>
                </a:solidFill>
              </a:rPr>
              <a:t>input</a:t>
            </a:r>
            <a:r>
              <a:rPr lang="ru-RU" b="1" dirty="0" smtClean="0">
                <a:solidFill>
                  <a:srgbClr val="7030A0"/>
                </a:solidFill>
              </a:rPr>
              <a:t>&gt;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ru-RU" b="1" dirty="0" smtClean="0"/>
              <a:t>типа</a:t>
            </a:r>
            <a:r>
              <a:rPr lang="ru-RU" b="1" dirty="0" smtClean="0">
                <a:solidFill>
                  <a:srgbClr val="7030A0"/>
                </a:solidFill>
              </a:rPr>
              <a:t> </a:t>
            </a:r>
            <a:r>
              <a:rPr lang="ru-RU" b="1" dirty="0" err="1" smtClean="0">
                <a:solidFill>
                  <a:srgbClr val="7030A0"/>
                </a:solidFill>
              </a:rPr>
              <a:t>email</a:t>
            </a:r>
            <a:r>
              <a:rPr lang="ru-RU" b="1" dirty="0" smtClean="0">
                <a:solidFill>
                  <a:srgbClr val="7030A0"/>
                </a:solidFill>
              </a:rPr>
              <a:t>, </a:t>
            </a:r>
            <a:r>
              <a:rPr lang="ru-RU" b="1" dirty="0" err="1" smtClean="0">
                <a:solidFill>
                  <a:srgbClr val="7030A0"/>
                </a:solidFill>
              </a:rPr>
              <a:t>url</a:t>
            </a:r>
            <a:r>
              <a:rPr lang="ru-RU" b="1" dirty="0" smtClean="0">
                <a:solidFill>
                  <a:srgbClr val="7030A0"/>
                </a:solidFill>
              </a:rPr>
              <a:t> </a:t>
            </a:r>
          </a:p>
          <a:p>
            <a:r>
              <a:rPr lang="ru-RU" b="1" dirty="0" smtClean="0">
                <a:solidFill>
                  <a:srgbClr val="7030A0"/>
                </a:solidFill>
              </a:rPr>
              <a:t>- при наличии  атрибута</a:t>
            </a:r>
            <a:r>
              <a:rPr lang="ru-RU" b="1" dirty="0">
                <a:solidFill>
                  <a:srgbClr val="7030A0"/>
                </a:solidFill>
              </a:rPr>
              <a:t> </a:t>
            </a:r>
            <a:r>
              <a:rPr lang="ru-RU" b="1" dirty="0" err="1">
                <a:solidFill>
                  <a:srgbClr val="7030A0"/>
                </a:solidFill>
              </a:rPr>
              <a:t>pattern</a:t>
            </a:r>
            <a:r>
              <a:rPr lang="ru-RU" b="1" dirty="0">
                <a:solidFill>
                  <a:srgbClr val="7030A0"/>
                </a:solidFill>
              </a:rPr>
              <a:t> или </a:t>
            </a:r>
            <a:r>
              <a:rPr lang="ru-RU" b="1" dirty="0" err="1">
                <a:solidFill>
                  <a:srgbClr val="7030A0"/>
                </a:solidFill>
              </a:rPr>
              <a:t>required</a:t>
            </a:r>
            <a:r>
              <a:rPr lang="ru-RU" b="1" dirty="0">
                <a:solidFill>
                  <a:srgbClr val="7030A0"/>
                </a:solidFill>
              </a:rPr>
              <a:t> у тега &lt;</a:t>
            </a:r>
            <a:r>
              <a:rPr lang="ru-RU" b="1" dirty="0" err="1">
                <a:solidFill>
                  <a:srgbClr val="7030A0"/>
                </a:solidFill>
              </a:rPr>
              <a:t>input</a:t>
            </a:r>
            <a:r>
              <a:rPr lang="ru-RU" b="1" dirty="0" smtClean="0">
                <a:solidFill>
                  <a:srgbClr val="7030A0"/>
                </a:solidFill>
              </a:rPr>
              <a:t>&gt;.</a:t>
            </a:r>
            <a:endParaRPr lang="en-US" b="1" dirty="0" smtClean="0">
              <a:solidFill>
                <a:srgbClr val="7030A0"/>
              </a:solidFill>
            </a:endParaRPr>
          </a:p>
          <a:p>
            <a:endParaRPr lang="ru-RU" b="1" dirty="0" smtClean="0">
              <a:solidFill>
                <a:srgbClr val="0070C0"/>
              </a:solidFill>
            </a:endParaRPr>
          </a:p>
          <a:p>
            <a:r>
              <a:rPr lang="en-US" b="1" dirty="0" smtClean="0"/>
              <a:t>&lt;</a:t>
            </a:r>
            <a:r>
              <a:rPr lang="en-US" b="1" dirty="0"/>
              <a:t>input type="email" name="email"&gt;</a:t>
            </a:r>
          </a:p>
          <a:p>
            <a:r>
              <a:rPr lang="en-US" b="1" dirty="0"/>
              <a:t>&lt;input type="submit" </a:t>
            </a:r>
            <a:r>
              <a:rPr lang="en-US" b="1" dirty="0" err="1" smtClean="0">
                <a:solidFill>
                  <a:schemeClr val="accent2"/>
                </a:solidFill>
              </a:rPr>
              <a:t>formnovalidate</a:t>
            </a:r>
            <a:r>
              <a:rPr lang="ru-RU" b="1" dirty="0" smtClean="0"/>
              <a:t> </a:t>
            </a:r>
            <a:r>
              <a:rPr lang="en-US" b="1" dirty="0" smtClean="0"/>
              <a:t>value</a:t>
            </a:r>
            <a:r>
              <a:rPr lang="en-US" b="1" dirty="0"/>
              <a:t>="Submit"&gt;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04" y="2920876"/>
            <a:ext cx="8928992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2"/>
                </a:solidFill>
              </a:rPr>
              <a:t>novalidate</a:t>
            </a:r>
            <a:r>
              <a:rPr lang="ru-RU" b="1" dirty="0" smtClean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- </a:t>
            </a:r>
            <a:r>
              <a:rPr lang="ru-RU" b="1" i="1" dirty="0" smtClean="0">
                <a:solidFill>
                  <a:srgbClr val="0070C0"/>
                </a:solidFill>
              </a:rPr>
              <a:t> </a:t>
            </a:r>
            <a:r>
              <a:rPr lang="en-US" b="1" i="1" dirty="0">
                <a:solidFill>
                  <a:srgbClr val="0070C0"/>
                </a:solidFill>
              </a:rPr>
              <a:t>o</a:t>
            </a:r>
            <a:r>
              <a:rPr lang="ru-RU" b="1" i="1" dirty="0" err="1" smtClean="0">
                <a:solidFill>
                  <a:srgbClr val="0070C0"/>
                </a:solidFill>
              </a:rPr>
              <a:t>тменяет</a:t>
            </a:r>
            <a:r>
              <a:rPr lang="ru-RU" b="1" i="1" dirty="0" smtClean="0">
                <a:solidFill>
                  <a:srgbClr val="0070C0"/>
                </a:solidFill>
              </a:rPr>
              <a:t> </a:t>
            </a:r>
            <a:r>
              <a:rPr lang="ru-RU" b="1" i="1" dirty="0">
                <a:solidFill>
                  <a:srgbClr val="0070C0"/>
                </a:solidFill>
              </a:rPr>
              <a:t>встроенную проверку данных </a:t>
            </a:r>
            <a:r>
              <a:rPr lang="ru-RU" b="1" i="1" dirty="0" smtClean="0">
                <a:solidFill>
                  <a:srgbClr val="0070C0"/>
                </a:solidFill>
              </a:rPr>
              <a:t>всей формы перед ее отправкой</a:t>
            </a:r>
          </a:p>
          <a:p>
            <a:endParaRPr lang="ru-RU" b="1" dirty="0" smtClean="0">
              <a:solidFill>
                <a:srgbClr val="0070C0"/>
              </a:solidFill>
            </a:endParaRPr>
          </a:p>
          <a:p>
            <a:r>
              <a:rPr lang="en-US" b="1" dirty="0" smtClean="0"/>
              <a:t>&lt;</a:t>
            </a:r>
            <a:r>
              <a:rPr lang="en-US" b="1" dirty="0"/>
              <a:t>form action= "form.html" </a:t>
            </a:r>
            <a:r>
              <a:rPr lang="en-US" b="1" dirty="0" err="1">
                <a:solidFill>
                  <a:schemeClr val="accent2"/>
                </a:solidFill>
              </a:rPr>
              <a:t>novalidate</a:t>
            </a:r>
            <a:r>
              <a:rPr lang="en-US" b="1" dirty="0"/>
              <a:t>&gt;</a:t>
            </a:r>
          </a:p>
          <a:p>
            <a:r>
              <a:rPr lang="ru-RU" b="1" dirty="0" smtClean="0"/>
              <a:t>  </a:t>
            </a:r>
            <a:r>
              <a:rPr lang="en-US" b="1" dirty="0" smtClean="0"/>
              <a:t>&lt;</a:t>
            </a:r>
            <a:r>
              <a:rPr lang="en-US" b="1" dirty="0"/>
              <a:t>input type= "text" name= "city"&gt;</a:t>
            </a:r>
          </a:p>
          <a:p>
            <a:r>
              <a:rPr lang="ru-RU" b="1" dirty="0" smtClean="0"/>
              <a:t>  </a:t>
            </a:r>
            <a:r>
              <a:rPr lang="en-US" b="1" dirty="0" smtClean="0"/>
              <a:t>&lt;</a:t>
            </a:r>
            <a:r>
              <a:rPr lang="en-US" b="1" dirty="0"/>
              <a:t>input type= "text" name= "state" autofocus&gt;</a:t>
            </a:r>
          </a:p>
          <a:p>
            <a:r>
              <a:rPr lang="en-US" b="1" dirty="0"/>
              <a:t>&lt;/form&gt;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04" y="5070083"/>
            <a:ext cx="8928992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required</a:t>
            </a:r>
            <a:r>
              <a:rPr lang="ru-RU" b="1" dirty="0" smtClean="0">
                <a:solidFill>
                  <a:schemeClr val="accent2"/>
                </a:solidFill>
              </a:rPr>
              <a:t>  </a:t>
            </a:r>
            <a:r>
              <a:rPr lang="en-US" b="1" dirty="0" smtClean="0">
                <a:solidFill>
                  <a:schemeClr val="accent2"/>
                </a:solidFill>
              </a:rPr>
              <a:t>- </a:t>
            </a:r>
            <a:r>
              <a:rPr lang="ru-RU" b="1" i="1" dirty="0" smtClean="0">
                <a:solidFill>
                  <a:srgbClr val="0070C0"/>
                </a:solidFill>
              </a:rPr>
              <a:t> </a:t>
            </a:r>
            <a:r>
              <a:rPr lang="ru-RU" b="1" i="1" dirty="0">
                <a:solidFill>
                  <a:srgbClr val="0070C0"/>
                </a:solidFill>
              </a:rPr>
              <a:t>Устанавливает поле формы обязательным для заполнения перед отправкой </a:t>
            </a:r>
            <a:r>
              <a:rPr lang="ru-RU" b="1" i="1" dirty="0" smtClean="0">
                <a:solidFill>
                  <a:srgbClr val="0070C0"/>
                </a:solidFill>
              </a:rPr>
              <a:t>формы</a:t>
            </a:r>
          </a:p>
          <a:p>
            <a:endParaRPr lang="ru-RU" b="1" i="1" dirty="0">
              <a:solidFill>
                <a:srgbClr val="0070C0"/>
              </a:solidFill>
            </a:endParaRPr>
          </a:p>
          <a:p>
            <a:r>
              <a:rPr lang="en-US" b="1" dirty="0"/>
              <a:t>&lt;input type= "text" name= "</a:t>
            </a:r>
            <a:r>
              <a:rPr lang="en-US" b="1" dirty="0" smtClean="0"/>
              <a:t>city"</a:t>
            </a:r>
            <a:r>
              <a:rPr lang="ru-RU" b="1" dirty="0" smtClean="0"/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required</a:t>
            </a:r>
            <a:r>
              <a:rPr lang="en-US" b="1" dirty="0"/>
              <a:t>&gt;</a:t>
            </a:r>
            <a:endParaRPr lang="ru-RU" b="1" dirty="0" smtClean="0"/>
          </a:p>
        </p:txBody>
      </p:sp>
    </p:spTree>
    <p:extLst>
      <p:ext uri="{BB962C8B-B14F-4D97-AF65-F5344CB8AC3E}">
        <p14:creationId xmlns:p14="http://schemas.microsoft.com/office/powerpoint/2010/main" val="155445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99792" y="8622"/>
            <a:ext cx="3096344" cy="40011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sz="2000" b="1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itchFamily="49" charset="0"/>
              </a:defRPr>
            </a:lvl1pPr>
          </a:lstStyle>
          <a:p>
            <a:r>
              <a:rPr lang="ru-RU" dirty="0"/>
              <a:t>Атрибуты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476672"/>
            <a:ext cx="8928992" cy="23083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step</a:t>
            </a:r>
            <a:r>
              <a:rPr lang="ru-RU" b="1" dirty="0" smtClean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- </a:t>
            </a:r>
            <a:r>
              <a:rPr lang="ru-RU" b="1" i="1" dirty="0" smtClean="0">
                <a:solidFill>
                  <a:srgbClr val="0070C0"/>
                </a:solidFill>
              </a:rPr>
              <a:t> </a:t>
            </a:r>
            <a:r>
              <a:rPr lang="ru-RU" b="1" i="1" dirty="0">
                <a:solidFill>
                  <a:srgbClr val="0070C0"/>
                </a:solidFill>
              </a:rPr>
              <a:t>Устанавливает шаг изменения числа для ползунков и полей ввода чисел</a:t>
            </a:r>
            <a:r>
              <a:rPr lang="ru-RU" b="1" i="1" dirty="0" smtClean="0">
                <a:solidFill>
                  <a:srgbClr val="0070C0"/>
                </a:solidFill>
              </a:rPr>
              <a:t>.</a:t>
            </a:r>
          </a:p>
          <a:p>
            <a:endParaRPr lang="ru-RU" b="1" i="1" dirty="0">
              <a:solidFill>
                <a:srgbClr val="0070C0"/>
              </a:solidFill>
            </a:endParaRPr>
          </a:p>
          <a:p>
            <a:r>
              <a:rPr lang="ru-RU" b="1" dirty="0" smtClean="0"/>
              <a:t>Работает с полями:</a:t>
            </a:r>
            <a:r>
              <a:rPr lang="ru-RU" b="1" dirty="0"/>
              <a:t> </a:t>
            </a:r>
            <a:endParaRPr lang="en-US" b="1" dirty="0" smtClean="0"/>
          </a:p>
          <a:p>
            <a:r>
              <a:rPr lang="ru-RU" b="1" dirty="0" smtClean="0">
                <a:solidFill>
                  <a:srgbClr val="7030A0"/>
                </a:solidFill>
              </a:rPr>
              <a:t>- &lt;</a:t>
            </a:r>
            <a:r>
              <a:rPr lang="ru-RU" b="1" dirty="0" err="1" smtClean="0">
                <a:solidFill>
                  <a:srgbClr val="7030A0"/>
                </a:solidFill>
              </a:rPr>
              <a:t>input</a:t>
            </a:r>
            <a:r>
              <a:rPr lang="ru-RU" b="1" dirty="0" smtClean="0">
                <a:solidFill>
                  <a:srgbClr val="7030A0"/>
                </a:solidFill>
              </a:rPr>
              <a:t>&gt;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ru-RU" b="1" dirty="0" smtClean="0"/>
              <a:t>типа</a:t>
            </a:r>
            <a:r>
              <a:rPr lang="ru-RU" b="1" dirty="0" smtClean="0">
                <a:solidFill>
                  <a:srgbClr val="7030A0"/>
                </a:solidFill>
              </a:rPr>
              <a:t>  </a:t>
            </a:r>
            <a:r>
              <a:rPr lang="en-US" b="1" dirty="0">
                <a:solidFill>
                  <a:srgbClr val="7030A0"/>
                </a:solidFill>
              </a:rPr>
              <a:t>number, range, date, </a:t>
            </a:r>
            <a:r>
              <a:rPr lang="en-US" b="1" dirty="0" err="1">
                <a:solidFill>
                  <a:srgbClr val="7030A0"/>
                </a:solidFill>
              </a:rPr>
              <a:t>datetime</a:t>
            </a:r>
            <a:r>
              <a:rPr lang="en-US" b="1" dirty="0">
                <a:solidFill>
                  <a:srgbClr val="7030A0"/>
                </a:solidFill>
              </a:rPr>
              <a:t>, </a:t>
            </a:r>
            <a:r>
              <a:rPr lang="en-US" b="1" dirty="0" err="1">
                <a:solidFill>
                  <a:srgbClr val="7030A0"/>
                </a:solidFill>
              </a:rPr>
              <a:t>datetime</a:t>
            </a:r>
            <a:r>
              <a:rPr lang="en-US" b="1" dirty="0">
                <a:solidFill>
                  <a:srgbClr val="7030A0"/>
                </a:solidFill>
              </a:rPr>
              <a:t>-local, </a:t>
            </a:r>
            <a:endParaRPr lang="ru-RU" b="1" dirty="0" smtClean="0">
              <a:solidFill>
                <a:srgbClr val="7030A0"/>
              </a:solidFill>
            </a:endParaRPr>
          </a:p>
          <a:p>
            <a:r>
              <a:rPr lang="ru-RU" b="1" dirty="0" smtClean="0">
                <a:solidFill>
                  <a:srgbClr val="7030A0"/>
                </a:solidFill>
              </a:rPr>
              <a:t>                </a:t>
            </a:r>
            <a:r>
              <a:rPr lang="en-US" b="1" dirty="0" smtClean="0">
                <a:solidFill>
                  <a:srgbClr val="7030A0"/>
                </a:solidFill>
              </a:rPr>
              <a:t>month</a:t>
            </a:r>
            <a:r>
              <a:rPr lang="en-US" b="1" dirty="0">
                <a:solidFill>
                  <a:srgbClr val="7030A0"/>
                </a:solidFill>
              </a:rPr>
              <a:t>, time, </a:t>
            </a:r>
            <a:r>
              <a:rPr lang="ru-RU" b="1" dirty="0" smtClean="0">
                <a:solidFill>
                  <a:srgbClr val="7030A0"/>
                </a:solidFill>
              </a:rPr>
              <a:t>и </a:t>
            </a:r>
            <a:r>
              <a:rPr lang="en-US" b="1" dirty="0" smtClean="0">
                <a:solidFill>
                  <a:srgbClr val="7030A0"/>
                </a:solidFill>
              </a:rPr>
              <a:t>week.</a:t>
            </a:r>
            <a:endParaRPr lang="ru-RU" b="1" dirty="0" smtClean="0">
              <a:solidFill>
                <a:srgbClr val="7030A0"/>
              </a:solidFill>
            </a:endParaRPr>
          </a:p>
          <a:p>
            <a:endParaRPr lang="ru-RU" b="1" dirty="0" smtClean="0">
              <a:solidFill>
                <a:srgbClr val="0070C0"/>
              </a:solidFill>
            </a:endParaRPr>
          </a:p>
          <a:p>
            <a:r>
              <a:rPr lang="en-US" b="1" dirty="0"/>
              <a:t>&lt;input type</a:t>
            </a:r>
            <a:r>
              <a:rPr lang="en-US" b="1" dirty="0" smtClean="0"/>
              <a:t>="</a:t>
            </a:r>
            <a:r>
              <a:rPr lang="en-US" b="1" dirty="0"/>
              <a:t>range" name= "#" </a:t>
            </a:r>
            <a:r>
              <a:rPr lang="en-US" b="1" dirty="0">
                <a:solidFill>
                  <a:schemeClr val="accent2"/>
                </a:solidFill>
              </a:rPr>
              <a:t>step</a:t>
            </a:r>
            <a:r>
              <a:rPr lang="en-US" b="1" dirty="0" smtClean="0"/>
              <a:t>="</a:t>
            </a:r>
            <a:r>
              <a:rPr lang="en-US" b="1" dirty="0"/>
              <a:t>2"&gt;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2920876"/>
            <a:ext cx="8928992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pattern</a:t>
            </a:r>
            <a:r>
              <a:rPr lang="ru-RU" b="1" dirty="0" smtClean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- </a:t>
            </a:r>
            <a:r>
              <a:rPr lang="ru-RU" b="1" i="1" dirty="0" smtClean="0">
                <a:solidFill>
                  <a:srgbClr val="0070C0"/>
                </a:solidFill>
              </a:rPr>
              <a:t> </a:t>
            </a:r>
            <a:r>
              <a:rPr lang="ru-RU" b="1" i="1" dirty="0">
                <a:solidFill>
                  <a:srgbClr val="0070C0"/>
                </a:solidFill>
              </a:rPr>
              <a:t>Указывает регулярное выражение, согласно которому требуется вводить и проверять данные в поле формы</a:t>
            </a:r>
            <a:r>
              <a:rPr lang="ru-RU" b="1" i="1" dirty="0" smtClean="0">
                <a:solidFill>
                  <a:srgbClr val="0070C0"/>
                </a:solidFill>
              </a:rPr>
              <a:t>.</a:t>
            </a:r>
          </a:p>
          <a:p>
            <a:endParaRPr lang="ru-RU" b="1" i="1" dirty="0">
              <a:solidFill>
                <a:srgbClr val="0070C0"/>
              </a:solidFill>
            </a:endParaRPr>
          </a:p>
          <a:p>
            <a:r>
              <a:rPr lang="ru-RU" b="1" dirty="0" smtClean="0"/>
              <a:t>Работает с полями:</a:t>
            </a:r>
            <a:r>
              <a:rPr lang="ru-RU" b="1" dirty="0"/>
              <a:t> </a:t>
            </a:r>
            <a:endParaRPr lang="en-US" b="1" dirty="0" smtClean="0"/>
          </a:p>
          <a:p>
            <a:r>
              <a:rPr lang="ru-RU" b="1" dirty="0" smtClean="0">
                <a:solidFill>
                  <a:srgbClr val="7030A0"/>
                </a:solidFill>
              </a:rPr>
              <a:t>&lt;</a:t>
            </a:r>
            <a:r>
              <a:rPr lang="ru-RU" b="1" dirty="0" err="1" smtClean="0">
                <a:solidFill>
                  <a:srgbClr val="7030A0"/>
                </a:solidFill>
              </a:rPr>
              <a:t>input</a:t>
            </a:r>
            <a:r>
              <a:rPr lang="ru-RU" b="1" dirty="0" smtClean="0">
                <a:solidFill>
                  <a:srgbClr val="7030A0"/>
                </a:solidFill>
              </a:rPr>
              <a:t>&gt;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ru-RU" b="1" dirty="0" smtClean="0"/>
              <a:t>типа</a:t>
            </a:r>
            <a:r>
              <a:rPr lang="ru-RU" b="1" dirty="0" smtClean="0">
                <a:solidFill>
                  <a:srgbClr val="7030A0"/>
                </a:solidFill>
              </a:rPr>
              <a:t>  </a:t>
            </a:r>
            <a:r>
              <a:rPr lang="en-US" b="1" dirty="0">
                <a:solidFill>
                  <a:srgbClr val="7030A0"/>
                </a:solidFill>
              </a:rPr>
              <a:t>text, search, </a:t>
            </a:r>
            <a:r>
              <a:rPr lang="en-US" b="1" dirty="0" err="1">
                <a:solidFill>
                  <a:srgbClr val="7030A0"/>
                </a:solidFill>
              </a:rPr>
              <a:t>url</a:t>
            </a:r>
            <a:r>
              <a:rPr lang="en-US" b="1" dirty="0">
                <a:solidFill>
                  <a:srgbClr val="7030A0"/>
                </a:solidFill>
              </a:rPr>
              <a:t>, </a:t>
            </a:r>
            <a:r>
              <a:rPr lang="en-US" b="1" dirty="0" err="1">
                <a:solidFill>
                  <a:srgbClr val="7030A0"/>
                </a:solidFill>
              </a:rPr>
              <a:t>tel</a:t>
            </a:r>
            <a:r>
              <a:rPr lang="en-US" b="1" dirty="0">
                <a:solidFill>
                  <a:srgbClr val="7030A0"/>
                </a:solidFill>
              </a:rPr>
              <a:t>, </a:t>
            </a:r>
            <a:r>
              <a:rPr lang="en-US" b="1" dirty="0" smtClean="0">
                <a:solidFill>
                  <a:srgbClr val="7030A0"/>
                </a:solidFill>
              </a:rPr>
              <a:t>email,</a:t>
            </a:r>
            <a:r>
              <a:rPr lang="ru-RU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password.</a:t>
            </a:r>
            <a:endParaRPr lang="ru-RU" b="1" dirty="0" smtClean="0">
              <a:solidFill>
                <a:srgbClr val="7030A0"/>
              </a:solidFill>
            </a:endParaRPr>
          </a:p>
          <a:p>
            <a:endParaRPr lang="ru-RU" b="1" dirty="0" smtClean="0">
              <a:solidFill>
                <a:srgbClr val="0070C0"/>
              </a:solidFill>
            </a:endParaRPr>
          </a:p>
          <a:p>
            <a:r>
              <a:rPr lang="en-US" b="1" dirty="0"/>
              <a:t>&lt;input type</a:t>
            </a:r>
            <a:r>
              <a:rPr lang="en-US" b="1" dirty="0" smtClean="0"/>
              <a:t>="</a:t>
            </a:r>
            <a:r>
              <a:rPr lang="en-US" b="1" dirty="0"/>
              <a:t>text" name</a:t>
            </a:r>
            <a:r>
              <a:rPr lang="en-US" b="1" dirty="0" smtClean="0"/>
              <a:t>="</a:t>
            </a:r>
            <a:r>
              <a:rPr lang="en-US" b="1" dirty="0" err="1"/>
              <a:t>country_code</a:t>
            </a:r>
            <a:r>
              <a:rPr lang="en-US" b="1" dirty="0"/>
              <a:t>" </a:t>
            </a:r>
            <a:r>
              <a:rPr lang="en-US" b="1" dirty="0" smtClean="0">
                <a:solidFill>
                  <a:schemeClr val="accent2"/>
                </a:solidFill>
              </a:rPr>
              <a:t>pattern="[</a:t>
            </a:r>
            <a:r>
              <a:rPr lang="en-US" b="1" dirty="0">
                <a:solidFill>
                  <a:schemeClr val="accent2"/>
                </a:solidFill>
              </a:rPr>
              <a:t>A-</a:t>
            </a:r>
            <a:r>
              <a:rPr lang="en-US" b="1" dirty="0" err="1">
                <a:solidFill>
                  <a:schemeClr val="accent2"/>
                </a:solidFill>
              </a:rPr>
              <a:t>Za</a:t>
            </a:r>
            <a:r>
              <a:rPr lang="en-US" b="1" dirty="0">
                <a:solidFill>
                  <a:schemeClr val="accent2"/>
                </a:solidFill>
              </a:rPr>
              <a:t>-z]{3</a:t>
            </a:r>
            <a:r>
              <a:rPr lang="en-US" b="1" dirty="0" smtClean="0">
                <a:solidFill>
                  <a:schemeClr val="accent2"/>
                </a:solidFill>
              </a:rPr>
              <a:t>}"</a:t>
            </a:r>
            <a:r>
              <a:rPr lang="en-US" b="1" dirty="0" smtClean="0"/>
              <a:t>&gt;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48699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15816" y="25374"/>
            <a:ext cx="3240360" cy="40011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sz="2000" b="1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itchFamily="49" charset="0"/>
              </a:defRPr>
            </a:lvl1pPr>
          </a:lstStyle>
          <a:p>
            <a:r>
              <a:rPr lang="ru-RU" dirty="0"/>
              <a:t>Атрибуты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476672"/>
            <a:ext cx="8928992" cy="1477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data-*</a:t>
            </a:r>
            <a:r>
              <a:rPr lang="ru-RU" b="1" dirty="0" smtClean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- </a:t>
            </a:r>
            <a:r>
              <a:rPr lang="ru-RU" b="1" i="1" dirty="0" smtClean="0">
                <a:solidFill>
                  <a:srgbClr val="0070C0"/>
                </a:solidFill>
              </a:rPr>
              <a:t>Это пользовательский атрибут, </a:t>
            </a:r>
          </a:p>
          <a:p>
            <a:endParaRPr lang="ru-RU" b="1" i="1" dirty="0">
              <a:solidFill>
                <a:srgbClr val="0070C0"/>
              </a:solidFill>
            </a:endParaRPr>
          </a:p>
          <a:p>
            <a:r>
              <a:rPr lang="ru-RU" b="1" dirty="0" smtClean="0"/>
              <a:t>Работает со всеми полями:</a:t>
            </a:r>
            <a:r>
              <a:rPr lang="ru-RU" b="1" dirty="0"/>
              <a:t> </a:t>
            </a:r>
            <a:endParaRPr lang="en-US" b="1" dirty="0" smtClean="0"/>
          </a:p>
          <a:p>
            <a:endParaRPr lang="ru-RU" b="1" dirty="0" smtClean="0">
              <a:solidFill>
                <a:srgbClr val="0070C0"/>
              </a:solidFill>
            </a:endParaRPr>
          </a:p>
          <a:p>
            <a:r>
              <a:rPr lang="en-US" b="1" dirty="0"/>
              <a:t>&lt;input type</a:t>
            </a:r>
            <a:r>
              <a:rPr lang="en-US" b="1" dirty="0" smtClean="0"/>
              <a:t>="text" </a:t>
            </a:r>
            <a:r>
              <a:rPr lang="en-US" b="1" dirty="0"/>
              <a:t>name= "#"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data-cat="2</a:t>
            </a:r>
            <a:r>
              <a:rPr lang="en-US" b="1" dirty="0">
                <a:solidFill>
                  <a:schemeClr val="accent2"/>
                </a:solidFill>
              </a:rPr>
              <a:t>"  </a:t>
            </a:r>
            <a:r>
              <a:rPr lang="en-US" b="1" dirty="0" smtClean="0">
                <a:solidFill>
                  <a:schemeClr val="accent2"/>
                </a:solidFill>
              </a:rPr>
              <a:t>data-test="</a:t>
            </a:r>
            <a:r>
              <a:rPr lang="en-US" b="1" dirty="0" err="1" smtClean="0">
                <a:solidFill>
                  <a:schemeClr val="accent2"/>
                </a:solidFill>
              </a:rPr>
              <a:t>myattr</a:t>
            </a:r>
            <a:r>
              <a:rPr lang="en-US" b="1" dirty="0" smtClean="0">
                <a:solidFill>
                  <a:schemeClr val="accent2"/>
                </a:solidFill>
              </a:rPr>
              <a:t>"</a:t>
            </a:r>
            <a:r>
              <a:rPr lang="en-US" b="1" dirty="0" smtClean="0"/>
              <a:t>&gt;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8209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59832" y="8965"/>
            <a:ext cx="3024336" cy="40011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sz="2000" b="1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itchFamily="49" charset="0"/>
              </a:defRPr>
            </a:lvl1pPr>
          </a:lstStyle>
          <a:p>
            <a:r>
              <a:rPr lang="ru-RU" dirty="0"/>
              <a:t>Атрибуты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476672"/>
            <a:ext cx="8928992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role</a:t>
            </a:r>
            <a:r>
              <a:rPr lang="ru-RU" b="1" dirty="0" smtClean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- </a:t>
            </a:r>
            <a:r>
              <a:rPr lang="ru-RU" b="1" i="1" dirty="0">
                <a:solidFill>
                  <a:srgbClr val="0070C0"/>
                </a:solidFill>
              </a:rPr>
              <a:t>позволяет наиболее четко указать </a:t>
            </a:r>
            <a:r>
              <a:rPr lang="ru-RU" b="1" i="1" dirty="0" smtClean="0">
                <a:solidFill>
                  <a:srgbClr val="0070C0"/>
                </a:solidFill>
              </a:rPr>
              <a:t>назначение</a:t>
            </a:r>
            <a:r>
              <a:rPr lang="en-US" b="1" i="1" dirty="0" smtClean="0">
                <a:solidFill>
                  <a:srgbClr val="0070C0"/>
                </a:solidFill>
              </a:rPr>
              <a:t> </a:t>
            </a:r>
            <a:r>
              <a:rPr lang="ru-RU" b="1" i="1" dirty="0" smtClean="0">
                <a:solidFill>
                  <a:srgbClr val="0070C0"/>
                </a:solidFill>
              </a:rPr>
              <a:t>блока</a:t>
            </a:r>
            <a:r>
              <a:rPr lang="en-US" b="1" i="1" dirty="0" smtClean="0">
                <a:solidFill>
                  <a:srgbClr val="0070C0"/>
                </a:solidFill>
              </a:rPr>
              <a:t>  </a:t>
            </a:r>
            <a:r>
              <a:rPr lang="ru-RU" b="1" i="1" dirty="0" smtClean="0">
                <a:solidFill>
                  <a:srgbClr val="0070C0"/>
                </a:solidFill>
              </a:rPr>
              <a:t>или</a:t>
            </a:r>
            <a:r>
              <a:rPr lang="en-US" b="1" i="1" dirty="0" smtClean="0">
                <a:solidFill>
                  <a:srgbClr val="0070C0"/>
                </a:solidFill>
              </a:rPr>
              <a:t> </a:t>
            </a:r>
            <a:r>
              <a:rPr lang="ru-RU" b="1" i="1" dirty="0" smtClean="0">
                <a:solidFill>
                  <a:srgbClr val="0070C0"/>
                </a:solidFill>
              </a:rPr>
              <a:t>   </a:t>
            </a:r>
          </a:p>
          <a:p>
            <a:r>
              <a:rPr lang="ru-RU" b="1" i="1" dirty="0">
                <a:solidFill>
                  <a:srgbClr val="0070C0"/>
                </a:solidFill>
              </a:rPr>
              <a:t> </a:t>
            </a:r>
            <a:r>
              <a:rPr lang="ru-RU" b="1" i="1" dirty="0" smtClean="0">
                <a:solidFill>
                  <a:srgbClr val="0070C0"/>
                </a:solidFill>
              </a:rPr>
              <a:t> элемента </a:t>
            </a:r>
            <a:r>
              <a:rPr lang="ru-RU" b="1" i="1" dirty="0">
                <a:solidFill>
                  <a:srgbClr val="0070C0"/>
                </a:solidFill>
              </a:rPr>
              <a:t>страницы при взаимодействии пользователя с сайтом</a:t>
            </a:r>
          </a:p>
          <a:p>
            <a:r>
              <a:rPr lang="en-US" b="1" dirty="0" smtClean="0"/>
              <a:t>   &lt;</a:t>
            </a:r>
            <a:r>
              <a:rPr lang="en-US" b="1" dirty="0" err="1" smtClean="0"/>
              <a:t>nav</a:t>
            </a:r>
            <a:r>
              <a:rPr lang="en-US" b="1" dirty="0" smtClean="0"/>
              <a:t> role="navigation"&gt;  ...  &lt;/</a:t>
            </a:r>
            <a:r>
              <a:rPr lang="en-US" b="1" dirty="0" err="1" smtClean="0"/>
              <a:t>nav</a:t>
            </a:r>
            <a:r>
              <a:rPr lang="en-US" b="1" dirty="0" smtClean="0"/>
              <a:t>&gt;</a:t>
            </a:r>
            <a:endParaRPr lang="ru-RU" b="1" dirty="0" smtClean="0"/>
          </a:p>
          <a:p>
            <a:endParaRPr lang="en-US" b="1" dirty="0" smtClean="0"/>
          </a:p>
          <a:p>
            <a:r>
              <a:rPr lang="ru-RU" b="1" dirty="0" smtClean="0"/>
              <a:t>Наиболее </a:t>
            </a:r>
            <a:r>
              <a:rPr lang="ru-RU" b="1" dirty="0"/>
              <a:t>часто используемые значения </a:t>
            </a:r>
            <a:endParaRPr lang="en-US" b="1" dirty="0" smtClean="0"/>
          </a:p>
          <a:p>
            <a:r>
              <a:rPr lang="en-US" b="1" dirty="0" smtClean="0"/>
              <a:t>( </a:t>
            </a:r>
            <a:r>
              <a:rPr lang="en-US" b="1" dirty="0" smtClean="0">
                <a:hlinkClick r:id="rId2"/>
              </a:rPr>
              <a:t>http</a:t>
            </a:r>
            <a:r>
              <a:rPr lang="en-US" b="1" dirty="0">
                <a:hlinkClick r:id="rId2"/>
              </a:rPr>
              <a:t>://</a:t>
            </a:r>
            <a:r>
              <a:rPr lang="en-US" b="1" dirty="0" smtClean="0">
                <a:hlinkClick r:id="rId2"/>
              </a:rPr>
              <a:t>www.w3.org/TR/wai-aria/roles#role_definitions</a:t>
            </a:r>
            <a:r>
              <a:rPr lang="en-US" b="1" dirty="0" smtClean="0"/>
              <a:t> )</a:t>
            </a:r>
            <a:endParaRPr lang="en-US" b="1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881593"/>
              </p:ext>
            </p:extLst>
          </p:nvPr>
        </p:nvGraphicFramePr>
        <p:xfrm>
          <a:off x="122486" y="2352888"/>
          <a:ext cx="8914010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8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banner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ru-RU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содержит главный заголовок или внутренний заголовок страницы. Например логотип и название сайта. Рекомендуется использовать не больше одного раза на странице.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complementary 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ru-RU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информационный блок, отделенный от основного содержания ресурса.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navigation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ru-RU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набор элементов предназначенных для навигации по документу или связанным документам. Рекомендуется использовать не больше одного раза на странице.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ru-RU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указывает область для поиска по содержимому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ru-RU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выступает в качестве основного содержания документа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48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5374"/>
            <a:ext cx="9144000" cy="369332"/>
          </a:xfrm>
          <a:prstGeom prst="rect">
            <a:avLst/>
          </a:prstGeom>
          <a:solidFill>
            <a:srgbClr val="002060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Практические советы по формам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476672"/>
            <a:ext cx="6624736" cy="40011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sz="2000" b="1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itchFamily="49" charset="0"/>
              </a:defRPr>
            </a:lvl1pPr>
          </a:lstStyle>
          <a:p>
            <a:r>
              <a:rPr lang="en-US" dirty="0" smtClean="0"/>
              <a:t>Labeling -&gt;</a:t>
            </a:r>
            <a:r>
              <a:rPr lang="uk-UA" dirty="0" smtClean="0"/>
              <a:t> форма </a:t>
            </a:r>
            <a:r>
              <a:rPr lang="uk-UA" dirty="0" err="1" smtClean="0"/>
              <a:t>должна</a:t>
            </a:r>
            <a:r>
              <a:rPr lang="uk-UA" dirty="0" smtClean="0"/>
              <a:t> </a:t>
            </a:r>
            <a:r>
              <a:rPr lang="uk-UA" dirty="0" err="1" smtClean="0"/>
              <a:t>иметь</a:t>
            </a:r>
            <a:r>
              <a:rPr lang="uk-UA" dirty="0" smtClean="0"/>
              <a:t> заголовок</a:t>
            </a:r>
            <a:r>
              <a:rPr lang="en-US" dirty="0" smtClean="0"/>
              <a:t>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052736"/>
            <a:ext cx="7299302" cy="520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2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44624"/>
            <a:ext cx="8928992" cy="648072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sz="2000" b="1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itchFamily="49" charset="0"/>
              </a:defRPr>
            </a:lvl1pPr>
          </a:lstStyle>
          <a:p>
            <a:pPr algn="l"/>
            <a:r>
              <a:rPr lang="ru-RU" dirty="0" smtClean="0"/>
              <a:t>Текст на кнопке </a:t>
            </a:r>
            <a:r>
              <a:rPr lang="ru-RU" dirty="0" err="1" smtClean="0"/>
              <a:t>должнен</a:t>
            </a:r>
            <a:r>
              <a:rPr lang="ru-RU" dirty="0" smtClean="0"/>
              <a:t> иметь продолжение фразы </a:t>
            </a:r>
            <a:endParaRPr lang="en-US" dirty="0" smtClean="0"/>
          </a:p>
          <a:p>
            <a:pPr algn="l"/>
            <a:r>
              <a:rPr lang="en-US" dirty="0" smtClean="0"/>
              <a:t>I want to … 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861966"/>
            <a:ext cx="7740352" cy="51340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1560" y="6190655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dirty="0" smtClean="0">
                <a:solidFill>
                  <a:srgbClr val="FF0000"/>
                </a:solidFill>
              </a:rPr>
              <a:t>Неправильно !!!</a:t>
            </a:r>
            <a:endParaRPr lang="ru-RU" b="1" dirty="0">
              <a:solidFill>
                <a:srgbClr val="FF0000"/>
              </a:solidFill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 flipV="1">
            <a:off x="827584" y="5733257"/>
            <a:ext cx="504056" cy="4573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33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885698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uk-UA" b="1" dirty="0" err="1" smtClean="0"/>
              <a:t>Избегать</a:t>
            </a:r>
            <a:r>
              <a:rPr lang="uk-UA" b="1" dirty="0" smtClean="0"/>
              <a:t> </a:t>
            </a:r>
            <a:r>
              <a:rPr lang="uk-UA" b="1" dirty="0" err="1" smtClean="0"/>
              <a:t>длинных</a:t>
            </a:r>
            <a:r>
              <a:rPr lang="uk-UA" b="1" dirty="0" smtClean="0"/>
              <a:t> форм – по </a:t>
            </a:r>
            <a:r>
              <a:rPr lang="uk-UA" b="1" dirty="0" err="1" smtClean="0"/>
              <a:t>возможности</a:t>
            </a:r>
            <a:r>
              <a:rPr lang="uk-UA" b="1" dirty="0" smtClean="0"/>
              <a:t> в </a:t>
            </a:r>
            <a:r>
              <a:rPr lang="uk-UA" b="1" dirty="0" err="1" smtClean="0"/>
              <a:t>форме</a:t>
            </a:r>
            <a:r>
              <a:rPr lang="uk-UA" b="1" dirty="0" smtClean="0"/>
              <a:t> </a:t>
            </a:r>
            <a:r>
              <a:rPr lang="uk-UA" b="1" dirty="0" err="1" smtClean="0"/>
              <a:t>должно</a:t>
            </a:r>
            <a:r>
              <a:rPr lang="uk-UA" b="1" dirty="0" smtClean="0"/>
              <a:t> </a:t>
            </a:r>
            <a:r>
              <a:rPr lang="uk-UA" b="1" dirty="0" err="1" smtClean="0"/>
              <a:t>быть</a:t>
            </a:r>
            <a:r>
              <a:rPr lang="uk-UA" b="1" dirty="0" smtClean="0"/>
              <a:t> </a:t>
            </a:r>
          </a:p>
          <a:p>
            <a:r>
              <a:rPr lang="uk-UA" b="1" dirty="0" smtClean="0"/>
              <a:t>2-3 поля</a:t>
            </a:r>
            <a:endParaRPr lang="ru-RU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836712"/>
            <a:ext cx="5167067" cy="55172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36096" y="980728"/>
            <a:ext cx="352839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uk-UA" b="1" dirty="0" err="1" smtClean="0"/>
              <a:t>Это</a:t>
            </a:r>
            <a:r>
              <a:rPr lang="uk-UA" b="1" dirty="0" smtClean="0"/>
              <a:t> </a:t>
            </a:r>
            <a:r>
              <a:rPr lang="uk-UA" b="1" dirty="0" err="1" smtClean="0"/>
              <a:t>слишком</a:t>
            </a:r>
            <a:r>
              <a:rPr lang="uk-UA" b="1" dirty="0" smtClean="0"/>
              <a:t> </a:t>
            </a:r>
            <a:r>
              <a:rPr lang="uk-UA" b="1" dirty="0" err="1" smtClean="0"/>
              <a:t>большая</a:t>
            </a:r>
            <a:r>
              <a:rPr lang="uk-UA" b="1" dirty="0" smtClean="0"/>
              <a:t> форма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47625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885698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uk-UA" b="1" dirty="0" smtClean="0"/>
              <a:t>У </a:t>
            </a:r>
            <a:r>
              <a:rPr lang="uk-UA" b="1" dirty="0" err="1" smtClean="0"/>
              <a:t>длинной</a:t>
            </a:r>
            <a:r>
              <a:rPr lang="uk-UA" b="1" dirty="0" smtClean="0"/>
              <a:t> </a:t>
            </a:r>
            <a:r>
              <a:rPr lang="uk-UA" b="1" dirty="0" err="1" smtClean="0"/>
              <a:t>формы</a:t>
            </a:r>
            <a:r>
              <a:rPr lang="uk-UA" b="1" dirty="0" smtClean="0"/>
              <a:t> </a:t>
            </a:r>
            <a:r>
              <a:rPr lang="uk-UA" b="1" dirty="0" err="1" smtClean="0"/>
              <a:t>надо</a:t>
            </a:r>
            <a:r>
              <a:rPr lang="uk-UA" b="1" dirty="0" smtClean="0"/>
              <a:t> </a:t>
            </a:r>
            <a:r>
              <a:rPr lang="uk-UA" b="1" dirty="0" err="1" smtClean="0"/>
              <a:t>определить</a:t>
            </a:r>
            <a:r>
              <a:rPr lang="uk-UA" b="1" dirty="0" smtClean="0"/>
              <a:t> те поля, </a:t>
            </a:r>
            <a:r>
              <a:rPr lang="uk-UA" b="1" dirty="0" err="1" smtClean="0"/>
              <a:t>которые</a:t>
            </a:r>
            <a:r>
              <a:rPr lang="uk-UA" b="1" dirty="0" smtClean="0"/>
              <a:t> </a:t>
            </a:r>
            <a:r>
              <a:rPr lang="uk-UA" b="1" dirty="0" err="1" smtClean="0"/>
              <a:t>именно</a:t>
            </a:r>
            <a:r>
              <a:rPr lang="uk-UA" b="1" dirty="0" smtClean="0"/>
              <a:t> </a:t>
            </a:r>
            <a:r>
              <a:rPr lang="uk-UA" b="1" dirty="0" err="1" smtClean="0"/>
              <a:t>сейчас</a:t>
            </a:r>
            <a:r>
              <a:rPr lang="uk-UA" b="1" dirty="0" smtClean="0"/>
              <a:t> </a:t>
            </a:r>
            <a:r>
              <a:rPr lang="uk-UA" b="1" dirty="0" err="1" smtClean="0"/>
              <a:t>неодходимы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908720"/>
            <a:ext cx="3730890" cy="393305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268760"/>
            <a:ext cx="3260626" cy="2851770"/>
          </a:xfrm>
          <a:prstGeom prst="rect">
            <a:avLst/>
          </a:prstGeom>
        </p:spPr>
      </p:pic>
      <p:sp>
        <p:nvSpPr>
          <p:cNvPr id="5" name="Стрелка вправо 4"/>
          <p:cNvSpPr/>
          <p:nvPr/>
        </p:nvSpPr>
        <p:spPr>
          <a:xfrm>
            <a:off x="3995936" y="2226593"/>
            <a:ext cx="1368152" cy="936104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645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885698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uk-UA" b="1" dirty="0" err="1" smtClean="0"/>
              <a:t>Если</a:t>
            </a:r>
            <a:r>
              <a:rPr lang="uk-UA" b="1" dirty="0" smtClean="0"/>
              <a:t> же </a:t>
            </a:r>
            <a:r>
              <a:rPr lang="uk-UA" b="1" dirty="0" err="1" smtClean="0"/>
              <a:t>полей</a:t>
            </a:r>
            <a:r>
              <a:rPr lang="uk-UA" b="1" dirty="0" smtClean="0"/>
              <a:t> </a:t>
            </a:r>
            <a:r>
              <a:rPr lang="uk-UA" b="1" dirty="0" err="1" smtClean="0"/>
              <a:t>более</a:t>
            </a:r>
            <a:r>
              <a:rPr lang="uk-UA" b="1" dirty="0" smtClean="0"/>
              <a:t> 2-3 то </a:t>
            </a:r>
            <a:r>
              <a:rPr lang="uk-UA" b="1" dirty="0" err="1" smtClean="0"/>
              <a:t>обьязательно</a:t>
            </a:r>
            <a:r>
              <a:rPr lang="uk-UA" b="1" dirty="0" smtClean="0"/>
              <a:t> </a:t>
            </a:r>
            <a:r>
              <a:rPr lang="uk-UA" b="1" dirty="0" err="1" smtClean="0"/>
              <a:t>указывать</a:t>
            </a:r>
            <a:r>
              <a:rPr lang="uk-UA" b="1" dirty="0" smtClean="0"/>
              <a:t> </a:t>
            </a:r>
            <a:r>
              <a:rPr lang="uk-UA" b="1" dirty="0" err="1" smtClean="0"/>
              <a:t>какие</a:t>
            </a:r>
            <a:r>
              <a:rPr lang="uk-UA" b="1" dirty="0" smtClean="0"/>
              <a:t> поля </a:t>
            </a:r>
            <a:r>
              <a:rPr lang="uk-UA" b="1" dirty="0" err="1" smtClean="0"/>
              <a:t>обязательны</a:t>
            </a:r>
            <a:r>
              <a:rPr lang="uk-UA" b="1" dirty="0" smtClean="0"/>
              <a:t> для </a:t>
            </a:r>
            <a:r>
              <a:rPr lang="uk-UA" b="1" dirty="0" err="1" smtClean="0"/>
              <a:t>заполнения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07" y="908720"/>
            <a:ext cx="3130644" cy="566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19872" y="908720"/>
            <a:ext cx="572412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uk-UA" b="1" dirty="0" smtClean="0"/>
              <a:t>В </a:t>
            </a:r>
            <a:r>
              <a:rPr lang="uk-UA" b="1" dirty="0" err="1" smtClean="0"/>
              <a:t>форме</a:t>
            </a:r>
            <a:r>
              <a:rPr lang="uk-UA" b="1" dirty="0" smtClean="0"/>
              <a:t> не </a:t>
            </a:r>
            <a:r>
              <a:rPr lang="uk-UA" b="1" dirty="0" err="1" smtClean="0"/>
              <a:t>указаны</a:t>
            </a:r>
            <a:r>
              <a:rPr lang="uk-UA" b="1" dirty="0" smtClean="0"/>
              <a:t> поля, </a:t>
            </a:r>
            <a:r>
              <a:rPr lang="uk-UA" b="1" dirty="0" err="1" smtClean="0"/>
              <a:t>обязательные</a:t>
            </a:r>
            <a:r>
              <a:rPr lang="uk-UA" b="1" dirty="0" smtClean="0"/>
              <a:t> для </a:t>
            </a:r>
            <a:r>
              <a:rPr lang="uk-UA" b="1" dirty="0" err="1" smtClean="0"/>
              <a:t>заполнения</a:t>
            </a:r>
            <a:r>
              <a:rPr lang="uk-UA" b="1" dirty="0" smtClean="0"/>
              <a:t>. </a:t>
            </a:r>
          </a:p>
          <a:p>
            <a:r>
              <a:rPr lang="uk-UA" b="1" dirty="0" err="1" smtClean="0"/>
              <a:t>Это</a:t>
            </a:r>
            <a:r>
              <a:rPr lang="uk-UA" b="1" dirty="0" smtClean="0"/>
              <a:t> неправильно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17996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260648"/>
            <a:ext cx="9144000" cy="482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3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885698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Взаимное расположение полей - пользователю легче читать сверху вниз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4" y="908720"/>
            <a:ext cx="8809938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08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60" y="188640"/>
            <a:ext cx="8892480" cy="630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2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88569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Никогда не использовать многоколоночные формы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620688"/>
            <a:ext cx="4815652" cy="594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47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1" y="620688"/>
            <a:ext cx="8981839" cy="498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1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30324"/>
            <a:ext cx="3455275" cy="659735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102686"/>
            <a:ext cx="3407431" cy="670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6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885698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ширина формы на разных разрешениях должна быть пропорциональна. Если остается свободное место справа - это нормально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00" y="1124744"/>
            <a:ext cx="8799488" cy="453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2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88569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для поля с </a:t>
            </a:r>
            <a:r>
              <a:rPr lang="ru-RU" b="1" dirty="0" err="1"/>
              <a:t>type</a:t>
            </a:r>
            <a:r>
              <a:rPr lang="ru-RU" b="1" dirty="0"/>
              <a:t>="</a:t>
            </a:r>
            <a:r>
              <a:rPr lang="ru-RU" b="1" dirty="0" err="1"/>
              <a:t>phone</a:t>
            </a:r>
            <a:r>
              <a:rPr lang="ru-RU" b="1" dirty="0"/>
              <a:t>" использовать только одно поле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225317"/>
            <a:ext cx="5033764" cy="19073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528" y="790975"/>
            <a:ext cx="18367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smtClean="0"/>
              <a:t>неправильно</a:t>
            </a:r>
            <a:endParaRPr lang="ru-RU" b="1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416" y="4187423"/>
            <a:ext cx="5778064" cy="147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96586" y="3683367"/>
            <a:ext cx="18367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smtClean="0"/>
              <a:t>правильно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8302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88569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Можно для </a:t>
            </a:r>
            <a:r>
              <a:rPr lang="ru-RU" b="1" dirty="0" smtClean="0"/>
              <a:t>длинной формы </a:t>
            </a:r>
            <a:r>
              <a:rPr lang="ru-RU" b="1" dirty="0"/>
              <a:t>использовать несколько страниц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45" y="836712"/>
            <a:ext cx="8780643" cy="394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7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885698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smtClean="0"/>
              <a:t>Использовать </a:t>
            </a:r>
            <a:r>
              <a:rPr lang="ru-RU" b="1" dirty="0"/>
              <a:t>не более 5 </a:t>
            </a:r>
            <a:r>
              <a:rPr lang="en-US" b="1" dirty="0"/>
              <a:t>input type="radio"</a:t>
            </a:r>
            <a:r>
              <a:rPr lang="ru-RU" b="1" dirty="0" smtClean="0"/>
              <a:t> </a:t>
            </a:r>
          </a:p>
          <a:p>
            <a:r>
              <a:rPr lang="ru-RU" b="1" dirty="0" smtClean="0"/>
              <a:t>Если </a:t>
            </a:r>
            <a:r>
              <a:rPr lang="ru-RU" b="1" dirty="0"/>
              <a:t>больше, то используем </a:t>
            </a:r>
            <a:r>
              <a:rPr lang="ru-RU" b="1" dirty="0" err="1"/>
              <a:t>select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5" y="1052736"/>
            <a:ext cx="8948773" cy="441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0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8" y="1124744"/>
            <a:ext cx="8884328" cy="35604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504" y="116632"/>
            <a:ext cx="885698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smtClean="0"/>
              <a:t>Если в </a:t>
            </a:r>
            <a:r>
              <a:rPr lang="en-US" b="1" dirty="0" smtClean="0"/>
              <a:t>select </a:t>
            </a:r>
            <a:r>
              <a:rPr lang="ru-RU" b="1" dirty="0" smtClean="0"/>
              <a:t>менее 5 </a:t>
            </a:r>
            <a:r>
              <a:rPr lang="ru-RU" b="1" dirty="0" err="1" smtClean="0"/>
              <a:t>пеунктов</a:t>
            </a:r>
            <a:r>
              <a:rPr lang="ru-RU" b="1" dirty="0" smtClean="0"/>
              <a:t>, то используем </a:t>
            </a:r>
            <a:endParaRPr lang="en-US" b="1" dirty="0" smtClean="0"/>
          </a:p>
          <a:p>
            <a:r>
              <a:rPr lang="en-US" b="1" dirty="0" smtClean="0"/>
              <a:t>input type=</a:t>
            </a:r>
            <a:r>
              <a:rPr lang="en-US" b="1" dirty="0"/>
              <a:t>"</a:t>
            </a:r>
            <a:r>
              <a:rPr lang="en-US" b="1" dirty="0" smtClean="0"/>
              <a:t>radio</a:t>
            </a:r>
            <a:r>
              <a:rPr lang="en-US" b="1" dirty="0"/>
              <a:t>"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262093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88569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smtClean="0"/>
              <a:t>После </a:t>
            </a:r>
            <a:r>
              <a:rPr lang="ru-RU" b="1" dirty="0"/>
              <a:t>отправки формы - всегда </a:t>
            </a:r>
            <a:r>
              <a:rPr lang="ru-RU" b="1" dirty="0" err="1" smtClean="0"/>
              <a:t>показывть</a:t>
            </a:r>
            <a:r>
              <a:rPr lang="ru-RU" b="1" dirty="0" smtClean="0"/>
              <a:t> </a:t>
            </a:r>
            <a:r>
              <a:rPr lang="ru-RU" b="1" dirty="0" err="1" smtClean="0"/>
              <a:t>feedback</a:t>
            </a:r>
            <a:r>
              <a:rPr lang="ru-RU" b="1" dirty="0" smtClean="0"/>
              <a:t> 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505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51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88569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smtClean="0"/>
              <a:t>Высота </a:t>
            </a:r>
            <a:r>
              <a:rPr lang="ru-RU" b="1" dirty="0"/>
              <a:t>поля </a:t>
            </a:r>
            <a:r>
              <a:rPr lang="ru-RU" b="1" dirty="0" smtClean="0"/>
              <a:t> - не </a:t>
            </a:r>
            <a:r>
              <a:rPr lang="ru-RU" b="1" dirty="0"/>
              <a:t>менее 44px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4704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2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91780" y="44624"/>
            <a:ext cx="39604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uk-UA" b="1" dirty="0" err="1" smtClean="0"/>
              <a:t>Сброс</a:t>
            </a:r>
            <a:r>
              <a:rPr lang="uk-UA" b="1" dirty="0" smtClean="0"/>
              <a:t> </a:t>
            </a:r>
            <a:r>
              <a:rPr lang="uk-UA" b="1" dirty="0" err="1" smtClean="0"/>
              <a:t>стилей</a:t>
            </a:r>
            <a:r>
              <a:rPr lang="uk-UA" b="1" dirty="0" smtClean="0"/>
              <a:t> для форм</a:t>
            </a:r>
            <a:endParaRPr lang="ru-RU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79512" y="539388"/>
            <a:ext cx="4104456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1. </a:t>
            </a:r>
            <a:r>
              <a:rPr lang="uk-UA" b="1" dirty="0" err="1" smtClean="0"/>
              <a:t>Внутрення</a:t>
            </a:r>
            <a:r>
              <a:rPr lang="uk-UA" b="1" dirty="0" smtClean="0"/>
              <a:t> </a:t>
            </a:r>
            <a:r>
              <a:rPr lang="uk-UA" b="1" dirty="0" err="1" smtClean="0"/>
              <a:t>тень</a:t>
            </a:r>
            <a:r>
              <a:rPr lang="uk-UA" b="1" dirty="0" smtClean="0"/>
              <a:t> в </a:t>
            </a:r>
            <a:r>
              <a:rPr lang="en-US" b="1" dirty="0" smtClean="0"/>
              <a:t>iOS </a:t>
            </a:r>
            <a:endParaRPr lang="en-US" b="1" dirty="0"/>
          </a:p>
          <a:p>
            <a:endParaRPr lang="ru-RU" b="1" dirty="0" smtClean="0"/>
          </a:p>
          <a:p>
            <a:r>
              <a:rPr lang="uk-UA" b="1" dirty="0" err="1">
                <a:solidFill>
                  <a:srgbClr val="C00000"/>
                </a:solidFill>
              </a:rPr>
              <a:t>Решение</a:t>
            </a:r>
            <a:endParaRPr lang="en-US" b="1" dirty="0"/>
          </a:p>
          <a:p>
            <a:r>
              <a:rPr lang="en-US" b="1" dirty="0"/>
              <a:t>input,</a:t>
            </a:r>
          </a:p>
          <a:p>
            <a:r>
              <a:rPr lang="en-US" b="1" dirty="0" err="1"/>
              <a:t>textarea</a:t>
            </a:r>
            <a:r>
              <a:rPr lang="en-US" b="1" dirty="0"/>
              <a:t> {</a:t>
            </a:r>
          </a:p>
          <a:p>
            <a:r>
              <a:rPr lang="en-US" b="1" dirty="0"/>
              <a:t>  -</a:t>
            </a:r>
            <a:r>
              <a:rPr lang="en-US" b="1" dirty="0" err="1"/>
              <a:t>webkit</a:t>
            </a:r>
            <a:r>
              <a:rPr lang="en-US" b="1" dirty="0"/>
              <a:t>-appearance: none;</a:t>
            </a:r>
          </a:p>
          <a:p>
            <a:r>
              <a:rPr lang="en-US" b="1" dirty="0"/>
              <a:t>}</a:t>
            </a:r>
          </a:p>
          <a:p>
            <a:pPr algn="ctr"/>
            <a:endParaRPr lang="ru-RU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539388"/>
            <a:ext cx="3333750" cy="1266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0183" y="3068960"/>
            <a:ext cx="560595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2. </a:t>
            </a:r>
            <a:r>
              <a:rPr lang="ru-RU" b="1" dirty="0" err="1"/>
              <a:t>Input</a:t>
            </a:r>
            <a:r>
              <a:rPr lang="ru-RU" b="1" dirty="0"/>
              <a:t> </a:t>
            </a:r>
            <a:r>
              <a:rPr lang="en-US" b="1" dirty="0" smtClean="0"/>
              <a:t>t</a:t>
            </a:r>
            <a:r>
              <a:rPr lang="ru-RU" b="1" dirty="0" err="1" smtClean="0"/>
              <a:t>ype</a:t>
            </a:r>
            <a:r>
              <a:rPr lang="en-US" b="1" dirty="0" smtClean="0"/>
              <a:t>="f</a:t>
            </a:r>
            <a:r>
              <a:rPr lang="ru-RU" b="1" dirty="0" err="1" smtClean="0"/>
              <a:t>ile</a:t>
            </a:r>
            <a:r>
              <a:rPr lang="en-US" b="1" dirty="0"/>
              <a:t>"</a:t>
            </a:r>
            <a:r>
              <a:rPr lang="ru-RU" b="1" dirty="0" smtClean="0"/>
              <a:t> </a:t>
            </a:r>
            <a:r>
              <a:rPr lang="ru-RU" b="1" dirty="0"/>
              <a:t>- если установить </a:t>
            </a:r>
            <a:endParaRPr lang="ru-RU" b="1" dirty="0" smtClean="0"/>
          </a:p>
          <a:p>
            <a:r>
              <a:rPr lang="uk-UA" b="1" dirty="0" smtClean="0"/>
              <a:t>полю </a:t>
            </a:r>
            <a:r>
              <a:rPr lang="ru-RU" b="1" dirty="0" err="1" smtClean="0">
                <a:solidFill>
                  <a:srgbClr val="002060"/>
                </a:solidFill>
              </a:rPr>
              <a:t>height</a:t>
            </a:r>
            <a:r>
              <a:rPr lang="ru-RU" b="1" dirty="0"/>
              <a:t>, то </a:t>
            </a:r>
            <a:r>
              <a:rPr lang="ru-RU" b="1" dirty="0" err="1"/>
              <a:t>Firefox</a:t>
            </a:r>
            <a:r>
              <a:rPr lang="ru-RU" b="1" dirty="0"/>
              <a:t> </a:t>
            </a:r>
            <a:r>
              <a:rPr lang="ru-RU" b="1" dirty="0" smtClean="0"/>
              <a:t>отобразит</a:t>
            </a:r>
          </a:p>
          <a:p>
            <a:r>
              <a:rPr lang="ru-RU" b="1" dirty="0" smtClean="0"/>
              <a:t>поле некорректно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4893384"/>
            <a:ext cx="3333750" cy="100012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2930550"/>
            <a:ext cx="3333750" cy="1200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9107" y="4931871"/>
            <a:ext cx="488534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uk-UA" b="1" dirty="0" err="1" smtClean="0">
                <a:solidFill>
                  <a:srgbClr val="C00000"/>
                </a:solidFill>
              </a:rPr>
              <a:t>Решение</a:t>
            </a:r>
            <a:endParaRPr lang="uk-UA" b="1" dirty="0" smtClean="0">
              <a:solidFill>
                <a:srgbClr val="C00000"/>
              </a:solidFill>
            </a:endParaRPr>
          </a:p>
          <a:p>
            <a:r>
              <a:rPr lang="ru-RU" b="1" dirty="0" smtClean="0"/>
              <a:t>Выставлять  </a:t>
            </a:r>
            <a:r>
              <a:rPr lang="ru-RU" b="1" dirty="0" err="1" smtClean="0">
                <a:solidFill>
                  <a:srgbClr val="002060"/>
                </a:solidFill>
              </a:rPr>
              <a:t>min-height</a:t>
            </a:r>
            <a:r>
              <a:rPr lang="ru-RU" b="1" dirty="0" smtClean="0">
                <a:solidFill>
                  <a:srgbClr val="002060"/>
                </a:solidFill>
              </a:rPr>
              <a:t> в</a:t>
            </a:r>
            <a:r>
              <a:rPr lang="ru-RU" b="1" dirty="0" smtClean="0"/>
              <a:t>место </a:t>
            </a:r>
            <a:r>
              <a:rPr lang="ru-RU" b="1" dirty="0" err="1">
                <a:solidFill>
                  <a:srgbClr val="002060"/>
                </a:solidFill>
              </a:rPr>
              <a:t>height</a:t>
            </a:r>
            <a:endParaRPr lang="ru-RU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44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539388"/>
            <a:ext cx="4104456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3. </a:t>
            </a:r>
            <a:r>
              <a:rPr lang="ru-RU" b="1" dirty="0" smtClean="0"/>
              <a:t>Элемент </a:t>
            </a:r>
            <a:r>
              <a:rPr lang="en-US" b="1" dirty="0"/>
              <a:t>select </a:t>
            </a:r>
            <a:r>
              <a:rPr lang="ru-RU" b="1" dirty="0" smtClean="0"/>
              <a:t>имеет в</a:t>
            </a:r>
            <a:r>
              <a:rPr lang="uk-UA" b="1" dirty="0" err="1" smtClean="0"/>
              <a:t>нутреннюю</a:t>
            </a:r>
            <a:r>
              <a:rPr lang="uk-UA" b="1" dirty="0" smtClean="0"/>
              <a:t> </a:t>
            </a:r>
            <a:r>
              <a:rPr lang="uk-UA" b="1" dirty="0" err="1"/>
              <a:t>тень</a:t>
            </a:r>
            <a:r>
              <a:rPr lang="uk-UA" b="1" dirty="0"/>
              <a:t> в </a:t>
            </a:r>
            <a:r>
              <a:rPr lang="en-US" b="1" dirty="0" smtClean="0"/>
              <a:t>iOS</a:t>
            </a:r>
            <a:endParaRPr lang="uk-UA" b="1" dirty="0" smtClean="0"/>
          </a:p>
          <a:p>
            <a:endParaRPr lang="uk-UA" b="1" dirty="0"/>
          </a:p>
          <a:p>
            <a:r>
              <a:rPr lang="uk-UA" b="1" dirty="0" err="1" smtClean="0">
                <a:solidFill>
                  <a:srgbClr val="C00000"/>
                </a:solidFill>
              </a:rPr>
              <a:t>Решение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/>
              <a:t>select {</a:t>
            </a:r>
          </a:p>
          <a:p>
            <a:r>
              <a:rPr lang="en-US" b="1" dirty="0"/>
              <a:t>  -</a:t>
            </a:r>
            <a:r>
              <a:rPr lang="en-US" b="1" dirty="0" err="1"/>
              <a:t>webkit</a:t>
            </a:r>
            <a:r>
              <a:rPr lang="en-US" b="1" dirty="0"/>
              <a:t>-appearance: none;</a:t>
            </a:r>
          </a:p>
          <a:p>
            <a:r>
              <a:rPr lang="en-US" b="1" dirty="0" smtClean="0"/>
              <a:t>}</a:t>
            </a:r>
            <a:endParaRPr lang="ru-RU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20802"/>
            <a:ext cx="4391025" cy="85725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026" y="1628800"/>
            <a:ext cx="4248971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44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83768" y="548680"/>
            <a:ext cx="396044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Thank you</a:t>
            </a:r>
          </a:p>
          <a:p>
            <a:pPr algn="ctr"/>
            <a:r>
              <a:rPr lang="en-US" b="1" dirty="0" smtClean="0"/>
              <a:t>That’s all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564172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3607</TotalTime>
  <Words>2227</Words>
  <Application>Microsoft Office PowerPoint</Application>
  <PresentationFormat>Экран (4:3)</PresentationFormat>
  <Paragraphs>442</Paragraphs>
  <Slides>52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60" baseType="lpstr">
      <vt:lpstr>Arial Cyr</vt:lpstr>
      <vt:lpstr>Arial Narrow</vt:lpstr>
      <vt:lpstr>Courier New</vt:lpstr>
      <vt:lpstr>Times New Roman</vt:lpstr>
      <vt:lpstr>Verdana</vt:lpstr>
      <vt:lpstr>Wingdings 2</vt:lpstr>
      <vt:lpstr>Wingdings 3</vt:lpstr>
      <vt:lpstr>Открытая</vt:lpstr>
      <vt:lpstr>   </vt:lpstr>
      <vt:lpstr>Презентация PowerPoint</vt:lpstr>
      <vt:lpstr>Презентация PowerPoint</vt:lpstr>
      <vt:lpstr>Парный тег  &lt;form&gt; &lt; /form&gt;</vt:lpstr>
      <vt:lpstr>Презентация PowerPoint</vt:lpstr>
      <vt:lpstr>Однострочное текстовое поле</vt:lpstr>
      <vt:lpstr>Поле для ввода пароля</vt:lpstr>
      <vt:lpstr>Многострочное поле</vt:lpstr>
      <vt:lpstr>Переключатели</vt:lpstr>
      <vt:lpstr>Презентация PowerPoint</vt:lpstr>
      <vt:lpstr>Flags</vt:lpstr>
      <vt:lpstr>Презентация PowerPoint</vt:lpstr>
      <vt:lpstr>Поле со списком</vt:lpstr>
      <vt:lpstr>Презентация PowerPoint</vt:lpstr>
      <vt:lpstr>Группирока элементов списка</vt:lpstr>
      <vt:lpstr>Презентация PowerPoint</vt:lpstr>
      <vt:lpstr>Кнопки</vt:lpstr>
      <vt:lpstr>Поле отправки файла</vt:lpstr>
      <vt:lpstr>Презентация PowerPoint</vt:lpstr>
      <vt:lpstr>Презентация PowerPoint</vt:lpstr>
      <vt:lpstr>Применение тега LABEL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</dc:creator>
  <cp:lastModifiedBy>roman</cp:lastModifiedBy>
  <cp:revision>742</cp:revision>
  <dcterms:created xsi:type="dcterms:W3CDTF">2010-11-04T13:16:08Z</dcterms:created>
  <dcterms:modified xsi:type="dcterms:W3CDTF">2018-10-05T15:53:48Z</dcterms:modified>
</cp:coreProperties>
</file>