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7"/>
  </p:notesMasterIdLst>
  <p:sldIdLst>
    <p:sldId id="256" r:id="rId2"/>
    <p:sldId id="312" r:id="rId3"/>
    <p:sldId id="315" r:id="rId4"/>
    <p:sldId id="317" r:id="rId5"/>
    <p:sldId id="296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56F2"/>
    <a:srgbClr val="456A1C"/>
    <a:srgbClr val="AB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4514" autoAdjust="0"/>
  </p:normalViewPr>
  <p:slideViewPr>
    <p:cSldViewPr>
      <p:cViewPr varScale="1">
        <p:scale>
          <a:sx n="79" d="100"/>
          <a:sy n="79" d="100"/>
        </p:scale>
        <p:origin x="109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26.12.2023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980728"/>
            <a:ext cx="8784976" cy="3240360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72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images</a:t>
            </a:r>
            <a:endParaRPr lang="ru-RU" sz="7200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3499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116632"/>
            <a:ext cx="640871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 err="1"/>
              <a:t>Формати</a:t>
            </a:r>
            <a:r>
              <a:rPr lang="ru-RU" dirty="0"/>
              <a:t> </a:t>
            </a:r>
            <a:r>
              <a:rPr lang="ru-RU" dirty="0" err="1"/>
              <a:t>зображень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використовуються</a:t>
            </a:r>
            <a:r>
              <a:rPr lang="ru-RU" dirty="0"/>
              <a:t> в 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512" y="836712"/>
            <a:ext cx="8712968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 eaLnBrk="0" hangingPunct="0"/>
            <a:r>
              <a:rPr lang="ru-RU" sz="2400" b="1" dirty="0">
                <a:solidFill>
                  <a:schemeClr val="tx2"/>
                </a:solidFill>
                <a:latin typeface="Courier New" pitchFamily="49" charset="0"/>
              </a:rPr>
              <a:t>GIF (</a:t>
            </a:r>
            <a:r>
              <a:rPr lang="en-US" sz="2400" b="1" dirty="0">
                <a:solidFill>
                  <a:schemeClr val="tx2"/>
                </a:solidFill>
                <a:latin typeface="Courier New" pitchFamily="49" charset="0"/>
              </a:rPr>
              <a:t>Graphics Interchange Format</a:t>
            </a:r>
            <a:r>
              <a:rPr lang="ru-RU" sz="2400" b="1" dirty="0">
                <a:solidFill>
                  <a:schemeClr val="tx2"/>
                </a:solidFill>
                <a:latin typeface="Courier New" pitchFamily="49" charset="0"/>
              </a:rPr>
              <a:t>)</a:t>
            </a:r>
          </a:p>
          <a:p>
            <a:pPr marL="457200" indent="-457200" eaLnBrk="0" hangingPunct="0"/>
            <a:endParaRPr lang="ru-RU" sz="2400" b="1" dirty="0">
              <a:solidFill>
                <a:schemeClr val="tx2"/>
              </a:solidFill>
              <a:latin typeface="Courier New" pitchFamily="49" charset="0"/>
            </a:endParaRPr>
          </a:p>
          <a:p>
            <a:pPr marL="457200" indent="-457200" eaLnBrk="0" hangingPunct="0"/>
            <a:r>
              <a:rPr lang="en-US" sz="2800" b="1" dirty="0">
                <a:solidFill>
                  <a:schemeClr val="tx2"/>
                </a:solidFill>
                <a:latin typeface="Courier New" pitchFamily="49" charset="0"/>
              </a:rPr>
              <a:t>JPEG (Joint Photographic Experts Group)</a:t>
            </a:r>
          </a:p>
          <a:p>
            <a:pPr marL="457200" indent="-457200" eaLnBrk="0" hangingPunct="0"/>
            <a:r>
              <a:rPr lang="uk-UA" sz="2400" b="1" dirty="0">
                <a:solidFill>
                  <a:srgbClr val="0070C0"/>
                </a:solidFill>
                <a:latin typeface="Courier New" pitchFamily="49" charset="0"/>
              </a:rPr>
              <a:t>Має розширення файлів</a:t>
            </a:r>
            <a:r>
              <a:rPr lang="ru-RU" sz="2400" b="1" dirty="0">
                <a:solidFill>
                  <a:srgbClr val="0070C0"/>
                </a:solidFill>
                <a:latin typeface="Courier New" pitchFamily="49" charset="0"/>
              </a:rPr>
              <a:t> </a:t>
            </a:r>
          </a:p>
          <a:p>
            <a:pPr marL="457200" indent="-457200" eaLnBrk="0" hangingPunct="0"/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.jpg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.jpeg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.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</a:rPr>
              <a:t>jfif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</a:rPr>
              <a:t>, .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JPG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</a:rPr>
              <a:t>, </a:t>
            </a:r>
            <a:r>
              <a:rPr lang="ru-RU" sz="2400" b="1" dirty="0">
                <a:solidFill>
                  <a:srgbClr val="0070C0"/>
                </a:solidFill>
                <a:latin typeface="Courier New" pitchFamily="49" charset="0"/>
              </a:rPr>
              <a:t>.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</a:rPr>
              <a:t>JPE</a:t>
            </a:r>
          </a:p>
          <a:p>
            <a:pPr marL="457200" indent="-457200" eaLnBrk="0" hangingPunct="0"/>
            <a:endParaRPr lang="ru-RU" sz="2400" b="1" dirty="0">
              <a:solidFill>
                <a:schemeClr val="tx2"/>
              </a:solidFill>
              <a:latin typeface="Courier New" pitchFamily="49" charset="0"/>
            </a:endParaRPr>
          </a:p>
          <a:p>
            <a:pPr marL="457200" indent="-457200" eaLnBrk="0" hangingPunct="0"/>
            <a:r>
              <a:rPr lang="en-US" sz="2400" b="1" dirty="0">
                <a:solidFill>
                  <a:schemeClr val="tx2"/>
                </a:solidFill>
                <a:latin typeface="Courier New" pitchFamily="49" charset="0"/>
              </a:rPr>
              <a:t>PNG (Portable Network Graphics)</a:t>
            </a:r>
          </a:p>
          <a:p>
            <a:pPr marL="457200" indent="-457200" eaLnBrk="0" hangingPunct="0"/>
            <a:endParaRPr lang="ru-RU" sz="2400" b="1" dirty="0">
              <a:solidFill>
                <a:schemeClr val="tx2"/>
              </a:solidFill>
              <a:latin typeface="Courier New" pitchFamily="49" charset="0"/>
            </a:endParaRPr>
          </a:p>
          <a:p>
            <a:pPr marL="457200" indent="-457200" eaLnBrk="0" hangingPunct="0"/>
            <a:endParaRPr lang="en-US" sz="2400" b="1" dirty="0">
              <a:solidFill>
                <a:schemeClr val="tx2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441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08136"/>
            <a:ext cx="439248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/>
              <a:t>Вставка </a:t>
            </a:r>
            <a:r>
              <a:rPr lang="ru-RU" dirty="0" err="1"/>
              <a:t>зображення</a:t>
            </a:r>
            <a:r>
              <a:rPr lang="ru-RU" dirty="0"/>
              <a:t> в </a:t>
            </a:r>
            <a:r>
              <a:rPr lang="en-US" dirty="0"/>
              <a:t>HTML-</a:t>
            </a:r>
            <a:r>
              <a:rPr lang="ru-RU" dirty="0"/>
              <a:t>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512" y="548680"/>
            <a:ext cx="8784976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0" hangingPunct="0"/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 err="1">
                <a:latin typeface="Courier New" pitchFamily="49" charset="0"/>
              </a:rPr>
              <a:t>img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ru-RU" sz="2400" b="1" dirty="0" err="1">
                <a:solidFill>
                  <a:srgbClr val="0000FF"/>
                </a:solidFill>
                <a:latin typeface="Courier New" pitchFamily="49" charset="0"/>
              </a:rPr>
              <a:t>src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 err="1">
                <a:solidFill>
                  <a:srgbClr val="FF3300"/>
                </a:solidFill>
                <a:latin typeface="Courier New" pitchFamily="49" charset="0"/>
              </a:rPr>
              <a:t>path_to_file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>
                <a:latin typeface="Courier New" pitchFamily="49" charset="0"/>
              </a:rPr>
              <a:t>&gt;</a:t>
            </a:r>
          </a:p>
          <a:p>
            <a:pPr eaLnBrk="0" hangingPunct="0"/>
            <a:endParaRPr lang="en-US" sz="2400" b="1" dirty="0">
              <a:latin typeface="Courier New" pitchFamily="49" charset="0"/>
            </a:endParaRPr>
          </a:p>
          <a:p>
            <a:pPr eaLnBrk="0" hangingPunct="0"/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 err="1">
                <a:latin typeface="Courier New" pitchFamily="49" charset="0"/>
              </a:rPr>
              <a:t>img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ru-RU" sz="2400" b="1" dirty="0" err="1">
                <a:solidFill>
                  <a:srgbClr val="0000FF"/>
                </a:solidFill>
                <a:latin typeface="Courier New" pitchFamily="49" charset="0"/>
              </a:rPr>
              <a:t>src</a:t>
            </a:r>
            <a:r>
              <a:rPr lang="ru-RU" sz="2400" b="1" dirty="0">
                <a:latin typeface="Courier New" pitchFamily="49" charset="0"/>
              </a:rPr>
              <a:t>=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en-US" sz="2400" b="1" dirty="0">
                <a:solidFill>
                  <a:srgbClr val="FF3300"/>
                </a:solidFill>
                <a:latin typeface="Courier New" pitchFamily="49" charset="0"/>
              </a:rPr>
              <a:t>file</a:t>
            </a:r>
            <a:r>
              <a:rPr lang="ru-RU" sz="2400" b="1" dirty="0">
                <a:solidFill>
                  <a:srgbClr val="FF3300"/>
                </a:solidFill>
                <a:latin typeface="Courier New" pitchFamily="49" charset="0"/>
              </a:rPr>
              <a:t>.</a:t>
            </a:r>
            <a:r>
              <a:rPr lang="ru-RU" sz="2400" b="1" dirty="0" err="1">
                <a:solidFill>
                  <a:srgbClr val="FF3300"/>
                </a:solidFill>
                <a:latin typeface="Courier New" pitchFamily="49" charset="0"/>
              </a:rPr>
              <a:t>gif</a:t>
            </a:r>
            <a:r>
              <a:rPr lang="en-US" sz="2400" b="1" dirty="0">
                <a:latin typeface="Courier New" pitchFamily="49" charset="0"/>
              </a:rPr>
              <a:t>"</a:t>
            </a:r>
            <a:r>
              <a:rPr lang="ru-RU" sz="2400" b="1" dirty="0">
                <a:latin typeface="Courier New" pitchFamily="49" charset="0"/>
              </a:rPr>
              <a:t>&gt; </a:t>
            </a:r>
            <a:endParaRPr lang="en-US" sz="2400" b="1" dirty="0">
              <a:latin typeface="Courier New" pitchFamily="49" charset="0"/>
            </a:endParaRPr>
          </a:p>
          <a:p>
            <a:pPr eaLnBrk="0" hangingPunct="0"/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 err="1">
                <a:latin typeface="Courier New" pitchFamily="49" charset="0"/>
              </a:rPr>
              <a:t>img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ru-RU" sz="2400" b="1" dirty="0" err="1">
                <a:solidFill>
                  <a:srgbClr val="0000FF"/>
                </a:solidFill>
                <a:latin typeface="Courier New" pitchFamily="49" charset="0"/>
              </a:rPr>
              <a:t>src</a:t>
            </a:r>
            <a:r>
              <a:rPr lang="ru-RU" sz="2400" b="1" dirty="0">
                <a:latin typeface="Courier New" pitchFamily="49" charset="0"/>
              </a:rPr>
              <a:t>="</a:t>
            </a:r>
            <a:r>
              <a:rPr lang="ru-RU" sz="2400" b="1" dirty="0" err="1">
                <a:solidFill>
                  <a:srgbClr val="FF3300"/>
                </a:solidFill>
                <a:latin typeface="Courier New" pitchFamily="49" charset="0"/>
              </a:rPr>
              <a:t>pic</a:t>
            </a:r>
            <a:r>
              <a:rPr lang="ru-RU" sz="2400" b="1" dirty="0">
                <a:solidFill>
                  <a:srgbClr val="FF3300"/>
                </a:solidFill>
                <a:latin typeface="Courier New" pitchFamily="49" charset="0"/>
              </a:rPr>
              <a:t>/</a:t>
            </a:r>
            <a:r>
              <a:rPr lang="en-US" sz="2400" b="1" dirty="0">
                <a:solidFill>
                  <a:srgbClr val="FF3300"/>
                </a:solidFill>
                <a:latin typeface="Courier New" pitchFamily="49" charset="0"/>
              </a:rPr>
              <a:t>file2</a:t>
            </a:r>
            <a:r>
              <a:rPr lang="ru-RU" sz="2400" b="1" dirty="0">
                <a:solidFill>
                  <a:srgbClr val="FF3300"/>
                </a:solidFill>
                <a:latin typeface="Courier New" pitchFamily="49" charset="0"/>
              </a:rPr>
              <a:t>.</a:t>
            </a:r>
            <a:r>
              <a:rPr lang="en-US" sz="2400" b="1" dirty="0">
                <a:solidFill>
                  <a:srgbClr val="FF3300"/>
                </a:solidFill>
                <a:latin typeface="Courier New" pitchFamily="49" charset="0"/>
              </a:rPr>
              <a:t>jpg</a:t>
            </a:r>
            <a:r>
              <a:rPr lang="ru-RU" sz="2400" b="1" dirty="0">
                <a:latin typeface="Courier New" pitchFamily="49" charset="0"/>
              </a:rPr>
              <a:t>"&gt;</a:t>
            </a:r>
            <a:endParaRPr lang="en-US" sz="2400" b="1" dirty="0">
              <a:latin typeface="Courier New" pitchFamily="49" charset="0"/>
            </a:endParaRPr>
          </a:p>
          <a:p>
            <a:pPr eaLnBrk="0" hangingPunct="0"/>
            <a:r>
              <a:rPr lang="ru-RU" sz="2400" b="1" dirty="0">
                <a:latin typeface="Courier New" pitchFamily="49" charset="0"/>
              </a:rPr>
              <a:t>&lt;</a:t>
            </a:r>
            <a:r>
              <a:rPr lang="en-US" sz="2400" b="1" dirty="0" err="1">
                <a:latin typeface="Courier New" pitchFamily="49" charset="0"/>
              </a:rPr>
              <a:t>img</a:t>
            </a:r>
            <a:r>
              <a:rPr lang="ru-RU" sz="2400" b="1" dirty="0">
                <a:latin typeface="Courier New" pitchFamily="49" charset="0"/>
              </a:rPr>
              <a:t> </a:t>
            </a:r>
            <a:r>
              <a:rPr lang="ru-RU" sz="2400" b="1" dirty="0" err="1">
                <a:solidFill>
                  <a:srgbClr val="0000FF"/>
                </a:solidFill>
                <a:latin typeface="Courier New" pitchFamily="49" charset="0"/>
              </a:rPr>
              <a:t>src</a:t>
            </a:r>
            <a:r>
              <a:rPr lang="ru-RU" sz="2400" b="1" dirty="0">
                <a:latin typeface="Courier New" pitchFamily="49" charset="0"/>
              </a:rPr>
              <a:t>="</a:t>
            </a:r>
            <a:r>
              <a:rPr lang="en-US" sz="2400" b="1" dirty="0">
                <a:solidFill>
                  <a:srgbClr val="FF3300"/>
                </a:solidFill>
                <a:latin typeface="Courier New" pitchFamily="49" charset="0"/>
              </a:rPr>
              <a:t>http://site.com/</a:t>
            </a:r>
            <a:r>
              <a:rPr lang="ru-RU" sz="2400" b="1" dirty="0" err="1">
                <a:solidFill>
                  <a:srgbClr val="FF3300"/>
                </a:solidFill>
                <a:latin typeface="Courier New" pitchFamily="49" charset="0"/>
              </a:rPr>
              <a:t>pic</a:t>
            </a:r>
            <a:r>
              <a:rPr lang="ru-RU" sz="2400" b="1" dirty="0">
                <a:solidFill>
                  <a:srgbClr val="FF3300"/>
                </a:solidFill>
                <a:latin typeface="Courier New" pitchFamily="49" charset="0"/>
              </a:rPr>
              <a:t>/img.gif</a:t>
            </a:r>
            <a:r>
              <a:rPr lang="ru-RU" sz="2400" b="1" dirty="0">
                <a:latin typeface="Courier New" pitchFamily="49" charset="0"/>
              </a:rPr>
              <a:t>"&gt;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02341" y="2558884"/>
            <a:ext cx="8568952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i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Це</a:t>
            </a:r>
            <a:r>
              <a:rPr lang="ru-RU" b="1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inline</a:t>
            </a:r>
            <a:r>
              <a:rPr lang="ru-RU" b="1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i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елемент</a:t>
            </a:r>
            <a:r>
              <a:rPr lang="ru-RU" b="1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з </a:t>
            </a:r>
            <a:r>
              <a:rPr lang="ru-RU" b="1" i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вмістом</a:t>
            </a:r>
            <a:r>
              <a:rPr lang="ru-RU" b="1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1" i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що</a:t>
            </a:r>
            <a:r>
              <a:rPr lang="ru-RU" b="1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i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заміщується</a:t>
            </a:r>
            <a:r>
              <a:rPr lang="ru-RU" b="1" i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тобто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він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передбачає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наявність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зовнішнього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файлу,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який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буде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завантажуватися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в область,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що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визначається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цим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елементом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Як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тільки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браузер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зустрічає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тег </a:t>
            </a:r>
            <a:r>
              <a: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він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створює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малу область в яку буде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завантажено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зображення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Атрибут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є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обов'язковим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він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вказує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адресу за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якою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розташоване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зображення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Коли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зображення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завантажиться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браузер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визначить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його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розміри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та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формує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розміри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створеної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області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відповідно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до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розмірів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зображення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830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93694"/>
              </p:ext>
            </p:extLst>
          </p:nvPr>
        </p:nvGraphicFramePr>
        <p:xfrm>
          <a:off x="107504" y="620688"/>
          <a:ext cx="8712262" cy="77768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296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8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а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lt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Альтернативний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текст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42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title</a:t>
                      </a:r>
                      <a:endParaRPr lang="ru-RU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Спливаюча</a:t>
                      </a:r>
                      <a:r>
                        <a:rPr lang="ru-RU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підказка</a:t>
                      </a:r>
                      <a:endParaRPr lang="ru-RU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91680" y="44624"/>
            <a:ext cx="5333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Атр</a:t>
            </a:r>
            <a:r>
              <a:rPr lang="uk-UA" b="1" dirty="0">
                <a:latin typeface="Courier New" panose="02070309020205020404" pitchFamily="49" charset="0"/>
                <a:cs typeface="Courier New" panose="02070309020205020404" pitchFamily="49" charset="0"/>
              </a:rPr>
              <a:t>і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бути  тега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alt and title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962E78-1D6D-A5DC-DDCE-7441BDE59D63}"/>
              </a:ext>
            </a:extLst>
          </p:cNvPr>
          <p:cNvSpPr txBox="1"/>
          <p:nvPr/>
        </p:nvSpPr>
        <p:spPr>
          <a:xfrm>
            <a:off x="164292" y="2708920"/>
            <a:ext cx="8728188" cy="132343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&lt;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a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</a:rPr>
              <a:t>href</a:t>
            </a:r>
            <a:r>
              <a:rPr lang="ru-RU" sz="2000" b="1" dirty="0">
                <a:latin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</a:rPr>
              <a:t>="#"&gt;</a:t>
            </a:r>
            <a:r>
              <a:rPr lang="ru-RU" sz="2000" b="1" dirty="0">
                <a:latin typeface="Courier New" pitchFamily="49" charset="0"/>
              </a:rPr>
              <a:t> </a:t>
            </a:r>
            <a:endParaRPr lang="en-US" sz="2000" b="1" dirty="0">
              <a:latin typeface="Courier New" pitchFamily="49" charset="0"/>
            </a:endParaRPr>
          </a:p>
          <a:p>
            <a:r>
              <a:rPr lang="en-US" sz="2000" b="1" dirty="0">
                <a:latin typeface="Courier New" pitchFamily="49" charset="0"/>
              </a:rPr>
              <a:t>   &lt;</a:t>
            </a:r>
            <a:r>
              <a:rPr lang="en-US" sz="2000" b="1" dirty="0" err="1">
                <a:solidFill>
                  <a:srgbClr val="0000FF"/>
                </a:solidFill>
                <a:latin typeface="Courier New" pitchFamily="49" charset="0"/>
              </a:rPr>
              <a:t>img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</a:rPr>
              <a:t>src</a:t>
            </a:r>
            <a:r>
              <a:rPr lang="en-US" sz="2000" b="1" dirty="0">
                <a:latin typeface="Courier New" pitchFamily="49" charset="0"/>
              </a:rPr>
              <a:t>="address"&gt;</a:t>
            </a:r>
          </a:p>
          <a:p>
            <a:r>
              <a:rPr lang="en-US" sz="2000" b="1" dirty="0">
                <a:latin typeface="Courier New" pitchFamily="49" charset="0"/>
              </a:rPr>
              <a:t>&lt;/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a</a:t>
            </a:r>
            <a:r>
              <a:rPr lang="en-US" sz="2000" b="1" dirty="0"/>
              <a:t>&gt;</a:t>
            </a:r>
            <a:endParaRPr lang="ru-RU" sz="2000" b="1" dirty="0"/>
          </a:p>
          <a:p>
            <a:endParaRPr lang="ru-RU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51AF8A-9DA9-4D24-91E1-D70ACBC31176}"/>
              </a:ext>
            </a:extLst>
          </p:cNvPr>
          <p:cNvSpPr txBox="1"/>
          <p:nvPr/>
        </p:nvSpPr>
        <p:spPr>
          <a:xfrm>
            <a:off x="1935928" y="2204864"/>
            <a:ext cx="5444384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 err="1"/>
              <a:t>Зображення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робити</a:t>
            </a:r>
            <a:r>
              <a:rPr lang="ru-RU" dirty="0"/>
              <a:t> </a:t>
            </a:r>
            <a:r>
              <a:rPr lang="ru-RU" dirty="0" err="1"/>
              <a:t>посиланням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5203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47436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2765</TotalTime>
  <Words>206</Words>
  <Application>Microsoft Office PowerPoint</Application>
  <PresentationFormat>Экран (4:3)</PresentationFormat>
  <Paragraphs>30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Calibri</vt:lpstr>
      <vt:lpstr>Courier New</vt:lpstr>
      <vt:lpstr>Lucida Sans Unicode</vt:lpstr>
      <vt:lpstr>Verdana</vt:lpstr>
      <vt:lpstr>Wingdings 2</vt:lpstr>
      <vt:lpstr>Wingdings 3</vt:lpstr>
      <vt:lpstr>Тема1</vt:lpstr>
      <vt:lpstr>images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cp:lastModifiedBy>Роман Никифоров</cp:lastModifiedBy>
  <cp:revision>523</cp:revision>
  <dcterms:modified xsi:type="dcterms:W3CDTF">2023-12-26T05:53:11Z</dcterms:modified>
</cp:coreProperties>
</file>