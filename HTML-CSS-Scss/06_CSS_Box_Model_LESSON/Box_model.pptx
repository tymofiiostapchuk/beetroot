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  <p:sldMasterId id="2147483792" r:id="rId2"/>
    <p:sldMasterId id="2147483804" r:id="rId3"/>
  </p:sldMasterIdLst>
  <p:notesMasterIdLst>
    <p:notesMasterId r:id="rId58"/>
  </p:notesMasterIdLst>
  <p:sldIdLst>
    <p:sldId id="322" r:id="rId4"/>
    <p:sldId id="296" r:id="rId5"/>
    <p:sldId id="305" r:id="rId6"/>
    <p:sldId id="265" r:id="rId7"/>
    <p:sldId id="323" r:id="rId8"/>
    <p:sldId id="309" r:id="rId9"/>
    <p:sldId id="280" r:id="rId10"/>
    <p:sldId id="266" r:id="rId11"/>
    <p:sldId id="282" r:id="rId12"/>
    <p:sldId id="281" r:id="rId13"/>
    <p:sldId id="287" r:id="rId14"/>
    <p:sldId id="288" r:id="rId15"/>
    <p:sldId id="286" r:id="rId16"/>
    <p:sldId id="299" r:id="rId17"/>
    <p:sldId id="324" r:id="rId18"/>
    <p:sldId id="283" r:id="rId19"/>
    <p:sldId id="291" r:id="rId20"/>
    <p:sldId id="301" r:id="rId21"/>
    <p:sldId id="312" r:id="rId22"/>
    <p:sldId id="313" r:id="rId23"/>
    <p:sldId id="278" r:id="rId24"/>
    <p:sldId id="378" r:id="rId25"/>
    <p:sldId id="314" r:id="rId26"/>
    <p:sldId id="292" r:id="rId27"/>
    <p:sldId id="267" r:id="rId28"/>
    <p:sldId id="337" r:id="rId29"/>
    <p:sldId id="338" r:id="rId30"/>
    <p:sldId id="377" r:id="rId31"/>
    <p:sldId id="370" r:id="rId32"/>
    <p:sldId id="376" r:id="rId33"/>
    <p:sldId id="371" r:id="rId34"/>
    <p:sldId id="319" r:id="rId35"/>
    <p:sldId id="320" r:id="rId36"/>
    <p:sldId id="272" r:id="rId37"/>
    <p:sldId id="302" r:id="rId38"/>
    <p:sldId id="303" r:id="rId39"/>
    <p:sldId id="273" r:id="rId40"/>
    <p:sldId id="379" r:id="rId41"/>
    <p:sldId id="410" r:id="rId42"/>
    <p:sldId id="409" r:id="rId43"/>
    <p:sldId id="334" r:id="rId44"/>
    <p:sldId id="333" r:id="rId45"/>
    <p:sldId id="335" r:id="rId46"/>
    <p:sldId id="336" r:id="rId47"/>
    <p:sldId id="411" r:id="rId48"/>
    <p:sldId id="412" r:id="rId49"/>
    <p:sldId id="413" r:id="rId50"/>
    <p:sldId id="308" r:id="rId51"/>
    <p:sldId id="298" r:id="rId52"/>
    <p:sldId id="315" r:id="rId53"/>
    <p:sldId id="269" r:id="rId54"/>
    <p:sldId id="316" r:id="rId55"/>
    <p:sldId id="317" r:id="rId56"/>
    <p:sldId id="318" r:id="rId5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6D9F66E-5EB9-4882-86FB-DCBF35E3C3E4}" styleName="Средний стиль 4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7292A2E-F333-43FB-9621-5CBBE7FDCDCB}" styleName="Светлый стиль 2 -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25" autoAdjust="0"/>
    <p:restoredTop sz="94638" autoAdjust="0"/>
  </p:normalViewPr>
  <p:slideViewPr>
    <p:cSldViewPr>
      <p:cViewPr varScale="1">
        <p:scale>
          <a:sx n="84" d="100"/>
          <a:sy n="84" d="100"/>
        </p:scale>
        <p:origin x="32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1" Type="http://schemas.openxmlformats.org/officeDocument/2006/relationships/theme" Target="theme/theme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presProps" Target="pres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0374" y="0"/>
            <a:ext cx="2293626" cy="6858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3581400"/>
            <a:ext cx="3962400" cy="2133600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>
          <a:xfrm>
            <a:off x="2438400" y="1447800"/>
            <a:ext cx="3962400" cy="2133600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>
          <a:xfrm>
            <a:off x="3582988" y="6426201"/>
            <a:ext cx="2819399" cy="126999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>
          <a:xfrm>
            <a:off x="6414976" y="6400800"/>
            <a:ext cx="457200" cy="152400"/>
          </a:xfrm>
        </p:spPr>
        <p:txBody>
          <a:bodyPr/>
          <a:lstStyle>
            <a:lvl1pPr algn="r">
              <a:defRPr/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>
          <a:xfrm>
            <a:off x="3581400" y="6296248"/>
            <a:ext cx="2820987" cy="152400"/>
          </a:xfrm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57200"/>
            <a:ext cx="3657600" cy="5714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6" name="Title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phere1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0" y="0"/>
            <a:ext cx="2293626" cy="6858000"/>
          </a:xfrm>
          <a:prstGeom prst="rect">
            <a:avLst/>
          </a:prstGeom>
        </p:spPr>
      </p:pic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9788" y="6426201"/>
            <a:ext cx="2819399" cy="126999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4116388" y="6400800"/>
            <a:ext cx="533400" cy="152400"/>
          </a:xfrm>
        </p:spPr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838200" y="6296248"/>
            <a:ext cx="2820987" cy="152400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457200" y="1828800"/>
            <a:ext cx="3200400" cy="1752600"/>
          </a:xfrm>
        </p:spPr>
        <p:txBody>
          <a:bodyPr anchor="b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3578224"/>
            <a:ext cx="3200645" cy="1459767"/>
          </a:xfrm>
        </p:spPr>
        <p:txBody>
          <a:bodyPr anchor="t">
            <a:normAutofit/>
          </a:bodyPr>
          <a:lstStyle>
            <a:lvl1pPr marL="0" indent="0" algn="r" defTabSz="914400" rtl="0" eaLnBrk="1" latinLnBrk="0" hangingPunct="1">
              <a:spcBef>
                <a:spcPct val="20000"/>
              </a:spcBef>
              <a:buClr>
                <a:schemeClr val="tx1">
                  <a:lumMod val="50000"/>
                  <a:lumOff val="50000"/>
                </a:schemeClr>
              </a:buClr>
              <a:buFont typeface="Wingdings" pitchFamily="2" charset="2"/>
              <a:buNone/>
              <a:defRPr lang="en-US" sz="140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34290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457200"/>
            <a:ext cx="3124200" cy="2667000"/>
          </a:xfrm>
        </p:spPr>
        <p:txBody>
          <a:bodyPr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75238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675288"/>
            <a:ext cx="3581400" cy="2525112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 baseline="0"/>
            </a:lvl4pPr>
            <a:lvl5pPr>
              <a:buFont typeface="Wingdings" pitchFamily="2" charset="2"/>
              <a:buChar char="§"/>
              <a:defRPr sz="1400"/>
            </a:lvl5pPr>
            <a:lvl6pPr>
              <a:buFont typeface="Wingdings" pitchFamily="2" charset="2"/>
              <a:buChar char="§"/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199" y="3429000"/>
            <a:ext cx="3581400" cy="411162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199" y="3840162"/>
            <a:ext cx="3581400" cy="2515198"/>
          </a:xfrm>
        </p:spPr>
        <p:txBody>
          <a:bodyPr anchor="t">
            <a:normAutofit/>
          </a:bodyPr>
          <a:lstStyle>
            <a:lvl1pPr marL="228600" indent="-182880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499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3800" y="457200"/>
            <a:ext cx="3962400" cy="571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4837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76400"/>
            <a:ext cx="4700016" cy="3505200"/>
          </a:xfrm>
        </p:spPr>
        <p:txBody>
          <a:bodyPr>
            <a:normAutofit/>
          </a:bodyPr>
          <a:lstStyle>
            <a:lvl1pPr marL="228600" indent="-182880"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676400"/>
            <a:ext cx="4696967" cy="350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5181600" y="1676400"/>
            <a:ext cx="2514600" cy="1875972"/>
          </a:xfrm>
        </p:spPr>
        <p:txBody>
          <a:bodyPr anchor="b">
            <a:normAutofit/>
          </a:bodyPr>
          <a:lstStyle>
            <a:lvl1pPr algn="r">
              <a:defRPr sz="2000" b="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0" y="3552372"/>
            <a:ext cx="2209800" cy="1629228"/>
          </a:xfrm>
        </p:spPr>
        <p:txBody>
          <a:bodyPr anchor="t">
            <a:normAutofit/>
          </a:bodyPr>
          <a:lstStyle>
            <a:lvl1pPr marL="0" indent="0" algn="r">
              <a:buNone/>
              <a:defRPr sz="12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026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9311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91058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282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0311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789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94221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3920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3882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7099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04725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phere2.pn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823693" y="0"/>
            <a:ext cx="320307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76800" y="457200"/>
            <a:ext cx="2819400" cy="571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7200"/>
            <a:ext cx="3657600" cy="5714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7772400" y="6400800"/>
            <a:ext cx="533400" cy="152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4876801" y="6426201"/>
            <a:ext cx="2819399" cy="1269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875213" y="6296248"/>
            <a:ext cx="2820987" cy="1524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r" defTabSz="914400" rtl="0" eaLnBrk="1" latinLnBrk="0" hangingPunct="1">
        <a:spcBef>
          <a:spcPct val="0"/>
        </a:spcBef>
        <a:buNone/>
        <a:defRPr sz="2800" kern="1200">
          <a:gradFill>
            <a:gsLst>
              <a:gs pos="0">
                <a:schemeClr val="tx1">
                  <a:lumMod val="50000"/>
                </a:schemeClr>
              </a:gs>
              <a:gs pos="61000">
                <a:schemeClr val="tx1"/>
              </a:gs>
            </a:gsLst>
            <a:lin ang="5400000" scaled="0"/>
          </a:gradFill>
          <a:effectLst/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8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2pPr>
      <a:lvl3pPr marL="59436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3pPr>
      <a:lvl4pPr marL="77724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4pPr>
      <a:lvl5pPr marL="960120" indent="-182880" algn="l" defTabSz="914400" rtl="0" eaLnBrk="1" latinLnBrk="0" hangingPunct="1">
        <a:spcBef>
          <a:spcPct val="20000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>
          <a:solidFill>
            <a:schemeClr val="tx1">
              <a:lumMod val="85000"/>
            </a:schemeClr>
          </a:solidFill>
          <a:latin typeface="+mn-lt"/>
          <a:ea typeface="+mn-ea"/>
          <a:cs typeface="+mn-cs"/>
        </a:defRPr>
      </a:lvl5pPr>
      <a:lvl6pPr marL="114300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32588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50876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691640" indent="-182880" algn="l" defTabSz="914400" rtl="0" eaLnBrk="1" latinLnBrk="0" hangingPunct="1">
        <a:spcBef>
          <a:spcPts val="288"/>
        </a:spcBef>
        <a:buClr>
          <a:schemeClr val="tx1">
            <a:lumMod val="50000"/>
            <a:lumOff val="50000"/>
          </a:schemeClr>
        </a:buClr>
        <a:buFont typeface="Wingdings" pitchFamily="2" charset="2"/>
        <a:buChar char="§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597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23.07.2024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cssref/css_default_values.asp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2420888"/>
            <a:ext cx="8064896" cy="165618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60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Box model</a:t>
            </a:r>
            <a:r>
              <a:rPr lang="ru-RU" sz="6000" b="1" cap="none" spc="0" dirty="0">
                <a:ln w="19050">
                  <a:solidFill>
                    <a:schemeClr val="tx2">
                      <a:tint val="1000"/>
                    </a:schemeClr>
                  </a:solidFill>
                  <a:prstDash val="solid"/>
                </a:ln>
                <a:solidFill>
                  <a:schemeClr val="accent3"/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</a:rPr>
              <a:t> </a:t>
            </a:r>
            <a:endParaRPr lang="ru-RU" sz="7200" b="1" cap="none" spc="0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116632"/>
            <a:ext cx="4608511" cy="184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322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27784" y="44624"/>
            <a:ext cx="41044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err="1"/>
              <a:t>Стилі</a:t>
            </a:r>
            <a:r>
              <a:rPr lang="ru-RU" dirty="0"/>
              <a:t> браузера за </a:t>
            </a:r>
            <a:r>
              <a:rPr lang="ru-RU" dirty="0" err="1"/>
              <a:t>замовчуванням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23410" y="476672"/>
            <a:ext cx="8856984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https://www.w3schools.com/cssref/css_default_values.asp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Видно,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що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всі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мають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властивість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display,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завдяки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якому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браузер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знає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є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малим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який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блоковим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Природно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вбудовані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стилі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можна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перевизначити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своїми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стилями і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зробити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наприклад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малий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блоковий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або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навпаки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839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547355"/>
              </p:ext>
            </p:extLst>
          </p:nvPr>
        </p:nvGraphicFramePr>
        <p:xfrm>
          <a:off x="107504" y="116632"/>
          <a:ext cx="8928992" cy="313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487411630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7005074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display:</a:t>
                      </a:r>
                      <a:endParaRPr lang="ru-RU" dirty="0">
                        <a:solidFill>
                          <a:srgbClr val="C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елементи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6687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inline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span, a,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u, b  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и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т.д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6434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inline-block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img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object, embed, iframe;</a:t>
                      </a: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 input, </a:t>
                      </a:r>
                      <a:r>
                        <a:rPr lang="en-US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textarea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select, button (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элементы форм</a:t>
                      </a:r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ru-RU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- audio, video, canvas    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757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block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div, p,</a:t>
                      </a:r>
                      <a:r>
                        <a:rPr lang="en-US" b="1" baseline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h1...h6, ...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943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list-item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098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table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table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785436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1412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30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Прямоугольник 33"/>
          <p:cNvSpPr/>
          <p:nvPr/>
        </p:nvSpPr>
        <p:spPr>
          <a:xfrm>
            <a:off x="1691680" y="1124744"/>
            <a:ext cx="6552728" cy="4960124"/>
          </a:xfrm>
          <a:prstGeom prst="rect">
            <a:avLst/>
          </a:prstGeom>
          <a:solidFill>
            <a:srgbClr val="FFFF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Margin-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59400" y="1700808"/>
            <a:ext cx="5184576" cy="331236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54000" cap="sq" cmpd="sng">
            <a:solidFill>
              <a:schemeClr val="bg1">
                <a:lumMod val="50000"/>
              </a:schemeClr>
            </a:solidFill>
            <a:miter lim="800000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Содержимое блока</a:t>
            </a:r>
          </a:p>
          <a:p>
            <a:pPr algn="ctr"/>
            <a:r>
              <a:rPr lang="ru-RU" dirty="0"/>
              <a:t>(текст, теги)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435276" y="35332"/>
            <a:ext cx="2304256" cy="36933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Box model</a:t>
            </a:r>
            <a:endParaRPr lang="ru-RU" sz="1800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3347864" y="2348880"/>
            <a:ext cx="3312368" cy="1656184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content-box</a:t>
            </a:r>
          </a:p>
          <a:p>
            <a:pPr algn="ctr"/>
            <a:r>
              <a:rPr lang="uk-UA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зміст</a:t>
            </a:r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блока</a:t>
            </a:r>
          </a:p>
          <a:p>
            <a:pPr algn="ctr"/>
            <a:r>
              <a:rPr lang="ru-RU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(текст, теги)</a:t>
            </a: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3347864" y="3969060"/>
            <a:ext cx="0" cy="2088232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6660232" y="3820978"/>
            <a:ext cx="0" cy="2088232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3419872" y="6021288"/>
            <a:ext cx="3312368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39952" y="5013176"/>
            <a:ext cx="172547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800" b="1" dirty="0"/>
              <a:t>width</a:t>
            </a:r>
          </a:p>
          <a:p>
            <a:pPr algn="ctr"/>
            <a:r>
              <a:rPr lang="en-US" dirty="0"/>
              <a:t>(</a:t>
            </a:r>
            <a:r>
              <a:rPr lang="ru-RU" dirty="0"/>
              <a:t>ширина блока</a:t>
            </a:r>
            <a:r>
              <a:rPr lang="en-US" dirty="0"/>
              <a:t>)</a:t>
            </a:r>
            <a:endParaRPr lang="ru-RU" dirty="0"/>
          </a:p>
        </p:txBody>
      </p:sp>
      <p:cxnSp>
        <p:nvCxnSpPr>
          <p:cNvPr id="22" name="Прямая соединительная линия 21"/>
          <p:cNvCxnSpPr/>
          <p:nvPr/>
        </p:nvCxnSpPr>
        <p:spPr>
          <a:xfrm flipV="1">
            <a:off x="7452320" y="4253026"/>
            <a:ext cx="0" cy="16561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>
            <a:off x="7668344" y="4253026"/>
            <a:ext cx="0" cy="16561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8" name="Прямая со стрелкой 27"/>
          <p:cNvCxnSpPr/>
          <p:nvPr/>
        </p:nvCxnSpPr>
        <p:spPr>
          <a:xfrm>
            <a:off x="7444700" y="5671763"/>
            <a:ext cx="257552" cy="0"/>
          </a:xfrm>
          <a:prstGeom prst="straightConnector1">
            <a:avLst/>
          </a:prstGeom>
          <a:ln w="1905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26171" y="5797133"/>
            <a:ext cx="1664623" cy="80021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border</a:t>
            </a:r>
          </a:p>
          <a:p>
            <a:pPr algn="ctr"/>
            <a:r>
              <a:rPr lang="en-US" dirty="0"/>
              <a:t>(</a:t>
            </a:r>
            <a:r>
              <a:rPr lang="ru-RU" dirty="0"/>
              <a:t>кордон блока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2" name="TextBox 31"/>
          <p:cNvSpPr txBox="1"/>
          <p:nvPr/>
        </p:nvSpPr>
        <p:spPr>
          <a:xfrm>
            <a:off x="2267744" y="5445224"/>
            <a:ext cx="1276311" cy="73866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padding</a:t>
            </a:r>
            <a:r>
              <a:rPr lang="en-US" sz="2000" b="1" dirty="0"/>
              <a:t> </a:t>
            </a:r>
          </a:p>
          <a:p>
            <a:r>
              <a:rPr lang="en-US" dirty="0"/>
              <a:t>(</a:t>
            </a:r>
            <a:r>
              <a:rPr lang="ru-RU" dirty="0" err="1"/>
              <a:t>відступи</a:t>
            </a:r>
            <a:r>
              <a:rPr lang="en-US" dirty="0"/>
              <a:t>)</a:t>
            </a:r>
            <a:endParaRPr lang="ru-RU" sz="2000" dirty="0"/>
          </a:p>
        </p:txBody>
      </p:sp>
      <p:cxnSp>
        <p:nvCxnSpPr>
          <p:cNvPr id="43" name="Прямая соединительная линия 42"/>
          <p:cNvCxnSpPr/>
          <p:nvPr/>
        </p:nvCxnSpPr>
        <p:spPr>
          <a:xfrm>
            <a:off x="1331640" y="2348880"/>
            <a:ext cx="2016224" cy="0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>
            <a:off x="1475656" y="4010361"/>
            <a:ext cx="1872208" cy="5298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 flipH="1" flipV="1">
            <a:off x="1616010" y="2361936"/>
            <a:ext cx="3662" cy="1688122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763688" y="2722532"/>
            <a:ext cx="1656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  </a:t>
            </a:r>
            <a:r>
              <a:rPr lang="en-US" sz="2400" b="1" dirty="0"/>
              <a:t>height</a:t>
            </a:r>
            <a:endParaRPr lang="en-US" sz="2800" b="1" dirty="0"/>
          </a:p>
          <a:p>
            <a:pPr algn="ctr"/>
            <a:r>
              <a:rPr lang="en-US" dirty="0"/>
              <a:t>(</a:t>
            </a:r>
            <a:r>
              <a:rPr lang="ru-RU" dirty="0"/>
              <a:t>в</a:t>
            </a:r>
            <a:r>
              <a:rPr lang="uk-UA" dirty="0"/>
              <a:t>и</a:t>
            </a:r>
            <a:r>
              <a:rPr lang="ru-RU" dirty="0"/>
              <a:t>сота блока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8" name="TextBox 57"/>
          <p:cNvSpPr txBox="1"/>
          <p:nvPr/>
        </p:nvSpPr>
        <p:spPr>
          <a:xfrm>
            <a:off x="107504" y="452535"/>
            <a:ext cx="8856984" cy="64633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Будь-</a:t>
            </a:r>
            <a:r>
              <a:rPr lang="ru-RU" dirty="0" err="1"/>
              <a:t>який</a:t>
            </a:r>
            <a:r>
              <a:rPr lang="ru-RU" dirty="0"/>
              <a:t> HTML-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подати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прямокутника</a:t>
            </a:r>
            <a:endParaRPr lang="ru-RU" dirty="0"/>
          </a:p>
          <a:p>
            <a:r>
              <a:rPr lang="ru-RU" dirty="0"/>
              <a:t>з 4-ма </a:t>
            </a:r>
            <a:r>
              <a:rPr lang="en-US" dirty="0"/>
              <a:t>areas 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content,  margin, border, padding</a:t>
            </a:r>
            <a:r>
              <a:rPr lang="en-US" dirty="0"/>
              <a:t>     </a:t>
            </a:r>
            <a:endParaRPr lang="ru-RU" dirty="0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2483768" y="4013274"/>
            <a:ext cx="0" cy="16561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752699" y="1815207"/>
            <a:ext cx="2547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padding-box</a:t>
            </a:r>
            <a:endParaRPr lang="ru-RU" sz="2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3347864" y="3969060"/>
            <a:ext cx="0" cy="165618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2432518" y="5319999"/>
            <a:ext cx="915346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851920" y="1124744"/>
            <a:ext cx="23326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margin-box</a:t>
            </a:r>
            <a:endParaRPr lang="ru-RU" sz="28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>
            <a:off x="2227635" y="4763181"/>
            <a:ext cx="0" cy="17241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1691680" y="4797152"/>
            <a:ext cx="0" cy="17241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/>
          <p:nvPr/>
        </p:nvCxnSpPr>
        <p:spPr>
          <a:xfrm>
            <a:off x="1670922" y="6309320"/>
            <a:ext cx="556713" cy="0"/>
          </a:xfrm>
          <a:prstGeom prst="straightConnector1">
            <a:avLst/>
          </a:prstGeom>
          <a:ln w="38100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475656" y="6279703"/>
            <a:ext cx="2367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margin  </a:t>
            </a:r>
            <a:r>
              <a:rPr lang="en-US" dirty="0"/>
              <a:t>(</a:t>
            </a:r>
            <a:r>
              <a:rPr lang="ru-RU" dirty="0" err="1"/>
              <a:t>відступи</a:t>
            </a:r>
            <a:r>
              <a:rPr lang="en-US" dirty="0"/>
              <a:t>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230239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2" animBg="1"/>
      <p:bldP spid="6" grpId="0" animBg="1"/>
      <p:bldP spid="17" grpId="0"/>
      <p:bldP spid="17" grpId="1"/>
      <p:bldP spid="31" grpId="0" animBg="1"/>
      <p:bldP spid="31" grpId="1" animBg="1"/>
      <p:bldP spid="32" grpId="0" animBg="1"/>
      <p:bldP spid="32" grpId="1" animBg="1"/>
      <p:bldP spid="50" grpId="0"/>
      <p:bldP spid="50" grpId="1"/>
      <p:bldP spid="26" grpId="0"/>
      <p:bldP spid="14" grpId="0"/>
      <p:bldP spid="4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2639" y="506576"/>
            <a:ext cx="9010306" cy="1554272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sz="2400" dirty="0">
                <a:solidFill>
                  <a:srgbClr val="C00000"/>
                </a:solidFill>
              </a:rPr>
              <a:t>За </a:t>
            </a:r>
            <a:r>
              <a:rPr lang="ru-RU" sz="2400" dirty="0" err="1">
                <a:solidFill>
                  <a:srgbClr val="C00000"/>
                </a:solidFill>
              </a:rPr>
              <a:t>замовчуванням</a:t>
            </a:r>
            <a:r>
              <a:rPr lang="ru-RU" sz="2400" dirty="0">
                <a:solidFill>
                  <a:srgbClr val="C00000"/>
                </a:solidFill>
              </a:rPr>
              <a:t> </a:t>
            </a:r>
            <a:r>
              <a:rPr lang="ru-RU" dirty="0"/>
              <a:t>ширина блоку на </a:t>
            </a:r>
            <a:r>
              <a:rPr lang="ru-RU" dirty="0" err="1"/>
              <a:t>сторінці</a:t>
            </a:r>
            <a:r>
              <a:rPr lang="ru-RU" dirty="0"/>
              <a:t> </a:t>
            </a:r>
            <a:r>
              <a:rPr lang="ru-RU" dirty="0" err="1"/>
              <a:t>розраховується</a:t>
            </a:r>
            <a:r>
              <a:rPr lang="ru-RU" dirty="0"/>
              <a:t> </a:t>
            </a:r>
            <a:r>
              <a:rPr lang="ru-RU" dirty="0" err="1"/>
              <a:t>якрина</a:t>
            </a:r>
            <a:r>
              <a:rPr lang="ru-RU" dirty="0"/>
              <a:t> блока </a:t>
            </a:r>
            <a:r>
              <a:rPr lang="uk-UA" dirty="0"/>
              <a:t>на </a:t>
            </a:r>
            <a:r>
              <a:rPr lang="uk-UA" dirty="0" err="1"/>
              <a:t>странице</a:t>
            </a:r>
            <a:r>
              <a:rPr lang="uk-UA" dirty="0"/>
              <a:t> </a:t>
            </a:r>
            <a:r>
              <a:rPr lang="ru-RU" dirty="0" err="1"/>
              <a:t>расчитывается</a:t>
            </a:r>
            <a:r>
              <a:rPr lang="ru-RU" dirty="0"/>
              <a:t> как</a:t>
            </a:r>
          </a:p>
          <a:p>
            <a:endParaRPr lang="ru-RU" dirty="0"/>
          </a:p>
          <a:p>
            <a:r>
              <a:rPr lang="en-US" sz="1700" dirty="0">
                <a:solidFill>
                  <a:srgbClr val="0070C0"/>
                </a:solidFill>
              </a:rPr>
              <a:t>width</a:t>
            </a:r>
            <a:r>
              <a:rPr lang="ru-RU" sz="1700" dirty="0">
                <a:solidFill>
                  <a:srgbClr val="0070C0"/>
                </a:solidFill>
              </a:rPr>
              <a:t> + </a:t>
            </a:r>
            <a:r>
              <a:rPr lang="en-US" sz="1700" dirty="0">
                <a:solidFill>
                  <a:srgbClr val="0070C0"/>
                </a:solidFill>
              </a:rPr>
              <a:t>border-left +  padding-left + padding-right + border-right </a:t>
            </a:r>
            <a:endParaRPr lang="ru-RU" sz="1700" dirty="0">
              <a:solidFill>
                <a:srgbClr val="0070C0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7495" y="2204864"/>
            <a:ext cx="4176464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Наприклад</a:t>
            </a:r>
            <a:endParaRPr lang="ru-RU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.block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width: 300px;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padding: 20px;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border: 10px solid red;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7495" y="4168482"/>
            <a:ext cx="5997249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Ширина блока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300px + 20px + 20px + 10px + 10px = 360px;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948264" y="44624"/>
            <a:ext cx="2114681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001/index.html</a:t>
            </a:r>
            <a:endParaRPr lang="ru-RU" dirty="0"/>
          </a:p>
        </p:txBody>
      </p:sp>
      <p:sp>
        <p:nvSpPr>
          <p:cNvPr id="2" name="TextBox 1"/>
          <p:cNvSpPr txBox="1"/>
          <p:nvPr/>
        </p:nvSpPr>
        <p:spPr>
          <a:xfrm>
            <a:off x="1259632" y="59655"/>
            <a:ext cx="5285421" cy="36933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Розрахунок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розмірів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блоків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браузерами</a:t>
            </a:r>
          </a:p>
        </p:txBody>
      </p:sp>
    </p:spTree>
    <p:extLst>
      <p:ext uri="{BB962C8B-B14F-4D97-AF65-F5344CB8AC3E}">
        <p14:creationId xmlns:p14="http://schemas.microsoft.com/office/powerpoint/2010/main" val="3586112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18373"/>
            <a:ext cx="8928992" cy="646331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box-sizing</a:t>
            </a:r>
            <a:r>
              <a:rPr lang="en-US" dirty="0"/>
              <a:t>: </a:t>
            </a:r>
            <a:r>
              <a:rPr lang="en-US" dirty="0">
                <a:solidFill>
                  <a:srgbClr val="0070C0"/>
                </a:solidFill>
              </a:rPr>
              <a:t>content-box | border-box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ru-RU" dirty="0"/>
              <a:t>  </a:t>
            </a:r>
            <a:r>
              <a:rPr lang="ru-RU" dirty="0" err="1"/>
              <a:t>змінює</a:t>
            </a:r>
            <a:r>
              <a:rPr lang="ru-RU" dirty="0"/>
              <a:t> алгоритм </a:t>
            </a:r>
            <a:r>
              <a:rPr lang="ru-RU" dirty="0" err="1"/>
              <a:t>розрахунку</a:t>
            </a:r>
            <a:r>
              <a:rPr lang="ru-RU" dirty="0"/>
              <a:t> </a:t>
            </a:r>
            <a:r>
              <a:rPr lang="ru-RU" dirty="0" err="1"/>
              <a:t>ширини</a:t>
            </a:r>
            <a:r>
              <a:rPr lang="ru-RU" dirty="0"/>
              <a:t> блоку</a:t>
            </a:r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6597" y="1196752"/>
            <a:ext cx="4176464" cy="25853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Наприклад</a:t>
            </a:r>
            <a:endParaRPr lang="ru-RU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box-sizing: border-box; 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.block {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width: 300px;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padding: 20px;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border: 10px solid red;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596" y="4077072"/>
            <a:ext cx="8857891" cy="9233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Ширина блока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буде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300px </a:t>
            </a:r>
            <a:endParaRPr lang="uk-UA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тобто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height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 включать в себе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padding</a:t>
            </a:r>
            <a:r>
              <a:rPr lang="uk-UA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uk-UA" b="1" dirty="0">
                <a:latin typeface="Courier New" panose="02070309020205020404" pitchFamily="49" charset="0"/>
                <a:cs typeface="Courier New" panose="02070309020205020404" pitchFamily="49" charset="0"/>
              </a:rPr>
              <a:t>и</a:t>
            </a:r>
            <a:r>
              <a:rPr lang="en-US" b="1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border-width</a:t>
            </a:r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121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87824" y="116632"/>
            <a:ext cx="3631122" cy="369332"/>
          </a:xfrm>
          <a:noFill/>
          <a:ln w="28575"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pPr algn="l"/>
            <a:r>
              <a:rPr lang="ru-RU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Найменування</a:t>
            </a:r>
            <a:r>
              <a:rPr lang="ru-RU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сторін</a:t>
            </a:r>
            <a:r>
              <a:rPr lang="ru-RU" sz="18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блоку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2051720" y="1700808"/>
            <a:ext cx="4680520" cy="22322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3779912" y="836712"/>
            <a:ext cx="9090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top</a:t>
            </a:r>
            <a:endParaRPr lang="ru-RU" sz="4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3779912" y="4305290"/>
            <a:ext cx="17734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bottom</a:t>
            </a:r>
            <a:endParaRPr lang="ru-RU" sz="4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38633" y="2492896"/>
            <a:ext cx="9054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left</a:t>
            </a:r>
            <a:endParaRPr lang="ru-RU" sz="40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338967" y="2420888"/>
            <a:ext cx="11866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right</a:t>
            </a:r>
            <a:endParaRPr lang="ru-RU" sz="4000" b="1" dirty="0"/>
          </a:p>
        </p:txBody>
      </p:sp>
    </p:spTree>
    <p:extLst>
      <p:ext uri="{BB962C8B-B14F-4D97-AF65-F5344CB8AC3E}">
        <p14:creationId xmlns:p14="http://schemas.microsoft.com/office/powerpoint/2010/main" val="229751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79712" y="44624"/>
            <a:ext cx="5285421" cy="369332"/>
          </a:xfrm>
          <a:noFill/>
          <a:ln w="28575">
            <a:solidFill>
              <a:schemeClr val="tx2"/>
            </a:solidFill>
          </a:ln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Свойства 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min-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 min-height </a:t>
            </a:r>
            <a:r>
              <a:rPr lang="uk-UA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блока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504" y="548680"/>
            <a:ext cx="4248472" cy="1200329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.</a:t>
            </a:r>
            <a:r>
              <a:rPr lang="en-US" dirty="0" err="1"/>
              <a:t>myblock</a:t>
            </a:r>
            <a:r>
              <a:rPr lang="en-US" dirty="0"/>
              <a:t> {</a:t>
            </a:r>
          </a:p>
          <a:p>
            <a:r>
              <a:rPr lang="ru-RU" dirty="0"/>
              <a:t>   </a:t>
            </a:r>
            <a:r>
              <a:rPr lang="en-US" dirty="0"/>
              <a:t>max-width : 600px;</a:t>
            </a:r>
          </a:p>
          <a:p>
            <a:r>
              <a:rPr lang="en-US" dirty="0"/>
              <a:t>   min-width : 400px;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716016" y="561231"/>
            <a:ext cx="4248472" cy="1200329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.</a:t>
            </a:r>
            <a:r>
              <a:rPr lang="en-US" dirty="0" err="1"/>
              <a:t>myblock</a:t>
            </a:r>
            <a:r>
              <a:rPr lang="en-US" dirty="0"/>
              <a:t> {</a:t>
            </a:r>
          </a:p>
          <a:p>
            <a:r>
              <a:rPr lang="ru-RU" dirty="0"/>
              <a:t>  </a:t>
            </a:r>
            <a:r>
              <a:rPr lang="en-US" dirty="0"/>
              <a:t>max-height : </a:t>
            </a:r>
            <a:r>
              <a:rPr lang="ru-RU" dirty="0"/>
              <a:t>8</a:t>
            </a:r>
            <a:r>
              <a:rPr lang="en-US" dirty="0"/>
              <a:t>00px; </a:t>
            </a:r>
          </a:p>
          <a:p>
            <a:r>
              <a:rPr lang="en-US" dirty="0"/>
              <a:t>  min-height : 400px;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38492"/>
              </p:ext>
            </p:extLst>
          </p:nvPr>
        </p:nvGraphicFramePr>
        <p:xfrm>
          <a:off x="107504" y="2035473"/>
          <a:ext cx="8856984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89084123"/>
                    </a:ext>
                  </a:extLst>
                </a:gridCol>
                <a:gridCol w="6840760">
                  <a:extLst>
                    <a:ext uri="{9D8B030D-6E8A-4147-A177-3AD203B41FA5}">
                      <a16:colId xmlns:a16="http://schemas.microsoft.com/office/drawing/2014/main" val="14908652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max-width</a:t>
                      </a:r>
                      <a:endParaRPr lang="ru-RU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ширина блоку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може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бути </a:t>
                      </a:r>
                      <a:r>
                        <a:rPr lang="ru-RU" b="1" dirty="0" err="1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більше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заданого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754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en-US" sz="2400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min-width</a:t>
                      </a:r>
                      <a:endParaRPr kumimoji="0" lang="ru-RU" sz="2400" b="1" kern="1200" dirty="0">
                        <a:solidFill>
                          <a:srgbClr val="C00000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ширина блоку не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може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бути </a:t>
                      </a:r>
                      <a:r>
                        <a:rPr lang="ru-RU" b="1" dirty="0" err="1">
                          <a:solidFill>
                            <a:srgbClr val="C00000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меншою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за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задане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значення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838873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А </a:t>
                      </a:r>
                      <a:r>
                        <a:rPr kumimoji="0" lang="ru-RU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між</a:t>
                      </a:r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en-US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min-width</a:t>
                      </a:r>
                      <a:r>
                        <a:rPr kumimoji="0" lang="en-US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та </a:t>
                      </a:r>
                      <a:r>
                        <a:rPr kumimoji="0" lang="en-US" b="1" kern="1200" dirty="0">
                          <a:solidFill>
                            <a:srgbClr val="C00000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max-width</a:t>
                      </a:r>
                      <a:r>
                        <a:rPr kumimoji="0" lang="en-US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ширина блоку </a:t>
                      </a:r>
                      <a:r>
                        <a:rPr kumimoji="0" lang="ru-RU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підлаштовується</a:t>
                      </a:r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</a:t>
                      </a:r>
                      <a:r>
                        <a:rPr kumimoji="0" lang="ru-RU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під</a:t>
                      </a:r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ширину </a:t>
                      </a:r>
                      <a:r>
                        <a:rPr kumimoji="0" lang="ru-RU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свого</a:t>
                      </a:r>
                      <a:r>
                        <a:rPr kumimoji="0" lang="ru-RU" b="1" kern="1200" dirty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 батька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962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357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151620" y="44624"/>
            <a:ext cx="7596844" cy="369332"/>
          </a:xfr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l"/>
            <a:r>
              <a:rPr lang="ru-RU" sz="1800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Скорочений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запис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свойств 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margin, padding 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блока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2656" y="1868976"/>
            <a:ext cx="5174501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#parent{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padding : 10px  20px 10px 0;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20" name="Группа 19"/>
          <p:cNvGrpSpPr/>
          <p:nvPr/>
        </p:nvGrpSpPr>
        <p:grpSpPr>
          <a:xfrm>
            <a:off x="179512" y="692696"/>
            <a:ext cx="2376264" cy="1440160"/>
            <a:chOff x="222181" y="1124744"/>
            <a:chExt cx="2376264" cy="1440160"/>
          </a:xfrm>
        </p:grpSpPr>
        <p:grpSp>
          <p:nvGrpSpPr>
            <p:cNvPr id="11" name="Группа 10"/>
            <p:cNvGrpSpPr/>
            <p:nvPr/>
          </p:nvGrpSpPr>
          <p:grpSpPr>
            <a:xfrm>
              <a:off x="222181" y="1124744"/>
              <a:ext cx="2376264" cy="1440160"/>
              <a:chOff x="611560" y="1916832"/>
              <a:chExt cx="2880320" cy="1728192"/>
            </a:xfrm>
          </p:grpSpPr>
          <p:sp>
            <p:nvSpPr>
              <p:cNvPr id="6" name="Прямоугольник 5"/>
              <p:cNvSpPr/>
              <p:nvPr/>
            </p:nvSpPr>
            <p:spPr>
              <a:xfrm>
                <a:off x="611560" y="1916832"/>
                <a:ext cx="2880320" cy="172819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865196" y="191683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  <a:endParaRPr lang="ru-RU" dirty="0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3089332" y="24836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  <a:endParaRPr lang="ru-RU" dirty="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865196" y="3212976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endParaRPr lang="ru-RU" dirty="0"/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611560" y="255561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  <a:endParaRPr lang="ru-RU" dirty="0"/>
              </a:p>
            </p:txBody>
          </p:sp>
        </p:grpSp>
        <p:sp>
          <p:nvSpPr>
            <p:cNvPr id="12" name="Выгнутая вверх стрелка 11"/>
            <p:cNvSpPr/>
            <p:nvPr/>
          </p:nvSpPr>
          <p:spPr>
            <a:xfrm rot="6142790">
              <a:off x="1097333" y="1612917"/>
              <a:ext cx="794692" cy="454298"/>
            </a:xfrm>
            <a:prstGeom prst="curvedDownArrow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Группа 1"/>
          <p:cNvGrpSpPr/>
          <p:nvPr/>
        </p:nvGrpSpPr>
        <p:grpSpPr>
          <a:xfrm>
            <a:off x="45571" y="3140968"/>
            <a:ext cx="3950365" cy="2514137"/>
            <a:chOff x="117579" y="3695659"/>
            <a:chExt cx="4245785" cy="2671426"/>
          </a:xfrm>
        </p:grpSpPr>
        <p:grpSp>
          <p:nvGrpSpPr>
            <p:cNvPr id="13" name="Группа 12"/>
            <p:cNvGrpSpPr/>
            <p:nvPr/>
          </p:nvGrpSpPr>
          <p:grpSpPr>
            <a:xfrm>
              <a:off x="1900441" y="3695659"/>
              <a:ext cx="2376264" cy="1440160"/>
              <a:chOff x="611560" y="1916832"/>
              <a:chExt cx="2880320" cy="1728192"/>
            </a:xfrm>
          </p:grpSpPr>
          <p:sp>
            <p:nvSpPr>
              <p:cNvPr id="14" name="Прямоугольник 13"/>
              <p:cNvSpPr/>
              <p:nvPr/>
            </p:nvSpPr>
            <p:spPr>
              <a:xfrm>
                <a:off x="611560" y="1916832"/>
                <a:ext cx="2880320" cy="172819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1865196" y="191683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  <a:endParaRPr lang="ru-RU" dirty="0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3089332" y="24836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  <a:endParaRPr lang="ru-RU" dirty="0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865196" y="3212976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endParaRPr lang="ru-RU" dirty="0"/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611560" y="255561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  <a:endParaRPr lang="ru-RU" dirty="0"/>
              </a:p>
            </p:txBody>
          </p:sp>
        </p:grpSp>
        <p:sp>
          <p:nvSpPr>
            <p:cNvPr id="19" name="TextBox 18"/>
            <p:cNvSpPr txBox="1"/>
            <p:nvPr/>
          </p:nvSpPr>
          <p:spPr>
            <a:xfrm>
              <a:off x="117579" y="5385990"/>
              <a:ext cx="4245785" cy="9810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#parent {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  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margin : 10px   20px ; 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8" name="Прямая соединительная линия 27"/>
            <p:cNvCxnSpPr>
              <a:stCxn id="15" idx="2"/>
            </p:cNvCxnSpPr>
            <p:nvPr/>
          </p:nvCxnSpPr>
          <p:spPr>
            <a:xfrm flipH="1">
              <a:off x="2458567" y="4003435"/>
              <a:ext cx="612472" cy="1670586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/>
            <p:cNvCxnSpPr>
              <a:stCxn id="17" idx="2"/>
            </p:cNvCxnSpPr>
            <p:nvPr/>
          </p:nvCxnSpPr>
          <p:spPr>
            <a:xfrm flipH="1">
              <a:off x="2458567" y="5083555"/>
              <a:ext cx="612472" cy="59046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/>
            <p:nvPr/>
          </p:nvCxnSpPr>
          <p:spPr>
            <a:xfrm>
              <a:off x="2173137" y="4415739"/>
              <a:ext cx="1261511" cy="1258283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/>
            <p:nvPr/>
          </p:nvCxnSpPr>
          <p:spPr>
            <a:xfrm flipH="1">
              <a:off x="3434648" y="4427930"/>
              <a:ext cx="583752" cy="1246092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Группа 24"/>
          <p:cNvGrpSpPr/>
          <p:nvPr/>
        </p:nvGrpSpPr>
        <p:grpSpPr>
          <a:xfrm>
            <a:off x="4427984" y="3068961"/>
            <a:ext cx="4451849" cy="2514137"/>
            <a:chOff x="117579" y="3695659"/>
            <a:chExt cx="4367290" cy="2671426"/>
          </a:xfrm>
        </p:grpSpPr>
        <p:grpSp>
          <p:nvGrpSpPr>
            <p:cNvPr id="26" name="Группа 25"/>
            <p:cNvGrpSpPr/>
            <p:nvPr/>
          </p:nvGrpSpPr>
          <p:grpSpPr>
            <a:xfrm>
              <a:off x="1900441" y="3695659"/>
              <a:ext cx="2376264" cy="1440160"/>
              <a:chOff x="611560" y="1916832"/>
              <a:chExt cx="2880320" cy="1728192"/>
            </a:xfrm>
          </p:grpSpPr>
          <p:sp>
            <p:nvSpPr>
              <p:cNvPr id="35" name="Прямоугольник 34"/>
              <p:cNvSpPr/>
              <p:nvPr/>
            </p:nvSpPr>
            <p:spPr>
              <a:xfrm>
                <a:off x="611560" y="1916832"/>
                <a:ext cx="2880320" cy="1728192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1865196" y="191683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1</a:t>
                </a:r>
                <a:endParaRPr lang="ru-RU" dirty="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3089332" y="2483604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</a:t>
                </a:r>
                <a:endParaRPr lang="ru-RU" dirty="0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865196" y="3212976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3</a:t>
                </a:r>
                <a:endParaRPr lang="ru-RU" dirty="0"/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611560" y="2555612"/>
                <a:ext cx="3305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4</a:t>
                </a:r>
                <a:endParaRPr lang="ru-RU" dirty="0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117579" y="5385990"/>
              <a:ext cx="4367290" cy="981095"/>
            </a:xfrm>
            <a:prstGeom prst="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#parent  {</a:t>
              </a:r>
              <a:r>
                <a:rPr lang="en-US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</a:p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  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margin : 10px  30px 20px ; </a:t>
              </a:r>
            </a:p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}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cxnSp>
          <p:nvCxnSpPr>
            <p:cNvPr id="29" name="Прямая соединительная линия 28"/>
            <p:cNvCxnSpPr>
              <a:stCxn id="37" idx="2"/>
            </p:cNvCxnSpPr>
            <p:nvPr/>
          </p:nvCxnSpPr>
          <p:spPr>
            <a:xfrm flipH="1">
              <a:off x="2036788" y="4003435"/>
              <a:ext cx="1034251" cy="1747098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/>
            <p:cNvCxnSpPr/>
            <p:nvPr/>
          </p:nvCxnSpPr>
          <p:spPr>
            <a:xfrm>
              <a:off x="3139213" y="5045368"/>
              <a:ext cx="492015" cy="717357"/>
            </a:xfrm>
            <a:prstGeom prst="line">
              <a:avLst/>
            </a:prstGeom>
          </p:spPr>
          <p:style>
            <a:lnRef idx="2">
              <a:schemeClr val="accent3"/>
            </a:lnRef>
            <a:fillRef idx="0">
              <a:schemeClr val="accent3"/>
            </a:fillRef>
            <a:effectRef idx="1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/>
            <p:nvPr/>
          </p:nvCxnSpPr>
          <p:spPr>
            <a:xfrm>
              <a:off x="2173137" y="4415739"/>
              <a:ext cx="761555" cy="133479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/>
            <p:nvPr/>
          </p:nvCxnSpPr>
          <p:spPr>
            <a:xfrm flipH="1">
              <a:off x="2934691" y="4427930"/>
              <a:ext cx="1083706" cy="1322604"/>
            </a:xfrm>
            <a:prstGeom prst="line">
              <a:avLst/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2853883" y="764704"/>
            <a:ext cx="2870245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#parent{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margin : 20px;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34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82977"/>
            <a:ext cx="4458272" cy="369332"/>
          </a:xfrm>
          <a:noFill/>
          <a:ln w="28575">
            <a:solidFill>
              <a:schemeClr val="tx2"/>
            </a:solidFill>
          </a:ln>
        </p:spPr>
        <p:txBody>
          <a:bodyPr vert="horz" wrap="non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l"/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Свойства блока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padding, margin</a:t>
            </a:r>
            <a:endParaRPr lang="ru-RU" sz="18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55976" y="561454"/>
            <a:ext cx="4680520" cy="923330"/>
          </a:xfrm>
          <a:prstGeom prst="rect">
            <a:avLst/>
          </a:prstGeom>
          <a:solidFill>
            <a:srgbClr val="92D05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.</a:t>
            </a:r>
            <a:r>
              <a:rPr lang="en-US" dirty="0" err="1"/>
              <a:t>myblock</a:t>
            </a:r>
            <a:r>
              <a:rPr lang="en-US" dirty="0"/>
              <a:t> {</a:t>
            </a:r>
          </a:p>
          <a:p>
            <a:r>
              <a:rPr lang="en-US" dirty="0"/>
              <a:t>  padding :10px 20px 10px </a:t>
            </a:r>
            <a:r>
              <a:rPr lang="en-US" dirty="0" err="1"/>
              <a:t>10px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4355976" y="1556792"/>
            <a:ext cx="4680520" cy="923330"/>
          </a:xfrm>
          <a:prstGeom prst="rect">
            <a:avLst/>
          </a:prstGeom>
          <a:solidFill>
            <a:srgbClr val="92D05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.</a:t>
            </a:r>
            <a:r>
              <a:rPr lang="en-US" dirty="0" err="1"/>
              <a:t>myblock</a:t>
            </a:r>
            <a:r>
              <a:rPr lang="en-US" dirty="0"/>
              <a:t> {</a:t>
            </a:r>
          </a:p>
          <a:p>
            <a:r>
              <a:rPr lang="en-US" dirty="0"/>
              <a:t>    padding : 10px 20px;</a:t>
            </a:r>
          </a:p>
          <a:p>
            <a:r>
              <a:rPr lang="en-US" dirty="0"/>
              <a:t> }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07504" y="620688"/>
            <a:ext cx="3744416" cy="1754326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myblock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padding–top : 10px;  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padding–right : 20px;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padding–bottom : 10px;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padding–left :20px;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887924" y="1196752"/>
            <a:ext cx="468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urier New" pitchFamily="49" charset="0"/>
                <a:cs typeface="Courier New" pitchFamily="49" charset="0"/>
              </a:rPr>
              <a:t>=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55976" y="3670572"/>
            <a:ext cx="4680520" cy="923330"/>
          </a:xfrm>
          <a:prstGeom prst="rect">
            <a:avLst/>
          </a:prstGeom>
          <a:solidFill>
            <a:srgbClr val="92D05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.</a:t>
            </a:r>
            <a:r>
              <a:rPr lang="en-US" dirty="0" err="1"/>
              <a:t>myblock</a:t>
            </a:r>
            <a:r>
              <a:rPr lang="en-US" dirty="0"/>
              <a:t> {</a:t>
            </a:r>
          </a:p>
          <a:p>
            <a:r>
              <a:rPr lang="en-US" dirty="0"/>
              <a:t>  margin :10px 20px 10px </a:t>
            </a:r>
            <a:r>
              <a:rPr lang="en-US" dirty="0" err="1"/>
              <a:t>10px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4355976" y="4665910"/>
            <a:ext cx="4680520" cy="923330"/>
          </a:xfrm>
          <a:prstGeom prst="rect">
            <a:avLst/>
          </a:prstGeom>
          <a:solidFill>
            <a:srgbClr val="92D05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.</a:t>
            </a:r>
            <a:r>
              <a:rPr lang="en-US" dirty="0" err="1"/>
              <a:t>myblock</a:t>
            </a:r>
            <a:r>
              <a:rPr lang="en-US" dirty="0"/>
              <a:t> {</a:t>
            </a:r>
          </a:p>
          <a:p>
            <a:r>
              <a:rPr lang="en-US" dirty="0"/>
              <a:t>    margin : 10px 20px;</a:t>
            </a:r>
          </a:p>
          <a:p>
            <a:r>
              <a:rPr lang="en-US" dirty="0"/>
              <a:t> }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107504" y="3717032"/>
            <a:ext cx="3744416" cy="1754326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myblock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{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margin–top : 10px;   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margin–right : 20px;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margin–bottom : 10px;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margin–left :20px;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3887924" y="4305870"/>
            <a:ext cx="4680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Courier New" pitchFamily="49" charset="0"/>
                <a:cs typeface="Courier New" pitchFamily="49" charset="0"/>
              </a:rPr>
              <a:t>=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31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4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Группа 18"/>
          <p:cNvGrpSpPr/>
          <p:nvPr/>
        </p:nvGrpSpPr>
        <p:grpSpPr>
          <a:xfrm>
            <a:off x="467544" y="418916"/>
            <a:ext cx="3508691" cy="646331"/>
            <a:chOff x="827583" y="369530"/>
            <a:chExt cx="2808313" cy="646331"/>
          </a:xfrm>
        </p:grpSpPr>
        <p:cxnSp>
          <p:nvCxnSpPr>
            <p:cNvPr id="6" name="Прямая со стрелкой 5"/>
            <p:cNvCxnSpPr/>
            <p:nvPr/>
          </p:nvCxnSpPr>
          <p:spPr>
            <a:xfrm>
              <a:off x="2987824" y="692696"/>
              <a:ext cx="648072" cy="0"/>
            </a:xfrm>
            <a:prstGeom prst="straightConnector1">
              <a:avLst/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827583" y="369530"/>
              <a:ext cx="2333212" cy="646331"/>
            </a:xfrm>
            <a:prstGeom prst="rect">
              <a:avLst/>
            </a:prstGeom>
            <a:solidFill>
              <a:schemeClr val="accent1"/>
            </a:solidFill>
            <a:ln>
              <a:solidFill>
                <a:srgbClr val="92D050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>
              <a:defPPr>
                <a:defRPr lang="ru-RU"/>
              </a:defPPr>
              <a:lvl1pPr>
                <a:defRPr>
                  <a:latin typeface="Courier New" pitchFamily="49" charset="0"/>
                  <a:cs typeface="Courier New" pitchFamily="49" charset="0"/>
                </a:defRPr>
              </a:lvl1pPr>
            </a:lstStyle>
            <a:p>
              <a:r>
                <a:rPr lang="ru-RU" dirty="0">
                  <a:solidFill>
                    <a:schemeClr val="bg1"/>
                  </a:solidFill>
                </a:rPr>
                <a:t>Точка </a:t>
              </a:r>
              <a:r>
                <a:rPr lang="ru-RU" dirty="0" err="1">
                  <a:solidFill>
                    <a:schemeClr val="bg1"/>
                  </a:solidFill>
                </a:rPr>
                <a:t>прив'язки</a:t>
              </a:r>
              <a:endParaRPr lang="ru-RU" dirty="0">
                <a:solidFill>
                  <a:schemeClr val="bg1"/>
                </a:solidFill>
              </a:endParaRPr>
            </a:p>
            <a:p>
              <a:r>
                <a:rPr lang="ru-RU" b="1" dirty="0">
                  <a:solidFill>
                    <a:schemeClr val="bg1"/>
                  </a:solidFill>
                </a:rPr>
                <a:t>(</a:t>
              </a:r>
              <a:r>
                <a:rPr lang="en-US" b="1" dirty="0">
                  <a:solidFill>
                    <a:schemeClr val="bg1"/>
                  </a:solidFill>
                </a:rPr>
                <a:t>origin point</a:t>
              </a:r>
              <a:r>
                <a:rPr lang="ru-RU" b="1" dirty="0">
                  <a:solidFill>
                    <a:schemeClr val="bg1"/>
                  </a:solidFill>
                </a:rPr>
                <a:t>)</a:t>
              </a:r>
            </a:p>
          </p:txBody>
        </p:sp>
      </p:grpSp>
      <p:pic>
        <p:nvPicPr>
          <p:cNvPr id="18" name="Рисунок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0719" y="188640"/>
            <a:ext cx="4501721" cy="6395888"/>
          </a:xfrm>
          <a:prstGeom prst="rect">
            <a:avLst/>
          </a:prstGeom>
        </p:spPr>
      </p:pic>
      <p:grpSp>
        <p:nvGrpSpPr>
          <p:cNvPr id="21" name="Группа 20"/>
          <p:cNvGrpSpPr/>
          <p:nvPr/>
        </p:nvGrpSpPr>
        <p:grpSpPr>
          <a:xfrm>
            <a:off x="146092" y="2960947"/>
            <a:ext cx="4569924" cy="1870467"/>
            <a:chOff x="146092" y="2780928"/>
            <a:chExt cx="4569924" cy="1870467"/>
          </a:xfrm>
        </p:grpSpPr>
        <p:sp>
          <p:nvSpPr>
            <p:cNvPr id="15" name="TextBox 14"/>
            <p:cNvSpPr txBox="1"/>
            <p:nvPr/>
          </p:nvSpPr>
          <p:spPr>
            <a:xfrm>
              <a:off x="146092" y="4005064"/>
              <a:ext cx="2808312" cy="646331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wrap="square" rtlCol="0">
              <a:spAutoFit/>
            </a:bodyPr>
            <a:lstStyle/>
            <a:p>
              <a:r>
                <a:rPr lang="ru-RU" b="1" dirty="0">
                  <a:latin typeface="Courier New" pitchFamily="49" charset="0"/>
                  <a:cs typeface="Courier New" pitchFamily="49" charset="0"/>
                </a:rPr>
                <a:t>Область</a:t>
              </a:r>
              <a:r>
                <a:rPr lang="ru-RU" dirty="0"/>
                <a:t> </a:t>
              </a:r>
              <a:r>
                <a:rPr lang="ru-RU" dirty="0" err="1"/>
                <a:t>сторінки</a:t>
              </a:r>
              <a:r>
                <a:rPr lang="ru-RU" dirty="0"/>
                <a:t> </a:t>
              </a:r>
            </a:p>
            <a:p>
              <a:r>
                <a:rPr lang="en-US" b="1" dirty="0"/>
                <a:t>         </a:t>
              </a:r>
              <a:r>
                <a:rPr lang="ru-RU" b="1" dirty="0"/>
                <a:t>(</a:t>
              </a:r>
              <a:r>
                <a:rPr lang="en-US" b="1" dirty="0"/>
                <a:t>canvas</a:t>
              </a:r>
              <a:r>
                <a:rPr lang="ru-RU" b="1" dirty="0"/>
                <a:t>)</a:t>
              </a:r>
            </a:p>
          </p:txBody>
        </p:sp>
        <p:cxnSp>
          <p:nvCxnSpPr>
            <p:cNvPr id="14" name="Прямая со стрелкой 13"/>
            <p:cNvCxnSpPr/>
            <p:nvPr/>
          </p:nvCxnSpPr>
          <p:spPr>
            <a:xfrm flipV="1">
              <a:off x="2954404" y="2780928"/>
              <a:ext cx="1761612" cy="154730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cxnSp>
        <p:nvCxnSpPr>
          <p:cNvPr id="11" name="Прямая со стрелкой 10"/>
          <p:cNvCxnSpPr/>
          <p:nvPr/>
        </p:nvCxnSpPr>
        <p:spPr>
          <a:xfrm>
            <a:off x="3007525" y="1591926"/>
            <a:ext cx="988411" cy="0"/>
          </a:xfrm>
          <a:prstGeom prst="straightConnector1">
            <a:avLst/>
          </a:prstGeom>
          <a:ln>
            <a:solidFill>
              <a:srgbClr val="92D050"/>
            </a:solidFill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504" y="1268760"/>
            <a:ext cx="3538658" cy="2308324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Область перегляду браузера (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viewport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Розмір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цієї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залежить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дозволу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екрану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– і вона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прив'язана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до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3" name="Прямоугольник 22"/>
          <p:cNvSpPr/>
          <p:nvPr/>
        </p:nvSpPr>
        <p:spPr>
          <a:xfrm>
            <a:off x="4716016" y="754853"/>
            <a:ext cx="3024336" cy="5842499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3976235" y="687247"/>
            <a:ext cx="91709" cy="91709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4022088" y="764704"/>
            <a:ext cx="4366335" cy="283939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1244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06266" y="56074"/>
            <a:ext cx="5318061" cy="36933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>
              <a:spcBef>
                <a:spcPct val="0"/>
              </a:spcBef>
              <a:buNone/>
              <a:defRPr kumimoji="0" b="1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extLst/>
          </a:lstStyle>
          <a:p>
            <a:r>
              <a:rPr lang="ru-RU" dirty="0" err="1"/>
              <a:t>Етапи</a:t>
            </a:r>
            <a:r>
              <a:rPr lang="ru-RU" dirty="0"/>
              <a:t> </a:t>
            </a:r>
            <a:r>
              <a:rPr lang="ru-RU" dirty="0" err="1"/>
              <a:t>розрахунку</a:t>
            </a:r>
            <a:r>
              <a:rPr lang="ru-RU" dirty="0"/>
              <a:t> величин у </a:t>
            </a:r>
            <a:r>
              <a:rPr lang="ru-RU" dirty="0" err="1"/>
              <a:t>браузері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179511" y="489446"/>
            <a:ext cx="8856983" cy="64633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Завантажується</a:t>
            </a:r>
            <a:r>
              <a:rPr lang="ru-RU" dirty="0"/>
              <a:t> </a:t>
            </a:r>
            <a:r>
              <a:rPr lang="en-US" dirty="0"/>
              <a:t>HTML-</a:t>
            </a:r>
            <a:r>
              <a:rPr lang="ru-RU" dirty="0"/>
              <a:t>код документа, </a:t>
            </a:r>
            <a:r>
              <a:rPr lang="ru-RU" dirty="0" err="1"/>
              <a:t>файли</a:t>
            </a:r>
            <a:r>
              <a:rPr lang="ru-RU" dirty="0"/>
              <a:t> </a:t>
            </a:r>
            <a:r>
              <a:rPr lang="en-US" dirty="0"/>
              <a:t>CSS, </a:t>
            </a:r>
            <a:r>
              <a:rPr lang="ru-RU" dirty="0" err="1"/>
              <a:t>підключається</a:t>
            </a:r>
            <a:r>
              <a:rPr lang="ru-RU" dirty="0"/>
              <a:t> модуль </a:t>
            </a:r>
            <a:r>
              <a:rPr lang="en-US" dirty="0"/>
              <a:t>CSS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200576" y="1340768"/>
            <a:ext cx="8835919" cy="646331"/>
          </a:xfrm>
          <a:prstGeom prst="rect">
            <a:avLst/>
          </a:prstGeom>
          <a:solidFill>
            <a:srgbClr val="FFFF00">
              <a:alpha val="7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2. </a:t>
            </a:r>
            <a:r>
              <a:rPr lang="ru-RU" dirty="0" err="1"/>
              <a:t>Відносні</a:t>
            </a:r>
            <a:r>
              <a:rPr lang="ru-RU" dirty="0"/>
              <a:t> </a:t>
            </a:r>
            <a:r>
              <a:rPr lang="ru-RU" dirty="0" err="1"/>
              <a:t>величини</a:t>
            </a:r>
            <a:r>
              <a:rPr lang="ru-RU" dirty="0"/>
              <a:t> </a:t>
            </a:r>
            <a:r>
              <a:rPr lang="ru-RU" dirty="0" err="1"/>
              <a:t>шрифтів</a:t>
            </a:r>
            <a:r>
              <a:rPr lang="ru-RU" dirty="0"/>
              <a:t> </a:t>
            </a:r>
            <a:r>
              <a:rPr lang="ru-RU" dirty="0" err="1"/>
              <a:t>задані</a:t>
            </a:r>
            <a:r>
              <a:rPr lang="ru-RU" dirty="0"/>
              <a:t> в </a:t>
            </a:r>
            <a:r>
              <a:rPr lang="ru-RU" dirty="0">
                <a:solidFill>
                  <a:srgbClr val="C00000"/>
                </a:solidFill>
              </a:rPr>
              <a:t>%, </a:t>
            </a:r>
            <a:r>
              <a:rPr lang="ru-RU" dirty="0" err="1">
                <a:solidFill>
                  <a:srgbClr val="C00000"/>
                </a:solidFill>
              </a:rPr>
              <a:t>em</a:t>
            </a:r>
            <a:r>
              <a:rPr lang="ru-RU" dirty="0">
                <a:solidFill>
                  <a:srgbClr val="C00000"/>
                </a:solidFill>
              </a:rPr>
              <a:t>, </a:t>
            </a:r>
            <a:r>
              <a:rPr lang="ru-RU" dirty="0" err="1">
                <a:solidFill>
                  <a:srgbClr val="C00000"/>
                </a:solidFill>
              </a:rPr>
              <a:t>ex</a:t>
            </a:r>
            <a:r>
              <a:rPr lang="ru-RU" dirty="0">
                <a:solidFill>
                  <a:srgbClr val="C00000"/>
                </a:solidFill>
              </a:rPr>
              <a:t>,</a:t>
            </a:r>
            <a:r>
              <a:rPr lang="ru-RU" dirty="0"/>
              <a:t> ... </a:t>
            </a:r>
            <a:r>
              <a:rPr lang="ru-RU" dirty="0" err="1"/>
              <a:t>перетворюються</a:t>
            </a:r>
            <a:r>
              <a:rPr lang="ru-RU" dirty="0"/>
              <a:t> на </a:t>
            </a:r>
            <a:r>
              <a:rPr lang="ru-RU" dirty="0" err="1"/>
              <a:t>абсолютні</a:t>
            </a:r>
            <a:r>
              <a:rPr lang="ru-RU" dirty="0"/>
              <a:t> (</a:t>
            </a:r>
            <a:r>
              <a:rPr lang="ru-RU" dirty="0" err="1"/>
              <a:t>px</a:t>
            </a:r>
            <a:r>
              <a:rPr lang="ru-RU"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576" y="2138412"/>
            <a:ext cx="8856982" cy="2308324"/>
          </a:xfrm>
          <a:prstGeom prst="rect">
            <a:avLst/>
          </a:prstGeom>
          <a:solidFill>
            <a:srgbClr val="92D050">
              <a:alpha val="13000"/>
            </a:srgb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3. </a:t>
            </a:r>
            <a:r>
              <a:rPr lang="ru-RU" dirty="0" err="1"/>
              <a:t>Перетворення</a:t>
            </a:r>
            <a:r>
              <a:rPr lang="ru-RU" dirty="0"/>
              <a:t> </a:t>
            </a:r>
            <a:r>
              <a:rPr lang="ru-RU" dirty="0" err="1"/>
              <a:t>відносних</a:t>
            </a:r>
            <a:r>
              <a:rPr lang="ru-RU" dirty="0"/>
              <a:t> величин </a:t>
            </a:r>
            <a:r>
              <a:rPr lang="en-US" dirty="0">
                <a:solidFill>
                  <a:srgbClr val="0070C0"/>
                </a:solidFill>
              </a:rPr>
              <a:t>width, height, margin,</a:t>
            </a:r>
          </a:p>
          <a:p>
            <a:r>
              <a:rPr lang="en-US" dirty="0">
                <a:solidFill>
                  <a:srgbClr val="0070C0"/>
                </a:solidFill>
              </a:rPr>
              <a:t>   padding, border-width</a:t>
            </a:r>
            <a:r>
              <a:rPr lang="en-US" dirty="0"/>
              <a:t> </a:t>
            </a:r>
            <a:r>
              <a:rPr lang="ru-RU" dirty="0" err="1"/>
              <a:t>блоків</a:t>
            </a:r>
            <a:r>
              <a:rPr lang="ru-RU" dirty="0"/>
              <a:t> </a:t>
            </a:r>
            <a:r>
              <a:rPr lang="ru-RU" dirty="0" err="1"/>
              <a:t>заданих</a:t>
            </a:r>
            <a:r>
              <a:rPr lang="ru-RU" dirty="0"/>
              <a:t> у </a:t>
            </a:r>
            <a:r>
              <a:rPr lang="ru-RU" dirty="0">
                <a:solidFill>
                  <a:srgbClr val="C00000"/>
                </a:solidFill>
              </a:rPr>
              <a:t>%, </a:t>
            </a:r>
            <a:r>
              <a:rPr lang="en-US" dirty="0" err="1">
                <a:solidFill>
                  <a:srgbClr val="C00000"/>
                </a:solidFill>
              </a:rPr>
              <a:t>em</a:t>
            </a:r>
            <a:r>
              <a:rPr lang="en-US" dirty="0">
                <a:solidFill>
                  <a:srgbClr val="C00000"/>
                </a:solidFill>
              </a:rPr>
              <a:t>, ex</a:t>
            </a:r>
            <a:r>
              <a:rPr lang="en-US" dirty="0"/>
              <a:t>,... </a:t>
            </a:r>
          </a:p>
          <a:p>
            <a:r>
              <a:rPr lang="en-US" dirty="0"/>
              <a:t>   </a:t>
            </a:r>
            <a:r>
              <a:rPr lang="uk-UA" dirty="0"/>
              <a:t>в </a:t>
            </a:r>
            <a:r>
              <a:rPr lang="ru-RU" dirty="0" err="1"/>
              <a:t>абсолютні</a:t>
            </a:r>
            <a:r>
              <a:rPr lang="ru-RU" dirty="0"/>
              <a:t> з </a:t>
            </a:r>
            <a:r>
              <a:rPr lang="ru-RU" dirty="0" err="1"/>
              <a:t>урахуванням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r>
              <a:rPr lang="ru-RU" dirty="0"/>
              <a:t> перегляду.</a:t>
            </a:r>
          </a:p>
          <a:p>
            <a:r>
              <a:rPr lang="ru-RU" dirty="0"/>
              <a:t>   </a:t>
            </a:r>
          </a:p>
          <a:p>
            <a:r>
              <a:rPr lang="ru-RU" dirty="0"/>
              <a:t>   </a:t>
            </a:r>
            <a:r>
              <a:rPr lang="ru-RU" dirty="0" err="1"/>
              <a:t>Елемент</a:t>
            </a:r>
            <a:r>
              <a:rPr lang="ru-RU" dirty="0"/>
              <a:t> </a:t>
            </a:r>
            <a:r>
              <a:rPr lang="en-US" dirty="0"/>
              <a:t>HTML </a:t>
            </a:r>
            <a:r>
              <a:rPr lang="uk-UA" dirty="0"/>
              <a:t>визначає </a:t>
            </a:r>
            <a:r>
              <a:rPr lang="ru-RU" dirty="0"/>
              <a:t>область перегляду браузера.</a:t>
            </a:r>
          </a:p>
          <a:p>
            <a:endParaRPr lang="ru-RU" dirty="0"/>
          </a:p>
          <a:p>
            <a:r>
              <a:rPr lang="ru-RU" dirty="0"/>
              <a:t>   </a:t>
            </a:r>
            <a:r>
              <a:rPr lang="ru-RU" dirty="0" err="1"/>
              <a:t>Тобто</a:t>
            </a:r>
            <a:r>
              <a:rPr lang="ru-RU" dirty="0"/>
              <a:t> на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розраховується</a:t>
            </a:r>
            <a:r>
              <a:rPr lang="ru-RU" dirty="0"/>
              <a:t> </a:t>
            </a:r>
            <a:r>
              <a:rPr lang="ru-RU" dirty="0" err="1"/>
              <a:t>взаємне</a:t>
            </a:r>
            <a:r>
              <a:rPr lang="ru-RU" dirty="0"/>
              <a:t> </a:t>
            </a:r>
            <a:r>
              <a:rPr lang="ru-RU" dirty="0" err="1"/>
              <a:t>розташування</a:t>
            </a:r>
            <a:endParaRPr lang="ru-RU" dirty="0"/>
          </a:p>
          <a:p>
            <a:r>
              <a:rPr lang="ru-RU" dirty="0"/>
              <a:t>   </a:t>
            </a:r>
            <a:r>
              <a:rPr lang="ru-RU" dirty="0" err="1"/>
              <a:t>блоків</a:t>
            </a:r>
            <a:r>
              <a:rPr lang="ru-RU" dirty="0"/>
              <a:t> на </a:t>
            </a:r>
            <a:r>
              <a:rPr lang="ru-RU" dirty="0" err="1"/>
              <a:t>сторінці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90044" y="4883024"/>
            <a:ext cx="8856982" cy="369332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/>
              <a:t>4. </a:t>
            </a:r>
            <a:r>
              <a:rPr lang="ru-RU" dirty="0" err="1"/>
              <a:t>Округлення</a:t>
            </a:r>
            <a:r>
              <a:rPr lang="ru-RU" dirty="0"/>
              <a:t> </a:t>
            </a:r>
            <a:r>
              <a:rPr lang="ru-RU" dirty="0" err="1"/>
              <a:t>значень</a:t>
            </a:r>
            <a:r>
              <a:rPr lang="ru-RU" dirty="0"/>
              <a:t> та </a:t>
            </a:r>
            <a:r>
              <a:rPr lang="ru-RU" dirty="0" err="1"/>
              <a:t>відображення</a:t>
            </a:r>
            <a:r>
              <a:rPr lang="ru-RU" dirty="0"/>
              <a:t> документа</a:t>
            </a:r>
          </a:p>
        </p:txBody>
      </p:sp>
    </p:spTree>
    <p:extLst>
      <p:ext uri="{BB962C8B-B14F-4D97-AF65-F5344CB8AC3E}">
        <p14:creationId xmlns:p14="http://schemas.microsoft.com/office/powerpoint/2010/main" val="121609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3848" y="52175"/>
            <a:ext cx="2304256" cy="36933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kumimoji="0" b="1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ru-RU" dirty="0"/>
              <a:t>Ширина блоку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476672"/>
            <a:ext cx="8928992" cy="1200329"/>
          </a:xfrm>
          <a:prstGeom prst="rect">
            <a:avLst/>
          </a:prstGeom>
          <a:solidFill>
            <a:srgbClr val="FFFF00">
              <a:alpha val="8000"/>
            </a:srgb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>
                <a:solidFill>
                  <a:srgbClr val="C00000"/>
                </a:solidFill>
              </a:rPr>
              <a:t>Якщо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властивості</a:t>
            </a:r>
            <a:r>
              <a:rPr lang="ru-RU" dirty="0">
                <a:solidFill>
                  <a:srgbClr val="C00000"/>
                </a:solidFill>
              </a:rPr>
              <a:t> блоку не </a:t>
            </a:r>
            <a:r>
              <a:rPr lang="ru-RU" dirty="0" err="1">
                <a:solidFill>
                  <a:srgbClr val="C00000"/>
                </a:solidFill>
              </a:rPr>
              <a:t>вказані</a:t>
            </a:r>
            <a:endParaRPr lang="ru-RU" dirty="0">
              <a:solidFill>
                <a:srgbClr val="C0000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    width,  height</a:t>
            </a:r>
            <a:r>
              <a:rPr lang="ru-RU" dirty="0">
                <a:solidFill>
                  <a:srgbClr val="0070C0"/>
                </a:solidFill>
              </a:rPr>
              <a:t>, </a:t>
            </a:r>
            <a:r>
              <a:rPr lang="en-US" dirty="0">
                <a:solidFill>
                  <a:srgbClr val="0070C0"/>
                </a:solidFill>
              </a:rPr>
              <a:t>  padding,   margin,   border</a:t>
            </a:r>
            <a:r>
              <a:rPr lang="ru-RU" dirty="0">
                <a:solidFill>
                  <a:srgbClr val="0070C0"/>
                </a:solidFill>
              </a:rPr>
              <a:t> </a:t>
            </a:r>
            <a:endParaRPr lang="en-US" dirty="0">
              <a:solidFill>
                <a:srgbClr val="0070C0"/>
              </a:solidFill>
            </a:endParaRPr>
          </a:p>
          <a:p>
            <a:endParaRPr lang="ru-RU" dirty="0"/>
          </a:p>
          <a:p>
            <a:r>
              <a:rPr lang="ru-RU" dirty="0"/>
              <a:t>то 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width</a:t>
            </a:r>
            <a:r>
              <a:rPr lang="ru-RU" dirty="0"/>
              <a:t> та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height</a:t>
            </a:r>
            <a:r>
              <a:rPr lang="ru-RU" dirty="0"/>
              <a:t> </a:t>
            </a:r>
            <a:r>
              <a:rPr lang="ru-RU" dirty="0" err="1"/>
              <a:t>встановлюються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en-US" dirty="0"/>
              <a:t>auto</a:t>
            </a:r>
            <a:r>
              <a:rPr lang="ru-RU" dirty="0"/>
              <a:t> 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1916832"/>
            <a:ext cx="8928992" cy="34163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height: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а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uto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означає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з'являється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         будь-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контент, 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висота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 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визначатиметься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розміром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цього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контенту.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width: auto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означає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ширина блоку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шириною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          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контейнера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        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шириною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parent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).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для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батьком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є ​​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і тому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&gt;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буде по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ширині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розтягнутий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на всю область перегляду, 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висота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буде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визначатися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вмістом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1991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63888" y="44624"/>
            <a:ext cx="2088232" cy="36933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>
              <a:spcBef>
                <a:spcPct val="0"/>
              </a:spcBef>
              <a:buNone/>
              <a:defRPr kumimoji="0" b="1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algn="ctr"/>
            <a:r>
              <a:rPr lang="ru-RU" dirty="0" err="1"/>
              <a:t>Висота</a:t>
            </a:r>
            <a:r>
              <a:rPr lang="ru-RU" dirty="0"/>
              <a:t> блоку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7504" y="620688"/>
            <a:ext cx="8928992" cy="397031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Якщо</a:t>
            </a:r>
            <a:r>
              <a:rPr lang="ru-RU" dirty="0"/>
              <a:t> у </a:t>
            </a:r>
            <a:r>
              <a:rPr lang="ru-RU" dirty="0" err="1"/>
              <a:t>властивостях</a:t>
            </a:r>
            <a:r>
              <a:rPr lang="ru-RU" dirty="0"/>
              <a:t> </a:t>
            </a:r>
            <a:r>
              <a:rPr lang="ru-RU" dirty="0" err="1"/>
              <a:t>зазначено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height</a:t>
            </a:r>
            <a:r>
              <a:rPr lang="ru-RU" dirty="0"/>
              <a:t> то </a:t>
            </a:r>
            <a:r>
              <a:rPr lang="ru-RU" dirty="0" err="1"/>
              <a:t>висота</a:t>
            </a:r>
            <a:r>
              <a:rPr lang="ru-RU" dirty="0"/>
              <a:t> блоку </a:t>
            </a:r>
            <a:r>
              <a:rPr lang="ru-RU" dirty="0" err="1"/>
              <a:t>розраховується</a:t>
            </a:r>
            <a:endParaRPr lang="ru-RU" dirty="0"/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en-US" dirty="0" err="1">
                <a:solidFill>
                  <a:srgbClr val="FF0000"/>
                </a:solidFill>
              </a:rPr>
              <a:t>heigth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auto </a:t>
            </a:r>
            <a:r>
              <a:rPr lang="en-US" dirty="0"/>
              <a:t>– </a:t>
            </a:r>
            <a:r>
              <a:rPr lang="ru-RU" dirty="0"/>
              <a:t>высотою </a:t>
            </a:r>
            <a:r>
              <a:rPr lang="ru-RU" dirty="0" err="1"/>
              <a:t>його</a:t>
            </a:r>
            <a:r>
              <a:rPr lang="ru-RU" dirty="0"/>
              <a:t> контента</a:t>
            </a:r>
            <a:br>
              <a:rPr lang="ru-RU" dirty="0"/>
            </a:br>
            <a:r>
              <a:rPr lang="ru-RU" dirty="0"/>
              <a:t>               б</a:t>
            </a:r>
            <a:r>
              <a:rPr lang="uk-UA" dirty="0"/>
              <a:t>і</a:t>
            </a:r>
            <a:r>
              <a:rPr lang="ru-RU" dirty="0" err="1"/>
              <a:t>льше</a:t>
            </a:r>
            <a:r>
              <a:rPr lang="ru-RU" dirty="0"/>
              <a:t> тексту – </a:t>
            </a:r>
            <a:r>
              <a:rPr lang="ru-RU" dirty="0" err="1"/>
              <a:t>більша</a:t>
            </a:r>
            <a:r>
              <a:rPr lang="ru-RU" dirty="0"/>
              <a:t> </a:t>
            </a:r>
            <a:r>
              <a:rPr lang="ru-RU" dirty="0" err="1"/>
              <a:t>висота</a:t>
            </a:r>
            <a:r>
              <a:rPr lang="ru-RU" dirty="0"/>
              <a:t> блока)</a:t>
            </a:r>
            <a:r>
              <a:rPr lang="en-US" dirty="0"/>
              <a:t>;</a:t>
            </a:r>
            <a:endParaRPr lang="ru-RU" dirty="0"/>
          </a:p>
          <a:p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якщо</a:t>
            </a:r>
            <a:r>
              <a:rPr lang="ru-RU" dirty="0"/>
              <a:t>  </a:t>
            </a:r>
            <a:r>
              <a:rPr lang="en-US" dirty="0" err="1">
                <a:solidFill>
                  <a:srgbClr val="FF0000"/>
                </a:solidFill>
              </a:rPr>
              <a:t>heigth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ru-RU" dirty="0" err="1"/>
              <a:t>вказана</a:t>
            </a:r>
            <a:r>
              <a:rPr lang="ru-RU" dirty="0"/>
              <a:t> в </a:t>
            </a:r>
            <a:r>
              <a:rPr lang="ru-RU" dirty="0">
                <a:solidFill>
                  <a:srgbClr val="FF0000"/>
                </a:solidFill>
              </a:rPr>
              <a:t>%</a:t>
            </a:r>
            <a:r>
              <a:rPr lang="ru-RU" dirty="0"/>
              <a:t> - то </a:t>
            </a:r>
            <a:r>
              <a:rPr lang="ru-RU" dirty="0" err="1"/>
              <a:t>відповідно</a:t>
            </a:r>
            <a:r>
              <a:rPr lang="ru-RU" dirty="0"/>
              <a:t> </a:t>
            </a:r>
            <a:r>
              <a:rPr lang="ru-RU" dirty="0" err="1"/>
              <a:t>висоти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endParaRPr lang="ru-RU" dirty="0"/>
          </a:p>
          <a:p>
            <a:r>
              <a:rPr lang="ru-RU" dirty="0"/>
              <a:t>  контейнера (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parent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dirty="0"/>
              <a:t>);</a:t>
            </a:r>
          </a:p>
          <a:p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en-US" dirty="0" err="1">
                <a:solidFill>
                  <a:srgbClr val="FF0000"/>
                </a:solidFill>
              </a:rPr>
              <a:t>heigth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ru-RU" dirty="0" err="1"/>
              <a:t>вказана</a:t>
            </a:r>
            <a:r>
              <a:rPr lang="ru-RU" dirty="0"/>
              <a:t> в </a:t>
            </a:r>
            <a:r>
              <a:rPr lang="en-US" dirty="0" err="1">
                <a:solidFill>
                  <a:srgbClr val="FF0000"/>
                </a:solidFill>
              </a:rPr>
              <a:t>em</a:t>
            </a:r>
            <a:r>
              <a:rPr lang="en-US" dirty="0"/>
              <a:t> – </a:t>
            </a:r>
            <a:r>
              <a:rPr lang="ru-RU" dirty="0" err="1"/>
              <a:t>визначається</a:t>
            </a:r>
            <a:r>
              <a:rPr lang="ru-RU" dirty="0"/>
              <a:t> </a:t>
            </a:r>
            <a:r>
              <a:rPr lang="ru-RU" dirty="0" err="1"/>
              <a:t>кегдем</a:t>
            </a:r>
            <a:r>
              <a:rPr lang="ru-RU" dirty="0"/>
              <a:t> шрифту</a:t>
            </a:r>
          </a:p>
          <a:p>
            <a:r>
              <a:rPr lang="ru-RU" dirty="0"/>
              <a:t>  поточного контенту ;</a:t>
            </a:r>
          </a:p>
          <a:p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для </a:t>
            </a:r>
            <a:r>
              <a:rPr lang="ru-RU" dirty="0" err="1"/>
              <a:t>кореневого</a:t>
            </a:r>
            <a:r>
              <a:rPr lang="ru-RU" dirty="0"/>
              <a:t> </a:t>
            </a:r>
            <a:r>
              <a:rPr lang="ru-RU" dirty="0" err="1"/>
              <a:t>елемента</a:t>
            </a:r>
            <a:r>
              <a:rPr lang="ru-RU" dirty="0"/>
              <a:t> </a:t>
            </a:r>
            <a:r>
              <a:rPr lang="ru-RU" dirty="0">
                <a:solidFill>
                  <a:srgbClr val="C00000"/>
                </a:solidFill>
              </a:rPr>
              <a:t>&lt;</a:t>
            </a:r>
            <a:r>
              <a:rPr lang="ru-RU" dirty="0" err="1">
                <a:solidFill>
                  <a:srgbClr val="C00000"/>
                </a:solidFill>
              </a:rPr>
              <a:t>html</a:t>
            </a:r>
            <a:r>
              <a:rPr lang="ru-RU" dirty="0">
                <a:solidFill>
                  <a:srgbClr val="C00000"/>
                </a:solidFill>
              </a:rPr>
              <a:t>&gt; </a:t>
            </a:r>
            <a:r>
              <a:rPr lang="ru-RU" dirty="0" err="1"/>
              <a:t>висота</a:t>
            </a:r>
            <a:r>
              <a:rPr lang="ru-RU" dirty="0"/>
              <a:t> блоку </a:t>
            </a:r>
            <a:r>
              <a:rPr lang="ru-RU" dirty="0" err="1"/>
              <a:t>визначається</a:t>
            </a:r>
            <a:r>
              <a:rPr lang="ru-RU" dirty="0"/>
              <a:t>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r>
              <a:rPr lang="ru-RU" dirty="0"/>
              <a:t> перегляду</a:t>
            </a:r>
          </a:p>
        </p:txBody>
      </p:sp>
    </p:spTree>
    <p:extLst>
      <p:ext uri="{BB962C8B-B14F-4D97-AF65-F5344CB8AC3E}">
        <p14:creationId xmlns:p14="http://schemas.microsoft.com/office/powerpoint/2010/main" val="2496037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Группа 3"/>
          <p:cNvGrpSpPr/>
          <p:nvPr/>
        </p:nvGrpSpPr>
        <p:grpSpPr>
          <a:xfrm>
            <a:off x="35496" y="260648"/>
            <a:ext cx="8712968" cy="4618888"/>
            <a:chOff x="107504" y="2490656"/>
            <a:chExt cx="8712968" cy="4618888"/>
          </a:xfrm>
        </p:grpSpPr>
        <p:sp>
          <p:nvSpPr>
            <p:cNvPr id="6" name="TextBox 5"/>
            <p:cNvSpPr txBox="1"/>
            <p:nvPr/>
          </p:nvSpPr>
          <p:spPr>
            <a:xfrm>
              <a:off x="107504" y="2492896"/>
              <a:ext cx="8712968" cy="4616648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US" sz="4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r>
                <a:rPr lang="en-US" sz="48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ru-RU" sz="48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ЗАПАМ'ЯТАТИ !!!</a:t>
              </a:r>
              <a:endParaRPr lang="en-US" sz="4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endParaRPr lang="en-US" sz="36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pPr algn="ctr"/>
              <a:endParaRPr lang="ru-RU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  <a:p>
              <a:r>
                <a:rPr lang="uk-UA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При верстці сторінок висота (</a:t>
              </a:r>
              <a:r>
                <a:rPr lang="en-US" sz="24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height</a:t>
              </a:r>
              <a:r>
                <a:rPr lang="en-US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) </a:t>
              </a:r>
              <a:r>
                <a:rPr lang="uk-UA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блокам задається </a:t>
              </a:r>
              <a:r>
                <a:rPr lang="uk-UA" sz="2400" b="1" i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тільки в крайніх випадках</a:t>
              </a:r>
              <a:r>
                <a:rPr lang="uk-UA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і робити це потрібно </a:t>
              </a:r>
              <a:r>
                <a:rPr lang="uk-UA" sz="2400" b="1" i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усвідомлено</a:t>
              </a:r>
              <a:r>
                <a:rPr lang="uk-UA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враховуючи те, що </a:t>
              </a:r>
              <a:r>
                <a:rPr lang="uk-UA" sz="2400" b="1" i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обмеження блоку по висоті </a:t>
              </a:r>
              <a:r>
                <a:rPr lang="uk-UA" sz="2400" b="1" i="1" dirty="0" err="1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зрізатиме</a:t>
              </a:r>
              <a:r>
                <a:rPr lang="uk-UA" sz="2400" b="1" i="1" dirty="0">
                  <a:solidFill>
                    <a:srgbClr val="0070C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його контент</a:t>
              </a:r>
              <a:r>
                <a:rPr lang="uk-UA" sz="24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, якщо висота цього контенту перевищує висоту блоку</a:t>
              </a:r>
            </a:p>
          </p:txBody>
        </p:sp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04" y="2490656"/>
              <a:ext cx="2011680" cy="20116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0552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611560" y="44624"/>
            <a:ext cx="7715200" cy="369332"/>
          </a:xfr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Перевищення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контенту </a:t>
            </a:r>
            <a:r>
              <a:rPr lang="ru-RU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заданої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висоти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блока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548680"/>
            <a:ext cx="8784976" cy="17543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Якщо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кількість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контенту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всередині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блоку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перевищуватиме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задані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розміри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блоку, то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текстовий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вийде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межі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блоку.</a:t>
            </a:r>
          </a:p>
          <a:p>
            <a:endParaRPr lang="ru-RU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При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цьому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він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не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впливає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на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сусідні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Управління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переповненням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контентом блоку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здійснюється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за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допомогою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якості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overflow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ru-RU" dirty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094468"/>
              </p:ext>
            </p:extLst>
          </p:nvPr>
        </p:nvGraphicFramePr>
        <p:xfrm>
          <a:off x="194376" y="3140968"/>
          <a:ext cx="8770112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9312">
                  <a:extLst>
                    <a:ext uri="{9D8B030D-6E8A-4147-A177-3AD203B41FA5}">
                      <a16:colId xmlns:a16="http://schemas.microsoft.com/office/drawing/2014/main" val="3053617507"/>
                    </a:ext>
                  </a:extLst>
                </a:gridCol>
                <a:gridCol w="7200800">
                  <a:extLst>
                    <a:ext uri="{9D8B030D-6E8A-4147-A177-3AD203B41FA5}">
                      <a16:colId xmlns:a16="http://schemas.microsoft.com/office/drawing/2014/main" val="2747425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overflow:</a:t>
                      </a:r>
                      <a:r>
                        <a:rPr lang="en-US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012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visible</a:t>
                      </a:r>
                      <a:endParaRPr lang="ru-RU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Буде показаний весь контент без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смуг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прокручування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1567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hidden</a:t>
                      </a:r>
                      <a:endParaRPr lang="ru-RU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контент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який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виходить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за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межі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блоку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обрізається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807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auto</a:t>
                      </a:r>
                      <a:endParaRPr lang="ru-RU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смуги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прокручування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біля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блоку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показуватимуться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коли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кількість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контенту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перевищить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розміри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блоку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057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scroll</a:t>
                      </a:r>
                      <a:endParaRPr lang="ru-RU" dirty="0">
                        <a:solidFill>
                          <a:srgbClr val="0070C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смуги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прокручування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біля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блоку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будуть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показуватися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завжди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(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незалежно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від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того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скільки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контенту в </a:t>
                      </a:r>
                      <a:r>
                        <a:rPr lang="ru-RU" b="1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блоці</a:t>
                      </a:r>
                      <a:r>
                        <a:rPr lang="ru-RU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2435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72200" y="2699628"/>
            <a:ext cx="2528256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001/overflow.html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0474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7432" y="36745"/>
            <a:ext cx="3468463" cy="369332"/>
          </a:xfr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Свойство блока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margin</a:t>
            </a:r>
            <a:endParaRPr lang="ru-RU" sz="1800" dirty="0">
              <a:solidFill>
                <a:schemeClr val="tx1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58771" y="44624"/>
            <a:ext cx="225254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001/margin.html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93575" y="1556792"/>
            <a:ext cx="8942921" cy="406265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вказується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px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вказано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 </a:t>
            </a:r>
            <a:r>
              <a:rPr lang="en-US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em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кеглі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шрифту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поточної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вказано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- 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щодо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ширини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контейнера 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батька);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вказано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як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auto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розрахунок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здійснює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сам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браузер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залежить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величина з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інших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властивостей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width);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margin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по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вертикалі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auto,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воно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завжди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скидається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нанівець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-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можуть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застосовуватись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негативні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5583" y="489446"/>
            <a:ext cx="8942921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Виконує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завдання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взаємодії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з: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сусідніми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елементами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розташування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на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сторінці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між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елементом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та </a:t>
            </a:r>
            <a:r>
              <a:rPr lang="ru-RU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його</a:t>
            </a:r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 контейнером;  </a:t>
            </a:r>
          </a:p>
        </p:txBody>
      </p:sp>
    </p:spTree>
    <p:extLst>
      <p:ext uri="{BB962C8B-B14F-4D97-AF65-F5344CB8AC3E}">
        <p14:creationId xmlns:p14="http://schemas.microsoft.com/office/powerpoint/2010/main" val="103392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23528" y="44624"/>
            <a:ext cx="7776864" cy="369332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1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ourier New" panose="02070309020205020404" pitchFamily="49" charset="0"/>
                <a:ea typeface="+mj-ea"/>
                <a:cs typeface="Courier New" panose="020703090202050204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Margin-collapse (</a:t>
            </a:r>
            <a:r>
              <a:rPr lang="ru-RU" dirty="0" err="1"/>
              <a:t>взаємодія</a:t>
            </a:r>
            <a:r>
              <a:rPr lang="ru-RU" dirty="0"/>
              <a:t> </a:t>
            </a:r>
            <a:r>
              <a:rPr lang="en-US" dirty="0"/>
              <a:t>margins </a:t>
            </a:r>
            <a:r>
              <a:rPr lang="ru-RU" dirty="0" err="1"/>
              <a:t>суміжних</a:t>
            </a:r>
            <a:r>
              <a:rPr lang="ru-RU" dirty="0"/>
              <a:t> </a:t>
            </a:r>
            <a:r>
              <a:rPr lang="ru-RU" dirty="0" err="1"/>
              <a:t>блоків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471224" y="509718"/>
            <a:ext cx="349326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001/margin_negative.html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82948" y="517322"/>
            <a:ext cx="3385504" cy="864096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margin-bottom:150px;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1556" y="1872114"/>
            <a:ext cx="3288344" cy="855975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margin-top:100px;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1115616" y="1376772"/>
            <a:ext cx="0" cy="477344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9000" y="148478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150px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092" y="3105834"/>
            <a:ext cx="8773121" cy="646331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ru-RU" b="1" dirty="0" err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Вертикальні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margins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між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блоками,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стоять один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під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одним</a:t>
            </a: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дорівнюватиме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найбільшому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з них.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3015" y="1130841"/>
            <a:ext cx="3211135" cy="707886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sz="4000" dirty="0" err="1">
                <a:solidFill>
                  <a:schemeClr val="accent2"/>
                </a:solidFill>
              </a:rPr>
              <a:t>Запам'ятати</a:t>
            </a:r>
            <a:endParaRPr lang="ru-RU" sz="4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17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22400" y="138112"/>
            <a:ext cx="4033576" cy="1202655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margin-bottom:-50px;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22400" y="996704"/>
            <a:ext cx="3288344" cy="855975"/>
          </a:xfrm>
          <a:prstGeom prst="rect">
            <a:avLst/>
          </a:prstGeom>
          <a:solidFill>
            <a:srgbClr val="FFC000">
              <a:alpha val="57000"/>
            </a:srgb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margin-top:0;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16485" y="977175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50px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512" y="2024627"/>
            <a:ext cx="8784976" cy="646331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2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верхньому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встановити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негативний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margin-bottom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дозволить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нижньому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 "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заїхати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територію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.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3617608" y="989872"/>
            <a:ext cx="144016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3605416" y="1330895"/>
            <a:ext cx="144016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9512" y="5517232"/>
            <a:ext cx="8784976" cy="646331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3.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верхнему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блоку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встановити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негативний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margin</a:t>
            </a:r>
            <a:r>
              <a:rPr lang="ru-RU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top </a:t>
            </a:r>
          </a:p>
          <a:p>
            <a:r>
              <a:rPr lang="en-US" i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uk-UA" b="1" i="1" dirty="0">
                <a:latin typeface="Courier New" pitchFamily="49" charset="0"/>
                <a:cs typeface="Courier New" pitchFamily="49" charset="0"/>
              </a:rPr>
              <a:t>тоді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блок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зміщується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вгору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232112" y="3590272"/>
            <a:ext cx="4033576" cy="596769"/>
          </a:xfrm>
          <a:prstGeom prst="rect">
            <a:avLst/>
          </a:prstGeom>
          <a:noFill/>
          <a:ln w="19050">
            <a:solidFill>
              <a:schemeClr val="tx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197816" y="4470921"/>
            <a:ext cx="3288344" cy="855975"/>
          </a:xfrm>
          <a:prstGeom prst="rect">
            <a:avLst/>
          </a:prstGeom>
          <a:solidFill>
            <a:srgbClr val="FFC000">
              <a:alpha val="57000"/>
            </a:srgbClr>
          </a:solidFill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margin-top:0;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241248" y="3192271"/>
            <a:ext cx="4033576" cy="596769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margin-top:-50px;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95037" y="3798184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50px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0" name="Прямая соединительная линия 19"/>
          <p:cNvCxnSpPr/>
          <p:nvPr/>
        </p:nvCxnSpPr>
        <p:spPr>
          <a:xfrm>
            <a:off x="4265688" y="3789040"/>
            <a:ext cx="144016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4265688" y="4196713"/>
            <a:ext cx="144016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705848" y="1032002"/>
            <a:ext cx="3211135" cy="707886"/>
          </a:xfrm>
          <a:prstGeom prst="rect">
            <a:avLst/>
          </a:prstGeom>
          <a:noFill/>
          <a:ln w="28575">
            <a:solidFill>
              <a:schemeClr val="accent2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ru-RU" sz="4000" dirty="0" err="1">
                <a:solidFill>
                  <a:schemeClr val="accent2"/>
                </a:solidFill>
              </a:rPr>
              <a:t>Запам'ятати</a:t>
            </a:r>
            <a:endParaRPr lang="ru-RU" sz="4000" dirty="0">
              <a:solidFill>
                <a:schemeClr val="accent2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80112" y="116632"/>
            <a:ext cx="3493264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001/margin_negative.html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0246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322400" y="908720"/>
            <a:ext cx="4249600" cy="864096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margin-right:-50px;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851920" y="908720"/>
            <a:ext cx="3288344" cy="855975"/>
          </a:xfrm>
          <a:prstGeom prst="rect">
            <a:avLst/>
          </a:prstGeom>
          <a:solidFill>
            <a:srgbClr val="FFFF00">
              <a:alpha val="57000"/>
            </a:srgbClr>
          </a:solidFill>
          <a:ln w="19050">
            <a:solidFill>
              <a:srgbClr val="375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>
            <a:off x="3851920" y="2060848"/>
            <a:ext cx="720080" cy="1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881688" y="220515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50px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9512" y="2574488"/>
            <a:ext cx="8784976" cy="1200329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latin typeface="Courier New" pitchFamily="49" charset="0"/>
                <a:cs typeface="Courier New" pitchFamily="49" charset="0"/>
              </a:rPr>
              <a:t>4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.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лівому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встановити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негативний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margin-right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дозволить правому блоку "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заїхати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"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його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територію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5.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Негативний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margin-left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–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блок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зміщується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вліво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91" y="5403434"/>
            <a:ext cx="8784976" cy="646331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6.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блока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задана ширина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негативний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margin-left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, то блок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зміщується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вліво</a:t>
            </a:r>
            <a:endParaRPr lang="ru-RU" b="1" dirty="0">
              <a:solidFill>
                <a:srgbClr val="0070C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1098606" y="4384273"/>
            <a:ext cx="2897330" cy="864096"/>
          </a:xfrm>
          <a:prstGeom prst="rect">
            <a:avLst/>
          </a:prstGeom>
          <a:noFill/>
          <a:ln w="19050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4211960" y="4387176"/>
            <a:ext cx="1728192" cy="855975"/>
          </a:xfrm>
          <a:prstGeom prst="rect">
            <a:avLst/>
          </a:prstGeom>
          <a:solidFill>
            <a:srgbClr val="FFFF00">
              <a:alpha val="57000"/>
            </a:srgbClr>
          </a:solidFill>
          <a:ln w="19050">
            <a:solidFill>
              <a:srgbClr val="3756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7504" y="4379055"/>
            <a:ext cx="3113354" cy="864096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margin-left:-50px;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7" name="Прямая со стрелкой 16"/>
          <p:cNvCxnSpPr/>
          <p:nvPr/>
        </p:nvCxnSpPr>
        <p:spPr>
          <a:xfrm>
            <a:off x="3230069" y="4703663"/>
            <a:ext cx="720080" cy="1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59837" y="4847971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50px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788024" y="116632"/>
            <a:ext cx="428535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001/margin_collapse_1.html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9671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5496" y="188640"/>
            <a:ext cx="9036496" cy="1200329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Вивал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ю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ванння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margins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за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межі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parent 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елемента</a:t>
            </a:r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є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кілька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параграфів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ідуть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один за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Та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між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ними є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margin: 60px 0; </a:t>
            </a:r>
            <a:endParaRPr lang="uk-UA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uk-UA" b="1" dirty="0">
                <a:latin typeface="Courier New" pitchFamily="49" charset="0"/>
                <a:cs typeface="Courier New" pitchFamily="49" charset="0"/>
              </a:rPr>
              <a:t>У елемента</a:t>
            </a:r>
            <a:r>
              <a:rPr lang="uk-UA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div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margin:</a:t>
            </a:r>
            <a:r>
              <a:rPr lang="uk-UA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20px 0;</a:t>
            </a:r>
            <a:endParaRPr lang="ru-RU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323528" y="3356993"/>
            <a:ext cx="8568952" cy="3312367"/>
            <a:chOff x="971600" y="836712"/>
            <a:chExt cx="9640071" cy="4104456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971600" y="836712"/>
              <a:ext cx="9640071" cy="4104456"/>
              <a:chOff x="971600" y="620688"/>
              <a:chExt cx="9640071" cy="4104456"/>
            </a:xfrm>
          </p:grpSpPr>
          <p:grpSp>
            <p:nvGrpSpPr>
              <p:cNvPr id="9" name="Группа 8"/>
              <p:cNvGrpSpPr/>
              <p:nvPr/>
            </p:nvGrpSpPr>
            <p:grpSpPr>
              <a:xfrm>
                <a:off x="971600" y="620688"/>
                <a:ext cx="9640071" cy="4104456"/>
                <a:chOff x="971600" y="548680"/>
                <a:chExt cx="9640071" cy="4104456"/>
              </a:xfrm>
            </p:grpSpPr>
            <p:sp>
              <p:nvSpPr>
                <p:cNvPr id="13" name="Прямоугольник 12"/>
                <p:cNvSpPr/>
                <p:nvPr/>
              </p:nvSpPr>
              <p:spPr>
                <a:xfrm>
                  <a:off x="971600" y="1052736"/>
                  <a:ext cx="7128792" cy="3600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Прямоугольник 13"/>
                <p:cNvSpPr/>
                <p:nvPr/>
              </p:nvSpPr>
              <p:spPr>
                <a:xfrm>
                  <a:off x="1691680" y="1988840"/>
                  <a:ext cx="5760640" cy="720080"/>
                </a:xfrm>
                <a:prstGeom prst="rect">
                  <a:avLst/>
                </a:prstGeom>
                <a:solidFill>
                  <a:srgbClr val="92D050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solidFill>
                        <a:schemeClr val="tx1"/>
                      </a:solidFill>
                    </a:rPr>
                    <a:t>&lt;p&gt;   &lt;/p&gt;</a:t>
                  </a:r>
                  <a:endParaRPr lang="ru-RU" sz="20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Прямая соединительная линия 14"/>
                <p:cNvCxnSpPr/>
                <p:nvPr/>
              </p:nvCxnSpPr>
              <p:spPr>
                <a:xfrm>
                  <a:off x="971600" y="548680"/>
                  <a:ext cx="9640071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Прямая со стрелкой 15"/>
                <p:cNvCxnSpPr/>
                <p:nvPr/>
              </p:nvCxnSpPr>
              <p:spPr>
                <a:xfrm>
                  <a:off x="3995936" y="548680"/>
                  <a:ext cx="0" cy="504056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Прямая со стрелкой 16"/>
                <p:cNvCxnSpPr/>
                <p:nvPr/>
              </p:nvCxnSpPr>
              <p:spPr>
                <a:xfrm>
                  <a:off x="4148336" y="1052736"/>
                  <a:ext cx="0" cy="93610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Прямоугольник 17"/>
                <p:cNvSpPr/>
                <p:nvPr/>
              </p:nvSpPr>
              <p:spPr>
                <a:xfrm>
                  <a:off x="1675609" y="3645024"/>
                  <a:ext cx="5760640" cy="720080"/>
                </a:xfrm>
                <a:prstGeom prst="rect">
                  <a:avLst/>
                </a:prstGeom>
                <a:solidFill>
                  <a:srgbClr val="92D050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&lt;p&gt;   &lt;/p&gt;</a:t>
                  </a:r>
                  <a:endParaRPr lang="ru-RU" b="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ru-RU" dirty="0"/>
                </a:p>
              </p:txBody>
            </p:sp>
            <p:cxnSp>
              <p:nvCxnSpPr>
                <p:cNvPr id="19" name="Прямая со стрелкой 18"/>
                <p:cNvCxnSpPr/>
                <p:nvPr/>
              </p:nvCxnSpPr>
              <p:spPr>
                <a:xfrm>
                  <a:off x="4148336" y="2708920"/>
                  <a:ext cx="0" cy="936104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/>
              <p:cNvSpPr txBox="1"/>
              <p:nvPr/>
            </p:nvSpPr>
            <p:spPr>
              <a:xfrm>
                <a:off x="2672789" y="620688"/>
                <a:ext cx="941725" cy="457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20</a:t>
                </a:r>
                <a:r>
                  <a:rPr lang="ru-RU" dirty="0"/>
                  <a:t> </a:t>
                </a:r>
                <a:r>
                  <a:rPr lang="en-US" dirty="0" err="1"/>
                  <a:t>px</a:t>
                </a:r>
                <a:endParaRPr lang="ru-RU" dirty="0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4312833" y="1331476"/>
                <a:ext cx="858770" cy="457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60px</a:t>
                </a:r>
                <a:endParaRPr lang="ru-RU" dirty="0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404361" y="3107539"/>
                <a:ext cx="858770" cy="4576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60px</a:t>
                </a:r>
                <a:endParaRPr lang="ru-RU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971600" y="1362835"/>
              <a:ext cx="983202" cy="45765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&lt;div&gt;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83851" y="1458650"/>
            <a:ext cx="2587949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div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text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&lt;p&gt;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text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 &lt;p&gt;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text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div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96207" y="1475083"/>
            <a:ext cx="3768980" cy="1200329"/>
          </a:xfrm>
          <a:prstGeom prst="rect">
            <a:avLst/>
          </a:prstGeom>
          <a:solidFill>
            <a:srgbClr val="7030A0">
              <a:alpha val="21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d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iv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{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margin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20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px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;  }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p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{ 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margin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: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6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0px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;  }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0014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07505" y="4505052"/>
            <a:ext cx="8928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Courier New" pitchFamily="49" charset="0"/>
                <a:cs typeface="Courier New" pitchFamily="49" charset="0"/>
              </a:rPr>
              <a:t>Тут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margin-collapsing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в том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e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, что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-top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пер</a:t>
            </a:r>
            <a:r>
              <a:rPr lang="uk-UA" dirty="0" err="1">
                <a:latin typeface="Courier New" pitchFamily="49" charset="0"/>
                <a:cs typeface="Courier New" pitchFamily="49" charset="0"/>
              </a:rPr>
              <a:t>шого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i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вывалюється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за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межі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uk-UA" dirty="0">
                <a:latin typeface="Courier New" pitchFamily="49" charset="0"/>
                <a:cs typeface="Courier New" pitchFamily="49" charset="0"/>
              </a:rPr>
              <a:t>його </a:t>
            </a:r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parent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блоку </a:t>
            </a:r>
            <a:r>
              <a:rPr lang="en-US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&lt;div&gt;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dirty="0" err="1">
                <a:latin typeface="Courier New" pitchFamily="49" charset="0"/>
                <a:cs typeface="Courier New" pitchFamily="49" charset="0"/>
              </a:rPr>
              <a:t>Тобто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-top</a:t>
            </a:r>
            <a:r>
              <a:rPr lang="ru-RU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від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&lt;p&gt;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dirty="0" err="1">
                <a:latin typeface="Courier New" pitchFamily="49" charset="0"/>
                <a:cs typeface="Courier New" pitchFamily="49" charset="0"/>
              </a:rPr>
              <a:t>передаєтся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контейнеру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&lt;div&gt;</a:t>
            </a:r>
            <a:endParaRPr lang="ru-RU" dirty="0"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6" name="Группа 5"/>
          <p:cNvGrpSpPr/>
          <p:nvPr/>
        </p:nvGrpSpPr>
        <p:grpSpPr>
          <a:xfrm>
            <a:off x="1187624" y="908720"/>
            <a:ext cx="6336704" cy="3456384"/>
            <a:chOff x="971600" y="836712"/>
            <a:chExt cx="7128792" cy="4104456"/>
          </a:xfrm>
        </p:grpSpPr>
        <p:grpSp>
          <p:nvGrpSpPr>
            <p:cNvPr id="7" name="Группа 6"/>
            <p:cNvGrpSpPr/>
            <p:nvPr/>
          </p:nvGrpSpPr>
          <p:grpSpPr>
            <a:xfrm>
              <a:off x="971600" y="836712"/>
              <a:ext cx="7128792" cy="4104456"/>
              <a:chOff x="971600" y="620688"/>
              <a:chExt cx="7128792" cy="4104456"/>
            </a:xfrm>
          </p:grpSpPr>
          <p:grpSp>
            <p:nvGrpSpPr>
              <p:cNvPr id="9" name="Группа 8"/>
              <p:cNvGrpSpPr/>
              <p:nvPr/>
            </p:nvGrpSpPr>
            <p:grpSpPr>
              <a:xfrm>
                <a:off x="971600" y="620688"/>
                <a:ext cx="7128792" cy="4104456"/>
                <a:chOff x="971600" y="548680"/>
                <a:chExt cx="7128792" cy="4104456"/>
              </a:xfrm>
            </p:grpSpPr>
            <p:sp>
              <p:nvSpPr>
                <p:cNvPr id="13" name="Прямоугольник 12"/>
                <p:cNvSpPr/>
                <p:nvPr/>
              </p:nvSpPr>
              <p:spPr>
                <a:xfrm>
                  <a:off x="971600" y="1052736"/>
                  <a:ext cx="7128792" cy="360040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accent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  <p:sp>
              <p:nvSpPr>
                <p:cNvPr id="14" name="Прямоугольник 13"/>
                <p:cNvSpPr/>
                <p:nvPr/>
              </p:nvSpPr>
              <p:spPr>
                <a:xfrm>
                  <a:off x="2118351" y="1069212"/>
                  <a:ext cx="5760640" cy="720080"/>
                </a:xfrm>
                <a:prstGeom prst="rect">
                  <a:avLst/>
                </a:prstGeom>
                <a:solidFill>
                  <a:srgbClr val="92D050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000" b="1" dirty="0">
                      <a:solidFill>
                        <a:schemeClr val="tx1"/>
                      </a:solidFill>
                    </a:rPr>
                    <a:t>&lt;p&gt;   &lt;/p&gt;</a:t>
                  </a:r>
                  <a:endParaRPr lang="ru-RU" sz="2000" b="1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15" name="Прямая соединительная линия 14"/>
                <p:cNvCxnSpPr/>
                <p:nvPr/>
              </p:nvCxnSpPr>
              <p:spPr>
                <a:xfrm>
                  <a:off x="971600" y="548680"/>
                  <a:ext cx="7128792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Прямая со стрелкой 15"/>
                <p:cNvCxnSpPr/>
                <p:nvPr/>
              </p:nvCxnSpPr>
              <p:spPr>
                <a:xfrm>
                  <a:off x="3995936" y="548680"/>
                  <a:ext cx="0" cy="504056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Прямоугольник 17"/>
                <p:cNvSpPr/>
                <p:nvPr/>
              </p:nvSpPr>
              <p:spPr>
                <a:xfrm>
                  <a:off x="2102280" y="2725395"/>
                  <a:ext cx="5760640" cy="720080"/>
                </a:xfrm>
                <a:prstGeom prst="rect">
                  <a:avLst/>
                </a:prstGeom>
                <a:solidFill>
                  <a:srgbClr val="92D050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>
                      <a:solidFill>
                        <a:schemeClr val="tx1"/>
                      </a:solidFill>
                    </a:rPr>
                    <a:t>&lt;p&gt;   &lt;/p&gt;</a:t>
                  </a:r>
                  <a:endParaRPr lang="ru-RU" b="1" dirty="0">
                    <a:solidFill>
                      <a:schemeClr val="tx1"/>
                    </a:solidFill>
                  </a:endParaRPr>
                </a:p>
                <a:p>
                  <a:pPr algn="ctr"/>
                  <a:endParaRPr lang="ru-RU" dirty="0"/>
                </a:p>
              </p:txBody>
            </p:sp>
            <p:cxnSp>
              <p:nvCxnSpPr>
                <p:cNvPr id="19" name="Прямая со стрелкой 18"/>
                <p:cNvCxnSpPr/>
                <p:nvPr/>
              </p:nvCxnSpPr>
              <p:spPr>
                <a:xfrm>
                  <a:off x="4575007" y="1789292"/>
                  <a:ext cx="0" cy="936103"/>
                </a:xfrm>
                <a:prstGeom prst="straightConnector1">
                  <a:avLst/>
                </a:prstGeom>
                <a:ln w="28575">
                  <a:solidFill>
                    <a:srgbClr val="00B050"/>
                  </a:solidFill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" name="TextBox 9"/>
              <p:cNvSpPr txBox="1"/>
              <p:nvPr/>
            </p:nvSpPr>
            <p:spPr>
              <a:xfrm>
                <a:off x="2946199" y="620688"/>
                <a:ext cx="941725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FF0000"/>
                    </a:solidFill>
                  </a:rPr>
                  <a:t>60</a:t>
                </a:r>
                <a:r>
                  <a:rPr lang="ru-RU" b="1" dirty="0">
                    <a:solidFill>
                      <a:srgbClr val="FF0000"/>
                    </a:solidFill>
                  </a:rPr>
                  <a:t> </a:t>
                </a:r>
                <a:r>
                  <a:rPr lang="en-US" b="1" dirty="0" err="1">
                    <a:solidFill>
                      <a:srgbClr val="FF0000"/>
                    </a:solidFill>
                  </a:rPr>
                  <a:t>px</a:t>
                </a:r>
                <a:endParaRPr lang="ru-RU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4775577" y="2098762"/>
                <a:ext cx="941725" cy="4385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60</a:t>
                </a:r>
                <a:r>
                  <a:rPr lang="ru-RU" dirty="0"/>
                  <a:t> </a:t>
                </a:r>
                <a:r>
                  <a:rPr lang="en-US" dirty="0" err="1"/>
                  <a:t>px</a:t>
                </a:r>
                <a:endParaRPr lang="ru-RU" dirty="0"/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971600" y="136283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&lt;div&gt;</a:t>
              </a:r>
              <a:endParaRPr lang="ru-RU" b="1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167FDD0-E520-22F9-4747-EB3826064CEE}"/>
              </a:ext>
            </a:extLst>
          </p:cNvPr>
          <p:cNvSpPr txBox="1"/>
          <p:nvPr/>
        </p:nvSpPr>
        <p:spPr>
          <a:xfrm>
            <a:off x="4788024" y="116632"/>
            <a:ext cx="428535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001/margin_collapse_2.html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76727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Прямая со стрелкой 9"/>
          <p:cNvCxnSpPr/>
          <p:nvPr/>
        </p:nvCxnSpPr>
        <p:spPr>
          <a:xfrm>
            <a:off x="1429869" y="2217638"/>
            <a:ext cx="836747" cy="9802"/>
          </a:xfrm>
          <a:prstGeom prst="straightConnector1">
            <a:avLst/>
          </a:prstGeom>
          <a:ln w="28575"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459637" y="2361946"/>
            <a:ext cx="736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50px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9512" y="3081734"/>
            <a:ext cx="8784976" cy="923330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7.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Якщо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у блока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не задана ширин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а, і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йому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задати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негативний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margin-right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(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margin-left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то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ширина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блоку </a:t>
            </a:r>
            <a:r>
              <a:rPr lang="ru-RU" b="1" dirty="0" err="1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розширитися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на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цей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margin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у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відповідний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бік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.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2266616" y="993502"/>
            <a:ext cx="6049800" cy="1099434"/>
          </a:xfrm>
          <a:prstGeom prst="rect">
            <a:avLst/>
          </a:prstGeom>
          <a:noFill/>
          <a:ln w="28575">
            <a:solidFill>
              <a:srgbClr val="0070C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403648" y="993502"/>
            <a:ext cx="6912768" cy="1099434"/>
          </a:xfrm>
          <a:prstGeom prst="rect">
            <a:avLst/>
          </a:prstGeom>
          <a:solidFill>
            <a:srgbClr val="92D050">
              <a:alpha val="57000"/>
            </a:srgb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margin-left:-50px;</a:t>
            </a:r>
          </a:p>
          <a:p>
            <a:r>
              <a:rPr lang="en-US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width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auto;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28184" y="116632"/>
            <a:ext cx="284519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001/auto_width.html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12196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35796" y="78912"/>
            <a:ext cx="3744416" cy="369332"/>
          </a:xfr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Свойство блока</a:t>
            </a:r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 padding</a:t>
            </a:r>
            <a:endParaRPr lang="ru-RU" sz="1800" dirty="0">
              <a:solidFill>
                <a:schemeClr val="tx1"/>
              </a:solidFill>
              <a:latin typeface="Courier New" panose="02070309020205020404" pitchFamily="49" charset="0"/>
              <a:ea typeface="+mj-ea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9512" y="764704"/>
            <a:ext cx="8856984" cy="286232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вказуються</a:t>
            </a:r>
            <a:endParaRPr lang="en-US" dirty="0"/>
          </a:p>
          <a:p>
            <a:r>
              <a:rPr lang="ru-RU" dirty="0"/>
              <a:t>- в </a:t>
            </a:r>
            <a:r>
              <a:rPr lang="en-US" dirty="0" err="1">
                <a:solidFill>
                  <a:schemeClr val="accent2"/>
                </a:solidFill>
              </a:rPr>
              <a:t>px</a:t>
            </a:r>
            <a:r>
              <a:rPr lang="ru-RU" dirty="0"/>
              <a:t>;</a:t>
            </a:r>
          </a:p>
          <a:p>
            <a:endParaRPr lang="en-US" dirty="0"/>
          </a:p>
          <a:p>
            <a:r>
              <a:rPr lang="ru-RU" dirty="0"/>
              <a:t>-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вказано</a:t>
            </a:r>
            <a:r>
              <a:rPr lang="ru-RU" dirty="0"/>
              <a:t> в </a:t>
            </a:r>
            <a:r>
              <a:rPr lang="ru-RU" dirty="0" err="1">
                <a:solidFill>
                  <a:srgbClr val="C00000"/>
                </a:solidFill>
              </a:rPr>
              <a:t>em</a:t>
            </a:r>
            <a:r>
              <a:rPr lang="ru-RU" dirty="0"/>
              <a:t> – кеглем шрифту </a:t>
            </a:r>
            <a:r>
              <a:rPr lang="ru-RU" dirty="0" err="1"/>
              <a:t>поточної</a:t>
            </a:r>
            <a:endParaRPr lang="ru-RU" dirty="0"/>
          </a:p>
          <a:p>
            <a:r>
              <a:rPr lang="ru-RU" dirty="0"/>
              <a:t>  </a:t>
            </a:r>
            <a:r>
              <a:rPr lang="ru-RU" dirty="0" err="1"/>
              <a:t>області</a:t>
            </a:r>
            <a:r>
              <a:rPr lang="ru-RU" dirty="0"/>
              <a:t>;</a:t>
            </a:r>
          </a:p>
          <a:p>
            <a:endParaRPr lang="ru-RU" dirty="0"/>
          </a:p>
          <a:p>
            <a:r>
              <a:rPr lang="ru-RU" dirty="0"/>
              <a:t>-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вказано</a:t>
            </a:r>
            <a:r>
              <a:rPr lang="ru-RU" dirty="0"/>
              <a:t> у </a:t>
            </a:r>
            <a:r>
              <a:rPr lang="ru-RU" dirty="0">
                <a:solidFill>
                  <a:srgbClr val="C00000"/>
                </a:solidFill>
              </a:rPr>
              <a:t>%</a:t>
            </a:r>
            <a:r>
              <a:rPr lang="ru-RU" dirty="0"/>
              <a:t> - то </a:t>
            </a:r>
            <a:r>
              <a:rPr lang="ru-RU" dirty="0" err="1"/>
              <a:t>щодо</a:t>
            </a:r>
            <a:r>
              <a:rPr lang="ru-RU" dirty="0"/>
              <a:t> </a:t>
            </a:r>
            <a:r>
              <a:rPr lang="ru-RU" dirty="0" err="1"/>
              <a:t>ширини</a:t>
            </a:r>
            <a:r>
              <a:rPr lang="ru-RU" dirty="0"/>
              <a:t> </a:t>
            </a:r>
            <a:r>
              <a:rPr lang="ru-RU" dirty="0" err="1"/>
              <a:t>його</a:t>
            </a:r>
            <a:endParaRPr lang="ru-RU" dirty="0"/>
          </a:p>
          <a:p>
            <a:r>
              <a:rPr lang="ru-RU" dirty="0"/>
              <a:t>  контейнера;</a:t>
            </a:r>
          </a:p>
          <a:p>
            <a:endParaRPr lang="ru-RU" dirty="0"/>
          </a:p>
          <a:p>
            <a:r>
              <a:rPr lang="ru-RU" dirty="0"/>
              <a:t>- </a:t>
            </a:r>
            <a:r>
              <a:rPr lang="ru-RU" dirty="0">
                <a:solidFill>
                  <a:srgbClr val="C00000"/>
                </a:solidFill>
              </a:rPr>
              <a:t>!!!</a:t>
            </a:r>
            <a:r>
              <a:rPr lang="ru-RU" dirty="0"/>
              <a:t> </a:t>
            </a:r>
            <a:r>
              <a:rPr lang="ru-RU" dirty="0" err="1"/>
              <a:t>негативні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не </a:t>
            </a:r>
            <a:r>
              <a:rPr lang="ru-RU" dirty="0" err="1"/>
              <a:t>застосовуються</a:t>
            </a:r>
            <a:r>
              <a:rPr lang="ru-RU" dirty="0"/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2616131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576" y="147990"/>
            <a:ext cx="2933790" cy="369332"/>
          </a:xfr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border  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ea typeface="+mj-ea"/>
                <a:cs typeface="Courier New" panose="02070309020205020404" pitchFamily="49" charset="0"/>
              </a:rPr>
              <a:t>блока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426637" y="50747"/>
            <a:ext cx="5544616" cy="576064"/>
          </a:xfrm>
          <a:prstGeom prst="rect">
            <a:avLst/>
          </a:prstGeom>
          <a:noFill/>
          <a:ln w="190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&lt;div class = "</a:t>
            </a:r>
            <a:r>
              <a:rPr lang="en-US" sz="24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myblock</a:t>
            </a:r>
            <a:r>
              <a:rPr lang="en-US" sz="24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"&gt;&lt;/div&gt;</a:t>
            </a:r>
            <a:endParaRPr lang="ru-RU" sz="24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3" name="Группа 2"/>
          <p:cNvGrpSpPr/>
          <p:nvPr/>
        </p:nvGrpSpPr>
        <p:grpSpPr>
          <a:xfrm>
            <a:off x="179512" y="836712"/>
            <a:ext cx="8568952" cy="1800200"/>
            <a:chOff x="251520" y="1412776"/>
            <a:chExt cx="8568952" cy="1800200"/>
          </a:xfrm>
        </p:grpSpPr>
        <p:sp>
          <p:nvSpPr>
            <p:cNvPr id="5" name="Прямоугольник 4"/>
            <p:cNvSpPr/>
            <p:nvPr/>
          </p:nvSpPr>
          <p:spPr>
            <a:xfrm>
              <a:off x="251520" y="1412776"/>
              <a:ext cx="8568952" cy="1800200"/>
            </a:xfrm>
            <a:prstGeom prst="rect">
              <a:avLst/>
            </a:prstGeom>
            <a:noFill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.box {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border-width: 2px;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border–style: solid;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  border-color: red;</a:t>
              </a:r>
            </a:p>
            <a:p>
              <a:r>
                <a:rPr lang="en-US" b="1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7" name="Стрелка вправо 16"/>
            <p:cNvSpPr/>
            <p:nvPr/>
          </p:nvSpPr>
          <p:spPr>
            <a:xfrm>
              <a:off x="3722886" y="1941409"/>
              <a:ext cx="648072" cy="504056"/>
            </a:xfrm>
            <a:prstGeom prst="rightArrow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71479" y="1624477"/>
              <a:ext cx="4248472" cy="923330"/>
            </a:xfrm>
            <a:prstGeom prst="rect">
              <a:avLst/>
            </a:prstGeom>
            <a:solidFill>
              <a:srgbClr val="FFFF00">
                <a:alpha val="12000"/>
              </a:srgbClr>
            </a:solidFill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.box 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{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 </a:t>
              </a:r>
              <a:r>
                <a:rPr lang="en-US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border: 2px solid red;</a:t>
              </a:r>
            </a:p>
            <a:p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}</a:t>
              </a:r>
              <a:endParaRPr lang="ru-RU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9" name="AutoShape 2" descr="Стили рамок"/>
          <p:cNvSpPr>
            <a:spLocks noChangeAspect="1" noChangeArrowheads="1"/>
          </p:cNvSpPr>
          <p:nvPr/>
        </p:nvSpPr>
        <p:spPr bwMode="auto">
          <a:xfrm>
            <a:off x="155575" y="-166688"/>
            <a:ext cx="4143375" cy="35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07" y="2780928"/>
            <a:ext cx="8434058" cy="937118"/>
          </a:xfrm>
          <a:prstGeom prst="rect">
            <a:avLst/>
          </a:prstGeom>
        </p:spPr>
      </p:pic>
      <p:grpSp>
        <p:nvGrpSpPr>
          <p:cNvPr id="9" name="Группа 8"/>
          <p:cNvGrpSpPr/>
          <p:nvPr/>
        </p:nvGrpSpPr>
        <p:grpSpPr>
          <a:xfrm>
            <a:off x="107504" y="3933056"/>
            <a:ext cx="8712968" cy="1801608"/>
            <a:chOff x="35496" y="918345"/>
            <a:chExt cx="8712968" cy="1801608"/>
          </a:xfrm>
        </p:grpSpPr>
        <p:sp>
          <p:nvSpPr>
            <p:cNvPr id="10" name="TextBox 9"/>
            <p:cNvSpPr txBox="1"/>
            <p:nvPr/>
          </p:nvSpPr>
          <p:spPr>
            <a:xfrm>
              <a:off x="35496" y="1576451"/>
              <a:ext cx="12153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border -</a:t>
              </a:r>
              <a:r>
                <a:rPr lang="en-US" dirty="0"/>
                <a:t> </a:t>
              </a:r>
              <a:endParaRPr lang="ru-RU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87624" y="1196752"/>
              <a:ext cx="1050436" cy="1200329"/>
            </a:xfrm>
            <a:prstGeom prst="rect">
              <a:avLst/>
            </a:prstGeom>
            <a:solidFill>
              <a:schemeClr val="accent3">
                <a:lumMod val="40000"/>
                <a:lumOff val="60000"/>
                <a:alpha val="4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top</a:t>
              </a:r>
            </a:p>
            <a:p>
              <a:r>
                <a:rPr lang="en-US" b="1" dirty="0"/>
                <a:t>right</a:t>
              </a:r>
            </a:p>
            <a:p>
              <a:r>
                <a:rPr lang="en-US" b="1" dirty="0"/>
                <a:t>bottom</a:t>
              </a:r>
            </a:p>
            <a:p>
              <a:r>
                <a:rPr lang="en-US" b="1" dirty="0"/>
                <a:t>left</a:t>
              </a:r>
              <a:endParaRPr lang="ru-RU" b="1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38060" y="1576451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-</a:t>
              </a:r>
              <a:endParaRPr lang="ru-RU" b="1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614843" y="1329735"/>
              <a:ext cx="805029" cy="923330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48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color</a:t>
              </a:r>
            </a:p>
            <a:p>
              <a:r>
                <a:rPr lang="en-US" dirty="0"/>
                <a:t>width</a:t>
              </a:r>
            </a:p>
            <a:p>
              <a:r>
                <a:rPr lang="en-US" dirty="0"/>
                <a:t>style</a:t>
              </a:r>
              <a:endParaRPr lang="ru-RU" dirty="0"/>
            </a:p>
          </p:txBody>
        </p:sp>
        <p:sp>
          <p:nvSpPr>
            <p:cNvPr id="14" name="Стрелка вправо 13"/>
            <p:cNvSpPr/>
            <p:nvPr/>
          </p:nvSpPr>
          <p:spPr>
            <a:xfrm>
              <a:off x="3563888" y="1628800"/>
              <a:ext cx="792088" cy="299731"/>
            </a:xfrm>
            <a:prstGeom prst="rightArrow">
              <a:avLst>
                <a:gd name="adj1" fmla="val 50000"/>
                <a:gd name="adj2" fmla="val 181663"/>
              </a:avLst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860032" y="980728"/>
              <a:ext cx="3888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border-top-color: #e5e5e5;</a:t>
              </a:r>
              <a:endParaRPr lang="ru-RU" sz="2000" b="1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860032" y="1423809"/>
              <a:ext cx="3888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border-left-style: solid;</a:t>
              </a:r>
              <a:endParaRPr lang="ru-RU" sz="2000" b="1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60032" y="1866890"/>
              <a:ext cx="3888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border-bottom-width: 2em;</a:t>
              </a:r>
              <a:endParaRPr lang="ru-RU" sz="2000" b="1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60032" y="2319843"/>
              <a:ext cx="38884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/>
                <a:t>border-right-style: dashed;</a:t>
              </a:r>
              <a:endParaRPr lang="ru-RU" sz="2000" b="1" dirty="0"/>
            </a:p>
          </p:txBody>
        </p:sp>
        <p:sp>
          <p:nvSpPr>
            <p:cNvPr id="23" name="Левая фигурная скобка 22"/>
            <p:cNvSpPr/>
            <p:nvPr/>
          </p:nvSpPr>
          <p:spPr>
            <a:xfrm>
              <a:off x="4427984" y="918345"/>
              <a:ext cx="360040" cy="1728192"/>
            </a:xfrm>
            <a:prstGeom prst="lef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>
                <a:solidFill>
                  <a:schemeClr val="l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495616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88071" y="116632"/>
            <a:ext cx="2421893" cy="360040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 fontScale="90000"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/>
              <a:t>border-radius</a:t>
            </a:r>
            <a:endParaRPr lang="ru-RU" sz="1800" dirty="0"/>
          </a:p>
        </p:txBody>
      </p:sp>
      <p:sp>
        <p:nvSpPr>
          <p:cNvPr id="2" name="TextBox 1"/>
          <p:cNvSpPr txBox="1"/>
          <p:nvPr/>
        </p:nvSpPr>
        <p:spPr>
          <a:xfrm>
            <a:off x="7020272" y="44624"/>
            <a:ext cx="20162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border.html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75" y="548680"/>
            <a:ext cx="3556000" cy="3606800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2308" y="1556792"/>
            <a:ext cx="3898900" cy="2438400"/>
          </a:xfrm>
          <a:prstGeom prst="rect">
            <a:avLst/>
          </a:prstGeom>
        </p:spPr>
      </p:pic>
      <p:sp>
        <p:nvSpPr>
          <p:cNvPr id="12" name="Прямоугольник 11"/>
          <p:cNvSpPr/>
          <p:nvPr/>
        </p:nvSpPr>
        <p:spPr>
          <a:xfrm>
            <a:off x="109103" y="4293096"/>
            <a:ext cx="8280920" cy="1077218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 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sz="2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border-top-right-radius: 20px 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20px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; </a:t>
            </a:r>
            <a:endParaRPr lang="ru-RU" sz="2400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4644008" y="548680"/>
            <a:ext cx="4320480" cy="400110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border-radius :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величина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6732240" y="5827222"/>
            <a:ext cx="2088232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Y - vertical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3635896" y="5827222"/>
            <a:ext cx="2160240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X - horizontal</a:t>
            </a:r>
            <a:endParaRPr lang="ru-RU" b="1" dirty="0">
              <a:solidFill>
                <a:srgbClr val="0070C0"/>
              </a:solidFill>
            </a:endParaRPr>
          </a:p>
        </p:txBody>
      </p:sp>
      <p:cxnSp>
        <p:nvCxnSpPr>
          <p:cNvPr id="11" name="Прямая со стрелкой 10"/>
          <p:cNvCxnSpPr>
            <a:stCxn id="9" idx="0"/>
          </p:cNvCxnSpPr>
          <p:nvPr/>
        </p:nvCxnSpPr>
        <p:spPr>
          <a:xfrm flipH="1" flipV="1">
            <a:off x="7092280" y="5013176"/>
            <a:ext cx="684076" cy="81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V="1">
            <a:off x="4716016" y="5013176"/>
            <a:ext cx="1134126" cy="814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7757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539552" y="44624"/>
            <a:ext cx="8280920" cy="1938992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border-top-left-radius: 20px;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border-top-right-radius: 20px;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border-bottom-right-radius: 20px;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border-bottom-left-radius: 20px;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204864"/>
            <a:ext cx="5421734" cy="3611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835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539552" y="841936"/>
            <a:ext cx="8280920" cy="1938992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border-top-left-radius:     80px 40px;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border-top-right-radius:    80px 40px;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border-bottom-right-radius: 80px 40px;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border-bottom-left-radius:  80px 40px;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6876256" y="404664"/>
            <a:ext cx="576064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>
            <a:stCxn id="13" idx="2"/>
          </p:cNvCxnSpPr>
          <p:nvPr/>
        </p:nvCxnSpPr>
        <p:spPr>
          <a:xfrm>
            <a:off x="4788024" y="404664"/>
            <a:ext cx="1368152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3707904" y="116632"/>
            <a:ext cx="2160240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X - horizontal</a:t>
            </a:r>
            <a:endParaRPr lang="ru-RU" b="1" dirty="0">
              <a:solidFill>
                <a:srgbClr val="0070C0"/>
              </a:solidFill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6300192" y="116632"/>
            <a:ext cx="2088232" cy="288032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Y - vertical</a:t>
            </a:r>
            <a:endParaRPr lang="ru-RU" b="1" dirty="0">
              <a:solidFill>
                <a:srgbClr val="0070C0"/>
              </a:solidFill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944" y="3032093"/>
            <a:ext cx="5343376" cy="356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150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9512" y="116632"/>
            <a:ext cx="5760640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border-radius: 40px;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" name="Прямая со стрелкой 8"/>
          <p:cNvCxnSpPr>
            <a:stCxn id="3" idx="0"/>
          </p:cNvCxnSpPr>
          <p:nvPr/>
        </p:nvCxnSpPr>
        <p:spPr>
          <a:xfrm flipH="1" flipV="1">
            <a:off x="3779912" y="836712"/>
            <a:ext cx="3960440" cy="504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660232" y="1340768"/>
            <a:ext cx="2160240" cy="120032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top-left</a:t>
            </a:r>
          </a:p>
          <a:p>
            <a:r>
              <a:rPr lang="en-US" b="1" dirty="0">
                <a:solidFill>
                  <a:srgbClr val="0070C0"/>
                </a:solidFill>
              </a:rPr>
              <a:t>top-right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bottom-right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bottom-left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64" y="1268760"/>
            <a:ext cx="4846581" cy="322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177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9512" y="116632"/>
            <a:ext cx="5274586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border-radius: 80px  40px;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" name="Прямая со стрелкой 8"/>
          <p:cNvCxnSpPr>
            <a:stCxn id="3" idx="0"/>
          </p:cNvCxnSpPr>
          <p:nvPr/>
        </p:nvCxnSpPr>
        <p:spPr>
          <a:xfrm flipV="1">
            <a:off x="2051720" y="764704"/>
            <a:ext cx="1278142" cy="8004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71600" y="1565175"/>
            <a:ext cx="2160240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top-left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bottom-right</a:t>
            </a:r>
            <a:endParaRPr lang="ru-RU" dirty="0"/>
          </a:p>
        </p:txBody>
      </p:sp>
      <p:cxnSp>
        <p:nvCxnSpPr>
          <p:cNvPr id="13" name="Прямая со стрелкой 12"/>
          <p:cNvCxnSpPr>
            <a:stCxn id="14" idx="0"/>
          </p:cNvCxnSpPr>
          <p:nvPr/>
        </p:nvCxnSpPr>
        <p:spPr>
          <a:xfrm flipH="1" flipV="1">
            <a:off x="4287488" y="764704"/>
            <a:ext cx="882098" cy="793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089466" y="1558533"/>
            <a:ext cx="2160240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top-right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bottom-left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83032" y="2420888"/>
            <a:ext cx="6837240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border-radius: 20px  40px  20px;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0" name="Прямая со стрелкой 9"/>
          <p:cNvCxnSpPr/>
          <p:nvPr/>
        </p:nvCxnSpPr>
        <p:spPr>
          <a:xfrm flipV="1">
            <a:off x="2374377" y="3093574"/>
            <a:ext cx="1319009" cy="634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25987" y="3810252"/>
            <a:ext cx="1386154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top-left</a:t>
            </a:r>
            <a:endParaRPr lang="ru-RU" dirty="0"/>
          </a:p>
        </p:txBody>
      </p:sp>
      <p:cxnSp>
        <p:nvCxnSpPr>
          <p:cNvPr id="15" name="Прямая со стрелкой 14"/>
          <p:cNvCxnSpPr>
            <a:stCxn id="16" idx="0"/>
          </p:cNvCxnSpPr>
          <p:nvPr/>
        </p:nvCxnSpPr>
        <p:spPr>
          <a:xfrm flipH="1" flipV="1">
            <a:off x="5721080" y="3068963"/>
            <a:ext cx="1230233" cy="635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871193" y="3704208"/>
            <a:ext cx="2160240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bottom-right</a:t>
            </a:r>
            <a:endParaRPr lang="ru-RU" dirty="0"/>
          </a:p>
        </p:txBody>
      </p:sp>
      <p:cxnSp>
        <p:nvCxnSpPr>
          <p:cNvPr id="17" name="Прямая со стрелкой 16"/>
          <p:cNvCxnSpPr/>
          <p:nvPr/>
        </p:nvCxnSpPr>
        <p:spPr>
          <a:xfrm flipV="1">
            <a:off x="4697324" y="3047519"/>
            <a:ext cx="0" cy="611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527229" y="3733646"/>
            <a:ext cx="2160240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top-right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bottom-left</a:t>
            </a:r>
            <a:endParaRPr lang="ru-RU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51202" y="4630743"/>
            <a:ext cx="8133384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border-radius: 30px  0  60px   80px; 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0" name="Прямая со стрелкой 19"/>
          <p:cNvCxnSpPr>
            <a:stCxn id="21" idx="0"/>
          </p:cNvCxnSpPr>
          <p:nvPr/>
        </p:nvCxnSpPr>
        <p:spPr>
          <a:xfrm flipV="1">
            <a:off x="1814754" y="5279174"/>
            <a:ext cx="1878632" cy="620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21677" y="5899894"/>
            <a:ext cx="1386154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top-left</a:t>
            </a:r>
            <a:endParaRPr lang="ru-RU" dirty="0"/>
          </a:p>
        </p:txBody>
      </p:sp>
      <p:cxnSp>
        <p:nvCxnSpPr>
          <p:cNvPr id="22" name="Прямая со стрелкой 21"/>
          <p:cNvCxnSpPr>
            <a:stCxn id="23" idx="0"/>
          </p:cNvCxnSpPr>
          <p:nvPr/>
        </p:nvCxnSpPr>
        <p:spPr>
          <a:xfrm flipH="1" flipV="1">
            <a:off x="6285602" y="5271814"/>
            <a:ext cx="1742782" cy="646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164288" y="5918144"/>
            <a:ext cx="1728192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bottom-left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 flipV="1">
            <a:off x="3601652" y="5279174"/>
            <a:ext cx="827839" cy="6179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50462" y="5923020"/>
            <a:ext cx="1566174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top-right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4925781" y="5925504"/>
            <a:ext cx="1890824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bottom-right</a:t>
            </a:r>
          </a:p>
        </p:txBody>
      </p:sp>
      <p:cxnSp>
        <p:nvCxnSpPr>
          <p:cNvPr id="29" name="Прямая со стрелкой 28"/>
          <p:cNvCxnSpPr>
            <a:stCxn id="28" idx="0"/>
          </p:cNvCxnSpPr>
          <p:nvPr/>
        </p:nvCxnSpPr>
        <p:spPr>
          <a:xfrm flipH="1" flipV="1">
            <a:off x="5179385" y="5279174"/>
            <a:ext cx="691808" cy="646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669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179512" y="116632"/>
            <a:ext cx="6408712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ru-RU" sz="20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border-radius: 50px / 100px;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9" name="Прямая со стрелкой 8"/>
          <p:cNvCxnSpPr/>
          <p:nvPr/>
        </p:nvCxnSpPr>
        <p:spPr>
          <a:xfrm flipV="1">
            <a:off x="2836092" y="791910"/>
            <a:ext cx="957667" cy="591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502184" y="1383306"/>
            <a:ext cx="2667816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X – </a:t>
            </a:r>
            <a:r>
              <a:rPr lang="ru-RU" dirty="0"/>
              <a:t>для всех углов</a:t>
            </a:r>
          </a:p>
        </p:txBody>
      </p:sp>
      <p:cxnSp>
        <p:nvCxnSpPr>
          <p:cNvPr id="13" name="Прямая со стрелкой 12"/>
          <p:cNvCxnSpPr>
            <a:stCxn id="14" idx="0"/>
          </p:cNvCxnSpPr>
          <p:nvPr/>
        </p:nvCxnSpPr>
        <p:spPr>
          <a:xfrm flipH="1" flipV="1">
            <a:off x="4932040" y="798633"/>
            <a:ext cx="1027874" cy="576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60258" y="1374696"/>
            <a:ext cx="2799311" cy="369332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 – </a:t>
            </a:r>
            <a:r>
              <a:rPr lang="ru-RU" b="1" dirty="0">
                <a:solidFill>
                  <a:srgbClr val="0070C0"/>
                </a:solidFill>
              </a:rPr>
              <a:t>для всех углов</a:t>
            </a:r>
            <a:endParaRPr lang="ru-RU" dirty="0"/>
          </a:p>
        </p:txBody>
      </p:sp>
      <p:sp>
        <p:nvSpPr>
          <p:cNvPr id="16" name="Прямоугольник 15"/>
          <p:cNvSpPr/>
          <p:nvPr/>
        </p:nvSpPr>
        <p:spPr>
          <a:xfrm>
            <a:off x="280283" y="2879557"/>
            <a:ext cx="8133385" cy="1015663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div {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   border-radius: 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5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0px  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100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px</a:t>
            </a:r>
            <a:r>
              <a:rPr lang="ru-RU" sz="20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latin typeface="Courier New" pitchFamily="49" charset="0"/>
                <a:cs typeface="Courier New" pitchFamily="49" charset="0"/>
              </a:rPr>
              <a:t>/ 25px   50px;</a:t>
            </a:r>
          </a:p>
          <a:p>
            <a:r>
              <a:rPr lang="en-US" sz="2000" b="1" dirty="0"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7" name="Прямая со стрелкой 16"/>
          <p:cNvCxnSpPr>
            <a:stCxn id="18" idx="0"/>
          </p:cNvCxnSpPr>
          <p:nvPr/>
        </p:nvCxnSpPr>
        <p:spPr>
          <a:xfrm flipV="1">
            <a:off x="1529664" y="3526798"/>
            <a:ext cx="1854204" cy="7746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3560" y="4301479"/>
            <a:ext cx="1872208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top-left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bottom-right</a:t>
            </a:r>
            <a:endParaRPr lang="ru-RU" dirty="0"/>
          </a:p>
        </p:txBody>
      </p:sp>
      <p:cxnSp>
        <p:nvCxnSpPr>
          <p:cNvPr id="21" name="Прямая со стрелкой 20"/>
          <p:cNvCxnSpPr>
            <a:stCxn id="22" idx="0"/>
          </p:cNvCxnSpPr>
          <p:nvPr/>
        </p:nvCxnSpPr>
        <p:spPr>
          <a:xfrm flipV="1">
            <a:off x="3482880" y="3562802"/>
            <a:ext cx="870739" cy="738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18784" y="4301479"/>
            <a:ext cx="1728192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top-right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bottom-left</a:t>
            </a:r>
            <a:endParaRPr lang="ru-RU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521552" y="4077072"/>
            <a:ext cx="3978440" cy="1512168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 стрелкой 22"/>
          <p:cNvCxnSpPr>
            <a:stCxn id="24" idx="0"/>
          </p:cNvCxnSpPr>
          <p:nvPr/>
        </p:nvCxnSpPr>
        <p:spPr>
          <a:xfrm flipH="1" flipV="1">
            <a:off x="5580112" y="3573016"/>
            <a:ext cx="351040" cy="721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995048" y="4294837"/>
            <a:ext cx="1872208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top-left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bottom-right</a:t>
            </a:r>
            <a:endParaRPr lang="ru-RU" dirty="0"/>
          </a:p>
        </p:txBody>
      </p:sp>
      <p:cxnSp>
        <p:nvCxnSpPr>
          <p:cNvPr id="25" name="Прямая со стрелкой 24"/>
          <p:cNvCxnSpPr>
            <a:stCxn id="26" idx="0"/>
          </p:cNvCxnSpPr>
          <p:nvPr/>
        </p:nvCxnSpPr>
        <p:spPr>
          <a:xfrm flipH="1" flipV="1">
            <a:off x="6588224" y="3501009"/>
            <a:ext cx="1296144" cy="7938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020272" y="4294837"/>
            <a:ext cx="1728192" cy="646331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top-right</a:t>
            </a:r>
          </a:p>
          <a:p>
            <a:r>
              <a:rPr lang="en-US" b="1" dirty="0">
                <a:solidFill>
                  <a:srgbClr val="0070C0"/>
                </a:solidFill>
              </a:rPr>
              <a:t>bottom-left</a:t>
            </a:r>
            <a:endParaRPr lang="ru-RU" dirty="0"/>
          </a:p>
        </p:txBody>
      </p:sp>
      <p:sp>
        <p:nvSpPr>
          <p:cNvPr id="27" name="Прямоугольник 26"/>
          <p:cNvSpPr/>
          <p:nvPr/>
        </p:nvSpPr>
        <p:spPr>
          <a:xfrm>
            <a:off x="4914040" y="4077072"/>
            <a:ext cx="3978440" cy="1512168"/>
          </a:xfrm>
          <a:prstGeom prst="rect">
            <a:avLst/>
          </a:prstGeom>
          <a:noFill/>
          <a:ln w="28575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1686892" y="5156283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X - Horizontal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56176" y="5157192"/>
            <a:ext cx="183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Y - Vertical</a:t>
            </a:r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9896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264049" y="41882"/>
            <a:ext cx="3515863" cy="369332"/>
          </a:xfrm>
          <a:noFill/>
          <a:ln w="28575">
            <a:solidFill>
              <a:schemeClr val="tx2"/>
            </a:solidFill>
          </a:ln>
        </p:spPr>
        <p:txBody>
          <a:bodyPr vert="horz" wrap="square" lIns="91440" tIns="45720" rIns="91440" bIns="4572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backgorund</a:t>
            </a:r>
            <a:r>
              <a:rPr lang="ru-RU" sz="18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блока</a:t>
            </a:r>
          </a:p>
        </p:txBody>
      </p:sp>
      <p:sp>
        <p:nvSpPr>
          <p:cNvPr id="2" name="Прямоугольник 1"/>
          <p:cNvSpPr/>
          <p:nvPr/>
        </p:nvSpPr>
        <p:spPr>
          <a:xfrm>
            <a:off x="107504" y="548680"/>
            <a:ext cx="8568952" cy="3024336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background-color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: transparent | color;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background-image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 none | </a:t>
            </a:r>
            <a:r>
              <a:rPr lang="en-US" b="1" dirty="0" err="1"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(path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to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image);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background-repeat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 repeat | no-repeat | repeat-x | repeat-y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background-position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 0  0 |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координати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| </a:t>
            </a:r>
            <a:r>
              <a:rPr lang="ru-RU" b="1" dirty="0" err="1">
                <a:latin typeface="Courier New" pitchFamily="49" charset="0"/>
                <a:cs typeface="Courier New" pitchFamily="49" charset="0"/>
              </a:rPr>
              <a:t>ключові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слова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| % </a:t>
            </a: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background-attachment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: fixed  | scroll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04248" y="110615"/>
            <a:ext cx="2206462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/>
              <a:t>002</a:t>
            </a:r>
            <a:r>
              <a:rPr lang="en-US" dirty="0"/>
              <a:t>/index.html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8371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"/>
          <p:cNvGrpSpPr/>
          <p:nvPr/>
        </p:nvGrpSpPr>
        <p:grpSpPr>
          <a:xfrm>
            <a:off x="107504" y="3645024"/>
            <a:ext cx="8568952" cy="2232248"/>
            <a:chOff x="107504" y="3645024"/>
            <a:chExt cx="8568952" cy="2232248"/>
          </a:xfrm>
        </p:grpSpPr>
        <p:sp>
          <p:nvSpPr>
            <p:cNvPr id="7" name="Прямоугольник 6"/>
            <p:cNvSpPr/>
            <p:nvPr/>
          </p:nvSpPr>
          <p:spPr>
            <a:xfrm>
              <a:off x="107504" y="3645024"/>
              <a:ext cx="8568952" cy="2232248"/>
            </a:xfrm>
            <a:prstGeom prst="rect">
              <a:avLst/>
            </a:prstGeom>
            <a:solidFill>
              <a:srgbClr val="00B0F0">
                <a:alpha val="8000"/>
              </a:srgbClr>
            </a:solidFill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background-repeat : </a:t>
              </a:r>
              <a:r>
                <a:rPr lang="en-US" b="1" dirty="0">
                  <a:solidFill>
                    <a:srgbClr val="0070C0"/>
                  </a:solidFill>
                  <a:latin typeface="Courier New" pitchFamily="49" charset="0"/>
                  <a:cs typeface="Courier New" pitchFamily="49" charset="0"/>
                </a:rPr>
                <a:t>repeat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|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no-repeat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|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repeat-x 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| </a:t>
              </a:r>
              <a:r>
                <a:rPr lang="en-US" b="1" dirty="0">
                  <a:solidFill>
                    <a:srgbClr val="00B050"/>
                  </a:solidFill>
                  <a:latin typeface="Courier New" pitchFamily="49" charset="0"/>
                  <a:cs typeface="Courier New" pitchFamily="49" charset="0"/>
                </a:rPr>
                <a:t>repeat-y</a:t>
              </a:r>
            </a:p>
            <a:p>
              <a:endPara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  <a:p>
              <a:endParaRPr lang="en-US" b="1" dirty="0"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8" name="Группа 7"/>
            <p:cNvGrpSpPr/>
            <p:nvPr/>
          </p:nvGrpSpPr>
          <p:grpSpPr>
            <a:xfrm>
              <a:off x="365959" y="4077059"/>
              <a:ext cx="1829777" cy="1656197"/>
              <a:chOff x="229931" y="3484950"/>
              <a:chExt cx="1829777" cy="1598085"/>
            </a:xfrm>
          </p:grpSpPr>
          <p:cxnSp>
            <p:nvCxnSpPr>
              <p:cNvPr id="10" name="Прямая со стрелкой 9"/>
              <p:cNvCxnSpPr/>
              <p:nvPr/>
            </p:nvCxnSpPr>
            <p:spPr>
              <a:xfrm>
                <a:off x="229931" y="3742401"/>
                <a:ext cx="0" cy="132256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12" name="Прямая со стрелкой 11"/>
              <p:cNvCxnSpPr/>
              <p:nvPr/>
            </p:nvCxnSpPr>
            <p:spPr>
              <a:xfrm>
                <a:off x="271691" y="3750807"/>
                <a:ext cx="1451641" cy="0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1650622" y="3484950"/>
                <a:ext cx="4090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Courier New" pitchFamily="49" charset="0"/>
                    <a:cs typeface="Courier New" pitchFamily="49" charset="0"/>
                  </a:rPr>
                  <a:t>X</a:t>
                </a:r>
                <a:endParaRPr lang="ru-RU" sz="28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12464" y="4559815"/>
                <a:ext cx="40908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b="1" dirty="0">
                    <a:latin typeface="Courier New" pitchFamily="49" charset="0"/>
                    <a:cs typeface="Courier New" pitchFamily="49" charset="0"/>
                  </a:rPr>
                  <a:t>Y</a:t>
                </a:r>
                <a:endParaRPr lang="ru-RU" sz="2800" b="1" dirty="0"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15" name="Прямоугольник 14"/>
          <p:cNvSpPr/>
          <p:nvPr/>
        </p:nvSpPr>
        <p:spPr>
          <a:xfrm>
            <a:off x="107504" y="620688"/>
            <a:ext cx="8568952" cy="1512168"/>
          </a:xfrm>
          <a:prstGeom prst="rect">
            <a:avLst/>
          </a:prstGeom>
          <a:solidFill>
            <a:srgbClr val="00B050">
              <a:alpha val="9000"/>
            </a:srgbClr>
          </a:solidFill>
          <a:ln w="952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background-color :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transparent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|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color;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b="1" i="1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i="1" dirty="0" err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Області</a:t>
            </a:r>
            <a:r>
              <a:rPr lang="ru-RU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для фону є </a:t>
            </a:r>
            <a:r>
              <a:rPr lang="en-US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i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border-box</a:t>
            </a:r>
            <a:r>
              <a:rPr lang="en-US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i="1" dirty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блока</a:t>
            </a:r>
          </a:p>
          <a:p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r>
              <a:rPr lang="uk-UA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  background-color : #d5d5d5;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Прямоугольник 15"/>
          <p:cNvSpPr/>
          <p:nvPr/>
        </p:nvSpPr>
        <p:spPr>
          <a:xfrm>
            <a:off x="107504" y="2276872"/>
            <a:ext cx="8568952" cy="1080120"/>
          </a:xfrm>
          <a:prstGeom prst="rect">
            <a:avLst/>
          </a:prstGeom>
          <a:solidFill>
            <a:srgbClr val="FFFF00">
              <a:alpha val="9000"/>
            </a:srgbClr>
          </a:solidFill>
          <a:ln w="952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background-image : 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path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to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_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image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)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  </a:t>
            </a:r>
          </a:p>
          <a:p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uk-UA" b="1" i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Наприклад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 background-image: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none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| 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url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/picture.jpg);</a:t>
            </a:r>
            <a:r>
              <a:rPr lang="ru-RU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01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555776" y="44624"/>
            <a:ext cx="542328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background-position: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0 0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|</a:t>
            </a:r>
            <a:r>
              <a:rPr lang="ru-RU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значення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en-US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7504" y="476672"/>
            <a:ext cx="8928992" cy="646331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i="1" dirty="0">
                <a:latin typeface="Courier New" pitchFamily="49" charset="0"/>
                <a:cs typeface="Courier New" pitchFamily="49" charset="0"/>
              </a:rPr>
              <a:t>Область для фонового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зображення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за </a:t>
            </a:r>
            <a:r>
              <a:rPr lang="ru-RU" b="1" i="1" dirty="0" err="1">
                <a:latin typeface="Courier New" pitchFamily="49" charset="0"/>
                <a:cs typeface="Courier New" pitchFamily="49" charset="0"/>
              </a:rPr>
              <a:t>замовчуванням</a:t>
            </a:r>
            <a:endParaRPr lang="ru-RU" b="1" i="1" dirty="0">
              <a:latin typeface="Courier New" pitchFamily="49" charset="0"/>
              <a:cs typeface="Courier New" pitchFamily="49" charset="0"/>
            </a:endParaRPr>
          </a:p>
          <a:p>
            <a:r>
              <a:rPr lang="ru-RU" b="1" i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padding-box</a:t>
            </a:r>
            <a:r>
              <a:rPr lang="ru-RU" b="1" i="1" dirty="0">
                <a:latin typeface="Courier New" pitchFamily="49" charset="0"/>
                <a:cs typeface="Courier New" pitchFamily="49" charset="0"/>
              </a:rPr>
              <a:t> блоку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99592" y="2132856"/>
            <a:ext cx="7655528" cy="4032448"/>
          </a:xfrm>
          <a:prstGeom prst="rect">
            <a:avLst/>
          </a:prstGeom>
          <a:solidFill>
            <a:srgbClr val="FFFF00">
              <a:alpha val="4000"/>
            </a:srgbClr>
          </a:solidFill>
          <a:ln w="63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b="1" dirty="0">
              <a:solidFill>
                <a:srgbClr val="7030A0"/>
              </a:solidFill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8" name="Прямая соединительная линия 7"/>
          <p:cNvCxnSpPr>
            <a:stCxn id="4" idx="1"/>
          </p:cNvCxnSpPr>
          <p:nvPr/>
        </p:nvCxnSpPr>
        <p:spPr>
          <a:xfrm>
            <a:off x="899592" y="4149080"/>
            <a:ext cx="36724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4572000" y="2132856"/>
            <a:ext cx="0" cy="2016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85" y="396441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100px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4110503" y="1763524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200px</a:t>
            </a:r>
            <a:endParaRPr lang="ru-RU" dirty="0"/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821" y="4170346"/>
            <a:ext cx="2072958" cy="1368152"/>
          </a:xfrm>
          <a:prstGeom prst="rect">
            <a:avLst/>
          </a:prstGeom>
          <a:ln w="19050">
            <a:solidFill>
              <a:srgbClr val="7030A0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09786" y="5795972"/>
            <a:ext cx="5161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background-position: 200px 100px;</a:t>
            </a:r>
            <a:endParaRPr lang="ru-RU" dirty="0"/>
          </a:p>
        </p:txBody>
      </p:sp>
      <p:grpSp>
        <p:nvGrpSpPr>
          <p:cNvPr id="23" name="Группа 22"/>
          <p:cNvGrpSpPr/>
          <p:nvPr/>
        </p:nvGrpSpPr>
        <p:grpSpPr>
          <a:xfrm>
            <a:off x="934606" y="1556792"/>
            <a:ext cx="3665215" cy="685392"/>
            <a:chOff x="934606" y="1412776"/>
            <a:chExt cx="3665215" cy="685392"/>
          </a:xfrm>
        </p:grpSpPr>
        <p:cxnSp>
          <p:nvCxnSpPr>
            <p:cNvPr id="19" name="Прямая со стрелкой 18"/>
            <p:cNvCxnSpPr>
              <a:endCxn id="26" idx="7"/>
            </p:cNvCxnSpPr>
            <p:nvPr/>
          </p:nvCxnSpPr>
          <p:spPr>
            <a:xfrm flipH="1">
              <a:off x="934606" y="1412776"/>
              <a:ext cx="2413258" cy="685392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/>
            <p:nvPr/>
          </p:nvCxnSpPr>
          <p:spPr>
            <a:xfrm>
              <a:off x="3347864" y="1412776"/>
              <a:ext cx="1251957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>
          <a:xfrm>
            <a:off x="4644008" y="1331476"/>
            <a:ext cx="2528256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padding-box </a:t>
            </a:r>
            <a:r>
              <a: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блока</a:t>
            </a:r>
          </a:p>
        </p:txBody>
      </p:sp>
      <p:sp>
        <p:nvSpPr>
          <p:cNvPr id="26" name="Блок-схема: узел 25"/>
          <p:cNvSpPr/>
          <p:nvPr/>
        </p:nvSpPr>
        <p:spPr>
          <a:xfrm>
            <a:off x="857060" y="2084863"/>
            <a:ext cx="90851" cy="90851"/>
          </a:xfrm>
          <a:prstGeom prst="flowChartConnector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40462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391701"/>
              </p:ext>
            </p:extLst>
          </p:nvPr>
        </p:nvGraphicFramePr>
        <p:xfrm>
          <a:off x="130615" y="620688"/>
          <a:ext cx="8833873" cy="605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44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top left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left top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0%   0%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лівому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верхньому</a:t>
                      </a:r>
                      <a:r>
                        <a:rPr lang="ru-RU" b="1" dirty="0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solidFill>
                            <a:schemeClr val="tx1"/>
                          </a:solidFill>
                          <a:latin typeface="Courier New" pitchFamily="49" charset="0"/>
                          <a:cs typeface="Courier New" pitchFamily="49" charset="0"/>
                        </a:rPr>
                        <a:t>куті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top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top center </a:t>
                      </a:r>
                    </a:p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center top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50%    0%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по центру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вгорі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right top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top right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100% 0%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у правому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верхньому</a:t>
                      </a:r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 кутку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left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left center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0%   50%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по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лівому</a:t>
                      </a:r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 краю та по центру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center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center </a:t>
                      </a:r>
                      <a:r>
                        <a:rPr lang="en-US" b="1" dirty="0" err="1">
                          <a:latin typeface="Courier New" pitchFamily="49" charset="0"/>
                          <a:cs typeface="Courier New" pitchFamily="49" charset="0"/>
                        </a:rPr>
                        <a:t>center</a:t>
                      </a: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50%  50%</a:t>
                      </a:r>
                      <a:r>
                        <a:rPr lang="en-US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по центру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right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right center </a:t>
                      </a:r>
                    </a:p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center right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100% 50% </a:t>
                      </a:r>
                    </a:p>
                    <a:p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по правому краю та по центру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bottom left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left bottom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0% 100%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у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лівому</a:t>
                      </a:r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нижньому</a:t>
                      </a:r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 кутку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bottom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bottom center</a:t>
                      </a:r>
                    </a:p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center bottom 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50% 100%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по центру внизу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bottom right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right bottom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100% 100% </a:t>
                      </a:r>
                      <a:endParaRPr lang="ru-RU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в правому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нижньому</a:t>
                      </a:r>
                      <a:r>
                        <a:rPr lang="ru-RU" b="1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куті</a:t>
                      </a:r>
                      <a:endParaRPr lang="ru-RU" b="1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6198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7504" y="116632"/>
            <a:ext cx="1728192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0  0</a:t>
            </a:r>
          </a:p>
          <a:p>
            <a:pPr algn="ctr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left top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top left</a:t>
            </a:r>
            <a:endParaRPr lang="ru-RU" dirty="0"/>
          </a:p>
        </p:txBody>
      </p:sp>
      <p:grpSp>
        <p:nvGrpSpPr>
          <p:cNvPr id="7" name="Группа 6"/>
          <p:cNvGrpSpPr/>
          <p:nvPr/>
        </p:nvGrpSpPr>
        <p:grpSpPr>
          <a:xfrm>
            <a:off x="938371" y="1099437"/>
            <a:ext cx="6873989" cy="4633819"/>
            <a:chOff x="1259632" y="941600"/>
            <a:chExt cx="6360393" cy="4287599"/>
          </a:xfrm>
        </p:grpSpPr>
        <p:sp>
          <p:nvSpPr>
            <p:cNvPr id="4" name="Прямоугольник 3"/>
            <p:cNvSpPr/>
            <p:nvPr/>
          </p:nvSpPr>
          <p:spPr>
            <a:xfrm>
              <a:off x="1259632" y="941600"/>
              <a:ext cx="6360393" cy="4287599"/>
            </a:xfrm>
            <a:prstGeom prst="rect">
              <a:avLst/>
            </a:prstGeom>
            <a:solidFill>
              <a:srgbClr val="FFFF00">
                <a:alpha val="4000"/>
              </a:srgbClr>
            </a:solidFill>
            <a:ln w="63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003" y="962535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pic>
          <p:nvPicPr>
            <p:cNvPr id="18" name="Рисунок 1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9632" y="4392062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pic>
          <p:nvPicPr>
            <p:cNvPr id="20" name="Рисунок 1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7191" y="962535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pic>
          <p:nvPicPr>
            <p:cNvPr id="21" name="Рисунок 2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37190" y="4392061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pic>
          <p:nvPicPr>
            <p:cNvPr id="25" name="Рисунок 24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666" y="2666852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pic>
          <p:nvPicPr>
            <p:cNvPr id="31" name="Рисунок 30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5665" y="962535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  <p:pic>
          <p:nvPicPr>
            <p:cNvPr id="33" name="Рисунок 3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9843" y="4363037"/>
              <a:ext cx="1268323" cy="837093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</p:pic>
      </p:grpSp>
      <p:sp>
        <p:nvSpPr>
          <p:cNvPr id="27" name="TextBox 26"/>
          <p:cNvSpPr txBox="1"/>
          <p:nvPr/>
        </p:nvSpPr>
        <p:spPr>
          <a:xfrm>
            <a:off x="107504" y="5818038"/>
            <a:ext cx="1728192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0  100%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left bottom</a:t>
            </a:r>
          </a:p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bottom left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6876256" y="5805264"/>
            <a:ext cx="1872208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100%  100%</a:t>
            </a:r>
          </a:p>
          <a:p>
            <a:pPr algn="ctr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right bottom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bottom right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6801147" y="94854"/>
            <a:ext cx="1944216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100%  0</a:t>
            </a:r>
          </a:p>
          <a:p>
            <a:pPr algn="ctr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right top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top right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5130154" y="3093180"/>
            <a:ext cx="1440160" cy="646331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50%  50%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center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9872" y="116632"/>
            <a:ext cx="1728192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50%  0</a:t>
            </a:r>
          </a:p>
          <a:p>
            <a:pPr algn="ctr"/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center top</a:t>
            </a:r>
          </a:p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top center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3419872" y="5805264"/>
            <a:ext cx="2088232" cy="923330"/>
          </a:xfrm>
          <a:prstGeom prst="rect">
            <a:avLst/>
          </a:prstGeom>
          <a:solidFill>
            <a:srgbClr val="FFFF00">
              <a:alpha val="8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50%  100%</a:t>
            </a:r>
          </a:p>
          <a:p>
            <a:r>
              <a:rPr lang="en-US" b="1" dirty="0">
                <a:solidFill>
                  <a:srgbClr val="0070C0"/>
                </a:solidFill>
                <a:latin typeface="Courier New" pitchFamily="49" charset="0"/>
                <a:cs typeface="Courier New" pitchFamily="49" charset="0"/>
              </a:rPr>
              <a:t>center bottom</a:t>
            </a:r>
          </a:p>
          <a:p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bottom center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5704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79512" y="764704"/>
            <a:ext cx="8568952" cy="2371128"/>
          </a:xfrm>
          <a:prstGeom prst="rect">
            <a:avLst/>
          </a:prstGeom>
          <a:solidFill>
            <a:srgbClr val="FFFF00">
              <a:alpha val="9000"/>
            </a:srgbClr>
          </a:solidFill>
          <a:ln w="952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ru-RU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background-attachment</a:t>
            </a:r>
            <a:r>
              <a:rPr lang="ru-RU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: </a:t>
            </a:r>
            <a:r>
              <a:rPr lang="en-US" b="1" dirty="0">
                <a:solidFill>
                  <a:srgbClr val="3756F2"/>
                </a:solidFill>
                <a:latin typeface="Courier New" pitchFamily="49" charset="0"/>
                <a:cs typeface="Courier New" pitchFamily="49" charset="0"/>
              </a:rPr>
              <a:t>scroll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| </a:t>
            </a:r>
            <a:r>
              <a:rPr lang="en-US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fixed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					</a:t>
            </a:r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ru-RU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Встановлює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чи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прокручуватиметься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фонове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зображення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разом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вмістом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елемента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Зображення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може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бути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зафіксовано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та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залишатися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нерухомим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або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переміщатися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разом </a:t>
            </a:r>
            <a:r>
              <a:rPr lang="ru-RU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із</a:t>
            </a:r>
            <a:r>
              <a:rPr lang="ru-RU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документом.</a:t>
            </a:r>
          </a:p>
        </p:txBody>
      </p:sp>
    </p:spTree>
    <p:extLst>
      <p:ext uri="{BB962C8B-B14F-4D97-AF65-F5344CB8AC3E}">
        <p14:creationId xmlns:p14="http://schemas.microsoft.com/office/powerpoint/2010/main" val="1864173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Background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" y="620688"/>
            <a:ext cx="5220072" cy="2862322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background-color: color;</a:t>
            </a:r>
          </a:p>
          <a:p>
            <a:r>
              <a:rPr lang="en-US" dirty="0"/>
              <a:t>background-image: </a:t>
            </a:r>
            <a:r>
              <a:rPr lang="en-US" dirty="0" err="1"/>
              <a:t>url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);</a:t>
            </a:r>
          </a:p>
          <a:p>
            <a:r>
              <a:rPr lang="en-US" dirty="0"/>
              <a:t>background-repeat: repeat-style;</a:t>
            </a:r>
          </a:p>
          <a:p>
            <a:r>
              <a:rPr lang="en-US" dirty="0"/>
              <a:t>background-position: position;</a:t>
            </a:r>
          </a:p>
          <a:p>
            <a:r>
              <a:rPr lang="en-US" dirty="0"/>
              <a:t>background-attachment: attach;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</a:rPr>
              <a:t>background-size: size;</a:t>
            </a:r>
          </a:p>
          <a:p>
            <a:r>
              <a:rPr lang="en-US" dirty="0">
                <a:solidFill>
                  <a:srgbClr val="C00000"/>
                </a:solidFill>
              </a:rPr>
              <a:t>background-clip: clip;</a:t>
            </a:r>
          </a:p>
          <a:p>
            <a:r>
              <a:rPr lang="en-US" dirty="0">
                <a:solidFill>
                  <a:srgbClr val="C00000"/>
                </a:solidFill>
              </a:rPr>
              <a:t>background-origin: origin;</a:t>
            </a:r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1533" y="3861048"/>
            <a:ext cx="8849333" cy="707886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background: color </a:t>
            </a:r>
            <a:r>
              <a:rPr lang="en-US" dirty="0" err="1"/>
              <a:t>url</a:t>
            </a:r>
            <a:r>
              <a:rPr lang="en-US" dirty="0"/>
              <a:t>() position/size repeat-style </a:t>
            </a:r>
          </a:p>
          <a:p>
            <a:r>
              <a:rPr lang="en-US" dirty="0"/>
              <a:t>            attach origin clip;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155" y="5097378"/>
            <a:ext cx="8849333" cy="707886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background: red </a:t>
            </a:r>
            <a:r>
              <a:rPr lang="en-US" dirty="0" err="1"/>
              <a:t>url</a:t>
            </a:r>
            <a:r>
              <a:rPr lang="en-US" dirty="0"/>
              <a:t>(im.png)  0 0 / auto </a:t>
            </a:r>
            <a:r>
              <a:rPr lang="en-US" dirty="0" err="1"/>
              <a:t>auto</a:t>
            </a:r>
            <a:r>
              <a:rPr lang="en-US" dirty="0"/>
              <a:t> no-repeat </a:t>
            </a:r>
          </a:p>
          <a:p>
            <a:r>
              <a:rPr lang="en-US" dirty="0"/>
              <a:t>            scroll padding-box </a:t>
            </a:r>
            <a:r>
              <a:rPr lang="en-US" dirty="0" err="1"/>
              <a:t>padding-box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5115091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Multiple Background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620688"/>
            <a:ext cx="8531172" cy="4965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2820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2200" y="64436"/>
            <a:ext cx="25922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/>
              <a:t>backgrounds.html</a:t>
            </a:r>
            <a:endParaRPr lang="ru-RU" b="1" dirty="0"/>
          </a:p>
        </p:txBody>
      </p:sp>
      <p:sp>
        <p:nvSpPr>
          <p:cNvPr id="4" name="TextBox 3"/>
          <p:cNvSpPr txBox="1"/>
          <p:nvPr/>
        </p:nvSpPr>
        <p:spPr>
          <a:xfrm>
            <a:off x="115155" y="683404"/>
            <a:ext cx="7109639" cy="400110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E { background-image: value, value; }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15154" y="1273984"/>
            <a:ext cx="8849333" cy="1938992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h2 {</a:t>
            </a:r>
          </a:p>
          <a:p>
            <a:r>
              <a:rPr lang="en-US" dirty="0">
                <a:solidFill>
                  <a:srgbClr val="C00000"/>
                </a:solidFill>
              </a:rPr>
              <a:t>	background-image: 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('bunny.png'), 						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('landscape.jpg'); </a:t>
            </a:r>
          </a:p>
          <a:p>
            <a:r>
              <a:rPr lang="en-US" dirty="0">
                <a:solidFill>
                  <a:srgbClr val="C00000"/>
                </a:solidFill>
              </a:rPr>
              <a:t>	background-position: 95% 85%, 50% 50%; </a:t>
            </a:r>
          </a:p>
          <a:p>
            <a:r>
              <a:rPr lang="en-US" dirty="0">
                <a:solidFill>
                  <a:srgbClr val="C00000"/>
                </a:solidFill>
              </a:rPr>
              <a:t>	background-repeat: no-repeat;</a:t>
            </a:r>
          </a:p>
          <a:p>
            <a:r>
              <a:rPr lang="en-US" dirty="0">
                <a:solidFill>
                  <a:srgbClr val="C00000"/>
                </a:solidFill>
              </a:rPr>
              <a:t>}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3429000"/>
            <a:ext cx="8849333" cy="1323439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Якщо</a:t>
            </a:r>
            <a:r>
              <a:rPr lang="ru-RU" dirty="0"/>
              <a:t> ми </a:t>
            </a:r>
            <a:r>
              <a:rPr lang="ru-RU" dirty="0" err="1"/>
              <a:t>застосовуємо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шарів</a:t>
            </a:r>
            <a:r>
              <a:rPr lang="ru-RU" dirty="0"/>
              <a:t> для </a:t>
            </a:r>
            <a:r>
              <a:rPr lang="ru-RU" dirty="0" err="1"/>
              <a:t>background</a:t>
            </a:r>
            <a:r>
              <a:rPr lang="ru-RU" dirty="0"/>
              <a:t>, то вони </a:t>
            </a:r>
            <a:r>
              <a:rPr lang="ru-RU" dirty="0" err="1"/>
              <a:t>розташовуються</a:t>
            </a:r>
            <a:r>
              <a:rPr lang="ru-RU" dirty="0"/>
              <a:t> по </a:t>
            </a:r>
            <a:r>
              <a:rPr lang="ru-RU" dirty="0" err="1"/>
              <a:t>осі</a:t>
            </a:r>
            <a:r>
              <a:rPr lang="ru-RU" dirty="0"/>
              <a:t> Z в </a:t>
            </a:r>
            <a:r>
              <a:rPr lang="ru-RU" dirty="0" err="1"/>
              <a:t>реверсієвому</a:t>
            </a:r>
            <a:r>
              <a:rPr lang="ru-RU" dirty="0"/>
              <a:t> порядку,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вгорі</a:t>
            </a:r>
            <a:r>
              <a:rPr lang="ru-RU" dirty="0"/>
              <a:t> буде </a:t>
            </a:r>
            <a:r>
              <a:rPr lang="ru-RU" dirty="0" err="1"/>
              <a:t>зображення</a:t>
            </a:r>
            <a:r>
              <a:rPr lang="ru-RU" dirty="0"/>
              <a:t>, яке </a:t>
            </a:r>
            <a:r>
              <a:rPr lang="ru-RU" dirty="0" err="1"/>
              <a:t>вказано</a:t>
            </a:r>
            <a:r>
              <a:rPr lang="ru-RU" dirty="0"/>
              <a:t> в </a:t>
            </a:r>
            <a:r>
              <a:rPr lang="ru-RU" dirty="0" err="1"/>
              <a:t>першому</a:t>
            </a:r>
            <a:r>
              <a:rPr lang="ru-RU" dirty="0"/>
              <a:t> </a:t>
            </a:r>
            <a:r>
              <a:rPr lang="ru-RU" dirty="0" err="1"/>
              <a:t>коді</a:t>
            </a:r>
            <a:endParaRPr lang="ru-RU" dirty="0"/>
          </a:p>
          <a:p>
            <a:r>
              <a:rPr lang="ru-RU" dirty="0"/>
              <a:t>(</a:t>
            </a:r>
            <a:r>
              <a:rPr lang="ru-RU" dirty="0" err="1"/>
              <a:t>Наступний</a:t>
            </a:r>
            <a:r>
              <a:rPr lang="ru-RU" dirty="0"/>
              <a:t> слайд)</a:t>
            </a:r>
          </a:p>
        </p:txBody>
      </p:sp>
    </p:spTree>
    <p:extLst>
      <p:ext uri="{BB962C8B-B14F-4D97-AF65-F5344CB8AC3E}">
        <p14:creationId xmlns:p14="http://schemas.microsoft.com/office/powerpoint/2010/main" val="2361351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548680"/>
            <a:ext cx="78994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0232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2200" y="64436"/>
            <a:ext cx="25922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backgrounds.html</a:t>
            </a:r>
            <a:endParaRPr lang="ru-RU" b="1" dirty="0"/>
          </a:p>
        </p:txBody>
      </p:sp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Background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15154" y="548680"/>
            <a:ext cx="8849333" cy="1938992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h2 {</a:t>
            </a:r>
          </a:p>
          <a:p>
            <a:r>
              <a:rPr lang="en-US" dirty="0">
                <a:solidFill>
                  <a:srgbClr val="C00000"/>
                </a:solidFill>
              </a:rPr>
              <a:t>	background-image: 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('bunny.png'), 						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('landscape.jpg'); </a:t>
            </a:r>
          </a:p>
          <a:p>
            <a:r>
              <a:rPr lang="en-US" dirty="0">
                <a:solidFill>
                  <a:srgbClr val="C00000"/>
                </a:solidFill>
              </a:rPr>
              <a:t>	background-repeat: repeat-x, no-repeat;</a:t>
            </a:r>
          </a:p>
          <a:p>
            <a:r>
              <a:rPr lang="en-US" dirty="0">
                <a:solidFill>
                  <a:srgbClr val="C00000"/>
                </a:solidFill>
              </a:rPr>
              <a:t>	background-position: 95% 85%, 50% 50%; </a:t>
            </a:r>
          </a:p>
          <a:p>
            <a:r>
              <a:rPr lang="en-US" dirty="0">
                <a:solidFill>
                  <a:srgbClr val="C00000"/>
                </a:solidFill>
              </a:rPr>
              <a:t>}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2609617"/>
            <a:ext cx="8849333" cy="2554545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Якщо</a:t>
            </a:r>
            <a:r>
              <a:rPr lang="ru-RU" dirty="0"/>
              <a:t> нам треба </a:t>
            </a:r>
            <a:r>
              <a:rPr lang="ru-RU" dirty="0" err="1"/>
              <a:t>вказати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background-repeat</a:t>
            </a:r>
            <a:r>
              <a:rPr lang="ru-RU" dirty="0"/>
              <a:t> для кожного </a:t>
            </a:r>
            <a:r>
              <a:rPr lang="ru-RU" dirty="0" err="1"/>
              <a:t>зображення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, то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властивості</a:t>
            </a:r>
            <a:r>
              <a:rPr lang="ru-RU" dirty="0"/>
              <a:t> </a:t>
            </a:r>
            <a:r>
              <a:rPr lang="ru-RU" dirty="0" err="1"/>
              <a:t>вказуємо</a:t>
            </a:r>
            <a:r>
              <a:rPr lang="ru-RU" dirty="0"/>
              <a:t> через кому. </a:t>
            </a:r>
            <a:endParaRPr lang="en-US" dirty="0"/>
          </a:p>
          <a:p>
            <a:r>
              <a:rPr lang="ru-RU" dirty="0" err="1"/>
              <a:t>Аналогічно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вказати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background-position</a:t>
            </a:r>
            <a:endParaRPr lang="ru-RU" dirty="0">
              <a:solidFill>
                <a:srgbClr val="C00000"/>
              </a:solidFill>
            </a:endParaRPr>
          </a:p>
          <a:p>
            <a:endParaRPr lang="ru-RU" dirty="0">
              <a:solidFill>
                <a:srgbClr val="C00000"/>
              </a:solidFill>
            </a:endParaRPr>
          </a:p>
          <a:p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вказати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</a:t>
            </a:r>
            <a:r>
              <a:rPr lang="ru-RU" dirty="0" err="1">
                <a:solidFill>
                  <a:srgbClr val="C00000"/>
                </a:solidFill>
              </a:rPr>
              <a:t>background-repeat</a:t>
            </a:r>
            <a:r>
              <a:rPr lang="ru-RU" dirty="0"/>
              <a:t> без </a:t>
            </a:r>
            <a:r>
              <a:rPr lang="ru-RU" dirty="0" err="1"/>
              <a:t>перерахування</a:t>
            </a:r>
            <a:r>
              <a:rPr lang="ru-RU" dirty="0"/>
              <a:t>, </a:t>
            </a:r>
            <a:r>
              <a:rPr lang="ru-RU" dirty="0" err="1"/>
              <a:t>воно</a:t>
            </a:r>
            <a:r>
              <a:rPr lang="ru-RU" dirty="0"/>
              <a:t> буде </a:t>
            </a:r>
            <a:r>
              <a:rPr lang="ru-RU" dirty="0" err="1"/>
              <a:t>застосовне</a:t>
            </a:r>
            <a:r>
              <a:rPr lang="ru-RU" dirty="0"/>
              <a:t> до </a:t>
            </a:r>
            <a:r>
              <a:rPr lang="ru-RU" dirty="0" err="1"/>
              <a:t>всіх</a:t>
            </a:r>
            <a:r>
              <a:rPr lang="ru-RU" dirty="0"/>
              <a:t> </a:t>
            </a:r>
            <a:r>
              <a:rPr lang="ru-RU" dirty="0" err="1"/>
              <a:t>шарів</a:t>
            </a:r>
            <a:r>
              <a:rPr lang="ru-RU" dirty="0"/>
              <a:t> </a:t>
            </a:r>
            <a:r>
              <a:rPr lang="ru-RU" dirty="0" err="1"/>
              <a:t>зображення</a:t>
            </a:r>
            <a:r>
              <a:rPr lang="ru-RU" dirty="0"/>
              <a:t>, </a:t>
            </a:r>
            <a:r>
              <a:rPr lang="ru-RU" dirty="0" err="1"/>
              <a:t>тобто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234424"/>
            <a:ext cx="8849333" cy="1323439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h2 {</a:t>
            </a:r>
          </a:p>
          <a:p>
            <a:r>
              <a:rPr lang="en-US" dirty="0">
                <a:solidFill>
                  <a:srgbClr val="C00000"/>
                </a:solidFill>
              </a:rPr>
              <a:t>background-image: 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('bunny.png'),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('landscape.jpg'); </a:t>
            </a:r>
          </a:p>
          <a:p>
            <a:r>
              <a:rPr lang="en-US" dirty="0">
                <a:solidFill>
                  <a:srgbClr val="0070C0"/>
                </a:solidFill>
              </a:rPr>
              <a:t>background-repeat: no-repeat;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C00000"/>
                </a:solidFill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79547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72200" y="64436"/>
            <a:ext cx="2592288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backgrounds.html</a:t>
            </a:r>
            <a:endParaRPr lang="ru-RU" b="1" dirty="0"/>
          </a:p>
        </p:txBody>
      </p:sp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Background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115154" y="548680"/>
            <a:ext cx="8849333" cy="707886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Властивості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записувати</a:t>
            </a:r>
            <a:r>
              <a:rPr lang="ru-RU" dirty="0"/>
              <a:t> у </a:t>
            </a:r>
            <a:r>
              <a:rPr lang="ru-RU" dirty="0" err="1"/>
              <a:t>скороченій</a:t>
            </a:r>
            <a:r>
              <a:rPr lang="ru-RU" dirty="0"/>
              <a:t> </a:t>
            </a:r>
            <a:r>
              <a:rPr lang="ru-RU" dirty="0" err="1"/>
              <a:t>формі</a:t>
            </a:r>
            <a:r>
              <a:rPr lang="ru-RU" dirty="0"/>
              <a:t> для кожного </a:t>
            </a:r>
            <a:r>
              <a:rPr lang="ru-RU" dirty="0" err="1"/>
              <a:t>зображення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, </a:t>
            </a:r>
            <a:r>
              <a:rPr lang="ru-RU" dirty="0" err="1"/>
              <a:t>перераховуючи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через кому.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503" y="1844824"/>
            <a:ext cx="8856983" cy="1631216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0070C0"/>
                </a:solidFill>
              </a:rPr>
              <a:t>h2 {</a:t>
            </a:r>
          </a:p>
          <a:p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background:</a:t>
            </a:r>
          </a:p>
          <a:p>
            <a:r>
              <a:rPr lang="en-US" dirty="0">
                <a:solidFill>
                  <a:srgbClr val="C00000"/>
                </a:solidFill>
              </a:rPr>
              <a:t>   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img</a:t>
            </a:r>
            <a:r>
              <a:rPr lang="en-US" dirty="0">
                <a:solidFill>
                  <a:srgbClr val="C00000"/>
                </a:solidFill>
              </a:rPr>
              <a:t>/bunny.jpg) no-repeat 95% 85%,</a:t>
            </a:r>
          </a:p>
          <a:p>
            <a:r>
              <a:rPr lang="en-US" dirty="0">
                <a:solidFill>
                  <a:srgbClr val="C00000"/>
                </a:solidFill>
              </a:rPr>
              <a:t>   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 err="1">
                <a:solidFill>
                  <a:srgbClr val="C00000"/>
                </a:solidFill>
              </a:rPr>
              <a:t>url</a:t>
            </a:r>
            <a:r>
              <a:rPr lang="en-US" dirty="0">
                <a:solidFill>
                  <a:srgbClr val="C00000"/>
                </a:solidFill>
              </a:rPr>
              <a:t>(</a:t>
            </a:r>
            <a:r>
              <a:rPr lang="en-US" dirty="0" err="1">
                <a:solidFill>
                  <a:srgbClr val="C00000"/>
                </a:solidFill>
              </a:rPr>
              <a:t>img</a:t>
            </a:r>
            <a:r>
              <a:rPr lang="en-US" dirty="0">
                <a:solidFill>
                  <a:srgbClr val="C00000"/>
                </a:solidFill>
              </a:rPr>
              <a:t>/landscape.jpg) repeat</a:t>
            </a:r>
            <a:r>
              <a:rPr lang="ru-RU" dirty="0">
                <a:solidFill>
                  <a:srgbClr val="C00000"/>
                </a:solidFill>
              </a:rPr>
              <a:t>-</a:t>
            </a:r>
            <a:r>
              <a:rPr lang="en-US" dirty="0">
                <a:solidFill>
                  <a:srgbClr val="C00000"/>
                </a:solidFill>
              </a:rPr>
              <a:t>x 50% 50%; 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  <a:endParaRPr lang="ru-R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76389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44208" y="64436"/>
            <a:ext cx="252028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backgrounds.html</a:t>
            </a:r>
            <a:endParaRPr lang="ru-RU" b="1" dirty="0"/>
          </a:p>
        </p:txBody>
      </p:sp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Background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692696"/>
            <a:ext cx="7109639" cy="400110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E{ background-size: value; }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3284984"/>
            <a:ext cx="8856984" cy="2554545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h2 {</a:t>
            </a:r>
          </a:p>
          <a:p>
            <a:r>
              <a:rPr lang="en-US" dirty="0">
                <a:solidFill>
                  <a:srgbClr val="C00000"/>
                </a:solidFill>
              </a:rPr>
              <a:t>background:</a:t>
            </a:r>
          </a:p>
          <a:p>
            <a:r>
              <a:rPr lang="en-US" dirty="0">
                <a:solidFill>
                  <a:srgbClr val="C00000"/>
                </a:solidFill>
              </a:rPr>
              <a:t>  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(</a:t>
            </a:r>
            <a:r>
              <a:rPr lang="en-US" dirty="0" err="1"/>
              <a:t>img</a:t>
            </a:r>
            <a:r>
              <a:rPr lang="en-US" dirty="0"/>
              <a:t>/bunny.jpg) no-repeat 95% 85%,</a:t>
            </a:r>
          </a:p>
          <a:p>
            <a:r>
              <a:rPr lang="en-US" dirty="0">
                <a:solidFill>
                  <a:srgbClr val="C00000"/>
                </a:solidFill>
              </a:rPr>
              <a:t>   </a:t>
            </a:r>
            <a:r>
              <a:rPr lang="en-US" dirty="0" err="1">
                <a:solidFill>
                  <a:srgbClr val="0070C0"/>
                </a:solidFill>
              </a:rPr>
              <a:t>url</a:t>
            </a:r>
            <a:r>
              <a:rPr lang="en-US" dirty="0">
                <a:solidFill>
                  <a:srgbClr val="0070C0"/>
                </a:solidFill>
              </a:rPr>
              <a:t>(</a:t>
            </a:r>
            <a:r>
              <a:rPr lang="en-US" dirty="0" err="1">
                <a:solidFill>
                  <a:srgbClr val="0070C0"/>
                </a:solidFill>
              </a:rPr>
              <a:t>img</a:t>
            </a:r>
            <a:r>
              <a:rPr lang="en-US" dirty="0">
                <a:solidFill>
                  <a:srgbClr val="0070C0"/>
                </a:solidFill>
              </a:rPr>
              <a:t>/bunny.jpg) no-repeat 95% 85%,</a:t>
            </a:r>
          </a:p>
          <a:p>
            <a:r>
              <a:rPr lang="en-US" dirty="0">
                <a:solidFill>
                  <a:srgbClr val="C00000"/>
                </a:solidFill>
              </a:rPr>
              <a:t>   </a:t>
            </a:r>
            <a:r>
              <a:rPr lang="en-US" dirty="0" err="1">
                <a:solidFill>
                  <a:srgbClr val="00B050"/>
                </a:solidFill>
              </a:rPr>
              <a:t>url</a:t>
            </a:r>
            <a:r>
              <a:rPr lang="en-US" dirty="0">
                <a:solidFill>
                  <a:srgbClr val="00B050"/>
                </a:solidFill>
              </a:rPr>
              <a:t>(</a:t>
            </a:r>
            <a:r>
              <a:rPr lang="en-US" dirty="0" err="1">
                <a:solidFill>
                  <a:srgbClr val="00B050"/>
                </a:solidFill>
              </a:rPr>
              <a:t>img</a:t>
            </a:r>
            <a:r>
              <a:rPr lang="en-US" dirty="0">
                <a:solidFill>
                  <a:srgbClr val="00B050"/>
                </a:solidFill>
              </a:rPr>
              <a:t>/landscape.jpg) no-repeat 50% 50%;</a:t>
            </a:r>
          </a:p>
          <a:p>
            <a:r>
              <a:rPr lang="en-US" dirty="0">
                <a:solidFill>
                  <a:srgbClr val="C00000"/>
                </a:solidFill>
              </a:rPr>
              <a:t>   background-size: </a:t>
            </a:r>
            <a:r>
              <a:rPr lang="en-US" dirty="0"/>
              <a:t>auto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0070C0"/>
                </a:solidFill>
              </a:rPr>
              <a:t>20px 100px</a:t>
            </a:r>
            <a:r>
              <a:rPr lang="en-US" dirty="0">
                <a:solidFill>
                  <a:srgbClr val="C00000"/>
                </a:solidFill>
              </a:rPr>
              <a:t>, </a:t>
            </a:r>
            <a:r>
              <a:rPr lang="en-US" dirty="0">
                <a:solidFill>
                  <a:srgbClr val="00B050"/>
                </a:solidFill>
              </a:rPr>
              <a:t>50%</a:t>
            </a:r>
            <a:r>
              <a:rPr lang="en-US" dirty="0">
                <a:solidFill>
                  <a:srgbClr val="C00000"/>
                </a:solidFill>
              </a:rPr>
              <a:t>;</a:t>
            </a:r>
          </a:p>
          <a:p>
            <a:r>
              <a:rPr lang="en-US" dirty="0">
                <a:solidFill>
                  <a:srgbClr val="C00000"/>
                </a:solidFill>
              </a:rPr>
              <a:t> </a:t>
            </a:r>
          </a:p>
          <a:p>
            <a:r>
              <a:rPr lang="en-US" dirty="0">
                <a:solidFill>
                  <a:srgbClr val="C00000"/>
                </a:solidFill>
              </a:rPr>
              <a:t>}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07504" y="1162487"/>
            <a:ext cx="8856984" cy="1938992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FF0000"/>
                </a:solidFill>
              </a:rPr>
              <a:t>value</a:t>
            </a:r>
            <a:r>
              <a:rPr lang="en-US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задаватися</a:t>
            </a:r>
            <a:r>
              <a:rPr lang="ru-RU" dirty="0"/>
              <a:t> в </a:t>
            </a:r>
            <a:r>
              <a:rPr lang="en-US" dirty="0" err="1"/>
              <a:t>px</a:t>
            </a:r>
            <a:r>
              <a:rPr lang="en-US" dirty="0"/>
              <a:t>, %</a:t>
            </a:r>
            <a:endParaRPr lang="ru-RU" dirty="0"/>
          </a:p>
          <a:p>
            <a:r>
              <a:rPr lang="ru-RU" dirty="0"/>
              <a:t>1. </a:t>
            </a:r>
            <a:r>
              <a:rPr lang="ru-RU" dirty="0" err="1"/>
              <a:t>Двома</a:t>
            </a:r>
            <a:r>
              <a:rPr lang="ru-RU" dirty="0"/>
              <a:t> числами 	 </a:t>
            </a:r>
            <a:r>
              <a:rPr lang="en-US" dirty="0"/>
              <a:t>background-size: </a:t>
            </a:r>
            <a:r>
              <a:rPr lang="en-US" dirty="0">
                <a:solidFill>
                  <a:srgbClr val="0070C0"/>
                </a:solidFill>
              </a:rPr>
              <a:t>width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height</a:t>
            </a:r>
            <a:r>
              <a:rPr lang="en-US" dirty="0"/>
              <a:t>;</a:t>
            </a:r>
          </a:p>
          <a:p>
            <a:r>
              <a:rPr lang="ru-RU" dirty="0"/>
              <a:t>2. Одним числом – </a:t>
            </a:r>
            <a:r>
              <a:rPr lang="ru-RU" dirty="0" err="1"/>
              <a:t>тоді</a:t>
            </a:r>
            <a:r>
              <a:rPr lang="ru-RU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width</a:t>
            </a:r>
            <a:r>
              <a:rPr lang="ru-RU" dirty="0"/>
              <a:t>, а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height</a:t>
            </a:r>
            <a:r>
              <a:rPr lang="ru-RU" dirty="0">
                <a:solidFill>
                  <a:srgbClr val="0070C0"/>
                </a:solidFill>
              </a:rPr>
              <a:t> = </a:t>
            </a:r>
            <a:r>
              <a:rPr lang="en-US" dirty="0">
                <a:solidFill>
                  <a:srgbClr val="0070C0"/>
                </a:solidFill>
              </a:rPr>
              <a:t>auto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/>
              <a:t>яка </a:t>
            </a:r>
          </a:p>
          <a:p>
            <a:r>
              <a:rPr lang="ru-RU" dirty="0"/>
              <a:t>    </a:t>
            </a:r>
            <a:r>
              <a:rPr lang="ru-RU" dirty="0" err="1"/>
              <a:t>обчислюється</a:t>
            </a:r>
            <a:r>
              <a:rPr lang="ru-RU" dirty="0"/>
              <a:t> </a:t>
            </a:r>
            <a:r>
              <a:rPr lang="ru-RU" dirty="0" err="1"/>
              <a:t>пропорційно</a:t>
            </a:r>
            <a:r>
              <a:rPr lang="ru-RU" dirty="0"/>
              <a:t> до </a:t>
            </a:r>
            <a:r>
              <a:rPr lang="ru-RU" dirty="0" err="1"/>
              <a:t>ширини</a:t>
            </a:r>
            <a:r>
              <a:rPr lang="ru-RU" dirty="0"/>
              <a:t>.</a:t>
            </a:r>
          </a:p>
          <a:p>
            <a:r>
              <a:rPr lang="ru-RU" dirty="0"/>
              <a:t>3. Одним </a:t>
            </a:r>
            <a:r>
              <a:rPr lang="ru-RU" dirty="0" err="1"/>
              <a:t>ключовим</a:t>
            </a:r>
            <a:r>
              <a:rPr lang="ru-RU" dirty="0"/>
              <a:t> словом </a:t>
            </a:r>
            <a:r>
              <a:rPr lang="ru-RU" dirty="0" err="1">
                <a:solidFill>
                  <a:srgbClr val="0070C0"/>
                </a:solidFill>
              </a:rPr>
              <a:t>auto</a:t>
            </a:r>
            <a:r>
              <a:rPr lang="ru-RU" dirty="0"/>
              <a:t> - </a:t>
            </a:r>
            <a:r>
              <a:rPr lang="ru-RU" dirty="0" err="1"/>
              <a:t>вихідний</a:t>
            </a:r>
            <a:r>
              <a:rPr lang="ru-RU" dirty="0"/>
              <a:t> </a:t>
            </a:r>
            <a:r>
              <a:rPr lang="ru-RU" dirty="0" err="1"/>
              <a:t>розмір</a:t>
            </a:r>
            <a:endParaRPr lang="ru-RU" dirty="0"/>
          </a:p>
          <a:p>
            <a:r>
              <a:rPr lang="ru-RU" dirty="0"/>
              <a:t>    </a:t>
            </a:r>
            <a:r>
              <a:rPr lang="ru-RU" dirty="0" err="1"/>
              <a:t>зображення</a:t>
            </a:r>
            <a:r>
              <a:rPr lang="ru-RU" dirty="0"/>
              <a:t>.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90911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16216" y="44624"/>
            <a:ext cx="237626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backgrounds.html</a:t>
            </a:r>
            <a:endParaRPr lang="ru-RU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07504" y="44624"/>
            <a:ext cx="8856984" cy="1015663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E{ background-size: </a:t>
            </a:r>
            <a:r>
              <a:rPr lang="en-US" dirty="0">
                <a:solidFill>
                  <a:srgbClr val="C00000"/>
                </a:solidFill>
              </a:rPr>
              <a:t>contain</a:t>
            </a:r>
            <a:r>
              <a:rPr lang="en-US" dirty="0"/>
              <a:t>; }</a:t>
            </a:r>
          </a:p>
          <a:p>
            <a:r>
              <a:rPr lang="ru-RU" dirty="0" err="1">
                <a:solidFill>
                  <a:srgbClr val="0070C0"/>
                </a:solidFill>
              </a:rPr>
              <a:t>Изображення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масштабується</a:t>
            </a:r>
            <a:r>
              <a:rPr lang="ru-RU" dirty="0">
                <a:solidFill>
                  <a:srgbClr val="0070C0"/>
                </a:solidFill>
              </a:rPr>
              <a:t> до максимально </a:t>
            </a:r>
            <a:r>
              <a:rPr lang="ru-RU" dirty="0" err="1">
                <a:solidFill>
                  <a:srgbClr val="0070C0"/>
                </a:solidFill>
              </a:rPr>
              <a:t>можливого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розміру</a:t>
            </a:r>
            <a:r>
              <a:rPr lang="ru-RU" dirty="0">
                <a:solidFill>
                  <a:srgbClr val="0070C0"/>
                </a:solidFill>
              </a:rPr>
              <a:t>, </a:t>
            </a:r>
            <a:r>
              <a:rPr lang="ru-RU" dirty="0" err="1">
                <a:solidFill>
                  <a:srgbClr val="0070C0"/>
                </a:solidFill>
              </a:rPr>
              <a:t>що</a:t>
            </a:r>
            <a:r>
              <a:rPr lang="ru-RU" dirty="0">
                <a:solidFill>
                  <a:srgbClr val="0070C0"/>
                </a:solidFill>
              </a:rPr>
              <a:t> не </a:t>
            </a:r>
            <a:r>
              <a:rPr lang="ru-RU" dirty="0" err="1">
                <a:solidFill>
                  <a:srgbClr val="0070C0"/>
                </a:solidFill>
              </a:rPr>
              <a:t>перевищує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висоти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або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ширини</a:t>
            </a:r>
            <a:r>
              <a:rPr lang="ru-RU" dirty="0">
                <a:solidFill>
                  <a:srgbClr val="0070C0"/>
                </a:solidFill>
              </a:rPr>
              <a:t> контейнера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504" y="1124744"/>
            <a:ext cx="8856984" cy="1015663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E{ background-size: </a:t>
            </a:r>
            <a:r>
              <a:rPr lang="en-US" dirty="0">
                <a:solidFill>
                  <a:srgbClr val="C00000"/>
                </a:solidFill>
              </a:rPr>
              <a:t>cover</a:t>
            </a:r>
            <a:r>
              <a:rPr lang="en-US" dirty="0"/>
              <a:t>; }</a:t>
            </a:r>
            <a:endParaRPr lang="ru-RU" dirty="0"/>
          </a:p>
          <a:p>
            <a:r>
              <a:rPr lang="ru-RU" dirty="0" err="1">
                <a:solidFill>
                  <a:srgbClr val="0070C0"/>
                </a:solidFill>
              </a:rPr>
              <a:t>Зображення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масштабується</a:t>
            </a:r>
            <a:r>
              <a:rPr lang="ru-RU" dirty="0">
                <a:solidFill>
                  <a:srgbClr val="0070C0"/>
                </a:solidFill>
              </a:rPr>
              <a:t> до </a:t>
            </a:r>
            <a:r>
              <a:rPr lang="ru-RU" dirty="0" err="1">
                <a:solidFill>
                  <a:srgbClr val="0070C0"/>
                </a:solidFill>
              </a:rPr>
              <a:t>більшого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значення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висоти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або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ru-RU" dirty="0" err="1">
                <a:solidFill>
                  <a:srgbClr val="0070C0"/>
                </a:solidFill>
              </a:rPr>
              <a:t>ширини</a:t>
            </a:r>
            <a:r>
              <a:rPr lang="ru-RU" dirty="0">
                <a:solidFill>
                  <a:srgbClr val="0070C0"/>
                </a:solidFill>
              </a:rPr>
              <a:t> контейнера.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276872"/>
            <a:ext cx="7488832" cy="4163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5678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8224" y="64436"/>
            <a:ext cx="237626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backgrounds.html</a:t>
            </a:r>
            <a:endParaRPr lang="ru-RU" b="1" dirty="0"/>
          </a:p>
        </p:txBody>
      </p:sp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Background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07504" y="692696"/>
            <a:ext cx="8856984" cy="954107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E{ background-clip: keyword; }</a:t>
            </a:r>
            <a:endParaRPr lang="ru-RU" dirty="0"/>
          </a:p>
          <a:p>
            <a:r>
              <a:rPr lang="ru-RU" sz="1800" dirty="0" err="1"/>
              <a:t>Визначає</a:t>
            </a:r>
            <a:r>
              <a:rPr lang="ru-RU" sz="1800" dirty="0"/>
              <a:t>, </a:t>
            </a:r>
            <a:r>
              <a:rPr lang="ru-RU" sz="1800" dirty="0" err="1"/>
              <a:t>якою</a:t>
            </a:r>
            <a:r>
              <a:rPr lang="ru-RU" sz="1800" dirty="0"/>
              <a:t> </a:t>
            </a:r>
            <a:r>
              <a:rPr lang="ru-RU" sz="1800" dirty="0" err="1"/>
              <a:t>частиною</a:t>
            </a:r>
            <a:r>
              <a:rPr lang="ru-RU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box-</a:t>
            </a:r>
            <a:r>
              <a:rPr lang="ru-RU" sz="1800" dirty="0" err="1">
                <a:solidFill>
                  <a:srgbClr val="0070C0"/>
                </a:solidFill>
              </a:rPr>
              <a:t>моделі</a:t>
            </a:r>
            <a:r>
              <a:rPr lang="ru-RU" sz="1800" dirty="0">
                <a:solidFill>
                  <a:srgbClr val="0070C0"/>
                </a:solidFill>
              </a:rPr>
              <a:t> </a:t>
            </a:r>
            <a:r>
              <a:rPr lang="ru-RU" sz="1800" dirty="0" err="1"/>
              <a:t>обмежений</a:t>
            </a:r>
            <a:r>
              <a:rPr lang="ru-RU" sz="1800" dirty="0"/>
              <a:t> фон</a:t>
            </a:r>
          </a:p>
          <a:p>
            <a:r>
              <a:rPr lang="ru-RU" sz="1800" dirty="0"/>
              <a:t>За </a:t>
            </a:r>
            <a:r>
              <a:rPr lang="ru-RU" sz="1800" dirty="0" err="1"/>
              <a:t>замовчуванням</a:t>
            </a:r>
            <a:r>
              <a:rPr lang="ru-RU" sz="1800" dirty="0"/>
              <a:t> </a:t>
            </a:r>
            <a:r>
              <a:rPr lang="ru-RU" sz="1800" dirty="0" err="1"/>
              <a:t>використовується</a:t>
            </a:r>
            <a:r>
              <a:rPr lang="ru-RU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padding-box</a:t>
            </a:r>
            <a:endParaRPr lang="ru-RU" sz="1800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9930" y="1988840"/>
            <a:ext cx="8844557" cy="707886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keyword</a:t>
            </a:r>
            <a:endParaRPr lang="ru-RU" dirty="0"/>
          </a:p>
          <a:p>
            <a:r>
              <a:rPr lang="ru-RU" dirty="0" err="1">
                <a:solidFill>
                  <a:srgbClr val="C00000"/>
                </a:solidFill>
              </a:rPr>
              <a:t>content-box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 |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padding-box</a:t>
            </a:r>
            <a:r>
              <a:rPr lang="ru-RU" dirty="0">
                <a:solidFill>
                  <a:srgbClr val="C00000"/>
                </a:solidFill>
              </a:rPr>
              <a:t>  </a:t>
            </a:r>
            <a:r>
              <a:rPr lang="en-US" dirty="0">
                <a:solidFill>
                  <a:srgbClr val="C00000"/>
                </a:solidFill>
              </a:rPr>
              <a:t>| 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border-box</a:t>
            </a:r>
            <a:endParaRPr lang="ru-RU" dirty="0">
              <a:solidFill>
                <a:srgbClr val="C00000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0805"/>
            <a:ext cx="9144000" cy="11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9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44208" y="64436"/>
            <a:ext cx="2520280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backgrounds.html</a:t>
            </a:r>
            <a:endParaRPr lang="ru-RU" b="1" dirty="0"/>
          </a:p>
        </p:txBody>
      </p:sp>
      <p:sp>
        <p:nvSpPr>
          <p:cNvPr id="3" name="Заголовок 2"/>
          <p:cNvSpPr txBox="1">
            <a:spLocks/>
          </p:cNvSpPr>
          <p:nvPr/>
        </p:nvSpPr>
        <p:spPr>
          <a:xfrm>
            <a:off x="107504" y="52084"/>
            <a:ext cx="3240360" cy="418058"/>
          </a:xfrm>
          <a:prstGeom prst="rect">
            <a:avLst/>
          </a:prstGeo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defPPr>
              <a:defRPr lang="ru-RU"/>
            </a:defPPr>
            <a:lvl1pPr algn="ctr">
              <a:spcBef>
                <a:spcPct val="0"/>
              </a:spcBef>
              <a:buNone/>
              <a:defRPr kumimoji="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/>
              <a:t>Background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161728" y="2060848"/>
            <a:ext cx="8712968" cy="2431435"/>
          </a:xfrm>
          <a:prstGeom prst="rect">
            <a:avLst/>
          </a:prstGeom>
          <a:solidFill>
            <a:schemeClr val="bg1">
              <a:lumMod val="65000"/>
              <a:alpha val="18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/>
              <a:t>keyword</a:t>
            </a:r>
            <a:endParaRPr lang="ru-RU" dirty="0"/>
          </a:p>
          <a:p>
            <a:r>
              <a:rPr lang="ru-RU" dirty="0" err="1">
                <a:solidFill>
                  <a:srgbClr val="C00000"/>
                </a:solidFill>
              </a:rPr>
              <a:t>padding-box</a:t>
            </a:r>
            <a:r>
              <a:rPr lang="en-US" dirty="0">
                <a:solidFill>
                  <a:srgbClr val="C00000"/>
                </a:solidFill>
              </a:rPr>
              <a:t> - </a:t>
            </a:r>
            <a:r>
              <a:rPr lang="ru-RU" sz="1800" dirty="0"/>
              <a:t>фон </a:t>
            </a:r>
            <a:r>
              <a:rPr lang="ru-RU" sz="1800" dirty="0" err="1"/>
              <a:t>позиціонується</a:t>
            </a:r>
            <a:r>
              <a:rPr lang="ru-RU" sz="1800" dirty="0"/>
              <a:t> </a:t>
            </a:r>
            <a:r>
              <a:rPr lang="ru-RU" sz="1800" dirty="0" err="1"/>
              <a:t>щодо</a:t>
            </a:r>
            <a:r>
              <a:rPr lang="ru-RU" sz="1800" dirty="0"/>
              <a:t> краю</a:t>
            </a:r>
          </a:p>
          <a:p>
            <a:r>
              <a:rPr lang="ru-RU" sz="1800" dirty="0"/>
              <a:t>                </a:t>
            </a:r>
            <a:r>
              <a:rPr lang="ru-RU" sz="1800" dirty="0" err="1"/>
              <a:t>елемента</a:t>
            </a:r>
            <a:r>
              <a:rPr lang="ru-RU" sz="1800" dirty="0"/>
              <a:t> з </a:t>
            </a:r>
            <a:r>
              <a:rPr lang="ru-RU" sz="1800" dirty="0" err="1"/>
              <a:t>урахуванням</a:t>
            </a:r>
            <a:r>
              <a:rPr lang="ru-RU" sz="1800" dirty="0"/>
              <a:t> </a:t>
            </a:r>
            <a:r>
              <a:rPr lang="ru-RU" sz="1800" dirty="0" err="1"/>
              <a:t>ширини</a:t>
            </a:r>
            <a:r>
              <a:rPr lang="ru-RU" sz="1800" dirty="0"/>
              <a:t> </a:t>
            </a:r>
            <a:r>
              <a:rPr lang="en-US" sz="1800" dirty="0">
                <a:solidFill>
                  <a:srgbClr val="0070C0"/>
                </a:solidFill>
              </a:rPr>
              <a:t>border</a:t>
            </a:r>
            <a:endParaRPr lang="ru-RU" sz="1800" dirty="0">
              <a:solidFill>
                <a:srgbClr val="0070C0"/>
              </a:solidFill>
            </a:endParaRPr>
          </a:p>
          <a:p>
            <a:r>
              <a:rPr lang="ru-RU" dirty="0" err="1">
                <a:solidFill>
                  <a:srgbClr val="C00000"/>
                </a:solidFill>
              </a:rPr>
              <a:t>border-box</a:t>
            </a:r>
            <a:r>
              <a:rPr lang="en-US" dirty="0">
                <a:solidFill>
                  <a:srgbClr val="C00000"/>
                </a:solidFill>
              </a:rPr>
              <a:t> -  </a:t>
            </a:r>
            <a:r>
              <a:rPr lang="ru-RU" sz="1800" dirty="0"/>
              <a:t>фон </a:t>
            </a:r>
            <a:r>
              <a:rPr lang="ru-RU" sz="1800" dirty="0" err="1"/>
              <a:t>позиціонується</a:t>
            </a:r>
            <a:r>
              <a:rPr lang="ru-RU" sz="1800" dirty="0"/>
              <a:t> </a:t>
            </a:r>
            <a:r>
              <a:rPr lang="ru-RU" sz="1800" dirty="0" err="1"/>
              <a:t>щодо</a:t>
            </a:r>
            <a:r>
              <a:rPr lang="ru-RU" sz="1800" dirty="0"/>
              <a:t> кордону,</a:t>
            </a:r>
          </a:p>
          <a:p>
            <a:r>
              <a:rPr lang="ru-RU" sz="1800" dirty="0"/>
              <a:t>                при </a:t>
            </a:r>
            <a:r>
              <a:rPr lang="ru-RU" sz="1800" dirty="0" err="1"/>
              <a:t>цьому</a:t>
            </a:r>
            <a:r>
              <a:rPr lang="ru-RU" sz="1800" dirty="0"/>
              <a:t> </a:t>
            </a:r>
            <a:r>
              <a:rPr lang="ru-RU" sz="1800" dirty="0" err="1"/>
              <a:t>лінія</a:t>
            </a:r>
            <a:r>
              <a:rPr lang="ru-RU" sz="1800" dirty="0"/>
              <a:t> кордону </a:t>
            </a:r>
            <a:r>
              <a:rPr lang="ru-RU" sz="1800" dirty="0" err="1"/>
              <a:t>може</a:t>
            </a:r>
            <a:r>
              <a:rPr lang="ru-RU" sz="1800" dirty="0"/>
              <a:t> </a:t>
            </a:r>
            <a:r>
              <a:rPr lang="ru-RU" sz="1800" dirty="0" err="1"/>
              <a:t>перекривати</a:t>
            </a:r>
            <a:endParaRPr lang="ru-RU" sz="1800" dirty="0"/>
          </a:p>
          <a:p>
            <a:r>
              <a:rPr lang="ru-RU" sz="1800" dirty="0"/>
              <a:t>                </a:t>
            </a:r>
            <a:r>
              <a:rPr lang="ru-RU" sz="1800" dirty="0" err="1"/>
              <a:t>зображення</a:t>
            </a:r>
            <a:endParaRPr lang="en-US" sz="1800" dirty="0"/>
          </a:p>
          <a:p>
            <a:r>
              <a:rPr lang="ru-RU" dirty="0" err="1">
                <a:solidFill>
                  <a:srgbClr val="C00000"/>
                </a:solidFill>
              </a:rPr>
              <a:t>content-box</a:t>
            </a:r>
            <a:r>
              <a:rPr lang="ru-RU" dirty="0">
                <a:solidFill>
                  <a:srgbClr val="C00000"/>
                </a:solidFill>
              </a:rPr>
              <a:t> - </a:t>
            </a:r>
            <a:r>
              <a:rPr lang="ru-RU" sz="1800" dirty="0"/>
              <a:t>фон </a:t>
            </a:r>
            <a:r>
              <a:rPr lang="ru-RU" sz="1800" dirty="0" err="1"/>
              <a:t>позиціонується</a:t>
            </a:r>
            <a:r>
              <a:rPr lang="ru-RU" sz="1800" dirty="0"/>
              <a:t> </a:t>
            </a:r>
            <a:r>
              <a:rPr lang="ru-RU" sz="1800" dirty="0" err="1"/>
              <a:t>щодо</a:t>
            </a:r>
            <a:endParaRPr lang="ru-RU" sz="1800" dirty="0"/>
          </a:p>
          <a:p>
            <a:r>
              <a:rPr lang="ru-RU" sz="1800" dirty="0"/>
              <a:t>                </a:t>
            </a:r>
            <a:r>
              <a:rPr lang="ru-RU" sz="1800" dirty="0" err="1"/>
              <a:t>вмісту</a:t>
            </a:r>
            <a:r>
              <a:rPr lang="ru-RU" sz="1800" dirty="0"/>
              <a:t> </a:t>
            </a:r>
            <a:r>
              <a:rPr lang="ru-RU" sz="1800" dirty="0" err="1"/>
              <a:t>елемента</a:t>
            </a:r>
            <a:endParaRPr lang="ru-RU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71936" y="548680"/>
            <a:ext cx="8856984" cy="677108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en-US" dirty="0">
                <a:solidFill>
                  <a:srgbClr val="C00000"/>
                </a:solidFill>
              </a:rPr>
              <a:t>E{ background-origin: keyword; } </a:t>
            </a:r>
          </a:p>
          <a:p>
            <a:r>
              <a:rPr lang="ru-RU" sz="1800" dirty="0" err="1"/>
              <a:t>Визначає</a:t>
            </a:r>
            <a:r>
              <a:rPr lang="ru-RU" sz="1800" dirty="0"/>
              <a:t> область </a:t>
            </a:r>
            <a:r>
              <a:rPr lang="ru-RU" sz="1800" dirty="0" err="1"/>
              <a:t>позиціонування</a:t>
            </a:r>
            <a:r>
              <a:rPr lang="ru-RU" sz="1800" dirty="0"/>
              <a:t> фонового </a:t>
            </a:r>
            <a:r>
              <a:rPr lang="ru-RU" sz="1800" dirty="0" err="1"/>
              <a:t>малюнка</a:t>
            </a:r>
            <a:r>
              <a:rPr lang="ru-RU" sz="1800" dirty="0"/>
              <a:t>.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230462"/>
            <a:ext cx="8821416" cy="707886"/>
          </a:xfrm>
          <a:prstGeom prst="rect">
            <a:avLst/>
          </a:prstGeom>
          <a:solidFill>
            <a:srgbClr val="FF00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000" b="1"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dirty="0" err="1"/>
              <a:t>Ця</a:t>
            </a:r>
            <a:r>
              <a:rPr lang="ru-RU" dirty="0"/>
              <a:t> </a:t>
            </a:r>
            <a:r>
              <a:rPr lang="ru-RU" dirty="0" err="1"/>
              <a:t>властивість</a:t>
            </a:r>
            <a:r>
              <a:rPr lang="ru-RU" dirty="0"/>
              <a:t> не </a:t>
            </a:r>
            <a:r>
              <a:rPr lang="ru-RU" dirty="0" err="1"/>
              <a:t>застосовується</a:t>
            </a:r>
            <a:r>
              <a:rPr lang="ru-RU" dirty="0"/>
              <a:t>, коли </a:t>
            </a:r>
            <a:r>
              <a:rPr lang="ru-RU" dirty="0" err="1"/>
              <a:t>значення</a:t>
            </a:r>
            <a:endParaRPr lang="en-US" dirty="0"/>
          </a:p>
          <a:p>
            <a:r>
              <a:rPr lang="ru-RU" dirty="0" err="1">
                <a:solidFill>
                  <a:srgbClr val="0070C0"/>
                </a:solidFill>
              </a:rPr>
              <a:t>background-attachment</a:t>
            </a:r>
            <a:r>
              <a:rPr lang="ru-RU" dirty="0"/>
              <a:t> задано як </a:t>
            </a:r>
            <a:r>
              <a:rPr lang="ru-RU" dirty="0" err="1">
                <a:solidFill>
                  <a:srgbClr val="0070C0"/>
                </a:solidFill>
              </a:rPr>
              <a:t>fixed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4567723"/>
            <a:ext cx="6840760" cy="2198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4026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07504" y="116632"/>
            <a:ext cx="2160240" cy="418058"/>
          </a:xfrm>
          <a:ln w="28575">
            <a:solidFill>
              <a:srgbClr val="7030A0"/>
            </a:solidFill>
          </a:ln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1800" dirty="0"/>
              <a:t> </a:t>
            </a:r>
            <a:r>
              <a:rPr lang="en-US" sz="1800" dirty="0" err="1"/>
              <a:t>rgba</a:t>
            </a:r>
            <a:r>
              <a:rPr lang="en-US" sz="1800" dirty="0"/>
              <a:t> ()</a:t>
            </a:r>
            <a:endParaRPr lang="ru-RU" sz="18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677529"/>
            <a:ext cx="5328592" cy="400110"/>
          </a:xfrm>
          <a:prstGeom prst="rect">
            <a:avLst/>
          </a:prstGeom>
          <a:solidFill>
            <a:srgbClr val="92D05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  0, </a:t>
            </a:r>
            <a:r>
              <a:rPr lang="ru-RU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0,   0,    0.5  );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403648" y="1124745"/>
            <a:ext cx="576064" cy="1043720"/>
            <a:chOff x="3275856" y="1700809"/>
            <a:chExt cx="576064" cy="1043720"/>
          </a:xfrm>
        </p:grpSpPr>
        <p:sp>
          <p:nvSpPr>
            <p:cNvPr id="5" name="TextBox 4"/>
            <p:cNvSpPr txBox="1"/>
            <p:nvPr/>
          </p:nvSpPr>
          <p:spPr>
            <a:xfrm>
              <a:off x="3275856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R</a:t>
              </a:r>
              <a:endParaRPr lang="ru-RU" b="1" dirty="0"/>
            </a:p>
          </p:txBody>
        </p:sp>
        <p:cxnSp>
          <p:nvCxnSpPr>
            <p:cNvPr id="7" name="Прямая со стрелкой 6"/>
            <p:cNvCxnSpPr>
              <a:stCxn id="5" idx="0"/>
            </p:cNvCxnSpPr>
            <p:nvPr/>
          </p:nvCxnSpPr>
          <p:spPr>
            <a:xfrm flipH="1" flipV="1">
              <a:off x="3543436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14" name="Группа 13"/>
          <p:cNvGrpSpPr/>
          <p:nvPr/>
        </p:nvGrpSpPr>
        <p:grpSpPr>
          <a:xfrm>
            <a:off x="2195736" y="1124744"/>
            <a:ext cx="576064" cy="1043720"/>
            <a:chOff x="1259632" y="1700809"/>
            <a:chExt cx="576064" cy="1043720"/>
          </a:xfrm>
        </p:grpSpPr>
        <p:sp>
          <p:nvSpPr>
            <p:cNvPr id="15" name="TextBox 14"/>
            <p:cNvSpPr txBox="1"/>
            <p:nvPr/>
          </p:nvSpPr>
          <p:spPr>
            <a:xfrm>
              <a:off x="1259632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G</a:t>
              </a:r>
              <a:endParaRPr lang="ru-RU" b="1" dirty="0"/>
            </a:p>
          </p:txBody>
        </p:sp>
        <p:cxnSp>
          <p:nvCxnSpPr>
            <p:cNvPr id="16" name="Прямая со стрелкой 15"/>
            <p:cNvCxnSpPr>
              <a:stCxn id="15" idx="0"/>
            </p:cNvCxnSpPr>
            <p:nvPr/>
          </p:nvCxnSpPr>
          <p:spPr>
            <a:xfrm flipH="1" flipV="1">
              <a:off x="1527212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24" name="Группа 23"/>
          <p:cNvGrpSpPr/>
          <p:nvPr/>
        </p:nvGrpSpPr>
        <p:grpSpPr>
          <a:xfrm>
            <a:off x="3707904" y="1124744"/>
            <a:ext cx="1440160" cy="1043720"/>
            <a:chOff x="5508104" y="1700808"/>
            <a:chExt cx="1440160" cy="1043720"/>
          </a:xfrm>
        </p:grpSpPr>
        <p:sp>
          <p:nvSpPr>
            <p:cNvPr id="18" name="TextBox 17"/>
            <p:cNvSpPr txBox="1"/>
            <p:nvPr/>
          </p:nvSpPr>
          <p:spPr>
            <a:xfrm>
              <a:off x="5508104" y="2375196"/>
              <a:ext cx="1440160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b="1" dirty="0"/>
                <a:t> </a:t>
              </a:r>
              <a:r>
                <a:rPr lang="en-US" b="1" dirty="0"/>
                <a:t>opacity</a:t>
              </a:r>
              <a:endParaRPr lang="ru-RU" b="1" dirty="0"/>
            </a:p>
          </p:txBody>
        </p:sp>
        <p:cxnSp>
          <p:nvCxnSpPr>
            <p:cNvPr id="19" name="Прямая со стрелкой 18"/>
            <p:cNvCxnSpPr/>
            <p:nvPr/>
          </p:nvCxnSpPr>
          <p:spPr>
            <a:xfrm flipV="1">
              <a:off x="6170664" y="1700808"/>
              <a:ext cx="0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grpSp>
        <p:nvGrpSpPr>
          <p:cNvPr id="20" name="Группа 19"/>
          <p:cNvGrpSpPr/>
          <p:nvPr/>
        </p:nvGrpSpPr>
        <p:grpSpPr>
          <a:xfrm>
            <a:off x="2987824" y="1124744"/>
            <a:ext cx="576064" cy="1043720"/>
            <a:chOff x="1259632" y="1700809"/>
            <a:chExt cx="576064" cy="1043720"/>
          </a:xfrm>
        </p:grpSpPr>
        <p:sp>
          <p:nvSpPr>
            <p:cNvPr id="21" name="TextBox 20"/>
            <p:cNvSpPr txBox="1"/>
            <p:nvPr/>
          </p:nvSpPr>
          <p:spPr>
            <a:xfrm>
              <a:off x="1259632" y="2375197"/>
              <a:ext cx="576064" cy="369332"/>
            </a:xfrm>
            <a:prstGeom prst="rect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en-US" b="1" dirty="0"/>
                <a:t>B</a:t>
              </a:r>
              <a:endParaRPr lang="ru-RU" b="1" dirty="0"/>
            </a:p>
          </p:txBody>
        </p:sp>
        <p:cxnSp>
          <p:nvCxnSpPr>
            <p:cNvPr id="27" name="Прямая со стрелкой 26"/>
            <p:cNvCxnSpPr>
              <a:stCxn id="21" idx="0"/>
            </p:cNvCxnSpPr>
            <p:nvPr/>
          </p:nvCxnSpPr>
          <p:spPr>
            <a:xfrm flipH="1" flipV="1">
              <a:off x="1527212" y="1700809"/>
              <a:ext cx="20452" cy="6743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cxnSp>
      </p:grpSp>
      <p:sp>
        <p:nvSpPr>
          <p:cNvPr id="9" name="Прямоугольник 8"/>
          <p:cNvSpPr/>
          <p:nvPr/>
        </p:nvSpPr>
        <p:spPr>
          <a:xfrm>
            <a:off x="144016" y="3140968"/>
            <a:ext cx="8892480" cy="1323439"/>
          </a:xfrm>
          <a:prstGeom prst="rect">
            <a:avLst/>
          </a:prstGeom>
          <a:solidFill>
            <a:srgbClr val="FFFF00">
              <a:alpha val="18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.foo {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moz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-box-shadow :10px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10px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30px 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(255, 0,  0, 0.8);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box-shadow : 3px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3px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10px </a:t>
            </a:r>
            <a:r>
              <a:rPr lang="en-US" sz="2000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rgba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(255, 0,  0,  0.8);</a:t>
            </a:r>
          </a:p>
          <a:p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ru-RU" sz="2000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20272" y="44624"/>
            <a:ext cx="2016224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border.html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46396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118981"/>
            <a:ext cx="5688632" cy="427350"/>
          </a:xfr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2000" dirty="0">
                <a:cs typeface="Courier New" pitchFamily="49" charset="0"/>
              </a:rPr>
              <a:t>Background </a:t>
            </a:r>
            <a:r>
              <a:rPr lang="ru-RU" sz="2000" dirty="0">
                <a:cs typeface="Courier New" pitchFamily="49" charset="0"/>
              </a:rPr>
              <a:t>блоку одним правилом</a:t>
            </a:r>
            <a:r>
              <a:rPr lang="en-US" sz="2000" dirty="0">
                <a:cs typeface="Courier New" pitchFamily="49" charset="0"/>
              </a:rPr>
              <a:t> </a:t>
            </a:r>
            <a:endParaRPr lang="ru-RU" sz="2000" dirty="0">
              <a:cs typeface="Courier New" pitchFamily="49" charset="0"/>
            </a:endParaRPr>
          </a:p>
        </p:txBody>
      </p:sp>
      <p:grpSp>
        <p:nvGrpSpPr>
          <p:cNvPr id="32" name="Группа 31"/>
          <p:cNvGrpSpPr/>
          <p:nvPr/>
        </p:nvGrpSpPr>
        <p:grpSpPr>
          <a:xfrm>
            <a:off x="107504" y="1844824"/>
            <a:ext cx="8956668" cy="2880320"/>
            <a:chOff x="107504" y="1844824"/>
            <a:chExt cx="8956668" cy="2880320"/>
          </a:xfrm>
        </p:grpSpPr>
        <p:sp>
          <p:nvSpPr>
            <p:cNvPr id="5" name="TextBox 4"/>
            <p:cNvSpPr txBox="1"/>
            <p:nvPr/>
          </p:nvSpPr>
          <p:spPr>
            <a:xfrm>
              <a:off x="107504" y="2843644"/>
              <a:ext cx="8784976" cy="3693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background: #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fcc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 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url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(../</a:t>
              </a:r>
              <a:r>
                <a:rPr lang="en-US" b="1" dirty="0" err="1">
                  <a:latin typeface="Courier New" pitchFamily="49" charset="0"/>
                  <a:cs typeface="Courier New" pitchFamily="49" charset="0"/>
                </a:rPr>
                <a:t>img</a:t>
              </a:r>
              <a:r>
                <a:rPr lang="en-US" b="1" dirty="0">
                  <a:latin typeface="Courier New" pitchFamily="49" charset="0"/>
                  <a:cs typeface="Courier New" pitchFamily="49" charset="0"/>
                </a:rPr>
                <a:t>/im.gif) no-repeat top left fixed;</a:t>
              </a:r>
              <a:endParaRPr lang="ru-RU" b="1" dirty="0">
                <a:latin typeface="Courier New" pitchFamily="49" charset="0"/>
                <a:cs typeface="Courier New" pitchFamily="49" charset="0"/>
              </a:endParaRPr>
            </a:p>
          </p:txBody>
        </p:sp>
        <p:grpSp>
          <p:nvGrpSpPr>
            <p:cNvPr id="24" name="Группа 23"/>
            <p:cNvGrpSpPr/>
            <p:nvPr/>
          </p:nvGrpSpPr>
          <p:grpSpPr>
            <a:xfrm>
              <a:off x="107504" y="3212976"/>
              <a:ext cx="2520280" cy="936420"/>
              <a:chOff x="107504" y="1782108"/>
              <a:chExt cx="2520280" cy="936420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07504" y="2349196"/>
                <a:ext cx="2520280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background-color</a:t>
                </a:r>
                <a:endParaRPr lang="ru-RU" dirty="0"/>
              </a:p>
            </p:txBody>
          </p:sp>
          <p:cxnSp>
            <p:nvCxnSpPr>
              <p:cNvPr id="15" name="Прямая со стрелкой 14"/>
              <p:cNvCxnSpPr>
                <a:stCxn id="9" idx="0"/>
              </p:cNvCxnSpPr>
              <p:nvPr/>
            </p:nvCxnSpPr>
            <p:spPr>
              <a:xfrm flipV="1">
                <a:off x="1367644" y="1782108"/>
                <a:ext cx="684076" cy="5670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5" name="Группа 24"/>
            <p:cNvGrpSpPr/>
            <p:nvPr/>
          </p:nvGrpSpPr>
          <p:grpSpPr>
            <a:xfrm>
              <a:off x="2483768" y="3212976"/>
              <a:ext cx="2390398" cy="1430868"/>
              <a:chOff x="2483768" y="1782108"/>
              <a:chExt cx="2390398" cy="1430868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2483768" y="2843644"/>
                <a:ext cx="2390398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background-image</a:t>
                </a:r>
                <a:endParaRPr lang="ru-RU" dirty="0"/>
              </a:p>
            </p:txBody>
          </p:sp>
          <p:cxnSp>
            <p:nvCxnSpPr>
              <p:cNvPr id="17" name="Прямая со стрелкой 16"/>
              <p:cNvCxnSpPr>
                <a:stCxn id="10" idx="0"/>
              </p:cNvCxnSpPr>
              <p:nvPr/>
            </p:nvCxnSpPr>
            <p:spPr>
              <a:xfrm flipH="1" flipV="1">
                <a:off x="2987824" y="1782108"/>
                <a:ext cx="691143" cy="1061536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6" name="Группа 25"/>
            <p:cNvGrpSpPr/>
            <p:nvPr/>
          </p:nvGrpSpPr>
          <p:grpSpPr>
            <a:xfrm>
              <a:off x="4331345" y="3131676"/>
              <a:ext cx="2528256" cy="1017720"/>
              <a:chOff x="4331345" y="1700808"/>
              <a:chExt cx="2528256" cy="1017720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4331345" y="2349196"/>
                <a:ext cx="2528256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background-repeat</a:t>
                </a:r>
                <a:endParaRPr lang="ru-RU" dirty="0"/>
              </a:p>
            </p:txBody>
          </p:sp>
          <p:cxnSp>
            <p:nvCxnSpPr>
              <p:cNvPr id="19" name="Прямая со стрелкой 18"/>
              <p:cNvCxnSpPr>
                <a:stCxn id="11" idx="0"/>
              </p:cNvCxnSpPr>
              <p:nvPr/>
            </p:nvCxnSpPr>
            <p:spPr>
              <a:xfrm flipV="1">
                <a:off x="5595473" y="1700808"/>
                <a:ext cx="0" cy="6483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7" name="Группа 26"/>
            <p:cNvGrpSpPr/>
            <p:nvPr/>
          </p:nvGrpSpPr>
          <p:grpSpPr>
            <a:xfrm>
              <a:off x="6192120" y="3496520"/>
              <a:ext cx="2803973" cy="1228624"/>
              <a:chOff x="6192120" y="2065652"/>
              <a:chExt cx="2803973" cy="1228624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6192120" y="2924944"/>
                <a:ext cx="2803973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background-position</a:t>
                </a:r>
                <a:endParaRPr lang="ru-RU" dirty="0"/>
              </a:p>
            </p:txBody>
          </p:sp>
          <p:cxnSp>
            <p:nvCxnSpPr>
              <p:cNvPr id="21" name="Прямая со стрелкой 20"/>
              <p:cNvCxnSpPr>
                <a:stCxn id="12" idx="0"/>
              </p:cNvCxnSpPr>
              <p:nvPr/>
            </p:nvCxnSpPr>
            <p:spPr>
              <a:xfrm flipH="1" flipV="1">
                <a:off x="7092280" y="2065652"/>
                <a:ext cx="501827" cy="859292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30" name="Группа 29"/>
            <p:cNvGrpSpPr/>
            <p:nvPr/>
          </p:nvGrpSpPr>
          <p:grpSpPr>
            <a:xfrm>
              <a:off x="5984483" y="1844824"/>
              <a:ext cx="3079689" cy="998820"/>
              <a:chOff x="5984483" y="1844824"/>
              <a:chExt cx="3079689" cy="998820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5984483" y="1844824"/>
                <a:ext cx="3079689" cy="369332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Courier New" pitchFamily="49" charset="0"/>
                    <a:cs typeface="Courier New" pitchFamily="49" charset="0"/>
                  </a:rPr>
                  <a:t>background-attachment</a:t>
                </a:r>
                <a:endParaRPr lang="ru-RU" dirty="0"/>
              </a:p>
            </p:txBody>
          </p:sp>
          <p:cxnSp>
            <p:nvCxnSpPr>
              <p:cNvPr id="29" name="Прямая со стрелкой 28"/>
              <p:cNvCxnSpPr>
                <a:stCxn id="13" idx="2"/>
              </p:cNvCxnSpPr>
              <p:nvPr/>
            </p:nvCxnSpPr>
            <p:spPr>
              <a:xfrm>
                <a:off x="7524328" y="2214156"/>
                <a:ext cx="504056" cy="62948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31" name="Левая фигурная скобка 30"/>
            <p:cNvSpPr/>
            <p:nvPr/>
          </p:nvSpPr>
          <p:spPr>
            <a:xfrm rot="16200000">
              <a:off x="6840659" y="2794487"/>
              <a:ext cx="342038" cy="980728"/>
            </a:xfrm>
            <a:prstGeom prst="leftBrac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358B2B8-FF36-1566-C285-13BB4E84C14A}"/>
              </a:ext>
            </a:extLst>
          </p:cNvPr>
          <p:cNvSpPr txBox="1"/>
          <p:nvPr/>
        </p:nvSpPr>
        <p:spPr>
          <a:xfrm>
            <a:off x="179512" y="908720"/>
            <a:ext cx="6782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розташовуватися</a:t>
            </a:r>
            <a:r>
              <a:rPr lang="ru-RU" dirty="0"/>
              <a:t> у </a:t>
            </a:r>
            <a:r>
              <a:rPr lang="ru-RU" dirty="0" err="1"/>
              <a:t>довільному</a:t>
            </a:r>
            <a:r>
              <a:rPr lang="ru-RU" dirty="0"/>
              <a:t> порядку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9245534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179512" y="116632"/>
            <a:ext cx="3024336" cy="400110"/>
          </a:xfrm>
        </p:spPr>
        <p:txBody>
          <a:bodyPr>
            <a:normAutofit/>
          </a:bodyPr>
          <a:lstStyle/>
          <a:p>
            <a:r>
              <a:rPr lang="ru-RU" sz="1800" dirty="0"/>
              <a:t>Свойство </a:t>
            </a:r>
            <a:r>
              <a:rPr lang="en-US" sz="1800" dirty="0"/>
              <a:t>display</a:t>
            </a:r>
            <a:endParaRPr lang="ru-RU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3419872" y="102374"/>
            <a:ext cx="3456384" cy="400110"/>
          </a:xfrm>
          <a:prstGeom prst="rect">
            <a:avLst/>
          </a:prstGeom>
          <a:solidFill>
            <a:srgbClr val="FFFF00">
              <a:alpha val="9000"/>
            </a:srgbClr>
          </a:solidFill>
          <a:ln w="952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ru-RU"/>
            </a:defPPr>
            <a:lvl1pPr>
              <a:defRPr sz="20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display :  </a:t>
            </a:r>
            <a:r>
              <a:rPr lang="en-US" dirty="0">
                <a:solidFill>
                  <a:schemeClr val="tx1"/>
                </a:solidFill>
              </a:rPr>
              <a:t>value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/>
        </p:nvGraphicFramePr>
        <p:xfrm>
          <a:off x="179512" y="655568"/>
          <a:ext cx="8712968" cy="2931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8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Value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73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Block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показується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як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блоковий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  <a:endParaRPr lang="ru-RU" b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inline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відображається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як </a:t>
                      </a:r>
                      <a:r>
                        <a:rPr lang="uk-UA" dirty="0" err="1">
                          <a:latin typeface="Courier New" pitchFamily="49" charset="0"/>
                          <a:cs typeface="Courier New" pitchFamily="49" charset="0"/>
                        </a:rPr>
                        <a:t>строчний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none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Видаляє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із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документа.</a:t>
                      </a:r>
                    </a:p>
                    <a:p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При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цьому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займане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ним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місце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займе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нижче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inline-block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Блоковий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, перед та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після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якого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немає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перенесення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на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новий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рядок.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Тобто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зовні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поводиться як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малий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, але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всередині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елемента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можуть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бути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блокові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елементи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Заголовок 2"/>
          <p:cNvSpPr txBox="1">
            <a:spLocks/>
          </p:cNvSpPr>
          <p:nvPr/>
        </p:nvSpPr>
        <p:spPr>
          <a:xfrm>
            <a:off x="107504" y="4149080"/>
            <a:ext cx="3168352" cy="360040"/>
          </a:xfrm>
          <a:prstGeom prst="rect">
            <a:avLst/>
          </a:prstGeom>
          <a:solidFill>
            <a:schemeClr val="lt1"/>
          </a:solidFill>
          <a:ln w="55000" cap="flat" cmpd="thickThin" algn="ctr">
            <a:solidFill>
              <a:schemeClr val="accent1"/>
            </a:solidFill>
            <a:prstDash val="solid"/>
          </a:ln>
          <a:effectLst/>
        </p:spPr>
        <p:txBody>
          <a:bodyPr vert="horz" rtlCol="0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  <a:extLst/>
          </a:lstStyle>
          <a:p>
            <a:r>
              <a:rPr lang="ru-RU" sz="1800" dirty="0"/>
              <a:t>Свойство </a:t>
            </a:r>
            <a:r>
              <a:rPr lang="en-US" sz="1800" dirty="0"/>
              <a:t>visibility</a:t>
            </a:r>
            <a:endParaRPr lang="ru-RU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3779912" y="4149080"/>
            <a:ext cx="3672408" cy="400110"/>
          </a:xfrm>
          <a:prstGeom prst="rect">
            <a:avLst/>
          </a:prstGeom>
          <a:solidFill>
            <a:srgbClr val="FFFF00">
              <a:alpha val="9000"/>
            </a:srgbClr>
          </a:solidFill>
          <a:ln w="9525"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>
            <a:defPPr>
              <a:defRPr lang="ru-RU"/>
            </a:defPPr>
            <a:lvl1pPr>
              <a:defRPr sz="2000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visibility :  </a:t>
            </a:r>
            <a:r>
              <a:rPr lang="en-US" b="0" dirty="0"/>
              <a:t>value</a:t>
            </a:r>
            <a:endParaRPr lang="ru-RU" b="0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07504" y="4725144"/>
          <a:ext cx="8712968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8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9736">
                <a:tc>
                  <a:txBody>
                    <a:bodyPr/>
                    <a:lstStyle/>
                    <a:p>
                      <a:r>
                        <a:rPr lang="ru-RU" b="1" dirty="0" err="1">
                          <a:latin typeface="Courier New" pitchFamily="49" charset="0"/>
                          <a:cs typeface="Courier New" pitchFamily="49" charset="0"/>
                        </a:rPr>
                        <a:t>visible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Показує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як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видимий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  <a:endParaRPr lang="ru-RU" b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latinLnBrk="0" hangingPunct="1"/>
                      <a:r>
                        <a:rPr kumimoji="0" lang="ru-RU" b="1" kern="1200" dirty="0" err="1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hidden</a:t>
                      </a:r>
                      <a:endParaRPr kumimoji="0" lang="ru-RU" b="1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стає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невидимим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(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цілком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прозорим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), але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він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залишається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в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потоці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528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Courier New" pitchFamily="49" charset="0"/>
                          <a:cs typeface="Courier New" pitchFamily="49" charset="0"/>
                        </a:rPr>
                        <a:t>collapse</a:t>
                      </a:r>
                      <a:r>
                        <a:rPr lang="en-US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endParaRPr lang="ru-RU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Для не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табличних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елементів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еквівалентно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hidden</a:t>
                      </a:r>
                      <a:endParaRPr lang="ru-RU" dirty="0">
                        <a:latin typeface="Courier New" pitchFamily="49" charset="0"/>
                        <a:cs typeface="Courier New" pitchFamily="49" charset="0"/>
                      </a:endParaRPr>
                    </a:p>
                    <a:p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Для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таблиці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-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задані</a:t>
                      </a:r>
                      <a:r>
                        <a:rPr lang="ru-RU" dirty="0">
                          <a:latin typeface="Courier New" pitchFamily="49" charset="0"/>
                          <a:cs typeface="Courier New" pitchFamily="49" charset="0"/>
                        </a:rPr>
                        <a:t> рядки та колонки </a:t>
                      </a:r>
                      <a:r>
                        <a:rPr lang="ru-RU" dirty="0" err="1">
                          <a:latin typeface="Courier New" pitchFamily="49" charset="0"/>
                          <a:cs typeface="Courier New" pitchFamily="49" charset="0"/>
                        </a:rPr>
                        <a:t>забираються</a:t>
                      </a:r>
                      <a:endParaRPr lang="ru-RU" b="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18108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2"/>
          <p:cNvSpPr txBox="1">
            <a:spLocks/>
          </p:cNvSpPr>
          <p:nvPr/>
        </p:nvSpPr>
        <p:spPr>
          <a:xfrm>
            <a:off x="2771800" y="116632"/>
            <a:ext cx="3240360" cy="369332"/>
          </a:xfrm>
          <a:prstGeom prst="rect">
            <a:avLst/>
          </a:prstGeom>
          <a:ln w="28575" cap="flat" cmpd="sng" algn="ctr">
            <a:solidFill>
              <a:srgbClr val="0070C0"/>
            </a:solidFill>
            <a:prstDash val="soli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uk-UA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Свойство</a:t>
            </a:r>
            <a:r>
              <a:rPr lang="uk-UA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Inline block</a:t>
            </a:r>
            <a:endParaRPr lang="ru-RU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9512" y="620688"/>
            <a:ext cx="8856984" cy="1754326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display: inline-block;</a:t>
            </a:r>
          </a:p>
          <a:p>
            <a:r>
              <a:rPr lang="ru-RU" dirty="0" err="1"/>
              <a:t>Це</a:t>
            </a:r>
            <a:r>
              <a:rPr lang="ru-RU" dirty="0"/>
              <a:t> блок </a:t>
            </a:r>
            <a:r>
              <a:rPr lang="ru-RU" dirty="0" err="1"/>
              <a:t>вставлений</a:t>
            </a:r>
            <a:r>
              <a:rPr lang="ru-RU" dirty="0"/>
              <a:t> у рядок, </a:t>
            </a:r>
            <a:r>
              <a:rPr lang="uk-UA" dirty="0"/>
              <a:t>н</a:t>
            </a:r>
            <a:r>
              <a:rPr lang="ru-RU" dirty="0" err="1"/>
              <a:t>априклад</a:t>
            </a:r>
            <a:r>
              <a:rPr lang="ru-RU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img</a:t>
            </a:r>
            <a:r>
              <a:rPr lang="en-US" dirty="0"/>
              <a:t>, object, embed, </a:t>
            </a:r>
            <a:r>
              <a:rPr lang="en-US" dirty="0" err="1"/>
              <a:t>iframe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input, </a:t>
            </a:r>
            <a:r>
              <a:rPr lang="en-US" dirty="0" err="1"/>
              <a:t>textarea</a:t>
            </a:r>
            <a:r>
              <a:rPr lang="en-US" dirty="0"/>
              <a:t>, select, button ( </a:t>
            </a:r>
            <a:r>
              <a:rPr lang="ru-RU" dirty="0" err="1"/>
              <a:t>елементи</a:t>
            </a:r>
            <a:r>
              <a:rPr lang="ru-RU" dirty="0"/>
              <a:t> форм)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audio, video, canvas ( HTML 5);</a:t>
            </a:r>
          </a:p>
          <a:p>
            <a:endParaRPr lang="ru-RU" dirty="0">
              <a:solidFill>
                <a:srgbClr val="C0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792" y="2763880"/>
            <a:ext cx="9001000" cy="2554545"/>
          </a:xfrm>
          <a:prstGeom prst="rect">
            <a:avLst/>
          </a:prstGeom>
          <a:solidFill>
            <a:srgbClr val="92D050">
              <a:alpha val="10000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defRPr>
            </a:lvl1pPr>
          </a:lstStyle>
          <a:p>
            <a:r>
              <a:rPr lang="ru-RU" sz="2000" dirty="0" err="1"/>
              <a:t>Особливості</a:t>
            </a:r>
            <a:r>
              <a:rPr lang="ru-RU" sz="2000" dirty="0"/>
              <a:t> !!!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0070C0"/>
                </a:solidFill>
              </a:rPr>
              <a:t>ширина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rgbClr val="C00000"/>
                </a:solidFill>
              </a:rPr>
              <a:t>inline-block </a:t>
            </a:r>
            <a:r>
              <a:rPr lang="ru-RU" sz="2000" dirty="0" err="1">
                <a:solidFill>
                  <a:schemeClr val="tx1"/>
                </a:solidFill>
              </a:rPr>
              <a:t>визначається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його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>
                <a:solidFill>
                  <a:srgbClr val="0070C0"/>
                </a:solidFill>
              </a:rPr>
              <a:t>контентом</a:t>
            </a:r>
            <a:r>
              <a:rPr lang="ru-RU" sz="2000" dirty="0">
                <a:solidFill>
                  <a:schemeClr val="tx1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/>
                </a:solidFill>
              </a:rPr>
              <a:t>немає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переносів</a:t>
            </a:r>
            <a:r>
              <a:rPr lang="ru-RU" sz="2000" dirty="0">
                <a:solidFill>
                  <a:schemeClr val="tx1"/>
                </a:solidFill>
              </a:rPr>
              <a:t> рядка до початку та </a:t>
            </a:r>
            <a:r>
              <a:rPr lang="ru-RU" sz="2000" dirty="0" err="1">
                <a:solidFill>
                  <a:schemeClr val="tx1"/>
                </a:solidFill>
              </a:rPr>
              <a:t>після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закінчення</a:t>
            </a:r>
            <a:r>
              <a:rPr lang="ru-RU" sz="2000" dirty="0">
                <a:solidFill>
                  <a:schemeClr val="tx1"/>
                </a:solidFill>
              </a:rPr>
              <a:t> блоку;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/>
                </a:solidFill>
              </a:rPr>
              <a:t>всередині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цього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елемента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можна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розмістити</a:t>
            </a:r>
            <a:r>
              <a:rPr lang="ru-RU" sz="2000" dirty="0">
                <a:solidFill>
                  <a:schemeClr val="tx1"/>
                </a:solidFill>
              </a:rPr>
              <a:t> будь-</a:t>
            </a:r>
            <a:r>
              <a:rPr lang="ru-RU" sz="2000" dirty="0" err="1">
                <a:solidFill>
                  <a:schemeClr val="tx1"/>
                </a:solidFill>
              </a:rPr>
              <a:t>який</a:t>
            </a:r>
            <a:r>
              <a:rPr lang="ru-RU" sz="2000" dirty="0">
                <a:solidFill>
                  <a:schemeClr val="tx1"/>
                </a:solidFill>
              </a:rPr>
              <a:t> контент типу;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chemeClr val="tx1"/>
                </a:solidFill>
              </a:rPr>
              <a:t>не </a:t>
            </a:r>
            <a:r>
              <a:rPr lang="ru-RU" sz="2000" dirty="0" err="1">
                <a:solidFill>
                  <a:schemeClr val="tx1"/>
                </a:solidFill>
              </a:rPr>
              <a:t>бере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участі</a:t>
            </a:r>
            <a:r>
              <a:rPr lang="ru-RU" sz="2000" dirty="0">
                <a:solidFill>
                  <a:schemeClr val="tx1"/>
                </a:solidFill>
              </a:rPr>
              <a:t> у схемах з </a:t>
            </a:r>
            <a:r>
              <a:rPr lang="en-US" sz="2000" dirty="0">
                <a:solidFill>
                  <a:srgbClr val="0070C0"/>
                </a:solidFill>
              </a:rPr>
              <a:t>margin-collapse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err="1">
                <a:solidFill>
                  <a:schemeClr val="tx1"/>
                </a:solidFill>
              </a:rPr>
              <a:t>елементу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можна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ru-RU" sz="2000" dirty="0" err="1">
                <a:solidFill>
                  <a:schemeClr val="tx1"/>
                </a:solidFill>
              </a:rPr>
              <a:t>задавати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r>
              <a:rPr lang="uk-UA" sz="2000" dirty="0">
                <a:solidFill>
                  <a:schemeClr val="tx1"/>
                </a:solidFill>
              </a:rPr>
              <a:t>вертикальні  </a:t>
            </a:r>
            <a:r>
              <a:rPr lang="en-US" sz="2000" dirty="0">
                <a:solidFill>
                  <a:srgbClr val="0070C0"/>
                </a:solidFill>
              </a:rPr>
              <a:t>margin, padding</a:t>
            </a:r>
            <a:r>
              <a:rPr lang="en-US" sz="2000" dirty="0">
                <a:solidFill>
                  <a:schemeClr val="tx1"/>
                </a:solidFill>
              </a:rPr>
              <a:t>;</a:t>
            </a:r>
            <a:endParaRPr lang="ru-RU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45769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1397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84808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396064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Составная">
  <a:themeElements>
    <a:clrScheme name="Составная">
      <a:dk1>
        <a:sysClr val="windowText" lastClr="000000"/>
      </a:dk1>
      <a:lt1>
        <a:sysClr val="window" lastClr="FFFFFF"/>
      </a:lt1>
      <a:dk2>
        <a:srgbClr val="5B6973"/>
      </a:dk2>
      <a:lt2>
        <a:srgbClr val="E7ECED"/>
      </a:lt2>
      <a:accent1>
        <a:srgbClr val="98C723"/>
      </a:accent1>
      <a:accent2>
        <a:srgbClr val="59B0B9"/>
      </a:accent2>
      <a:accent3>
        <a:srgbClr val="DEAE00"/>
      </a:accent3>
      <a:accent4>
        <a:srgbClr val="B77BB4"/>
      </a:accent4>
      <a:accent5>
        <a:srgbClr val="E0773C"/>
      </a:accent5>
      <a:accent6>
        <a:srgbClr val="A98D63"/>
      </a:accent6>
      <a:hlink>
        <a:srgbClr val="26CBEC"/>
      </a:hlink>
      <a:folHlink>
        <a:srgbClr val="598C8C"/>
      </a:folHlink>
    </a:clrScheme>
    <a:fontScheme name="Состав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тав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5000"/>
                <a:satMod val="300000"/>
              </a:schemeClr>
            </a:gs>
            <a:gs pos="12000">
              <a:schemeClr val="phClr">
                <a:tint val="50000"/>
                <a:shade val="90000"/>
                <a:satMod val="250000"/>
              </a:schemeClr>
            </a:gs>
            <a:gs pos="100000">
              <a:schemeClr val="phClr">
                <a:tint val="85000"/>
                <a:shade val="7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75000"/>
                <a:shade val="95000"/>
                <a:satMod val="175000"/>
              </a:schemeClr>
            </a:gs>
            <a:gs pos="12000">
              <a:schemeClr val="phClr">
                <a:tint val="90000"/>
                <a:shade val="90000"/>
                <a:satMod val="150000"/>
              </a:schemeClr>
            </a:gs>
            <a:gs pos="100000">
              <a:schemeClr val="phClr">
                <a:tint val="100000"/>
                <a:shade val="75000"/>
                <a:satMod val="150000"/>
              </a:schemeClr>
            </a:gs>
          </a:gsLst>
          <a:lin ang="16200000" scaled="1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freezing" dir="t">
              <a:rot lat="0" lon="0" rev="6000000"/>
            </a:lightRig>
          </a:scene3d>
          <a:sp3d contourW="12700" prstMaterial="dkEdge">
            <a:bevelT w="44450" h="25400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10000"/>
                <a:lumMod val="80000"/>
              </a:schemeClr>
            </a:gs>
            <a:gs pos="79000">
              <a:schemeClr val="phClr">
                <a:tint val="100000"/>
                <a:shade val="90000"/>
                <a:satMod val="105000"/>
                <a:lumMod val="10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1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hade val="100000"/>
                <a:satMod val="100000"/>
                <a:lumMod val="110000"/>
              </a:schemeClr>
            </a:gs>
            <a:gs pos="83000">
              <a:schemeClr val="phClr">
                <a:shade val="75000"/>
                <a:satMod val="200000"/>
              </a:schemeClr>
            </a:gs>
            <a:gs pos="100000">
              <a:schemeClr val="phClr">
                <a:shade val="90000"/>
                <a:satMod val="200000"/>
              </a:schemeClr>
            </a:gs>
          </a:gsLst>
          <a:path path="circle">
            <a:fillToRect l="75000" t="100000" b="3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2521</TotalTime>
  <Words>2980</Words>
  <Application>Microsoft Office PowerPoint</Application>
  <PresentationFormat>Экран (4:3)</PresentationFormat>
  <Paragraphs>631</Paragraphs>
  <Slides>54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54</vt:i4>
      </vt:variant>
    </vt:vector>
  </HeadingPairs>
  <TitlesOfParts>
    <vt:vector size="65" baseType="lpstr">
      <vt:lpstr>Arial</vt:lpstr>
      <vt:lpstr>Calibri</vt:lpstr>
      <vt:lpstr>Courier New</vt:lpstr>
      <vt:lpstr>Lucida Sans Unicode</vt:lpstr>
      <vt:lpstr>Verdana</vt:lpstr>
      <vt:lpstr>Wingdings</vt:lpstr>
      <vt:lpstr>Wingdings 2</vt:lpstr>
      <vt:lpstr>Wingdings 3</vt:lpstr>
      <vt:lpstr>Составная</vt:lpstr>
      <vt:lpstr>Тема Office</vt:lpstr>
      <vt:lpstr>Тема1</vt:lpstr>
      <vt:lpstr>Box model </vt:lpstr>
      <vt:lpstr>Презентация PowerPoint</vt:lpstr>
      <vt:lpstr>Презентация PowerPoint</vt:lpstr>
      <vt:lpstr>Box model</vt:lpstr>
      <vt:lpstr>Презентация PowerPoint</vt:lpstr>
      <vt:lpstr>Презентация PowerPoint</vt:lpstr>
      <vt:lpstr>Найменування сторін блоку</vt:lpstr>
      <vt:lpstr>Свойства min-width, min-height  блока</vt:lpstr>
      <vt:lpstr>Скорочений запис свойств margin, padding блока</vt:lpstr>
      <vt:lpstr>Свойства блока padding, margin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Перевищення контенту заданої висоти блока</vt:lpstr>
      <vt:lpstr>Свойство блока margin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Свойство блока padding</vt:lpstr>
      <vt:lpstr>border  блока</vt:lpstr>
      <vt:lpstr>border-radius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backgorund блока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 rgba ()</vt:lpstr>
      <vt:lpstr>Background блоку одним правилом </vt:lpstr>
      <vt:lpstr>Свойство display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630</cp:revision>
  <dcterms:modified xsi:type="dcterms:W3CDTF">2024-07-23T08:09:50Z</dcterms:modified>
</cp:coreProperties>
</file>