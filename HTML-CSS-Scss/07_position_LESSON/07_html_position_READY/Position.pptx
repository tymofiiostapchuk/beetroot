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25"/>
  </p:notesMasterIdLst>
  <p:sldIdLst>
    <p:sldId id="256" r:id="rId2"/>
    <p:sldId id="304" r:id="rId3"/>
    <p:sldId id="307" r:id="rId4"/>
    <p:sldId id="306" r:id="rId5"/>
    <p:sldId id="305" r:id="rId6"/>
    <p:sldId id="303" r:id="rId7"/>
    <p:sldId id="261" r:id="rId8"/>
    <p:sldId id="263" r:id="rId9"/>
    <p:sldId id="292" r:id="rId10"/>
    <p:sldId id="262" r:id="rId11"/>
    <p:sldId id="293" r:id="rId12"/>
    <p:sldId id="264" r:id="rId13"/>
    <p:sldId id="267" r:id="rId14"/>
    <p:sldId id="269" r:id="rId15"/>
    <p:sldId id="270" r:id="rId16"/>
    <p:sldId id="272" r:id="rId17"/>
    <p:sldId id="281" r:id="rId18"/>
    <p:sldId id="294" r:id="rId19"/>
    <p:sldId id="287" r:id="rId20"/>
    <p:sldId id="286" r:id="rId21"/>
    <p:sldId id="289" r:id="rId22"/>
    <p:sldId id="302" r:id="rId23"/>
    <p:sldId id="297" r:id="rId2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56F2"/>
    <a:srgbClr val="ABDF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Средний стиль 4 -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A107856-5554-42FB-B03E-39F5DBC370BA}" styleName="Средний стиль 4 -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Средний стиль 4 -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1" autoAdjust="0"/>
    <p:restoredTop sz="94264" autoAdjust="0"/>
  </p:normalViewPr>
  <p:slideViewPr>
    <p:cSldViewPr>
      <p:cViewPr varScale="1">
        <p:scale>
          <a:sx n="108" d="100"/>
          <a:sy n="108" d="100"/>
        </p:scale>
        <p:origin x="1710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2C942D-D737-411D-A0E8-3545A9B627C6}" type="datetimeFigureOut">
              <a:rPr lang="ru-RU" smtClean="0"/>
              <a:t>12.08.2024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446FDC-1031-4836-92F9-245DF2638E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603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ctr">
              <a:defRPr sz="4800" b="1" cap="none" spc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12.08.2024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12.08.2024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/>
          <a:lstStyle>
            <a:lvl1pPr algn="ctr"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</a:bodyPr>
          <a:lstStyle>
            <a:lvl1pPr algn="r">
              <a:buNone/>
              <a:defRPr sz="4800" b="1" cap="none" spc="0" baseline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12.08.2024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12.08.2024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12.08.2024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12.08.2024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12.08.2024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12.08.2024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12.08.2024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12.08.2024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12.08.2024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12.08.2024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mng.bz/ppGK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99592" y="1700808"/>
            <a:ext cx="6984776" cy="3240360"/>
          </a:xfrm>
        </p:spPr>
        <p:txBody>
          <a:bodyPr>
            <a:noAutofit/>
          </a:bodyPr>
          <a:lstStyle/>
          <a:p>
            <a:pPr algn="ctr"/>
            <a:r>
              <a:rPr lang="en-US" sz="5400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Logical properties</a:t>
            </a:r>
            <a:endParaRPr lang="ru-RU" sz="13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13499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6F4EBA-1A34-3599-7978-F5B4EC01ED23}"/>
              </a:ext>
            </a:extLst>
          </p:cNvPr>
          <p:cNvSpPr txBox="1"/>
          <p:nvPr/>
        </p:nvSpPr>
        <p:spPr>
          <a:xfrm>
            <a:off x="107504" y="260648"/>
            <a:ext cx="8856984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Це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набір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властивостей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що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дозволяють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веб-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розробникам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задавати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розташування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та стиль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елементів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веб-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сторінок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на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основі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їх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спрямованих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чи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логічних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значень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.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Ці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властивості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забезпечують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велику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гнучкість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і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адаптивність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при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роботі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з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різними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режимами письма, такими як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:</a:t>
            </a:r>
          </a:p>
          <a:p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 err="1">
                <a:latin typeface="Courier New" pitchFamily="49" charset="0"/>
                <a:cs typeface="Courier New" pitchFamily="49" charset="0"/>
              </a:rPr>
              <a:t>ліворуч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-право (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LTR)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 err="1">
                <a:latin typeface="Courier New" pitchFamily="49" charset="0"/>
                <a:cs typeface="Courier New" pitchFamily="49" charset="0"/>
              </a:rPr>
              <a:t>праворуч-ліворуч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RTL)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 err="1">
                <a:latin typeface="Courier New" pitchFamily="49" charset="0"/>
                <a:cs typeface="Courier New" pitchFamily="49" charset="0"/>
              </a:rPr>
              <a:t>кількома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мовами.</a:t>
            </a:r>
            <a:endParaRPr lang="ru-UA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504" y="3507973"/>
            <a:ext cx="8856984" cy="2585323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Більшість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властивостей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CSS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можна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використовувати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як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логічні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.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Ось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основні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з них:</a:t>
            </a:r>
          </a:p>
          <a:p>
            <a:endParaRPr lang="ru-RU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розміри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: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height, width, margin, border, padding</a:t>
            </a:r>
          </a:p>
          <a:p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position</a:t>
            </a:r>
            <a:endParaRPr lang="ru-RU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вирівнювання</a:t>
            </a:r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тексту</a:t>
            </a:r>
          </a:p>
          <a:p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Floating</a:t>
            </a:r>
          </a:p>
          <a:p>
            <a:endParaRPr lang="ru-RU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latin typeface="Courier New" pitchFamily="49" charset="0"/>
                <a:cs typeface="Courier New" pitchFamily="49" charset="0"/>
                <a:hlinkClick r:id="rId2"/>
              </a:rPr>
              <a:t>https://mng.bz/ppGK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130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74F6802-D393-88ED-92CF-400644DC62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3" y="0"/>
            <a:ext cx="8894335" cy="414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956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32F82CC-4C08-15DC-5F8B-BF25BE4F5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729" y="116632"/>
            <a:ext cx="9144000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668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21E6FC66-DE8F-D617-D874-63DD5E4264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69723"/>
              </p:ext>
            </p:extLst>
          </p:nvPr>
        </p:nvGraphicFramePr>
        <p:xfrm>
          <a:off x="179512" y="116632"/>
          <a:ext cx="8712968" cy="504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56484">
                  <a:extLst>
                    <a:ext uri="{9D8B030D-6E8A-4147-A177-3AD203B41FA5}">
                      <a16:colId xmlns:a16="http://schemas.microsoft.com/office/drawing/2014/main" val="1359473216"/>
                    </a:ext>
                  </a:extLst>
                </a:gridCol>
                <a:gridCol w="4356484">
                  <a:extLst>
                    <a:ext uri="{9D8B030D-6E8A-4147-A177-3AD203B41FA5}">
                      <a16:colId xmlns:a16="http://schemas.microsoft.com/office/drawing/2014/main" val="25152372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width</a:t>
                      </a:r>
                      <a:endParaRPr lang="ru-UA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inline-size</a:t>
                      </a:r>
                      <a:endParaRPr lang="ru-UA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357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height</a:t>
                      </a:r>
                      <a:endParaRPr lang="ru-UA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block-size</a:t>
                      </a:r>
                      <a:endParaRPr lang="ru-UA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7816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margin-top </a:t>
                      </a:r>
                    </a:p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margin-bottom </a:t>
                      </a:r>
                    </a:p>
                    <a:p>
                      <a:endParaRPr lang="en-US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margin-left</a:t>
                      </a:r>
                    </a:p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margin-right</a:t>
                      </a:r>
                      <a:endParaRPr lang="ru-UA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4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margin-block-start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margin-block-end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margin-inline-start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margin-inline-end</a:t>
                      </a:r>
                      <a:endParaRPr lang="ru-UA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4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595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text-align: left</a:t>
                      </a:r>
                    </a:p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text-align: right</a:t>
                      </a:r>
                      <a:endParaRPr lang="ru-UA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text-align: start</a:t>
                      </a:r>
                    </a:p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text-align: end</a:t>
                      </a:r>
                      <a:endParaRPr lang="ru-UA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1496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border-top-left-radius</a:t>
                      </a:r>
                    </a:p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border-top-right-radius</a:t>
                      </a:r>
                    </a:p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border-bottom-left-radius</a:t>
                      </a:r>
                    </a:p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border-bottom-right-radius</a:t>
                      </a:r>
                      <a:endParaRPr lang="ru-UA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border-start-start-radius</a:t>
                      </a:r>
                    </a:p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border-start-end-radius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border-end-start-radius</a:t>
                      </a:r>
                    </a:p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border-end-end-radius</a:t>
                      </a:r>
                      <a:endParaRPr lang="ru-UA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5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9598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max-width: 1200px</a:t>
                      </a:r>
                      <a:endParaRPr lang="ru-UA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max-inline-size: 1200px;</a:t>
                      </a:r>
                      <a:endParaRPr lang="ru-UA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240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margin-left: auto;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margin-right: auto;</a:t>
                      </a:r>
                      <a:endParaRPr lang="ru-UA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margin-inline: auto</a:t>
                      </a:r>
                      <a:endParaRPr lang="ru-UA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9554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6621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99592" y="1700808"/>
            <a:ext cx="6984776" cy="3240360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Position</a:t>
            </a:r>
            <a:endParaRPr lang="ru-RU" sz="13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75155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7504" y="116632"/>
            <a:ext cx="8672898" cy="261610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Суть </a:t>
            </a:r>
            <a:r>
              <a:rPr lang="ru-RU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позиціонування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 - 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люб</a:t>
            </a:r>
            <a:r>
              <a:rPr lang="uk-UA" b="1" dirty="0">
                <a:latin typeface="Courier New" pitchFamily="49" charset="0"/>
                <a:cs typeface="Courier New" pitchFamily="49" charset="0"/>
              </a:rPr>
              <a:t>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й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uk-UA" dirty="0">
                <a:latin typeface="Courier New" pitchFamily="49" charset="0"/>
                <a:cs typeface="Courier New" pitchFamily="49" charset="0"/>
              </a:rPr>
              <a:t>елемент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можна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розташувати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в будь-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якому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місці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сторінки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, задавши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йому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точні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координати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.</a:t>
            </a:r>
          </a:p>
          <a:p>
            <a:endParaRPr lang="ru-RU" dirty="0">
              <a:latin typeface="Courier New" pitchFamily="49" charset="0"/>
              <a:cs typeface="Courier New" pitchFamily="49" charset="0"/>
            </a:endParaRPr>
          </a:p>
          <a:p>
            <a:r>
              <a:rPr lang="ru-RU" dirty="0">
                <a:latin typeface="Courier New" pitchFamily="49" charset="0"/>
                <a:cs typeface="Courier New" pitchFamily="49" charset="0"/>
              </a:rPr>
              <a:t>Для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цього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у стилях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існує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властивість</a:t>
            </a:r>
            <a:endParaRPr lang="ru-RU" dirty="0">
              <a:latin typeface="Courier New" pitchFamily="49" charset="0"/>
              <a:cs typeface="Courier New" pitchFamily="49" charset="0"/>
            </a:endParaRPr>
          </a:p>
          <a:p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position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: static | relative | absolute | fixed</a:t>
            </a:r>
          </a:p>
          <a:p>
            <a:endParaRPr lang="ru-RU" dirty="0">
              <a:latin typeface="Courier New" pitchFamily="49" charset="0"/>
              <a:cs typeface="Courier New" pitchFamily="49" charset="0"/>
            </a:endParaRPr>
          </a:p>
          <a:p>
            <a:r>
              <a:rPr lang="ru-RU" dirty="0" err="1">
                <a:latin typeface="Courier New" pitchFamily="49" charset="0"/>
                <a:cs typeface="Courier New" pitchFamily="49" charset="0"/>
              </a:rPr>
              <a:t>Існують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чотири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способи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позиціонування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блоків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за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допомогою</a:t>
            </a:r>
            <a:endParaRPr lang="ru-RU" dirty="0">
              <a:latin typeface="Courier New" pitchFamily="49" charset="0"/>
              <a:cs typeface="Courier New" pitchFamily="49" charset="0"/>
            </a:endParaRPr>
          </a:p>
          <a:p>
            <a:r>
              <a:rPr lang="ru-RU" dirty="0" err="1">
                <a:latin typeface="Courier New" pitchFamily="49" charset="0"/>
                <a:cs typeface="Courier New" pitchFamily="49" charset="0"/>
              </a:rPr>
              <a:t>цієї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властивості</a:t>
            </a:r>
            <a:endParaRPr lang="ru-RU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5316" y="3789040"/>
            <a:ext cx="3305086" cy="27363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504" y="3789040"/>
            <a:ext cx="5184576" cy="1908215"/>
          </a:xfrm>
          <a:prstGeom prst="rect">
            <a:avLst/>
          </a:prstGeom>
          <a:solidFill>
            <a:srgbClr val="FFFF00">
              <a:alpha val="8000"/>
            </a:srgb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position : static;</a:t>
            </a:r>
            <a:endParaRPr lang="ru-RU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Це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спосіб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за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умовчанням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відсутність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будь-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якого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спеціального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позиціонування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, а просто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викладання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боксів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одного за одним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зверху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вниз.</a:t>
            </a:r>
          </a:p>
        </p:txBody>
      </p:sp>
    </p:spTree>
    <p:extLst>
      <p:ext uri="{BB962C8B-B14F-4D97-AF65-F5344CB8AC3E}">
        <p14:creationId xmlns:p14="http://schemas.microsoft.com/office/powerpoint/2010/main" val="1111456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68" y="2492897"/>
            <a:ext cx="3739966" cy="30963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504" y="44624"/>
            <a:ext cx="8928992" cy="2308324"/>
          </a:xfrm>
          <a:prstGeom prst="rect">
            <a:avLst/>
          </a:prstGeom>
          <a:solidFill>
            <a:srgbClr val="FFFF00">
              <a:alpha val="8000"/>
            </a:srgb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sz="1800" dirty="0"/>
              <a:t> position : relative;</a:t>
            </a:r>
            <a:endParaRPr lang="en-US" sz="1800" dirty="0">
              <a:solidFill>
                <a:schemeClr val="tx1"/>
              </a:solidFill>
            </a:endParaRPr>
          </a:p>
          <a:p>
            <a:endParaRPr lang="en-US" sz="1800" dirty="0">
              <a:solidFill>
                <a:schemeClr val="tx1"/>
              </a:solidFill>
            </a:endParaRPr>
          </a:p>
          <a:p>
            <a:r>
              <a:rPr lang="ru-RU" sz="1800" dirty="0" err="1">
                <a:solidFill>
                  <a:schemeClr val="tx1"/>
                </a:solidFill>
              </a:rPr>
              <a:t>Відносне</a:t>
            </a:r>
            <a:r>
              <a:rPr lang="ru-RU" sz="1800" dirty="0">
                <a:solidFill>
                  <a:schemeClr val="tx1"/>
                </a:solidFill>
              </a:rPr>
              <a:t> </a:t>
            </a:r>
            <a:r>
              <a:rPr lang="ru-RU" sz="1800" dirty="0" err="1">
                <a:solidFill>
                  <a:schemeClr val="tx1"/>
                </a:solidFill>
              </a:rPr>
              <a:t>позиціонування</a:t>
            </a:r>
            <a:r>
              <a:rPr lang="ru-RU" sz="1800" dirty="0">
                <a:solidFill>
                  <a:schemeClr val="tx1"/>
                </a:solidFill>
              </a:rPr>
              <a:t> – блок </a:t>
            </a:r>
            <a:r>
              <a:rPr lang="ru-RU" sz="1800" dirty="0" err="1">
                <a:solidFill>
                  <a:schemeClr val="tx1"/>
                </a:solidFill>
              </a:rPr>
              <a:t>продовжує</a:t>
            </a:r>
            <a:r>
              <a:rPr lang="ru-RU" sz="1800" dirty="0">
                <a:solidFill>
                  <a:schemeClr val="tx1"/>
                </a:solidFill>
              </a:rPr>
              <a:t> </a:t>
            </a:r>
            <a:r>
              <a:rPr lang="ru-RU" sz="1800" dirty="0" err="1">
                <a:solidFill>
                  <a:schemeClr val="tx1"/>
                </a:solidFill>
              </a:rPr>
              <a:t>займати</a:t>
            </a:r>
            <a:r>
              <a:rPr lang="ru-RU" sz="1800" dirty="0">
                <a:solidFill>
                  <a:schemeClr val="tx1"/>
                </a:solidFill>
              </a:rPr>
              <a:t> </a:t>
            </a:r>
            <a:r>
              <a:rPr lang="ru-RU" sz="1800" dirty="0" err="1">
                <a:solidFill>
                  <a:schemeClr val="tx1"/>
                </a:solidFill>
              </a:rPr>
              <a:t>місце</a:t>
            </a:r>
            <a:endParaRPr lang="ru-RU" sz="1800" dirty="0">
              <a:solidFill>
                <a:schemeClr val="tx1"/>
              </a:solidFill>
            </a:endParaRPr>
          </a:p>
          <a:p>
            <a:r>
              <a:rPr lang="ru-RU" sz="1800" dirty="0">
                <a:solidFill>
                  <a:schemeClr val="tx1"/>
                </a:solidFill>
              </a:rPr>
              <a:t>у </a:t>
            </a:r>
            <a:r>
              <a:rPr lang="ru-RU" sz="1800" dirty="0" err="1">
                <a:solidFill>
                  <a:schemeClr val="tx1"/>
                </a:solidFill>
              </a:rPr>
              <a:t>потоці</a:t>
            </a:r>
            <a:r>
              <a:rPr lang="ru-RU" sz="1800" dirty="0">
                <a:solidFill>
                  <a:schemeClr val="tx1"/>
                </a:solidFill>
              </a:rPr>
              <a:t>. </a:t>
            </a:r>
            <a:r>
              <a:rPr lang="ru-RU" sz="1800" dirty="0" err="1">
                <a:solidFill>
                  <a:schemeClr val="tx1"/>
                </a:solidFill>
              </a:rPr>
              <a:t>Тобто</a:t>
            </a:r>
            <a:r>
              <a:rPr lang="ru-RU" sz="1800" dirty="0">
                <a:solidFill>
                  <a:schemeClr val="tx1"/>
                </a:solidFill>
              </a:rPr>
              <a:t> задавши </a:t>
            </a:r>
            <a:r>
              <a:rPr lang="ru-RU" sz="1800" dirty="0" err="1">
                <a:solidFill>
                  <a:schemeClr val="tx1"/>
                </a:solidFill>
              </a:rPr>
              <a:t>йому</a:t>
            </a:r>
            <a:r>
              <a:rPr lang="ru-RU" sz="1800" dirty="0">
                <a:solidFill>
                  <a:schemeClr val="tx1"/>
                </a:solidFill>
              </a:rPr>
              <a:t> </a:t>
            </a:r>
            <a:r>
              <a:rPr lang="ru-RU" sz="1800" dirty="0" err="1">
                <a:solidFill>
                  <a:schemeClr val="tx1"/>
                </a:solidFill>
              </a:rPr>
              <a:t>властивість</a:t>
            </a:r>
            <a:r>
              <a:rPr lang="ru-RU" sz="1800" dirty="0">
                <a:solidFill>
                  <a:schemeClr val="tx1"/>
                </a:solidFill>
              </a:rPr>
              <a:t> </a:t>
            </a:r>
            <a:r>
              <a:rPr lang="en-US" sz="1800" dirty="0"/>
              <a:t>{ </a:t>
            </a:r>
            <a:r>
              <a:rPr lang="en-US" sz="1800" dirty="0" err="1"/>
              <a:t>position:relative</a:t>
            </a:r>
            <a:r>
              <a:rPr lang="en-US" sz="1800" dirty="0"/>
              <a:t>; } </a:t>
            </a:r>
          </a:p>
          <a:p>
            <a:r>
              <a:rPr lang="ru-RU" sz="1800" dirty="0" err="1">
                <a:solidFill>
                  <a:schemeClr val="tx1"/>
                </a:solidFill>
              </a:rPr>
              <a:t>його</a:t>
            </a:r>
            <a:r>
              <a:rPr lang="ru-RU" sz="1800" dirty="0">
                <a:solidFill>
                  <a:schemeClr val="tx1"/>
                </a:solidFill>
              </a:rPr>
              <a:t> </a:t>
            </a:r>
            <a:r>
              <a:rPr lang="ru-RU" sz="1800" dirty="0" err="1">
                <a:solidFill>
                  <a:schemeClr val="tx1"/>
                </a:solidFill>
              </a:rPr>
              <a:t>можна</a:t>
            </a:r>
            <a:r>
              <a:rPr lang="ru-RU" sz="1800" dirty="0">
                <a:solidFill>
                  <a:schemeClr val="tx1"/>
                </a:solidFill>
              </a:rPr>
              <a:t> </a:t>
            </a:r>
            <a:r>
              <a:rPr lang="ru-RU" sz="1800" dirty="0" err="1">
                <a:solidFill>
                  <a:schemeClr val="tx1"/>
                </a:solidFill>
              </a:rPr>
              <a:t>також</a:t>
            </a:r>
            <a:r>
              <a:rPr lang="ru-RU" sz="1800" dirty="0">
                <a:solidFill>
                  <a:schemeClr val="tx1"/>
                </a:solidFill>
              </a:rPr>
              <a:t> </a:t>
            </a:r>
            <a:r>
              <a:rPr lang="ru-RU" sz="1800" dirty="0" err="1">
                <a:solidFill>
                  <a:schemeClr val="tx1"/>
                </a:solidFill>
              </a:rPr>
              <a:t>рухати</a:t>
            </a:r>
            <a:r>
              <a:rPr lang="ru-RU" sz="1800" dirty="0">
                <a:solidFill>
                  <a:schemeClr val="tx1"/>
                </a:solidFill>
              </a:rPr>
              <a:t> </a:t>
            </a:r>
            <a:r>
              <a:rPr lang="ru-RU" sz="1800" dirty="0" err="1">
                <a:solidFill>
                  <a:schemeClr val="tx1"/>
                </a:solidFill>
              </a:rPr>
              <a:t>задаючи</a:t>
            </a:r>
            <a:r>
              <a:rPr lang="ru-RU" sz="1800" dirty="0">
                <a:solidFill>
                  <a:schemeClr val="tx1"/>
                </a:solidFill>
              </a:rPr>
              <a:t> </a:t>
            </a:r>
            <a:r>
              <a:rPr lang="ru-RU" sz="1800" dirty="0" err="1">
                <a:solidFill>
                  <a:schemeClr val="tx1"/>
                </a:solidFill>
              </a:rPr>
              <a:t>зсув</a:t>
            </a:r>
            <a:endParaRPr lang="ru-RU" sz="1800" dirty="0">
              <a:solidFill>
                <a:schemeClr val="tx1"/>
              </a:solidFill>
            </a:endParaRPr>
          </a:p>
          <a:p>
            <a:r>
              <a:rPr lang="ru-RU" sz="1800" dirty="0">
                <a:solidFill>
                  <a:schemeClr val="tx1"/>
                </a:solidFill>
              </a:rPr>
              <a:t>		</a:t>
            </a:r>
            <a:r>
              <a:rPr lang="en-US" sz="1800" dirty="0"/>
              <a:t>left, right, top, bottom </a:t>
            </a:r>
          </a:p>
          <a:p>
            <a:r>
              <a:rPr lang="ru-RU" sz="1800" dirty="0">
                <a:solidFill>
                  <a:schemeClr val="tx1"/>
                </a:solidFill>
              </a:rPr>
              <a:t>але </a:t>
            </a:r>
            <a:r>
              <a:rPr lang="ru-RU" sz="1800" dirty="0" err="1">
                <a:solidFill>
                  <a:schemeClr val="tx1"/>
                </a:solidFill>
              </a:rPr>
              <a:t>місце</a:t>
            </a:r>
            <a:r>
              <a:rPr lang="ru-RU" sz="1800" dirty="0">
                <a:solidFill>
                  <a:schemeClr val="tx1"/>
                </a:solidFill>
              </a:rPr>
              <a:t> за ним </a:t>
            </a:r>
            <a:r>
              <a:rPr lang="ru-RU" sz="1800" dirty="0" err="1">
                <a:solidFill>
                  <a:schemeClr val="tx1"/>
                </a:solidFill>
              </a:rPr>
              <a:t>резервується</a:t>
            </a:r>
            <a:r>
              <a:rPr lang="ru-RU" sz="1800" dirty="0">
                <a:solidFill>
                  <a:schemeClr val="tx1"/>
                </a:solidFill>
              </a:rPr>
              <a:t> і </a:t>
            </a:r>
            <a:r>
              <a:rPr lang="ru-RU" sz="1800" dirty="0" err="1">
                <a:solidFill>
                  <a:schemeClr val="tx1"/>
                </a:solidFill>
              </a:rPr>
              <a:t>це</a:t>
            </a:r>
            <a:r>
              <a:rPr lang="ru-RU" sz="1800" dirty="0">
                <a:solidFill>
                  <a:schemeClr val="tx1"/>
                </a:solidFill>
              </a:rPr>
              <a:t> </a:t>
            </a:r>
            <a:r>
              <a:rPr lang="ru-RU" sz="1800" dirty="0" err="1">
                <a:solidFill>
                  <a:schemeClr val="tx1"/>
                </a:solidFill>
              </a:rPr>
              <a:t>місце</a:t>
            </a:r>
            <a:r>
              <a:rPr lang="ru-RU" sz="1800" dirty="0">
                <a:solidFill>
                  <a:schemeClr val="tx1"/>
                </a:solidFill>
              </a:rPr>
              <a:t> </a:t>
            </a:r>
            <a:r>
              <a:rPr lang="ru-RU" sz="1800" dirty="0" err="1">
                <a:solidFill>
                  <a:schemeClr val="tx1"/>
                </a:solidFill>
              </a:rPr>
              <a:t>інші</a:t>
            </a:r>
            <a:r>
              <a:rPr lang="ru-RU" sz="1800" dirty="0">
                <a:solidFill>
                  <a:schemeClr val="tx1"/>
                </a:solidFill>
              </a:rPr>
              <a:t> </a:t>
            </a:r>
            <a:r>
              <a:rPr lang="ru-RU" sz="1800" dirty="0" err="1">
                <a:solidFill>
                  <a:schemeClr val="tx1"/>
                </a:solidFill>
              </a:rPr>
              <a:t>елементи</a:t>
            </a:r>
            <a:endParaRPr lang="ru-RU" sz="1800" dirty="0">
              <a:solidFill>
                <a:schemeClr val="tx1"/>
              </a:solidFill>
            </a:endParaRPr>
          </a:p>
          <a:p>
            <a:r>
              <a:rPr lang="ru-RU" sz="1800" dirty="0" err="1">
                <a:solidFill>
                  <a:schemeClr val="tx1"/>
                </a:solidFill>
              </a:rPr>
              <a:t>зайняти</a:t>
            </a:r>
            <a:r>
              <a:rPr lang="ru-RU" sz="1800" dirty="0">
                <a:solidFill>
                  <a:schemeClr val="tx1"/>
                </a:solidFill>
              </a:rPr>
              <a:t> не </a:t>
            </a:r>
            <a:r>
              <a:rPr lang="ru-RU" sz="1800" dirty="0" err="1">
                <a:solidFill>
                  <a:schemeClr val="tx1"/>
                </a:solidFill>
              </a:rPr>
              <a:t>можуть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72200" y="63515"/>
            <a:ext cx="2526437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00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1/position.html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23928" y="2471985"/>
            <a:ext cx="5112568" cy="3693319"/>
          </a:xfrm>
          <a:prstGeom prst="rect">
            <a:avLst/>
          </a:prstGeom>
          <a:solidFill>
            <a:srgbClr val="92D050">
              <a:alpha val="6000"/>
            </a:srgb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Частіше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ru-RU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position:relative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використовують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взагалі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без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завдання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зміщень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Тобто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свойства </a:t>
            </a:r>
          </a:p>
          <a:p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left, right, top, bottom </a:t>
            </a:r>
            <a:endParaRPr lang="uk-UA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не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вказуються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взагалі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.</a:t>
            </a:r>
          </a:p>
          <a:p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У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цьому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випадку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він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веде себе як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звичайний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статичний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блок, але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оскільки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він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все ж таки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має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властивість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position:relative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то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щодо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нього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позиціонуватимуться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інші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блоки  у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яких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задані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властивості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position:absolute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410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79512" y="188640"/>
            <a:ext cx="8784976" cy="6480720"/>
          </a:xfrm>
          <a:prstGeom prst="rect">
            <a:avLst/>
          </a:prstGeom>
          <a:noFill/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467544" y="476672"/>
            <a:ext cx="5256584" cy="1800200"/>
          </a:xfrm>
          <a:prstGeom prst="rect">
            <a:avLst/>
          </a:prstGeom>
          <a:solidFill>
            <a:schemeClr val="accent2">
              <a:lumMod val="20000"/>
              <a:lumOff val="80000"/>
              <a:alpha val="36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467544" y="4509120"/>
            <a:ext cx="5256584" cy="1800200"/>
          </a:xfrm>
          <a:prstGeom prst="rect">
            <a:avLst/>
          </a:prstGeom>
          <a:solidFill>
            <a:schemeClr val="accent2">
              <a:lumMod val="20000"/>
              <a:lumOff val="80000"/>
              <a:alpha val="36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467544" y="2429272"/>
            <a:ext cx="5256584" cy="1800200"/>
          </a:xfrm>
          <a:prstGeom prst="rect">
            <a:avLst/>
          </a:prstGeom>
          <a:solidFill>
            <a:schemeClr val="accent1">
              <a:lumMod val="20000"/>
              <a:lumOff val="80000"/>
              <a:alpha val="36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1560" y="2492896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Courier New" pitchFamily="49" charset="0"/>
                <a:cs typeface="Courier New" pitchFamily="49" charset="0"/>
              </a:rPr>
              <a:t>position:relative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1560" y="2843644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left:100px;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907704" y="3131676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top:100px;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11" name="Группа 10"/>
          <p:cNvGrpSpPr/>
          <p:nvPr/>
        </p:nvGrpSpPr>
        <p:grpSpPr>
          <a:xfrm>
            <a:off x="3923928" y="2420888"/>
            <a:ext cx="1008112" cy="1728192"/>
            <a:chOff x="3923928" y="2420888"/>
            <a:chExt cx="1008112" cy="1728192"/>
          </a:xfrm>
        </p:grpSpPr>
        <p:cxnSp>
          <p:nvCxnSpPr>
            <p:cNvPr id="3" name="Прямая со стрелкой 2"/>
            <p:cNvCxnSpPr/>
            <p:nvPr/>
          </p:nvCxnSpPr>
          <p:spPr>
            <a:xfrm>
              <a:off x="3923928" y="2420888"/>
              <a:ext cx="0" cy="1728192"/>
            </a:xfrm>
            <a:prstGeom prst="straightConnector1">
              <a:avLst/>
            </a:prstGeom>
            <a:ln w="28575">
              <a:solidFill>
                <a:schemeClr val="tx2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Box 3"/>
            <p:cNvSpPr txBox="1"/>
            <p:nvPr/>
          </p:nvSpPr>
          <p:spPr>
            <a:xfrm>
              <a:off x="3995936" y="2771636"/>
              <a:ext cx="9361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100px</a:t>
              </a:r>
              <a:endParaRPr lang="ru-RU" b="1" dirty="0">
                <a:latin typeface="Courier New" pitchFamily="49" charset="0"/>
                <a:cs typeface="Courier New" pitchFamily="49" charset="0"/>
              </a:endParaRPr>
            </a:p>
          </p:txBody>
        </p:sp>
      </p:grpSp>
      <p:sp>
        <p:nvSpPr>
          <p:cNvPr id="15" name="Прямоугольник 14"/>
          <p:cNvSpPr/>
          <p:nvPr/>
        </p:nvSpPr>
        <p:spPr>
          <a:xfrm>
            <a:off x="475569" y="2402886"/>
            <a:ext cx="5256584" cy="1826586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019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4636 0.00023 " pathEditMode="relative" ptsTypes="AA">
                                      <p:cBhvr>
                                        <p:cTn id="15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4636 0.00023 " pathEditMode="relative" ptsTypes="AA">
                                      <p:cBhvr>
                                        <p:cTn id="1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4636 0.00023 " pathEditMode="relative" ptsTypes="AA">
                                      <p:cBhvr>
                                        <p:cTn id="19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42" presetClass="path" presetSubtype="0" accel="50000" decel="50000" fill="hold" grpId="2" nodeType="after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.14635 0.00023 L 0.14635 0.25029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91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42" presetClass="path" presetSubtype="0" accel="50000" decel="50000" fill="hold" grpId="2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.14635 0.00023 L 0.14635 0.25029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91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42" presetClass="path" presetSubtype="0" accel="50000" decel="5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.14636 0.00023 L 0.14636 0.25029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91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42" presetClass="path" presetSubtype="0" accel="50000" decel="5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2.77778E-6 -2.82211E-6 L 2.77778E-6 0.25029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/>
      <p:bldP spid="9" grpId="1"/>
      <p:bldP spid="9" grpId="2"/>
      <p:bldP spid="10" grpId="0"/>
      <p:bldP spid="10" grpId="1"/>
      <p:bldP spid="10" grpId="2"/>
      <p:bldP spid="13" grpId="0"/>
      <p:bldP spid="13" grpId="1"/>
      <p:bldP spid="15" grpId="0" animBg="1"/>
      <p:bldP spid="15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2420888"/>
            <a:ext cx="5261235" cy="43558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1214" y="188640"/>
            <a:ext cx="8781571" cy="2031325"/>
          </a:xfrm>
          <a:prstGeom prst="rect">
            <a:avLst/>
          </a:prstGeom>
          <a:solidFill>
            <a:srgbClr val="FFFF00">
              <a:alpha val="8000"/>
            </a:srgb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position : absolute;</a:t>
            </a:r>
          </a:p>
          <a:p>
            <a:endParaRPr lang="en-US" dirty="0"/>
          </a:p>
          <a:p>
            <a:r>
              <a:rPr lang="ru-RU" dirty="0">
                <a:solidFill>
                  <a:schemeClr val="tx1"/>
                </a:solidFill>
              </a:rPr>
              <a:t>Блок </a:t>
            </a:r>
            <a:r>
              <a:rPr lang="ru-RU" dirty="0" err="1">
                <a:solidFill>
                  <a:schemeClr val="tx1"/>
                </a:solidFill>
              </a:rPr>
              <a:t>із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абсолютним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позиціонуванням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розташовується</a:t>
            </a:r>
            <a:r>
              <a:rPr lang="ru-RU" dirty="0">
                <a:solidFill>
                  <a:schemeClr val="tx1"/>
                </a:solidFill>
              </a:rPr>
              <a:t> за </a:t>
            </a:r>
            <a:r>
              <a:rPr lang="ru-RU" dirty="0" err="1">
                <a:solidFill>
                  <a:schemeClr val="tx1"/>
                </a:solidFill>
              </a:rPr>
              <a:t>заданими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Координатам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left, right, top, bottom </a:t>
            </a:r>
            <a:endParaRPr lang="uk-UA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endParaRPr lang="uk-UA" dirty="0">
              <a:solidFill>
                <a:srgbClr val="0070C0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З того </a:t>
            </a:r>
            <a:r>
              <a:rPr lang="ru-RU" dirty="0" err="1">
                <a:solidFill>
                  <a:schemeClr val="tx1"/>
                </a:solidFill>
              </a:rPr>
              <a:t>місця</a:t>
            </a:r>
            <a:r>
              <a:rPr lang="ru-RU" dirty="0">
                <a:solidFill>
                  <a:schemeClr val="tx1"/>
                </a:solidFill>
              </a:rPr>
              <a:t>, де </a:t>
            </a:r>
            <a:r>
              <a:rPr lang="ru-RU" dirty="0" err="1">
                <a:solidFill>
                  <a:schemeClr val="tx1"/>
                </a:solidFill>
              </a:rPr>
              <a:t>він</a:t>
            </a:r>
            <a:r>
              <a:rPr lang="ru-RU" dirty="0">
                <a:solidFill>
                  <a:schemeClr val="tx1"/>
                </a:solidFill>
              </a:rPr>
              <a:t> мав би бути, </a:t>
            </a:r>
            <a:r>
              <a:rPr lang="ru-RU" dirty="0" err="1">
                <a:solidFill>
                  <a:schemeClr val="tx1"/>
                </a:solidFill>
              </a:rPr>
              <a:t>він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видаляється</a:t>
            </a:r>
            <a:r>
              <a:rPr lang="ru-RU" dirty="0">
                <a:solidFill>
                  <a:schemeClr val="tx1"/>
                </a:solidFill>
              </a:rPr>
              <a:t>, і </a:t>
            </a:r>
            <a:r>
              <a:rPr lang="ru-RU" dirty="0" err="1">
                <a:solidFill>
                  <a:schemeClr val="tx1"/>
                </a:solidFill>
              </a:rPr>
              <a:t>він</a:t>
            </a:r>
            <a:r>
              <a:rPr lang="ru-RU" dirty="0">
                <a:solidFill>
                  <a:schemeClr val="tx1"/>
                </a:solidFill>
              </a:rPr>
              <a:t> "</a:t>
            </a:r>
            <a:r>
              <a:rPr lang="ru-RU" dirty="0" err="1">
                <a:solidFill>
                  <a:schemeClr val="tx1"/>
                </a:solidFill>
              </a:rPr>
              <a:t>виключається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із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загального</a:t>
            </a:r>
            <a:r>
              <a:rPr lang="ru-RU" dirty="0">
                <a:solidFill>
                  <a:schemeClr val="tx1"/>
                </a:solidFill>
              </a:rPr>
              <a:t> потоку </a:t>
            </a:r>
            <a:r>
              <a:rPr lang="ru-RU" dirty="0" err="1">
                <a:solidFill>
                  <a:schemeClr val="tx1"/>
                </a:solidFill>
              </a:rPr>
              <a:t>блоків</a:t>
            </a:r>
            <a:r>
              <a:rPr lang="ru-RU" dirty="0">
                <a:solidFill>
                  <a:schemeClr val="tx1"/>
                </a:solidFill>
              </a:rPr>
              <a:t>".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75A744-758D-2EA5-DC33-8F26FFAFAB03}"/>
              </a:ext>
            </a:extLst>
          </p:cNvPr>
          <p:cNvSpPr txBox="1"/>
          <p:nvPr/>
        </p:nvSpPr>
        <p:spPr>
          <a:xfrm>
            <a:off x="6372200" y="188640"/>
            <a:ext cx="2526437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00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1/position.html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0759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79512" y="188640"/>
            <a:ext cx="8784976" cy="6480720"/>
          </a:xfrm>
          <a:prstGeom prst="rect">
            <a:avLst/>
          </a:prstGeom>
          <a:noFill/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467544" y="476672"/>
            <a:ext cx="5256584" cy="1800200"/>
          </a:xfrm>
          <a:prstGeom prst="rect">
            <a:avLst/>
          </a:prstGeom>
          <a:solidFill>
            <a:schemeClr val="accent2">
              <a:lumMod val="20000"/>
              <a:lumOff val="80000"/>
              <a:alpha val="36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467544" y="4509120"/>
            <a:ext cx="5256584" cy="1800200"/>
          </a:xfrm>
          <a:prstGeom prst="rect">
            <a:avLst/>
          </a:prstGeom>
          <a:solidFill>
            <a:schemeClr val="accent2">
              <a:lumMod val="20000"/>
              <a:lumOff val="80000"/>
              <a:alpha val="36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467544" y="2429272"/>
            <a:ext cx="5256584" cy="1800200"/>
          </a:xfrm>
          <a:prstGeom prst="rect">
            <a:avLst/>
          </a:prstGeom>
          <a:solidFill>
            <a:schemeClr val="accent1">
              <a:lumMod val="20000"/>
              <a:lumOff val="80000"/>
              <a:alpha val="36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1560" y="2492896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Courier New" pitchFamily="49" charset="0"/>
                <a:cs typeface="Courier New" pitchFamily="49" charset="0"/>
              </a:rPr>
              <a:t>position:absolute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1560" y="2843644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left:100px;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907704" y="3131676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top:10px;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2775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4636 0.00023 " pathEditMode="relative" ptsTypes="AA">
                                      <p:cBhvr>
                                        <p:cTn id="15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4636 0.00023 " pathEditMode="relative" ptsTypes="AA">
                                      <p:cBhvr>
                                        <p:cTn id="1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4636 0.00023 " pathEditMode="relative" ptsTypes="AA">
                                      <p:cBhvr>
                                        <p:cTn id="19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34 3.06037E-6 L 0.14236 -0.29031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14527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34 1.15429E-6 L 0.14236 -0.29031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14527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827 1.9431E-7 L 0.14722 -0.29031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14527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22 7.61046E-7 L 0.00017 -0.29031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145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0.00648 L -1.66667E-6 -0.30303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54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8" grpId="1" animBg="1"/>
      <p:bldP spid="9" grpId="0"/>
      <p:bldP spid="9" grpId="1"/>
      <p:bldP spid="9" grpId="2"/>
      <p:bldP spid="10" grpId="0"/>
      <p:bldP spid="10" grpId="1"/>
      <p:bldP spid="10" grpId="2"/>
      <p:bldP spid="13" grpId="0"/>
      <p:bldP spid="13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96" y="620688"/>
            <a:ext cx="9001000" cy="2862322"/>
          </a:xfrm>
          <a:prstGeom prst="rect">
            <a:avLst/>
          </a:prstGeom>
          <a:solidFill>
            <a:srgbClr val="FFFF00">
              <a:alpha val="13000"/>
            </a:srgb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Наприклад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щоб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позиціонувати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блок абсолютно,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його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потрібно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встановити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необхідний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тип координат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позиціонування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та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переміщення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: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en-US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myclass</a:t>
            </a:r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position:absolute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left:100px;</a:t>
            </a:r>
            <a:endParaRPr lang="ru-RU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top:100px;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bottom:100px; </a:t>
            </a:r>
            <a:endParaRPr lang="ru-RU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right:100px;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ru-RU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07504" y="116632"/>
            <a:ext cx="3610744" cy="418058"/>
          </a:xfrm>
        </p:spPr>
        <p:txBody>
          <a:bodyPr>
            <a:normAutofit/>
          </a:bodyPr>
          <a:lstStyle/>
          <a:p>
            <a:r>
              <a:rPr lang="ru-RU" sz="1800" dirty="0" err="1"/>
              <a:t>Абсолютне</a:t>
            </a:r>
            <a:r>
              <a:rPr lang="ru-RU" sz="1800" dirty="0"/>
              <a:t> </a:t>
            </a:r>
            <a:r>
              <a:rPr lang="ru-RU" sz="1800" dirty="0" err="1"/>
              <a:t>позиціонування</a:t>
            </a:r>
            <a:endParaRPr lang="ru-RU" sz="18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779912" y="1751593"/>
            <a:ext cx="5256584" cy="1447125"/>
          </a:xfrm>
          <a:prstGeom prst="rect">
            <a:avLst/>
          </a:prstGeom>
          <a:solidFill>
            <a:srgbClr val="00B0F0">
              <a:alpha val="7000"/>
            </a:srgb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sz="1700" b="1" dirty="0" err="1">
                <a:latin typeface="Courier New" pitchFamily="49" charset="0"/>
                <a:cs typeface="Courier New" pitchFamily="49" charset="0"/>
              </a:rPr>
              <a:t>Координати</a:t>
            </a:r>
            <a:r>
              <a:rPr lang="ru-RU" sz="17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7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left</a:t>
            </a:r>
            <a:r>
              <a:rPr lang="ru-RU" sz="1700" b="1" dirty="0">
                <a:latin typeface="Courier New" pitchFamily="49" charset="0"/>
                <a:cs typeface="Courier New" pitchFamily="49" charset="0"/>
              </a:rPr>
              <a:t> і </a:t>
            </a:r>
            <a:r>
              <a:rPr lang="en-US" sz="17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right</a:t>
            </a:r>
            <a:r>
              <a:rPr lang="ru-RU" sz="17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1700" b="1" dirty="0" err="1">
                <a:latin typeface="Courier New" pitchFamily="49" charset="0"/>
                <a:cs typeface="Courier New" pitchFamily="49" charset="0"/>
              </a:rPr>
              <a:t>вказують</a:t>
            </a:r>
            <a:r>
              <a:rPr lang="ru-RU" sz="17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1700" b="1" dirty="0" err="1">
                <a:latin typeface="Courier New" pitchFamily="49" charset="0"/>
                <a:cs typeface="Courier New" pitchFamily="49" charset="0"/>
              </a:rPr>
              <a:t>відстань</a:t>
            </a:r>
            <a:r>
              <a:rPr lang="ru-RU" sz="17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1700" b="1" dirty="0" err="1">
                <a:latin typeface="Courier New" pitchFamily="49" charset="0"/>
                <a:cs typeface="Courier New" pitchFamily="49" charset="0"/>
              </a:rPr>
              <a:t>позиціонованого</a:t>
            </a:r>
            <a:r>
              <a:rPr lang="ru-RU" sz="1700" b="1" dirty="0">
                <a:latin typeface="Courier New" pitchFamily="49" charset="0"/>
                <a:cs typeface="Courier New" pitchFamily="49" charset="0"/>
              </a:rPr>
              <a:t> блоку </a:t>
            </a:r>
            <a:r>
              <a:rPr lang="ru-RU" sz="1700" b="1" dirty="0" err="1">
                <a:latin typeface="Courier New" pitchFamily="49" charset="0"/>
                <a:cs typeface="Courier New" pitchFamily="49" charset="0"/>
              </a:rPr>
              <a:t>від</a:t>
            </a:r>
            <a:r>
              <a:rPr lang="ru-RU" sz="17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1700" b="1" dirty="0" err="1">
                <a:latin typeface="Courier New" pitchFamily="49" charset="0"/>
                <a:cs typeface="Courier New" pitchFamily="49" charset="0"/>
              </a:rPr>
              <a:t>країв</a:t>
            </a:r>
            <a:r>
              <a:rPr lang="ru-RU" sz="17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1700" b="1" dirty="0" err="1">
                <a:latin typeface="Courier New" pitchFamily="49" charset="0"/>
                <a:cs typeface="Courier New" pitchFamily="49" charset="0"/>
              </a:rPr>
              <a:t>першого</a:t>
            </a:r>
            <a:r>
              <a:rPr lang="ru-RU" sz="17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700" b="1" dirty="0">
                <a:latin typeface="Courier New" pitchFamily="49" charset="0"/>
                <a:cs typeface="Courier New" pitchFamily="49" charset="0"/>
              </a:rPr>
              <a:t>parent</a:t>
            </a:r>
            <a:r>
              <a:rPr lang="ru-RU" sz="1700" b="1" dirty="0">
                <a:latin typeface="Courier New" pitchFamily="49" charset="0"/>
                <a:cs typeface="Courier New" pitchFamily="49" charset="0"/>
              </a:rPr>
              <a:t> блоку, </a:t>
            </a:r>
            <a:r>
              <a:rPr lang="ru-RU" sz="1700" b="1" dirty="0" err="1">
                <a:latin typeface="Courier New" pitchFamily="49" charset="0"/>
                <a:cs typeface="Courier New" pitchFamily="49" charset="0"/>
              </a:rPr>
              <a:t>який</a:t>
            </a:r>
            <a:r>
              <a:rPr lang="ru-RU" sz="17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1700" b="1" dirty="0" err="1">
                <a:latin typeface="Courier New" pitchFamily="49" charset="0"/>
                <a:cs typeface="Courier New" pitchFamily="49" charset="0"/>
              </a:rPr>
              <a:t>має</a:t>
            </a:r>
            <a:r>
              <a:rPr lang="ru-RU" sz="17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1700" b="1" dirty="0" err="1">
                <a:latin typeface="Courier New" pitchFamily="49" charset="0"/>
                <a:cs typeface="Courier New" pitchFamily="49" charset="0"/>
              </a:rPr>
              <a:t>властивість</a:t>
            </a:r>
            <a:r>
              <a:rPr lang="ru-RU" sz="17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7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position relative</a:t>
            </a:r>
            <a:r>
              <a:rPr lang="en-US" sz="17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17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або</a:t>
            </a:r>
            <a:r>
              <a:rPr lang="ru-RU" sz="17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7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absolute</a:t>
            </a:r>
            <a:r>
              <a:rPr lang="ru-RU" sz="17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ru-RU" sz="1700" dirty="0">
                <a:latin typeface="Courier New" pitchFamily="49" charset="0"/>
                <a:cs typeface="Courier New" pitchFamily="49" charset="0"/>
              </a:rPr>
              <a:t> 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179512" y="3573016"/>
            <a:ext cx="8856984" cy="1656184"/>
          </a:xfrm>
          <a:prstGeom prst="rect">
            <a:avLst/>
          </a:prstGeom>
          <a:solidFill>
            <a:schemeClr val="accent2">
              <a:lumMod val="20000"/>
              <a:lumOff val="80000"/>
              <a:alpha val="36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Особливості</a:t>
            </a:r>
            <a:endParaRPr lang="ru-RU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Будь-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які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координати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left, right, top, bottom</a:t>
            </a:r>
            <a:r>
              <a:rPr lang="uk-UA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необов’язкові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</a:t>
            </a:r>
          </a:p>
          <a:p>
            <a:endParaRPr lang="ru-RU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Якщо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координати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не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вказуються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то блок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залишається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таким же, як і без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позиціонування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але по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осі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Z 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в</a:t>
            </a:r>
            <a:r>
              <a:rPr lang="uk-UA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ін</a:t>
            </a:r>
            <a:r>
              <a:rPr lang="uk-UA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uk-UA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виходе</a:t>
            </a:r>
            <a:r>
              <a:rPr lang="uk-UA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наперед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</a:t>
            </a:r>
            <a:endParaRPr lang="en-US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6919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7940" y="65205"/>
            <a:ext cx="8958555" cy="13475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sz="2400" b="1" dirty="0" err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Пам'ятайте</a:t>
            </a:r>
            <a:r>
              <a:rPr lang="en-US" sz="24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 !!!</a:t>
            </a:r>
            <a:endParaRPr lang="ru-RU" sz="2400" b="1" dirty="0">
              <a:solidFill>
                <a:schemeClr val="accent2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Якщо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елементу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ми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присвоюємо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властивість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position:absolute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то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він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виключається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із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загального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потоку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блоків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і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його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координати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відраховуються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:</a:t>
            </a:r>
            <a:endParaRPr lang="ru-RU" dirty="0">
              <a:latin typeface="Courier New" pitchFamily="49" charset="0"/>
              <a:cs typeface="Courier New" pitchFamily="49" charset="0"/>
            </a:endParaRPr>
          </a:p>
          <a:p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endParaRPr lang="ru-RU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91906" y="3729806"/>
            <a:ext cx="9001000" cy="658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Ширина абсолютно </a:t>
            </a:r>
            <a:r>
              <a:rPr lang="ru-RU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позиціонованого</a:t>
            </a:r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блоку </a:t>
            </a:r>
            <a:r>
              <a:rPr lang="ru-RU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визначається</a:t>
            </a:r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шириною </a:t>
            </a:r>
            <a:r>
              <a:rPr lang="ru-RU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його</a:t>
            </a:r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контенту.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006CA7-1287-913E-768F-67119258F6BD}"/>
              </a:ext>
            </a:extLst>
          </p:cNvPr>
          <p:cNvSpPr txBox="1"/>
          <p:nvPr/>
        </p:nvSpPr>
        <p:spPr>
          <a:xfrm>
            <a:off x="77941" y="1569566"/>
            <a:ext cx="8999832" cy="9233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Якщо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у блока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немає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parents n</a:t>
            </a:r>
            <a:r>
              <a:rPr lang="uk-UA" b="1" dirty="0">
                <a:latin typeface="Courier New" pitchFamily="49" charset="0"/>
                <a:cs typeface="Courier New" pitchFamily="49" charset="0"/>
              </a:rPr>
              <a:t>елементів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з </a:t>
            </a:r>
            <a:r>
              <a:rPr lang="ru-RU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position</a:t>
            </a:r>
            <a:r>
              <a:rPr lang="ru-RU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: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relative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або</a:t>
            </a:r>
            <a:r>
              <a:rPr lang="ru-RU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position</a:t>
            </a:r>
            <a:r>
              <a:rPr lang="ru-RU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: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absolute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відлік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коордінат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 блока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виконується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відносно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html (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тобто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відносно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області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перегляду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вікна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браузера)</a:t>
            </a:r>
            <a:endParaRPr lang="ru-RU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73A97D-A2EF-4FD8-C6C7-44CDBECEA5D0}"/>
              </a:ext>
            </a:extLst>
          </p:cNvPr>
          <p:cNvSpPr txBox="1"/>
          <p:nvPr/>
        </p:nvSpPr>
        <p:spPr>
          <a:xfrm>
            <a:off x="91906" y="2649686"/>
            <a:ext cx="8999832" cy="9233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Якщо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у блока  є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parent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елемент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із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з </a:t>
            </a:r>
            <a:r>
              <a:rPr lang="ru-RU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position</a:t>
            </a:r>
            <a:r>
              <a:rPr lang="ru-RU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: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relative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або</a:t>
            </a:r>
            <a:r>
              <a:rPr lang="ru-RU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position</a:t>
            </a:r>
            <a:r>
              <a:rPr lang="ru-RU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: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absolute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відлік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коордінат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блока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здійснюється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відносно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найближчого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такого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parent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елемента</a:t>
            </a:r>
            <a:endParaRPr lang="ru-RU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0802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07504" y="274638"/>
            <a:ext cx="8712968" cy="706090"/>
          </a:xfrm>
          <a:ln w="19050"/>
        </p:spPr>
        <p:txBody>
          <a:bodyPr anchor="t">
            <a:normAutofit/>
          </a:bodyPr>
          <a:lstStyle/>
          <a:p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Яка </a:t>
            </a:r>
            <a:r>
              <a:rPr lang="ru-RU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різниця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між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позиціонуванням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блоку та </a:t>
            </a:r>
            <a:r>
              <a:rPr lang="ru-RU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його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властивостями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поля </a:t>
            </a:r>
            <a:r>
              <a:rPr lang="ru-RU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або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відступу</a:t>
            </a:r>
            <a:endParaRPr lang="ru-RU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504" y="1268760"/>
            <a:ext cx="8799110" cy="1477328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  <a:alpha val="8000"/>
                </a:schemeClr>
              </a:gs>
              <a:gs pos="50000">
                <a:schemeClr val="bg1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margin </a:t>
            </a:r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padding</a:t>
            </a:r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border 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-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це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невіддільні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властивості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блоку,</a:t>
            </a:r>
          </a:p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які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завжди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присутні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разом з блоком</a:t>
            </a:r>
          </a:p>
          <a:p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При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позиціонуванні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ми переносимо в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потрібну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там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тосчку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весь блок, з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усіма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його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атрибутами</a:t>
            </a:r>
            <a:r>
              <a:rPr lang="ru-RU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margin</a:t>
            </a:r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padding</a:t>
            </a:r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border</a:t>
            </a:r>
            <a:endParaRPr lang="ru-RU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48700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9073" y="548680"/>
            <a:ext cx="8965853" cy="2031325"/>
          </a:xfrm>
          <a:prstGeom prst="rect">
            <a:avLst/>
          </a:prstGeom>
          <a:solidFill>
            <a:srgbClr val="FFFF00">
              <a:alpha val="8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рosition</a:t>
            </a:r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: </a:t>
            </a:r>
            <a:r>
              <a:rPr lang="ru-RU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fixed</a:t>
            </a:r>
            <a:endParaRPr lang="ru-RU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US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Це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абсолютне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позиціонування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, але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водночас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b="1" dirty="0" err="1">
                <a:latin typeface="Courier New" pitchFamily="49" charset="0"/>
                <a:cs typeface="Courier New" pitchFamily="49" charset="0"/>
              </a:rPr>
              <a:t>переміщення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позиційного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блоку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завжди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розраховується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відносно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області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перегляду браузера.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b="1" dirty="0" err="1">
                <a:latin typeface="Courier New" pitchFamily="49" charset="0"/>
                <a:cs typeface="Courier New" pitchFamily="49" charset="0"/>
              </a:rPr>
              <a:t>під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час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прокручування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блок з 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position:fixed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не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прокручується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разом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із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вікном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176" y="75982"/>
            <a:ext cx="2114681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00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1/fixed.html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50072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73516" y="116632"/>
            <a:ext cx="4038444" cy="504056"/>
          </a:xfrm>
          <a:ln w="28575"/>
        </p:spPr>
        <p:txBody>
          <a:bodyPr>
            <a:noAutofit/>
          </a:bodyPr>
          <a:lstStyle/>
          <a:p>
            <a:pPr algn="l"/>
            <a:r>
              <a:rPr lang="ru-RU" sz="1800" dirty="0" err="1"/>
              <a:t>Застосування</a:t>
            </a:r>
            <a:r>
              <a:rPr lang="ru-RU" sz="1800" dirty="0"/>
              <a:t> </a:t>
            </a:r>
            <a:r>
              <a:rPr lang="uk-UA" sz="1800" dirty="0"/>
              <a:t> </a:t>
            </a:r>
            <a:r>
              <a:rPr lang="en-US" sz="1800" dirty="0"/>
              <a:t>position: absolute</a:t>
            </a:r>
            <a:endParaRPr lang="ru-RU" sz="1800" dirty="0"/>
          </a:p>
        </p:txBody>
      </p:sp>
      <p:sp>
        <p:nvSpPr>
          <p:cNvPr id="7" name="TextBox 6"/>
          <p:cNvSpPr txBox="1"/>
          <p:nvPr/>
        </p:nvSpPr>
        <p:spPr>
          <a:xfrm>
            <a:off x="184677" y="908720"/>
            <a:ext cx="266611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00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1/example_1.html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8D6BBB-8269-8386-706B-4EA9959E22D0}"/>
              </a:ext>
            </a:extLst>
          </p:cNvPr>
          <p:cNvSpPr txBox="1"/>
          <p:nvPr/>
        </p:nvSpPr>
        <p:spPr>
          <a:xfrm>
            <a:off x="179512" y="1475492"/>
            <a:ext cx="266611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00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1/example_2.html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B786D2-6A92-211A-69BA-FC838DEA92FF}"/>
              </a:ext>
            </a:extLst>
          </p:cNvPr>
          <p:cNvSpPr txBox="1"/>
          <p:nvPr/>
        </p:nvSpPr>
        <p:spPr>
          <a:xfrm>
            <a:off x="156282" y="2136056"/>
            <a:ext cx="311957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labs/lab_1/index.html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99335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79512" y="175851"/>
            <a:ext cx="4320480" cy="432048"/>
          </a:xfrm>
        </p:spPr>
        <p:txBody>
          <a:bodyPr>
            <a:normAutofit/>
          </a:bodyPr>
          <a:lstStyle/>
          <a:p>
            <a:r>
              <a:rPr lang="ru-RU" sz="1800" dirty="0"/>
              <a:t>Свойство </a:t>
            </a:r>
            <a:r>
              <a:rPr lang="en-US" sz="1800" dirty="0"/>
              <a:t>float</a:t>
            </a:r>
            <a:endParaRPr lang="ru-RU" sz="1800" dirty="0"/>
          </a:p>
        </p:txBody>
      </p:sp>
      <p:sp>
        <p:nvSpPr>
          <p:cNvPr id="2" name="TextBox 1"/>
          <p:cNvSpPr txBox="1"/>
          <p:nvPr/>
        </p:nvSpPr>
        <p:spPr>
          <a:xfrm>
            <a:off x="35496" y="620688"/>
            <a:ext cx="604867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ru-RU" b="1" dirty="0">
                <a:latin typeface="Courier New" pitchFamily="49" charset="0"/>
                <a:cs typeface="Courier New" pitchFamily="49" charset="0"/>
              </a:rPr>
              <a:t>Блок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зміщується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горизонтально і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прилипає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до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однієї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сторін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батька.</a:t>
            </a:r>
          </a:p>
          <a:p>
            <a:pPr marL="342900" indent="-342900">
              <a:buAutoNum type="arabicPeriod"/>
            </a:pP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pPr marL="342900" indent="-342900">
              <a:buAutoNum type="arabicPeriod"/>
            </a:pPr>
            <a:r>
              <a:rPr lang="ru-RU" b="1" dirty="0">
                <a:latin typeface="Courier New" pitchFamily="49" charset="0"/>
                <a:cs typeface="Courier New" pitchFamily="49" charset="0"/>
              </a:rPr>
              <a:t>Ширина блоку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починає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визначатися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його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вмістом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тобто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він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перестає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розповсюджуватися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по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всій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ширині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батьківського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контейнера)</a:t>
            </a:r>
          </a:p>
          <a:p>
            <a:pPr marL="342900" indent="-342900">
              <a:buAutoNum type="arabicPeriod"/>
            </a:pP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pPr marL="342900" indent="-342900">
              <a:buAutoNum type="arabicPeriod"/>
            </a:pPr>
            <a:r>
              <a:rPr lang="ru-RU" b="1" dirty="0">
                <a:latin typeface="Courier New" pitchFamily="49" charset="0"/>
                <a:cs typeface="Courier New" pitchFamily="49" charset="0"/>
              </a:rPr>
              <a:t>При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ньому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з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вільної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сторони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з'являється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вільний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простір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який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не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прилягає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до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батьківського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0381" y="692696"/>
            <a:ext cx="2968123" cy="21200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496" y="3988822"/>
            <a:ext cx="871296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342900" indent="-342900">
              <a:buAutoNum type="arabicPeriod"/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pPr marL="0" indent="0">
              <a:buNone/>
            </a:pPr>
            <a:r>
              <a:rPr lang="en-US" dirty="0"/>
              <a:t>4. </a:t>
            </a:r>
            <a:r>
              <a:rPr lang="ru-RU" dirty="0" err="1"/>
              <a:t>Наступні</a:t>
            </a:r>
            <a:r>
              <a:rPr lang="ru-RU" dirty="0"/>
              <a:t> за ним блоки </a:t>
            </a:r>
            <a:r>
              <a:rPr lang="ru-RU" dirty="0" err="1"/>
              <a:t>підтягуються</a:t>
            </a:r>
            <a:r>
              <a:rPr lang="ru-RU" dirty="0"/>
              <a:t> і </a:t>
            </a:r>
            <a:r>
              <a:rPr lang="ru-RU" dirty="0" err="1"/>
              <a:t>займають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місце</a:t>
            </a:r>
            <a:r>
              <a:rPr lang="ru-RU" dirty="0"/>
              <a:t>,</a:t>
            </a:r>
          </a:p>
          <a:p>
            <a:pPr marL="0" indent="0">
              <a:buNone/>
            </a:pPr>
            <a:r>
              <a:rPr lang="ru-RU" dirty="0"/>
              <a:t>  не </a:t>
            </a:r>
            <a:r>
              <a:rPr lang="ru-RU" dirty="0" err="1"/>
              <a:t>помічая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5. </a:t>
            </a:r>
            <a:r>
              <a:rPr lang="en-US" dirty="0"/>
              <a:t>inline</a:t>
            </a:r>
            <a:r>
              <a:rPr lang="ru-RU" dirty="0"/>
              <a:t> </a:t>
            </a:r>
            <a:r>
              <a:rPr lang="ru-RU" dirty="0" err="1"/>
              <a:t>елементи</a:t>
            </a:r>
            <a:r>
              <a:rPr lang="ru-RU" dirty="0"/>
              <a:t> в межах </a:t>
            </a:r>
            <a:r>
              <a:rPr lang="ru-RU" dirty="0" err="1"/>
              <a:t>блоків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перемістилися</a:t>
            </a:r>
            <a:r>
              <a:rPr lang="ru-RU" dirty="0"/>
              <a:t> </a:t>
            </a:r>
            <a:r>
              <a:rPr lang="ru-RU" dirty="0" err="1"/>
              <a:t>вгору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   </a:t>
            </a:r>
            <a:r>
              <a:rPr lang="ru-RU" dirty="0" err="1"/>
              <a:t>починають</a:t>
            </a:r>
            <a:r>
              <a:rPr lang="ru-RU" dirty="0"/>
              <a:t> </a:t>
            </a:r>
            <a:r>
              <a:rPr lang="ru-RU" dirty="0" err="1"/>
              <a:t>обтікати</a:t>
            </a:r>
            <a:r>
              <a:rPr lang="ru-RU" dirty="0"/>
              <a:t> </a:t>
            </a:r>
            <a:r>
              <a:rPr lang="en-US" dirty="0">
                <a:solidFill>
                  <a:srgbClr val="0070C0"/>
                </a:solidFill>
              </a:rPr>
              <a:t>float</a:t>
            </a:r>
            <a:r>
              <a:rPr lang="en-US" dirty="0"/>
              <a:t> </a:t>
            </a:r>
            <a:r>
              <a:rPr lang="ru-RU" dirty="0"/>
              <a:t>блок </a:t>
            </a:r>
            <a:r>
              <a:rPr lang="uk-UA" dirty="0"/>
              <a:t>з вільного боку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6. </a:t>
            </a:r>
            <a:r>
              <a:rPr lang="en-US" dirty="0">
                <a:solidFill>
                  <a:srgbClr val="0070C0"/>
                </a:solidFill>
              </a:rPr>
              <a:t>float</a:t>
            </a:r>
            <a:r>
              <a:rPr lang="en-US" dirty="0"/>
              <a:t> </a:t>
            </a:r>
            <a:r>
              <a:rPr lang="ru-RU" dirty="0"/>
              <a:t> </a:t>
            </a:r>
            <a:r>
              <a:rPr lang="ru-RU" dirty="0" err="1"/>
              <a:t>елементи</a:t>
            </a:r>
            <a:r>
              <a:rPr lang="ru-RU" dirty="0"/>
              <a:t> не </a:t>
            </a:r>
            <a:r>
              <a:rPr lang="ru-RU" dirty="0" err="1"/>
              <a:t>беруть</a:t>
            </a:r>
            <a:r>
              <a:rPr lang="ru-RU" dirty="0"/>
              <a:t> участь у схемах з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>
                <a:solidFill>
                  <a:srgbClr val="0070C0"/>
                </a:solidFill>
              </a:rPr>
              <a:t>margin-collapse</a:t>
            </a:r>
            <a:r>
              <a:rPr lang="en-US" dirty="0"/>
              <a:t>. </a:t>
            </a:r>
            <a:r>
              <a:rPr lang="ru-RU" dirty="0" err="1"/>
              <a:t>Тобто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en-US" dirty="0">
                <a:solidFill>
                  <a:srgbClr val="0070C0"/>
                </a:solidFill>
              </a:rPr>
              <a:t>margins</a:t>
            </a:r>
            <a:r>
              <a:rPr lang="ru-RU" dirty="0"/>
              <a:t> </a:t>
            </a:r>
            <a:r>
              <a:rPr lang="ru-RU" dirty="0" err="1"/>
              <a:t>підсумовуються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6E5C9C-D50B-2375-A3A6-D3DFECFA31B9}"/>
              </a:ext>
            </a:extLst>
          </p:cNvPr>
          <p:cNvSpPr txBox="1"/>
          <p:nvPr/>
        </p:nvSpPr>
        <p:spPr>
          <a:xfrm>
            <a:off x="6646098" y="90199"/>
            <a:ext cx="2114681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/>
              <a:t>00</a:t>
            </a:r>
            <a:r>
              <a:rPr lang="en-US" dirty="0"/>
              <a:t>2/float.html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8807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79512" y="4797152"/>
            <a:ext cx="8712968" cy="4801314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latin typeface="Courier New" pitchFamily="49" charset="0"/>
              <a:cs typeface="Courier New" pitchFamily="49" charset="0"/>
            </a:endParaRPr>
          </a:p>
          <a:p>
            <a:endParaRPr lang="en-US" dirty="0">
              <a:latin typeface="Courier New" pitchFamily="49" charset="0"/>
              <a:cs typeface="Courier New" pitchFamily="49" charset="0"/>
            </a:endParaRPr>
          </a:p>
          <a:p>
            <a:endParaRPr lang="en-US" dirty="0">
              <a:latin typeface="Courier New" pitchFamily="49" charset="0"/>
              <a:cs typeface="Courier New" pitchFamily="49" charset="0"/>
            </a:endParaRPr>
          </a:p>
          <a:p>
            <a:endParaRPr lang="en-US" dirty="0">
              <a:latin typeface="Courier New" pitchFamily="49" charset="0"/>
              <a:cs typeface="Courier New" pitchFamily="49" charset="0"/>
            </a:endParaRPr>
          </a:p>
          <a:p>
            <a:endParaRPr lang="en-US" dirty="0">
              <a:latin typeface="Courier New" pitchFamily="49" charset="0"/>
              <a:cs typeface="Courier New" pitchFamily="49" charset="0"/>
            </a:endParaRPr>
          </a:p>
          <a:p>
            <a:endParaRPr lang="en-US" dirty="0">
              <a:latin typeface="Courier New" pitchFamily="49" charset="0"/>
              <a:cs typeface="Courier New" pitchFamily="49" charset="0"/>
            </a:endParaRPr>
          </a:p>
          <a:p>
            <a:endParaRPr lang="en-US" dirty="0">
              <a:latin typeface="Courier New" pitchFamily="49" charset="0"/>
              <a:cs typeface="Courier New" pitchFamily="49" charset="0"/>
            </a:endParaRPr>
          </a:p>
          <a:p>
            <a:endParaRPr lang="en-US" dirty="0">
              <a:latin typeface="Courier New" pitchFamily="49" charset="0"/>
              <a:cs typeface="Courier New" pitchFamily="49" charset="0"/>
            </a:endParaRPr>
          </a:p>
          <a:p>
            <a:endParaRPr lang="en-US" dirty="0">
              <a:latin typeface="Courier New" pitchFamily="49" charset="0"/>
              <a:cs typeface="Courier New" pitchFamily="49" charset="0"/>
            </a:endParaRPr>
          </a:p>
          <a:p>
            <a:endParaRPr lang="en-US" dirty="0">
              <a:latin typeface="Courier New" pitchFamily="49" charset="0"/>
              <a:cs typeface="Courier New" pitchFamily="49" charset="0"/>
            </a:endParaRPr>
          </a:p>
          <a:p>
            <a:endParaRPr lang="en-US" dirty="0">
              <a:latin typeface="Courier New" pitchFamily="49" charset="0"/>
              <a:cs typeface="Courier New" pitchFamily="49" charset="0"/>
            </a:endParaRPr>
          </a:p>
          <a:p>
            <a:endParaRPr lang="en-US" dirty="0">
              <a:latin typeface="Courier New" pitchFamily="49" charset="0"/>
              <a:cs typeface="Courier New" pitchFamily="49" charset="0"/>
            </a:endParaRPr>
          </a:p>
          <a:p>
            <a:endParaRPr lang="en-US" dirty="0">
              <a:latin typeface="Courier New" pitchFamily="49" charset="0"/>
              <a:cs typeface="Courier New" pitchFamily="49" charset="0"/>
            </a:endParaRPr>
          </a:p>
          <a:p>
            <a:endParaRPr lang="en-US" dirty="0">
              <a:latin typeface="Courier New" pitchFamily="49" charset="0"/>
              <a:cs typeface="Courier New" pitchFamily="49" charset="0"/>
            </a:endParaRPr>
          </a:p>
          <a:p>
            <a:endParaRPr lang="en-US" dirty="0">
              <a:latin typeface="Courier New" pitchFamily="49" charset="0"/>
              <a:cs typeface="Courier New" pitchFamily="49" charset="0"/>
            </a:endParaRPr>
          </a:p>
          <a:p>
            <a:endParaRPr lang="en-US" dirty="0">
              <a:latin typeface="Courier New" pitchFamily="49" charset="0"/>
              <a:cs typeface="Courier New" pitchFamily="49" charset="0"/>
            </a:endParaRPr>
          </a:p>
          <a:p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1520" y="188640"/>
            <a:ext cx="8712968" cy="64633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text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text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text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text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text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text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text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text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text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text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text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text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text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text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text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text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text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text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text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text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text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text</a:t>
            </a:r>
            <a:endParaRPr lang="ru-RU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156" y="1498965"/>
            <a:ext cx="3125688" cy="29381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31840" y="1660158"/>
            <a:ext cx="29001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>
                <a:solidFill>
                  <a:srgbClr val="ABDFEB"/>
                </a:solidFill>
                <a:latin typeface="Courier New" pitchFamily="49" charset="0"/>
                <a:cs typeface="Courier New" pitchFamily="49" charset="0"/>
              </a:rPr>
              <a:t>float:left</a:t>
            </a:r>
            <a:r>
              <a:rPr lang="en-US" sz="3200" b="1" dirty="0">
                <a:solidFill>
                  <a:srgbClr val="ABDFEB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ru-RU" sz="3200" b="1" dirty="0">
              <a:solidFill>
                <a:srgbClr val="ABDFEB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3528" y="4941168"/>
            <a:ext cx="727280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Yesterday, all my troubles seemed so far away,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Now it looks as though they’re here to stay,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Oh, I believe in yesterday.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Suddenly, I’m not half the man I used to be,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There’s a shadow hanging over me,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Oh, yesterday came suddenly.</a:t>
            </a:r>
          </a:p>
          <a:p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Why she had to go I don’t know, she wouldn’t say,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I said something wrong, now I long for yesterday.</a:t>
            </a:r>
          </a:p>
          <a:p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Yesterday,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Love was such an easy game to play,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Now I need a place to hide away,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Oh, I believe in yesterday.</a:t>
            </a:r>
          </a:p>
          <a:p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Why she had to go I don’t know, she wouldn’t say,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I said something wrong, now I long for yesterday.</a:t>
            </a:r>
          </a:p>
          <a:p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09994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104 -0.08004 " pathEditMode="relative" ptsTypes="AA">
                                      <p:cBhvr>
                                        <p:cTn id="1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104 -0.08004 " pathEditMode="relative" ptsTypes="AA">
                                      <p:cBhvr>
                                        <p:cTn id="1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-0.08003 L -0.28455 -0.07864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184" y="69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-0.08004 L -0.29132 -0.08397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514" y="-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208 -0.55957 " pathEditMode="relative" ptsTypes="AA">
                                      <p:cBhvr>
                                        <p:cTn id="21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208 -0.55957 " pathEditMode="relative" ptsTypes="AA">
                                      <p:cBhvr>
                                        <p:cTn id="2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0"/>
                            </p:stCondLst>
                            <p:childTnLst>
                              <p:par>
                                <p:cTn id="25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0.55194 L 0.34427 -0.55055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205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8" grpId="1"/>
      <p:bldP spid="8" grpId="2"/>
      <p:bldP spid="12" grpId="0"/>
      <p:bldP spid="12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97160" y="116632"/>
            <a:ext cx="6275040" cy="432048"/>
          </a:xfrm>
        </p:spPr>
        <p:txBody>
          <a:bodyPr>
            <a:noAutofit/>
          </a:bodyPr>
          <a:lstStyle/>
          <a:p>
            <a:pPr algn="l"/>
            <a:r>
              <a:rPr lang="uk-UA" sz="1800" dirty="0"/>
              <a:t>Зняття о</a:t>
            </a:r>
            <a:r>
              <a:rPr lang="ru-RU" sz="1800" dirty="0" err="1"/>
              <a:t>бтікання</a:t>
            </a:r>
            <a:r>
              <a:rPr lang="ru-RU" sz="1800" dirty="0"/>
              <a:t> текстового блоку </a:t>
            </a:r>
            <a:r>
              <a:rPr lang="ru-RU" sz="1800" dirty="0" err="1"/>
              <a:t>властивістю</a:t>
            </a:r>
            <a:r>
              <a:rPr lang="ru-RU" sz="1800" dirty="0"/>
              <a:t> </a:t>
            </a:r>
            <a:r>
              <a:rPr lang="ru-RU" sz="1800" dirty="0" err="1"/>
              <a:t>float</a:t>
            </a:r>
            <a:endParaRPr lang="ru-RU" sz="1800" dirty="0"/>
          </a:p>
        </p:txBody>
      </p:sp>
      <p:sp>
        <p:nvSpPr>
          <p:cNvPr id="4" name="TextBox 3"/>
          <p:cNvSpPr txBox="1"/>
          <p:nvPr/>
        </p:nvSpPr>
        <p:spPr>
          <a:xfrm>
            <a:off x="161111" y="1948267"/>
            <a:ext cx="4596130" cy="150810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&lt;div id="outer"&gt;</a:t>
            </a:r>
          </a:p>
          <a:p>
            <a:r>
              <a:rPr lang="en-US" dirty="0"/>
              <a:t>   &lt;</a:t>
            </a:r>
            <a:r>
              <a:rPr lang="en-US" dirty="0" err="1"/>
              <a:t>img</a:t>
            </a:r>
            <a:r>
              <a:rPr lang="en-US" dirty="0"/>
              <a:t> id="</a:t>
            </a:r>
            <a:r>
              <a:rPr lang="en-US" dirty="0" err="1"/>
              <a:t>im</a:t>
            </a:r>
            <a:r>
              <a:rPr lang="en-US" dirty="0"/>
              <a:t>"  </a:t>
            </a:r>
            <a:r>
              <a:rPr lang="en-US" dirty="0" err="1"/>
              <a:t>src</a:t>
            </a:r>
            <a:r>
              <a:rPr lang="ru-RU" dirty="0"/>
              <a:t> </a:t>
            </a:r>
            <a:r>
              <a:rPr lang="en-US" dirty="0"/>
              <a:t>=</a:t>
            </a:r>
            <a:r>
              <a:rPr lang="ru-RU" dirty="0"/>
              <a:t> </a:t>
            </a:r>
            <a:r>
              <a:rPr lang="en-US" dirty="0"/>
              <a:t>"path"</a:t>
            </a:r>
            <a:r>
              <a:rPr lang="ru-RU" dirty="0"/>
              <a:t> </a:t>
            </a:r>
            <a:r>
              <a:rPr lang="en-US" dirty="0"/>
              <a:t>&gt;</a:t>
            </a:r>
          </a:p>
          <a:p>
            <a:r>
              <a:rPr lang="en-US" dirty="0"/>
              <a:t>   &lt;p&gt;Some text</a:t>
            </a:r>
            <a:r>
              <a:rPr lang="ru-RU" dirty="0"/>
              <a:t>&lt;/</a:t>
            </a:r>
            <a:r>
              <a:rPr lang="en-US" dirty="0"/>
              <a:t>p&gt;</a:t>
            </a:r>
          </a:p>
          <a:p>
            <a:r>
              <a:rPr lang="en-US" dirty="0"/>
              <a:t>&lt;/div&gt;</a:t>
            </a:r>
          </a:p>
          <a:p>
            <a:r>
              <a:rPr lang="en-US" sz="2000" dirty="0">
                <a:solidFill>
                  <a:srgbClr val="FF0000"/>
                </a:solidFill>
              </a:rPr>
              <a:t>&lt;div class ="clear"&gt;&lt;/div&gt;</a:t>
            </a:r>
            <a:endParaRPr lang="ru-RU" sz="2000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5280" y="3645024"/>
            <a:ext cx="4182555" cy="2616101"/>
          </a:xfrm>
          <a:prstGeom prst="rect">
            <a:avLst/>
          </a:prstGeom>
          <a:solidFill>
            <a:srgbClr val="FFC000">
              <a:alpha val="9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#outer{ </a:t>
            </a:r>
          </a:p>
          <a:p>
            <a:r>
              <a:rPr lang="en-US" dirty="0"/>
              <a:t>   border:1px solid red; </a:t>
            </a:r>
          </a:p>
          <a:p>
            <a:r>
              <a:rPr lang="en-US" dirty="0"/>
              <a:t>   background:#ffe2e2;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#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ru-RU" dirty="0"/>
              <a:t> </a:t>
            </a:r>
            <a:r>
              <a:rPr lang="en-US" dirty="0"/>
              <a:t>{</a:t>
            </a:r>
            <a:r>
              <a:rPr lang="ru-RU" dirty="0"/>
              <a:t>  </a:t>
            </a:r>
            <a:r>
              <a:rPr lang="en-US" dirty="0" err="1"/>
              <a:t>float:right</a:t>
            </a:r>
            <a:r>
              <a:rPr lang="en-US" dirty="0"/>
              <a:t>;</a:t>
            </a:r>
            <a:r>
              <a:rPr lang="ru-RU" dirty="0"/>
              <a:t> </a:t>
            </a:r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sz="2000" dirty="0">
                <a:solidFill>
                  <a:srgbClr val="FF0000"/>
                </a:solidFill>
              </a:rPr>
              <a:t>.clear { clear : both ; }</a:t>
            </a:r>
          </a:p>
          <a:p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07504" y="1187460"/>
            <a:ext cx="5718923" cy="369332"/>
          </a:xfrm>
          <a:prstGeom prst="rect">
            <a:avLst/>
          </a:prstGeom>
          <a:solidFill>
            <a:srgbClr val="FFFF00">
              <a:alpha val="10000"/>
            </a:srgb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clear : both  |  right   | left </a:t>
            </a:r>
            <a:endParaRPr lang="ru-RU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76256" y="116632"/>
            <a:ext cx="2114681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/>
              <a:t>00</a:t>
            </a:r>
            <a:r>
              <a:rPr lang="en-US" dirty="0"/>
              <a:t>2/clear.html</a:t>
            </a:r>
            <a:endParaRPr lang="ru-RU" dirty="0"/>
          </a:p>
        </p:txBody>
      </p:sp>
      <p:grpSp>
        <p:nvGrpSpPr>
          <p:cNvPr id="30" name="Группа 29"/>
          <p:cNvGrpSpPr/>
          <p:nvPr/>
        </p:nvGrpSpPr>
        <p:grpSpPr>
          <a:xfrm>
            <a:off x="4139952" y="3212976"/>
            <a:ext cx="1872208" cy="2592288"/>
            <a:chOff x="4139952" y="3212976"/>
            <a:chExt cx="1872208" cy="2592288"/>
          </a:xfrm>
        </p:grpSpPr>
        <p:cxnSp>
          <p:nvCxnSpPr>
            <p:cNvPr id="25" name="Прямая соединительная линия 24"/>
            <p:cNvCxnSpPr/>
            <p:nvPr/>
          </p:nvCxnSpPr>
          <p:spPr>
            <a:xfrm>
              <a:off x="4139952" y="5805264"/>
              <a:ext cx="1872208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7" name="Прямая соединительная линия 26"/>
            <p:cNvCxnSpPr/>
            <p:nvPr/>
          </p:nvCxnSpPr>
          <p:spPr>
            <a:xfrm flipV="1">
              <a:off x="6012160" y="3212976"/>
              <a:ext cx="0" cy="2592288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" name="Прямая со стрелкой 28"/>
            <p:cNvCxnSpPr/>
            <p:nvPr/>
          </p:nvCxnSpPr>
          <p:spPr>
            <a:xfrm flipH="1">
              <a:off x="4572000" y="3212976"/>
              <a:ext cx="1440160" cy="0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293501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79512" y="116632"/>
            <a:ext cx="5080150" cy="360040"/>
          </a:xfrm>
        </p:spPr>
        <p:txBody>
          <a:bodyPr>
            <a:noAutofit/>
          </a:bodyPr>
          <a:lstStyle/>
          <a:p>
            <a:r>
              <a:rPr lang="en-US" sz="1800" dirty="0"/>
              <a:t>Collapsing parent element</a:t>
            </a:r>
            <a:endParaRPr lang="ru-RU" sz="1800" dirty="0"/>
          </a:p>
        </p:txBody>
      </p:sp>
      <p:sp>
        <p:nvSpPr>
          <p:cNvPr id="4" name="TextBox 3"/>
          <p:cNvSpPr txBox="1"/>
          <p:nvPr/>
        </p:nvSpPr>
        <p:spPr>
          <a:xfrm>
            <a:off x="-17972" y="2948751"/>
            <a:ext cx="4596130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&lt;div id="outer"&gt;</a:t>
            </a:r>
          </a:p>
          <a:p>
            <a:r>
              <a:rPr lang="ru-RU" dirty="0"/>
              <a:t>    </a:t>
            </a:r>
            <a:r>
              <a:rPr lang="en-US" dirty="0"/>
              <a:t>&lt;</a:t>
            </a:r>
            <a:r>
              <a:rPr lang="en-US" dirty="0" err="1"/>
              <a:t>img</a:t>
            </a:r>
            <a:r>
              <a:rPr lang="en-US" dirty="0"/>
              <a:t> id="</a:t>
            </a:r>
            <a:r>
              <a:rPr lang="en-US" dirty="0" err="1"/>
              <a:t>im</a:t>
            </a:r>
            <a:r>
              <a:rPr lang="en-US" dirty="0"/>
              <a:t>"  </a:t>
            </a:r>
            <a:r>
              <a:rPr lang="en-US" dirty="0" err="1"/>
              <a:t>src</a:t>
            </a:r>
            <a:r>
              <a:rPr lang="ru-RU" dirty="0"/>
              <a:t> </a:t>
            </a:r>
            <a:r>
              <a:rPr lang="en-US" dirty="0"/>
              <a:t>=</a:t>
            </a:r>
            <a:r>
              <a:rPr lang="ru-RU" dirty="0"/>
              <a:t> </a:t>
            </a:r>
            <a:r>
              <a:rPr lang="en-US" dirty="0"/>
              <a:t>"path"&gt;</a:t>
            </a:r>
          </a:p>
          <a:p>
            <a:r>
              <a:rPr lang="ru-RU" dirty="0"/>
              <a:t>    </a:t>
            </a:r>
            <a:r>
              <a:rPr lang="en-US" dirty="0"/>
              <a:t>&lt;p&gt;Some text</a:t>
            </a:r>
            <a:r>
              <a:rPr lang="ru-RU" dirty="0"/>
              <a:t>&lt;/</a:t>
            </a:r>
            <a:r>
              <a:rPr lang="en-US" dirty="0"/>
              <a:t>p&gt;</a:t>
            </a:r>
          </a:p>
          <a:p>
            <a:r>
              <a:rPr lang="en-US" dirty="0"/>
              <a:t>&lt;/div&gt;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860032" y="2898810"/>
            <a:ext cx="4182555" cy="1754326"/>
          </a:xfrm>
          <a:prstGeom prst="rect">
            <a:avLst/>
          </a:prstGeom>
          <a:solidFill>
            <a:srgbClr val="FFC000">
              <a:alpha val="9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#outer{ </a:t>
            </a:r>
          </a:p>
          <a:p>
            <a:r>
              <a:rPr lang="ru-RU" dirty="0"/>
              <a:t>   </a:t>
            </a:r>
            <a:r>
              <a:rPr lang="en-US" dirty="0"/>
              <a:t>border:1px solid red; </a:t>
            </a:r>
          </a:p>
          <a:p>
            <a:r>
              <a:rPr lang="ru-RU" dirty="0"/>
              <a:t>   </a:t>
            </a:r>
            <a:r>
              <a:rPr lang="en-US" dirty="0"/>
              <a:t>background:#ffe2e2;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   </a:t>
            </a:r>
          </a:p>
          <a:p>
            <a:r>
              <a:rPr lang="en-US" dirty="0"/>
              <a:t>#</a:t>
            </a:r>
            <a:r>
              <a:rPr lang="en-US" dirty="0" err="1"/>
              <a:t>im</a:t>
            </a:r>
            <a:r>
              <a:rPr lang="en-US" dirty="0"/>
              <a:t> {</a:t>
            </a:r>
            <a:r>
              <a:rPr lang="ru-RU" dirty="0"/>
              <a:t>  </a:t>
            </a:r>
            <a:r>
              <a:rPr lang="en-US" dirty="0" err="1"/>
              <a:t>float:right</a:t>
            </a:r>
            <a:r>
              <a:rPr lang="en-US" dirty="0"/>
              <a:t>;</a:t>
            </a:r>
            <a:r>
              <a:rPr lang="ru-RU" dirty="0"/>
              <a:t> </a:t>
            </a:r>
            <a:r>
              <a:rPr lang="en-US" dirty="0"/>
              <a:t>}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548680"/>
            <a:ext cx="6664326" cy="23325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504" y="4725144"/>
            <a:ext cx="9004992" cy="646331"/>
          </a:xfrm>
          <a:prstGeom prst="rect">
            <a:avLst/>
          </a:prstGeom>
          <a:solidFill>
            <a:srgbClr val="92D050">
              <a:alpha val="8000"/>
            </a:srgb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З таким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e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код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s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parent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елемент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 "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collapsed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" і ми не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побачимо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background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блока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646098" y="90199"/>
            <a:ext cx="2114681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/>
              <a:t>00</a:t>
            </a:r>
            <a:r>
              <a:rPr lang="en-US" dirty="0"/>
              <a:t>2/clear.html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53985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6123" y="194400"/>
            <a:ext cx="2808312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>
              <a:spcBef>
                <a:spcPct val="0"/>
              </a:spcBef>
              <a:buNone/>
              <a:defRPr kumimoji="0" sz="20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ru-RU" dirty="0"/>
              <a:t>Свойство  </a:t>
            </a:r>
            <a:r>
              <a:rPr lang="en-US" dirty="0"/>
              <a:t>z-index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76538" y="1484784"/>
            <a:ext cx="9001000" cy="646331"/>
          </a:xfrm>
          <a:prstGeom prst="rect">
            <a:avLst/>
          </a:prstGeom>
          <a:solidFill>
            <a:srgbClr val="FFFF00">
              <a:alpha val="4000"/>
            </a:srgbClr>
          </a:solidFill>
        </p:spPr>
        <p:txBody>
          <a:bodyPr wrap="square" rtlCol="0">
            <a:spAutoFit/>
          </a:bodyPr>
          <a:lstStyle>
            <a:defPPr>
              <a:defRPr lang="ru-RU"/>
            </a:defPPr>
            <a:lvl1pPr indent="0">
              <a:buNone/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/>
              <a:t>Блоки </a:t>
            </a:r>
            <a:r>
              <a:rPr lang="ru-RU" dirty="0" err="1"/>
              <a:t>вкладені</a:t>
            </a:r>
            <a:r>
              <a:rPr lang="ru-RU" dirty="0"/>
              <a:t> один в одного, а блоки, </a:t>
            </a:r>
            <a:r>
              <a:rPr lang="ru-RU" dirty="0" err="1"/>
              <a:t>вміст</a:t>
            </a:r>
            <a:r>
              <a:rPr lang="ru-RU" dirty="0"/>
              <a:t> </a:t>
            </a:r>
            <a:r>
              <a:rPr lang="ru-RU" dirty="0" err="1"/>
              <a:t>яких</a:t>
            </a:r>
            <a:r>
              <a:rPr lang="ru-RU" dirty="0"/>
              <a:t> </a:t>
            </a:r>
            <a:r>
              <a:rPr lang="ru-RU" dirty="0" err="1"/>
              <a:t>перетинається</a:t>
            </a:r>
            <a:r>
              <a:rPr lang="ru-RU" dirty="0"/>
              <a:t>, </a:t>
            </a:r>
            <a:r>
              <a:rPr lang="ru-RU" dirty="0" err="1"/>
              <a:t>розташовані</a:t>
            </a:r>
            <a:r>
              <a:rPr lang="ru-RU" dirty="0"/>
              <a:t> як </a:t>
            </a:r>
            <a:r>
              <a:rPr lang="ru-RU" dirty="0" err="1"/>
              <a:t>шари</a:t>
            </a:r>
            <a:r>
              <a:rPr lang="ru-RU" dirty="0"/>
              <a:t> один над одним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9912" y="225178"/>
            <a:ext cx="374441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z-index: </a:t>
            </a:r>
            <a:r>
              <a:rPr lang="ru-RU" dirty="0"/>
              <a:t>число | </a:t>
            </a:r>
            <a:r>
              <a:rPr lang="en-US" dirty="0"/>
              <a:t>auto | inherit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107504" y="764704"/>
            <a:ext cx="8784976" cy="646331"/>
          </a:xfrm>
          <a:prstGeom prst="rect">
            <a:avLst/>
          </a:prstGeom>
          <a:solidFill>
            <a:srgbClr val="FFFF00">
              <a:alpha val="10000"/>
            </a:srgb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 indent="0">
              <a:buNone/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/>
              <a:t>Як </a:t>
            </a:r>
            <a:r>
              <a:rPr lang="ru-RU" dirty="0" err="1"/>
              <a:t>значення</a:t>
            </a:r>
            <a:r>
              <a:rPr lang="ru-RU" dirty="0"/>
              <a:t> </a:t>
            </a:r>
            <a:r>
              <a:rPr lang="ru-RU" dirty="0" err="1"/>
              <a:t>використовуються</a:t>
            </a:r>
            <a:r>
              <a:rPr lang="ru-RU" dirty="0"/>
              <a:t> </a:t>
            </a:r>
            <a:r>
              <a:rPr lang="ru-RU" dirty="0" err="1"/>
              <a:t>цілі</a:t>
            </a:r>
            <a:r>
              <a:rPr lang="ru-RU" dirty="0"/>
              <a:t> числа (</a:t>
            </a:r>
            <a:r>
              <a:rPr lang="en-US" dirty="0"/>
              <a:t>positive, negative</a:t>
            </a:r>
            <a:r>
              <a:rPr lang="ru-RU" dirty="0"/>
              <a:t> та нуль).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420888"/>
            <a:ext cx="4480559" cy="41797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04048" y="2420888"/>
            <a:ext cx="4073490" cy="2031325"/>
          </a:xfrm>
          <a:prstGeom prst="rect">
            <a:avLst/>
          </a:prstGeom>
          <a:solidFill>
            <a:srgbClr val="92D050">
              <a:alpha val="4000"/>
            </a:srgbClr>
          </a:solidFill>
        </p:spPr>
        <p:txBody>
          <a:bodyPr wrap="square" rtlCol="0">
            <a:spAutoFit/>
          </a:bodyPr>
          <a:lstStyle>
            <a:defPPr>
              <a:defRPr lang="ru-RU"/>
            </a:defPPr>
            <a:lvl1pPr indent="0">
              <a:buNone/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/>
              <a:t>Або </a:t>
            </a:r>
            <a:r>
              <a:rPr lang="ru-RU" dirty="0" err="1"/>
              <a:t>навіть</a:t>
            </a:r>
            <a:r>
              <a:rPr lang="ru-RU" dirty="0"/>
              <a:t> </a:t>
            </a:r>
            <a:r>
              <a:rPr lang="ru-RU" dirty="0" err="1"/>
              <a:t>таке</a:t>
            </a:r>
            <a:r>
              <a:rPr lang="ru-RU" dirty="0"/>
              <a:t> </a:t>
            </a:r>
            <a:r>
              <a:rPr lang="ru-RU" dirty="0" err="1"/>
              <a:t>розташування</a:t>
            </a:r>
            <a:endParaRPr lang="ru-RU" dirty="0"/>
          </a:p>
          <a:p>
            <a:r>
              <a:rPr lang="ru-RU" dirty="0" err="1"/>
              <a:t>називається</a:t>
            </a:r>
            <a:r>
              <a:rPr lang="ru-RU" dirty="0"/>
              <a:t> стеком.</a:t>
            </a:r>
          </a:p>
          <a:p>
            <a:endParaRPr lang="ru-RU" dirty="0"/>
          </a:p>
          <a:p>
            <a:r>
              <a:rPr lang="ru-RU" dirty="0" err="1"/>
              <a:t>Самий</a:t>
            </a:r>
            <a:r>
              <a:rPr lang="ru-RU" dirty="0"/>
              <a:t> </a:t>
            </a:r>
            <a:r>
              <a:rPr lang="ru-RU" dirty="0" err="1"/>
              <a:t>верхній</a:t>
            </a:r>
            <a:r>
              <a:rPr lang="ru-RU" dirty="0"/>
              <a:t> блок у стеку</a:t>
            </a:r>
          </a:p>
          <a:p>
            <a:r>
              <a:rPr lang="ru-RU" dirty="0" err="1"/>
              <a:t>збігається</a:t>
            </a:r>
            <a:r>
              <a:rPr lang="ru-RU" dirty="0"/>
              <a:t> з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змістом</a:t>
            </a:r>
            <a:endParaRPr lang="ru-RU" dirty="0"/>
          </a:p>
          <a:p>
            <a:r>
              <a:rPr lang="ru-RU" dirty="0" err="1"/>
              <a:t>інші</a:t>
            </a:r>
            <a:r>
              <a:rPr lang="ru-RU" dirty="0"/>
              <a:t> блоки, </a:t>
            </a:r>
            <a:r>
              <a:rPr lang="ru-RU" dirty="0" err="1"/>
              <a:t>розташовані</a:t>
            </a:r>
            <a:r>
              <a:rPr lang="ru-RU" dirty="0"/>
              <a:t> </a:t>
            </a:r>
            <a:r>
              <a:rPr lang="ru-RU" dirty="0" err="1"/>
              <a:t>нижче</a:t>
            </a:r>
            <a:r>
              <a:rPr lang="ru-RU" dirty="0"/>
              <a:t> в стеку.</a:t>
            </a:r>
          </a:p>
        </p:txBody>
      </p:sp>
    </p:spTree>
    <p:extLst>
      <p:ext uri="{BB962C8B-B14F-4D97-AF65-F5344CB8AC3E}">
        <p14:creationId xmlns:p14="http://schemas.microsoft.com/office/powerpoint/2010/main" val="27985565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6123" y="194400"/>
            <a:ext cx="2808312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>
              <a:spcBef>
                <a:spcPct val="0"/>
              </a:spcBef>
              <a:buNone/>
              <a:defRPr kumimoji="0" sz="20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ru-RU" dirty="0"/>
              <a:t>Свойство  </a:t>
            </a:r>
            <a:r>
              <a:rPr lang="en-US" dirty="0"/>
              <a:t>z-index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6567281" y="167419"/>
            <a:ext cx="2252540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/>
              <a:t>00</a:t>
            </a:r>
            <a:r>
              <a:rPr lang="en-US" dirty="0"/>
              <a:t>1/zindex.html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35496" y="836712"/>
            <a:ext cx="8928992" cy="2585323"/>
          </a:xfrm>
          <a:prstGeom prst="rect">
            <a:avLst/>
          </a:prstGeom>
          <a:solidFill>
            <a:srgbClr val="FFFF00">
              <a:alpha val="4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 indent="0">
              <a:buNone/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/>
              <a:t>Порядок </a:t>
            </a:r>
            <a:r>
              <a:rPr lang="ru-RU" dirty="0" err="1"/>
              <a:t>появи</a:t>
            </a:r>
            <a:r>
              <a:rPr lang="ru-RU" dirty="0"/>
              <a:t> </a:t>
            </a:r>
            <a:r>
              <a:rPr lang="ru-RU" dirty="0" err="1"/>
              <a:t>елементів</a:t>
            </a:r>
            <a:r>
              <a:rPr lang="ru-RU" dirty="0"/>
              <a:t> у стеку (</a:t>
            </a:r>
            <a:r>
              <a:rPr lang="ru-RU" dirty="0" err="1"/>
              <a:t>починаючи</a:t>
            </a:r>
            <a:r>
              <a:rPr lang="ru-RU" dirty="0"/>
              <a:t> </a:t>
            </a:r>
            <a:r>
              <a:rPr lang="ru-RU" dirty="0" err="1"/>
              <a:t>знизу</a:t>
            </a:r>
            <a:r>
              <a:rPr lang="ru-RU" dirty="0"/>
              <a:t>):</a:t>
            </a:r>
            <a:endParaRPr lang="en-US" dirty="0"/>
          </a:p>
          <a:p>
            <a:endParaRPr lang="ru-RU" dirty="0"/>
          </a:p>
          <a:p>
            <a:pPr marL="342900" indent="-342900">
              <a:buAutoNum type="arabicPeriod"/>
            </a:pPr>
            <a:r>
              <a:rPr lang="en-US" dirty="0"/>
              <a:t>No position</a:t>
            </a:r>
            <a:r>
              <a:rPr lang="ru-RU" dirty="0"/>
              <a:t>, </a:t>
            </a:r>
            <a:r>
              <a:rPr lang="en-US" dirty="0"/>
              <a:t>no float </a:t>
            </a:r>
            <a:r>
              <a:rPr lang="ru-RU" dirty="0" err="1"/>
              <a:t>елементи</a:t>
            </a:r>
            <a:r>
              <a:rPr lang="ru-RU" dirty="0"/>
              <a:t> в порядку </a:t>
            </a:r>
            <a:r>
              <a:rPr lang="ru-RU" dirty="0" err="1"/>
              <a:t>появи</a:t>
            </a:r>
            <a:r>
              <a:rPr lang="ru-RU" dirty="0"/>
              <a:t> в </a:t>
            </a:r>
            <a:r>
              <a:rPr lang="ru-RU" dirty="0" err="1"/>
              <a:t>коді</a:t>
            </a:r>
            <a:r>
              <a:rPr lang="ru-RU" dirty="0"/>
              <a:t>.</a:t>
            </a:r>
          </a:p>
          <a:p>
            <a:pPr marL="342900" indent="-342900">
              <a:buAutoNum type="arabicPeriod"/>
            </a:pPr>
            <a:endParaRPr lang="ru-RU" dirty="0"/>
          </a:p>
          <a:p>
            <a:pPr marL="342900" indent="-342900">
              <a:buAutoNum type="arabicPeriod"/>
            </a:pPr>
            <a:r>
              <a:rPr lang="en-US" dirty="0"/>
              <a:t>float </a:t>
            </a:r>
            <a:r>
              <a:rPr lang="ru-RU" dirty="0" err="1"/>
              <a:t>елементи</a:t>
            </a:r>
            <a:r>
              <a:rPr lang="ru-RU" dirty="0"/>
              <a:t> у порядку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появи</a:t>
            </a:r>
            <a:r>
              <a:rPr lang="ru-RU" dirty="0"/>
              <a:t> в </a:t>
            </a:r>
            <a:r>
              <a:rPr lang="ru-RU" dirty="0" err="1"/>
              <a:t>коді</a:t>
            </a:r>
            <a:r>
              <a:rPr lang="ru-RU" dirty="0"/>
              <a:t>.</a:t>
            </a:r>
          </a:p>
          <a:p>
            <a:pPr marL="342900" indent="-342900">
              <a:buAutoNum type="arabicPeriod"/>
            </a:pPr>
            <a:endParaRPr lang="ru-RU" dirty="0"/>
          </a:p>
          <a:p>
            <a:pPr marL="342900" indent="-342900">
              <a:buAutoNum type="arabicPeriod"/>
            </a:pPr>
            <a:r>
              <a:rPr lang="en-US" dirty="0"/>
              <a:t>inline</a:t>
            </a:r>
            <a:r>
              <a:rPr lang="ru-RU" dirty="0"/>
              <a:t> </a:t>
            </a:r>
            <a:r>
              <a:rPr lang="ru-RU" dirty="0" err="1"/>
              <a:t>елементи</a:t>
            </a:r>
            <a:r>
              <a:rPr lang="ru-RU" dirty="0"/>
              <a:t> в порядку </a:t>
            </a:r>
            <a:r>
              <a:rPr lang="ru-RU" dirty="0" err="1"/>
              <a:t>появи</a:t>
            </a:r>
            <a:r>
              <a:rPr lang="ru-RU" dirty="0"/>
              <a:t> в </a:t>
            </a:r>
            <a:r>
              <a:rPr lang="ru-RU" dirty="0" err="1"/>
              <a:t>коді</a:t>
            </a:r>
            <a:r>
              <a:rPr lang="ru-RU" dirty="0"/>
              <a:t>.</a:t>
            </a:r>
          </a:p>
          <a:p>
            <a:pPr marL="342900" indent="-342900">
              <a:buAutoNum type="arabicPeriod"/>
            </a:pPr>
            <a:endParaRPr lang="ru-RU" dirty="0"/>
          </a:p>
          <a:p>
            <a:pPr marL="342900" indent="-342900">
              <a:buAutoNum type="arabicPeriod"/>
            </a:pPr>
            <a:r>
              <a:rPr lang="en-US" dirty="0"/>
              <a:t>position</a:t>
            </a:r>
            <a:r>
              <a:rPr lang="ru-RU" dirty="0"/>
              <a:t> </a:t>
            </a:r>
            <a:r>
              <a:rPr lang="ru-RU" dirty="0" err="1"/>
              <a:t>елементи</a:t>
            </a:r>
            <a:r>
              <a:rPr lang="ru-RU" dirty="0"/>
              <a:t> в порядку </a:t>
            </a:r>
            <a:r>
              <a:rPr lang="ru-RU" dirty="0" err="1"/>
              <a:t>появи</a:t>
            </a:r>
            <a:r>
              <a:rPr lang="ru-RU" dirty="0"/>
              <a:t> в </a:t>
            </a:r>
            <a:r>
              <a:rPr lang="ru-RU" dirty="0" err="1"/>
              <a:t>коді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107504" y="4509120"/>
            <a:ext cx="8856984" cy="1200329"/>
          </a:xfrm>
          <a:prstGeom prst="rect">
            <a:avLst/>
          </a:prstGeom>
          <a:solidFill>
            <a:schemeClr val="accent2">
              <a:alpha val="18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z-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index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починається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з 0 і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працює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лише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для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позиціонованих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елементів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float, 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position:relative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| absolute | fixed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Чим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більший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z-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індекс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тим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вищий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елемент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у стеку</a:t>
            </a:r>
          </a:p>
        </p:txBody>
      </p:sp>
    </p:spTree>
    <p:extLst>
      <p:ext uri="{BB962C8B-B14F-4D97-AF65-F5344CB8AC3E}">
        <p14:creationId xmlns:p14="http://schemas.microsoft.com/office/powerpoint/2010/main" val="27889020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16201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ема1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2337</TotalTime>
  <Words>1285</Words>
  <Application>Microsoft Office PowerPoint</Application>
  <PresentationFormat>Экран (4:3)</PresentationFormat>
  <Paragraphs>229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31" baseType="lpstr">
      <vt:lpstr>Arial</vt:lpstr>
      <vt:lpstr>Calibri</vt:lpstr>
      <vt:lpstr>Courier New</vt:lpstr>
      <vt:lpstr>Lucida Sans Unicode</vt:lpstr>
      <vt:lpstr>Verdana</vt:lpstr>
      <vt:lpstr>Wingdings 2</vt:lpstr>
      <vt:lpstr>Wingdings 3</vt:lpstr>
      <vt:lpstr>Тема1</vt:lpstr>
      <vt:lpstr>Logical properties</vt:lpstr>
      <vt:lpstr>Презентация PowerPoint</vt:lpstr>
      <vt:lpstr>Презентация PowerPoint</vt:lpstr>
      <vt:lpstr>Презентация PowerPoint</vt:lpstr>
      <vt:lpstr>Презентация PowerPoint</vt:lpstr>
      <vt:lpstr>Position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Абсолютне позиціонування</vt:lpstr>
      <vt:lpstr>Презентация PowerPoint</vt:lpstr>
      <vt:lpstr>Яка різниця між позиціонуванням блоку та його властивостями поля або відступу</vt:lpstr>
      <vt:lpstr>Презентация PowerPoint</vt:lpstr>
      <vt:lpstr>Застосування  position: absolute</vt:lpstr>
      <vt:lpstr>Свойство float</vt:lpstr>
      <vt:lpstr>Презентация PowerPoint</vt:lpstr>
      <vt:lpstr>Зняття обтікання текстового блоку властивістю float</vt:lpstr>
      <vt:lpstr>Collapsing parent element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Каскадные таблицы стилей  CSS</dc:title>
  <dc:creator>roman</dc:creator>
  <cp:lastModifiedBy>Роман Никифоров</cp:lastModifiedBy>
  <cp:revision>484</cp:revision>
  <dcterms:modified xsi:type="dcterms:W3CDTF">2024-08-12T15:11:50Z</dcterms:modified>
</cp:coreProperties>
</file>