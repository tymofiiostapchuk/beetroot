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3"/>
  </p:notesMasterIdLst>
  <p:sldIdLst>
    <p:sldId id="256" r:id="rId2"/>
    <p:sldId id="347" r:id="rId3"/>
    <p:sldId id="392" r:id="rId4"/>
    <p:sldId id="393" r:id="rId5"/>
    <p:sldId id="351" r:id="rId6"/>
    <p:sldId id="346" r:id="rId7"/>
    <p:sldId id="363" r:id="rId8"/>
    <p:sldId id="359" r:id="rId9"/>
    <p:sldId id="360" r:id="rId10"/>
    <p:sldId id="361" r:id="rId11"/>
    <p:sldId id="362" r:id="rId12"/>
    <p:sldId id="367" r:id="rId13"/>
    <p:sldId id="366" r:id="rId14"/>
    <p:sldId id="368" r:id="rId15"/>
    <p:sldId id="344" r:id="rId16"/>
    <p:sldId id="352" r:id="rId17"/>
    <p:sldId id="353" r:id="rId18"/>
    <p:sldId id="354" r:id="rId19"/>
    <p:sldId id="355" r:id="rId20"/>
    <p:sldId id="369" r:id="rId21"/>
    <p:sldId id="380" r:id="rId22"/>
    <p:sldId id="381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342" r:id="rId31"/>
    <p:sldId id="341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  <a:srgbClr val="3756F2"/>
    <a:srgbClr val="ABDFE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0" autoAdjust="0"/>
    <p:restoredTop sz="95852" autoAdjust="0"/>
  </p:normalViewPr>
  <p:slideViewPr>
    <p:cSldViewPr>
      <p:cViewPr varScale="1">
        <p:scale>
          <a:sx n="84" d="100"/>
          <a:sy n="84" d="100"/>
        </p:scale>
        <p:origin x="98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18.08.2024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.org/TR/css3-grid-layout/#fr-unit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goo.gl/ikg718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96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CSS Grid </a:t>
            </a:r>
            <a:r>
              <a:rPr lang="en-US" sz="9600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Lyout</a:t>
            </a:r>
            <a:endParaRPr lang="ru-RU" sz="96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A15DC88-9D16-4DE8-BFB5-930837B9CF25}"/>
              </a:ext>
            </a:extLst>
          </p:cNvPr>
          <p:cNvSpPr/>
          <p:nvPr/>
        </p:nvSpPr>
        <p:spPr>
          <a:xfrm>
            <a:off x="3275856" y="44624"/>
            <a:ext cx="252028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grid vs flex</a:t>
            </a:r>
            <a:endParaRPr lang="ru-RU" b="1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160673E-E227-471B-9A65-6798068E5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20688"/>
            <a:ext cx="8905610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8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7504" y="48345"/>
            <a:ext cx="8928992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Grid container </a:t>
            </a:r>
            <a:r>
              <a:rPr lang="en-US" b="1" dirty="0"/>
              <a:t>— </a:t>
            </a:r>
            <a:r>
              <a:rPr lang="ru-RU" b="1" dirty="0" err="1"/>
              <a:t>набір</a:t>
            </a:r>
            <a:r>
              <a:rPr lang="ru-RU" b="1" dirty="0"/>
              <a:t> </a:t>
            </a:r>
            <a:r>
              <a:rPr lang="ru-RU" b="1" dirty="0" err="1"/>
              <a:t>горизонтальних</a:t>
            </a:r>
            <a:r>
              <a:rPr lang="ru-RU" b="1" dirty="0"/>
              <a:t> і </a:t>
            </a:r>
            <a:r>
              <a:rPr lang="ru-RU" b="1" dirty="0" err="1"/>
              <a:t>вертикальних</a:t>
            </a:r>
            <a:r>
              <a:rPr lang="ru-RU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grid line</a:t>
            </a:r>
            <a:r>
              <a:rPr lang="en-US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перетинаються</a:t>
            </a:r>
            <a:r>
              <a:rPr lang="ru-RU" b="1" dirty="0"/>
              <a:t>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ділять</a:t>
            </a:r>
            <a:r>
              <a:rPr lang="ru-RU" b="1" dirty="0"/>
              <a:t> </a:t>
            </a:r>
            <a:r>
              <a:rPr lang="ru-RU" b="1" dirty="0" err="1"/>
              <a:t>простір</a:t>
            </a:r>
            <a:r>
              <a:rPr lang="ru-RU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grid</a:t>
            </a:r>
            <a:r>
              <a:rPr lang="en-US" b="1" dirty="0"/>
              <a:t> </a:t>
            </a:r>
            <a:r>
              <a:rPr lang="ru-RU" b="1" dirty="0"/>
              <a:t>контейнера на </a:t>
            </a:r>
            <a:r>
              <a:rPr lang="en-US" b="1" dirty="0">
                <a:solidFill>
                  <a:srgbClr val="0070C0"/>
                </a:solidFill>
              </a:rPr>
              <a:t>grid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area</a:t>
            </a:r>
            <a:r>
              <a:rPr lang="ru-RU" b="1" dirty="0"/>
              <a:t>, в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можуть</a:t>
            </a:r>
            <a:r>
              <a:rPr lang="ru-RU" b="1" dirty="0"/>
              <a:t> бути </a:t>
            </a:r>
            <a:r>
              <a:rPr lang="ru-RU" b="1" dirty="0" err="1"/>
              <a:t>поміщені</a:t>
            </a:r>
            <a:r>
              <a:rPr lang="ru-RU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grid-item</a:t>
            </a:r>
            <a:r>
              <a:rPr lang="en-US" b="1" dirty="0"/>
              <a:t> </a:t>
            </a:r>
            <a:r>
              <a:rPr lang="ru-RU" b="1" dirty="0" err="1"/>
              <a:t>елементи</a:t>
            </a:r>
            <a:r>
              <a:rPr lang="ru-RU" b="1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Grid container </a:t>
            </a:r>
            <a:r>
              <a:rPr lang="ru-RU" b="1" dirty="0" err="1"/>
              <a:t>складається</a:t>
            </a:r>
            <a:r>
              <a:rPr lang="ru-RU" b="1" dirty="0"/>
              <a:t> з </a:t>
            </a:r>
            <a:r>
              <a:rPr lang="ru-RU" b="1" dirty="0" err="1"/>
              <a:t>рядків</a:t>
            </a:r>
            <a:r>
              <a:rPr lang="ru-RU" b="1" dirty="0"/>
              <a:t>(</a:t>
            </a:r>
            <a:r>
              <a:rPr lang="en-US" b="1" dirty="0">
                <a:solidFill>
                  <a:srgbClr val="0070C0"/>
                </a:solidFill>
              </a:rPr>
              <a:t>rows</a:t>
            </a:r>
            <a:r>
              <a:rPr lang="en-US" b="1" dirty="0"/>
              <a:t>) </a:t>
            </a:r>
            <a:r>
              <a:rPr lang="ru-RU" b="1" dirty="0"/>
              <a:t>та колонок(</a:t>
            </a:r>
            <a:r>
              <a:rPr lang="en-US" b="1" dirty="0">
                <a:solidFill>
                  <a:srgbClr val="0070C0"/>
                </a:solidFill>
              </a:rPr>
              <a:t>columns</a:t>
            </a:r>
            <a:r>
              <a:rPr lang="en-US" b="1" dirty="0"/>
              <a:t>)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47C3A5-11D4-4D29-BF38-F77B9CB91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5" y="1772816"/>
            <a:ext cx="8754549" cy="192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6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34274" y="44624"/>
            <a:ext cx="851419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Line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- </a:t>
            </a:r>
            <a:r>
              <a:rPr lang="ru-RU" b="1" dirty="0" err="1"/>
              <a:t>горизонтальні</a:t>
            </a:r>
            <a:r>
              <a:rPr lang="ru-RU" b="1" dirty="0"/>
              <a:t> та </a:t>
            </a:r>
            <a:r>
              <a:rPr lang="ru-RU" b="1" dirty="0" err="1"/>
              <a:t>вертикальні</a:t>
            </a:r>
            <a:r>
              <a:rPr lang="ru-RU" b="1" dirty="0"/>
              <a:t> </a:t>
            </a:r>
            <a:r>
              <a:rPr lang="ru-RU" b="1" dirty="0" err="1"/>
              <a:t>роздільники</a:t>
            </a:r>
            <a:r>
              <a:rPr lang="ru-RU" b="1" dirty="0"/>
              <a:t> </a:t>
            </a:r>
            <a:r>
              <a:rPr lang="ru-RU" b="1" dirty="0" err="1"/>
              <a:t>сітки</a:t>
            </a:r>
            <a:r>
              <a:rPr lang="ru-RU" b="1" dirty="0"/>
              <a:t>. </a:t>
            </a:r>
          </a:p>
          <a:p>
            <a:r>
              <a:rPr lang="en-US" b="1" dirty="0">
                <a:solidFill>
                  <a:srgbClr val="C00000"/>
                </a:solidFill>
              </a:rPr>
              <a:t>Line</a:t>
            </a:r>
            <a:r>
              <a:rPr lang="en-US" b="1" dirty="0"/>
              <a:t> </a:t>
            </a:r>
            <a:r>
              <a:rPr lang="ru-RU" b="1" dirty="0" err="1"/>
              <a:t>розташовуються</a:t>
            </a:r>
            <a:r>
              <a:rPr lang="ru-RU" b="1" dirty="0"/>
              <a:t> по </a:t>
            </a:r>
            <a:r>
              <a:rPr lang="ru-RU" b="1" dirty="0" err="1"/>
              <a:t>обидва</a:t>
            </a:r>
            <a:r>
              <a:rPr lang="ru-RU" b="1" dirty="0"/>
              <a:t> боки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стовпця</a:t>
            </a:r>
            <a:r>
              <a:rPr lang="ru-RU" b="1" dirty="0"/>
              <a:t> </a:t>
            </a:r>
            <a:r>
              <a:rPr lang="ru-RU" b="1" dirty="0" err="1"/>
              <a:t>чи</a:t>
            </a:r>
            <a:r>
              <a:rPr lang="ru-RU" b="1" dirty="0"/>
              <a:t> рядка.</a:t>
            </a:r>
          </a:p>
          <a:p>
            <a:r>
              <a:rPr lang="ru-RU" b="1" dirty="0" err="1"/>
              <a:t>Їм</a:t>
            </a:r>
            <a:r>
              <a:rPr lang="ru-RU" b="1" dirty="0"/>
              <a:t>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задати</a:t>
            </a:r>
            <a:r>
              <a:rPr lang="ru-RU" b="1" dirty="0"/>
              <a:t> </a:t>
            </a:r>
            <a:r>
              <a:rPr lang="ru-RU" b="1" dirty="0" err="1"/>
              <a:t>ім'я</a:t>
            </a:r>
            <a:r>
              <a:rPr lang="ru-RU" b="1" dirty="0"/>
              <a:t> </a:t>
            </a:r>
            <a:r>
              <a:rPr lang="ru-RU" b="1" dirty="0" err="1"/>
              <a:t>чи</a:t>
            </a:r>
            <a:r>
              <a:rPr lang="ru-RU" b="1" dirty="0"/>
              <a:t> </a:t>
            </a:r>
            <a:r>
              <a:rPr lang="ru-RU" b="1" dirty="0" err="1"/>
              <a:t>числовий</a:t>
            </a:r>
            <a:r>
              <a:rPr lang="ru-RU" b="1" dirty="0"/>
              <a:t> </a:t>
            </a:r>
            <a:r>
              <a:rPr lang="ru-RU" b="1" dirty="0" err="1"/>
              <a:t>індекс</a:t>
            </a:r>
            <a:r>
              <a:rPr lang="ru-RU" b="1" dirty="0"/>
              <a:t>.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B9AF77-CBCD-45BF-8C26-A93D2F7B7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56792"/>
            <a:ext cx="7609988" cy="407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5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34274" y="44624"/>
            <a:ext cx="851419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Grid Gutters  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простір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між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rows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та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columns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99592" y="1268760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2699792" y="1268760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4499992" y="1268760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6300192" y="1268760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899592" y="2924944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2699792" y="2924944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4499992" y="2924944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6300192" y="2924944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899592" y="4509120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2699792" y="4509120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4499992" y="4509120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6300192" y="4509120"/>
            <a:ext cx="1512168" cy="1368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411760" y="1268760"/>
            <a:ext cx="288032" cy="46085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99592" y="2636912"/>
            <a:ext cx="6912768" cy="2880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 стрелкой 37"/>
          <p:cNvCxnSpPr/>
          <p:nvPr/>
        </p:nvCxnSpPr>
        <p:spPr>
          <a:xfrm>
            <a:off x="1619672" y="341948"/>
            <a:ext cx="936104" cy="86409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533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75856" y="44624"/>
            <a:ext cx="252028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b="1" dirty="0"/>
              <a:t>Основи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1500" y="476672"/>
            <a:ext cx="8928992" cy="1200329"/>
          </a:xfrm>
          <a:prstGeom prst="rect">
            <a:avLst/>
          </a:prstGeom>
          <a:solidFill>
            <a:srgbClr val="92D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display: grid;</a:t>
            </a:r>
          </a:p>
          <a:p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grid-template-columns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grid-template-rows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500" y="1844824"/>
            <a:ext cx="8928992" cy="1477328"/>
          </a:xfrm>
          <a:prstGeom prst="rect">
            <a:avLst/>
          </a:prstGeom>
          <a:solidFill>
            <a:srgbClr val="FFFF0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.grid-container { 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display: grid;   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grid-template-columns: 200px 50px 300px;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Розмірність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-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px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rem, %,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vh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vw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или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auto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Правая фигурная скобка 2"/>
          <p:cNvSpPr/>
          <p:nvPr/>
        </p:nvSpPr>
        <p:spPr>
          <a:xfrm>
            <a:off x="3275856" y="1124744"/>
            <a:ext cx="216024" cy="504056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653898" y="1051510"/>
            <a:ext cx="5184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Визначають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відстань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між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кожною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лінією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07504" y="3469135"/>
            <a:ext cx="8928992" cy="1477328"/>
          </a:xfrm>
          <a:prstGeom prst="rect">
            <a:avLst/>
          </a:prstGeom>
          <a:solidFill>
            <a:schemeClr val="tx2">
              <a:lumMod val="40000"/>
              <a:lumOff val="60000"/>
              <a:alpha val="8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По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суті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Grid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layout 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absolute position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flex</a:t>
            </a:r>
          </a:p>
          <a:p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Тому в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кожній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cell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встановлюється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z-index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відповідно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 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html-order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і до контенту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осередків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застосовується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overflow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: hidden;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873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915816" y="44624"/>
            <a:ext cx="3312368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Fraction unit</a:t>
            </a:r>
            <a:r>
              <a:rPr lang="ru-RU" b="1" dirty="0"/>
              <a:t> </a:t>
            </a:r>
            <a:r>
              <a:rPr lang="en-US" b="1" dirty="0" err="1"/>
              <a:t>fr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7504" y="525739"/>
            <a:ext cx="8928992" cy="175432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  <a:hlinkClick r:id="rId2"/>
              </a:rPr>
              <a:t>https://www.w3.org/TR/css3-grid-layout/#fr-unit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fraction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unit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представляє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частину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вільного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простору </a:t>
            </a:r>
          </a:p>
          <a:p>
            <a:r>
              <a:rPr lang="en-US" b="1" i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grid container</a:t>
            </a:r>
          </a:p>
          <a:p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Розподіл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вільного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простору </a:t>
            </a:r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здійснюється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після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того, як </a:t>
            </a:r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усі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не </a:t>
            </a:r>
            <a:r>
              <a:rPr lang="en-US" b="1" i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flexible functions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досягли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максимуму</a:t>
            </a:r>
            <a:endParaRPr lang="en-US" b="1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AFBE95-D4A0-4117-BF2C-8BED17919773}"/>
              </a:ext>
            </a:extLst>
          </p:cNvPr>
          <p:cNvSpPr txBox="1"/>
          <p:nvPr/>
        </p:nvSpPr>
        <p:spPr>
          <a:xfrm>
            <a:off x="107504" y="2564904"/>
            <a:ext cx="8928992" cy="12003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Особливості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застосування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fr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box-sizing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впливає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ширину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 ширина контенту не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впливає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ширину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 рядок без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пробілів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розширить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cell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8D6404-A28C-4133-A16A-59CBB2E65355}"/>
              </a:ext>
            </a:extLst>
          </p:cNvPr>
          <p:cNvSpPr txBox="1"/>
          <p:nvPr/>
        </p:nvSpPr>
        <p:spPr>
          <a:xfrm>
            <a:off x="77166" y="4276839"/>
            <a:ext cx="8928992" cy="230832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Задамо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для 1-й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cell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фіксовану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ширину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3756F2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b="1" dirty="0" err="1">
                <a:solidFill>
                  <a:srgbClr val="3756F2"/>
                </a:solidFill>
                <a:latin typeface="Courier New" pitchFamily="49" charset="0"/>
                <a:cs typeface="Courier New" pitchFamily="49" charset="0"/>
              </a:rPr>
              <a:t>item:nth-of-type</a:t>
            </a:r>
            <a:r>
              <a:rPr lang="en-US" b="1" dirty="0">
                <a:solidFill>
                  <a:srgbClr val="3756F2"/>
                </a:solidFill>
                <a:latin typeface="Courier New" pitchFamily="49" charset="0"/>
                <a:cs typeface="Courier New" pitchFamily="49" charset="0"/>
              </a:rPr>
              <a:t>(1) {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grid-template-columns: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300px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1fr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1fr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1fr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1fr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3756F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тепер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ширини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контейнера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віднімається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300px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ширина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розподілиться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між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cell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відповідно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вказаних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для них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fr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044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7504" y="620688"/>
            <a:ext cx="8928992" cy="45243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Принципи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розташування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cell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в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grid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layout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автоматичний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-&gt; браузер сам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блоки (типу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float)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ручний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- ми говоримо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куди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cell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стати (типу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position)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Наприклад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.grid-container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grid-template-columns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: 100px 200px 100px;</a:t>
            </a: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ширина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визначена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лише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для 3-х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контейнера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Але в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контейнері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може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бути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набагато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більше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елементів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відображення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тих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визначена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ширина, браузер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відобразить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у так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званих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implicit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lines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(автоматично)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190494" y="116632"/>
            <a:ext cx="252028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Implicit lines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653121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7504" y="836712"/>
            <a:ext cx="8928992" cy="147732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Наприклад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хочемо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щоб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cell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починалася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column-line 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закінчувалася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column-line 3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починалася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row-line 3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та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закінчувалася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row-line 4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можна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визначити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стилями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116632"/>
            <a:ext cx="8424936" cy="432048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/>
              <a:t>Ручне</a:t>
            </a:r>
            <a:r>
              <a:rPr lang="en-US" b="1" dirty="0"/>
              <a:t> (</a:t>
            </a:r>
            <a:r>
              <a:rPr lang="en-US" b="1" dirty="0">
                <a:solidFill>
                  <a:srgbClr val="C00000"/>
                </a:solidFill>
              </a:rPr>
              <a:t>explicit</a:t>
            </a:r>
            <a:r>
              <a:rPr lang="en-US" b="1" dirty="0"/>
              <a:t>)</a:t>
            </a:r>
            <a:r>
              <a:rPr lang="ru-RU" b="1" dirty="0"/>
              <a:t> </a:t>
            </a:r>
            <a:r>
              <a:rPr lang="ru-RU" b="1" dirty="0" err="1"/>
              <a:t>розташування</a:t>
            </a:r>
            <a:r>
              <a:rPr lang="ru-RU" b="1" dirty="0"/>
              <a:t> контенту </a:t>
            </a:r>
            <a:r>
              <a:rPr lang="ru-RU" b="1" dirty="0" err="1"/>
              <a:t>grid-container</a:t>
            </a:r>
            <a:endParaRPr lang="ru-RU" b="1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555381"/>
              </p:ext>
            </p:extLst>
          </p:nvPr>
        </p:nvGraphicFramePr>
        <p:xfrm>
          <a:off x="179512" y="2752328"/>
          <a:ext cx="323275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2757">
                  <a:extLst>
                    <a:ext uri="{9D8B030D-6E8A-4147-A177-3AD203B41FA5}">
                      <a16:colId xmlns:a16="http://schemas.microsoft.com/office/drawing/2014/main" val="2816602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grid-column-start: 2</a:t>
                      </a:r>
                      <a:endParaRPr lang="ru-RU" b="1" dirty="0">
                        <a:solidFill>
                          <a:srgbClr val="0070C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grid-column-end: 3</a:t>
                      </a:r>
                      <a:endParaRPr lang="ru-RU" b="1" dirty="0">
                        <a:solidFill>
                          <a:srgbClr val="0070C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862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grid-row-start: 3</a:t>
                      </a:r>
                      <a:endParaRPr lang="ru-RU" b="1" dirty="0">
                        <a:solidFill>
                          <a:srgbClr val="0070C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grid-row-end: 4</a:t>
                      </a:r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774064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576553"/>
              </p:ext>
            </p:extLst>
          </p:nvPr>
        </p:nvGraphicFramePr>
        <p:xfrm>
          <a:off x="5299683" y="2747533"/>
          <a:ext cx="3232757" cy="1833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2757">
                  <a:extLst>
                    <a:ext uri="{9D8B030D-6E8A-4147-A177-3AD203B41FA5}">
                      <a16:colId xmlns:a16="http://schemas.microsoft.com/office/drawing/2014/main" val="2816602440"/>
                    </a:ext>
                  </a:extLst>
                </a:gridCol>
              </a:tblGrid>
              <a:tr h="9167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grid-column: 2/3;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862800"/>
                  </a:ext>
                </a:extLst>
              </a:tr>
              <a:tr h="9167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grid-row: 3/4;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77406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918596" y="3277214"/>
            <a:ext cx="8611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rgbClr val="C00000"/>
                </a:solidFill>
              </a:rPr>
              <a:t>==</a:t>
            </a:r>
          </a:p>
        </p:txBody>
      </p:sp>
    </p:spTree>
    <p:extLst>
      <p:ext uri="{BB962C8B-B14F-4D97-AF65-F5344CB8AC3E}">
        <p14:creationId xmlns:p14="http://schemas.microsoft.com/office/powerpoint/2010/main" val="2101740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7504" y="116632"/>
            <a:ext cx="8928992" cy="230832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Але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буде,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розташувати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cell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за межами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Implicit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lines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Наприклад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у нас є 3 колонки, 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комірки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4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встановимо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grid-column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: 5/6;</a:t>
            </a:r>
          </a:p>
          <a:p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grid-row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: 1/2;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Браузер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додасть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 рядка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додаткові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line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встановить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їх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ширину в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auto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2708920"/>
            <a:ext cx="3096344" cy="12003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item:nth-of-type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(4){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grid-column: 1/4; </a:t>
            </a:r>
            <a:endParaRPr lang="ru-RU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grid-row: 1/2;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27984" y="2708920"/>
            <a:ext cx="4392488" cy="12003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item:nth-of-type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(4)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grid-column: </a:t>
            </a:r>
            <a:r>
              <a:rPr lang="ru-RU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/ span </a:t>
            </a:r>
            <a:r>
              <a:rPr lang="ru-RU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ru-RU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grid-row: 1/2;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0826" y="2924363"/>
            <a:ext cx="8611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rgbClr val="C00000"/>
                </a:solidFill>
              </a:rPr>
              <a:t>==</a:t>
            </a:r>
          </a:p>
        </p:txBody>
      </p:sp>
    </p:spTree>
    <p:extLst>
      <p:ext uri="{BB962C8B-B14F-4D97-AF65-F5344CB8AC3E}">
        <p14:creationId xmlns:p14="http://schemas.microsoft.com/office/powerpoint/2010/main" val="796821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7504" y="188640"/>
            <a:ext cx="8928992" cy="123110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Керувати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розташуванням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cell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  <a:cs typeface="Courier New" pitchFamily="49" charset="0"/>
              </a:rPr>
              <a:t>можно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ще так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item:nth-of-type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(4)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.grid-area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 / 1 / 3 / 3</a:t>
            </a:r>
            <a:endParaRPr lang="ru-RU" sz="20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uk-UA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2485259" y="1124744"/>
            <a:ext cx="4074684" cy="2560930"/>
            <a:chOff x="2104874" y="3789040"/>
            <a:chExt cx="4074684" cy="2560930"/>
          </a:xfrm>
        </p:grpSpPr>
        <p:cxnSp>
          <p:nvCxnSpPr>
            <p:cNvPr id="13" name="Прямая соединительная линия 12"/>
            <p:cNvCxnSpPr/>
            <p:nvPr/>
          </p:nvCxnSpPr>
          <p:spPr>
            <a:xfrm>
              <a:off x="2104874" y="3789040"/>
              <a:ext cx="0" cy="23762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/>
            <p:cNvCxnSpPr/>
            <p:nvPr/>
          </p:nvCxnSpPr>
          <p:spPr>
            <a:xfrm>
              <a:off x="2627784" y="3789040"/>
              <a:ext cx="0" cy="17281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/>
            <p:cNvCxnSpPr/>
            <p:nvPr/>
          </p:nvCxnSpPr>
          <p:spPr>
            <a:xfrm>
              <a:off x="3227230" y="3789040"/>
              <a:ext cx="0" cy="11881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/>
            <p:cNvCxnSpPr/>
            <p:nvPr/>
          </p:nvCxnSpPr>
          <p:spPr>
            <a:xfrm>
              <a:off x="3851920" y="3789040"/>
              <a:ext cx="0" cy="64807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2104874" y="6165304"/>
              <a:ext cx="81094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915816" y="5980638"/>
              <a:ext cx="1425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Row start</a:t>
              </a:r>
              <a:endParaRPr lang="ru-RU" b="1" dirty="0"/>
            </a:p>
          </p:txBody>
        </p:sp>
        <p:cxnSp>
          <p:nvCxnSpPr>
            <p:cNvPr id="19" name="Прямая соединительная линия 18"/>
            <p:cNvCxnSpPr/>
            <p:nvPr/>
          </p:nvCxnSpPr>
          <p:spPr>
            <a:xfrm>
              <a:off x="2627784" y="5517232"/>
              <a:ext cx="81094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3227230" y="4941168"/>
              <a:ext cx="81094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>
            <a:xfrm>
              <a:off x="3833066" y="4437112"/>
              <a:ext cx="81094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434642" y="5326216"/>
              <a:ext cx="1838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Column start</a:t>
              </a:r>
              <a:endParaRPr lang="ru-RU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30004" y="4787860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Row end</a:t>
              </a:r>
              <a:endParaRPr lang="ru-RU" b="1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16310" y="4249504"/>
              <a:ext cx="1563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Column end</a:t>
              </a:r>
              <a:endParaRPr lang="ru-RU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66209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19872" y="44624"/>
            <a:ext cx="2232248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Gutters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7504" y="476672"/>
            <a:ext cx="8856984" cy="9233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Задаються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лише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значеннях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фіксуються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px,em,rem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column-gap: 10px;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row-gap: 10px;</a:t>
            </a:r>
            <a:endParaRPr lang="en-US" b="1" i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4" y="1556792"/>
            <a:ext cx="8856984" cy="9233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Особливість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-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gap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змінює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ширину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комірки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Тому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ширина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cell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заданий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то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gap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додається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цієї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ширини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(як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margin)</a:t>
            </a:r>
          </a:p>
        </p:txBody>
      </p:sp>
    </p:spTree>
    <p:extLst>
      <p:ext uri="{BB962C8B-B14F-4D97-AF65-F5344CB8AC3E}">
        <p14:creationId xmlns:p14="http://schemas.microsoft.com/office/powerpoint/2010/main" val="342502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915816" y="44624"/>
            <a:ext cx="3312368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/>
              <a:t>Повторення</a:t>
            </a:r>
            <a:r>
              <a:rPr lang="ru-RU" b="1" dirty="0"/>
              <a:t> </a:t>
            </a:r>
            <a:r>
              <a:rPr lang="ru-RU" b="1" dirty="0" err="1"/>
              <a:t>патернів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7504" y="476672"/>
            <a:ext cx="8856984" cy="313932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Наприклад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маємо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класичну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12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колонкову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сітку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12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columns + 11 gutters = 23 grid lines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Щоб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ставити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стилі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так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grid-column-template: 1fr 10px 1fr 10px 1fr 10px 1fr 10px 1fr 10px 1fr 10px 1fr 10px 1fr 10px 1fr 10px 1fr 10px 1fr 10px 1fr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застосовуються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повторювальні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патерни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grid-column-template: 1fr repeat(11, 10px 1fr);</a:t>
            </a:r>
            <a:endParaRPr lang="en-US" b="1" i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32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987824" y="44624"/>
            <a:ext cx="3096344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/>
              <a:t>Іменовані</a:t>
            </a:r>
            <a:r>
              <a:rPr lang="ru-RU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line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504" y="476672"/>
            <a:ext cx="8856984" cy="9233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Наприклад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grid-template-columns: [</a:t>
            </a:r>
            <a:r>
              <a:rPr lang="uk-UA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І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М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’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Я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] 1fr [</a:t>
            </a:r>
            <a:r>
              <a:rPr lang="uk-UA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І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М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’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Я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];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grid-template-rows: [</a:t>
            </a:r>
            <a:r>
              <a:rPr lang="uk-UA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І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М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’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Я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] 1fr [</a:t>
            </a:r>
            <a:r>
              <a:rPr lang="uk-UA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І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М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’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Я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337473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395536" y="476672"/>
            <a:ext cx="8229600" cy="6237312"/>
            <a:chOff x="395536" y="188640"/>
            <a:chExt cx="8229600" cy="6237312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188640"/>
              <a:ext cx="8229600" cy="6237312"/>
            </a:xfrm>
            <a:prstGeom prst="rect">
              <a:avLst/>
            </a:prstGeom>
          </p:spPr>
        </p:pic>
        <p:sp>
          <p:nvSpPr>
            <p:cNvPr id="7" name="Прямоугольник 6"/>
            <p:cNvSpPr/>
            <p:nvPr/>
          </p:nvSpPr>
          <p:spPr>
            <a:xfrm>
              <a:off x="467544" y="188640"/>
              <a:ext cx="8064896" cy="1584176"/>
            </a:xfrm>
            <a:prstGeom prst="rect">
              <a:avLst/>
            </a:pr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solidFill>
                    <a:schemeClr val="tx1"/>
                  </a:solidFill>
                </a:rPr>
                <a:t>Header</a:t>
              </a:r>
              <a:endParaRPr lang="ru-RU" sz="7200" dirty="0">
                <a:solidFill>
                  <a:schemeClr val="tx1"/>
                </a:solidFill>
              </a:endParaRPr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1835696" y="1772816"/>
              <a:ext cx="5400600" cy="3024335"/>
            </a:xfrm>
            <a:prstGeom prst="rect">
              <a:avLst/>
            </a:prstGeom>
            <a:solidFill>
              <a:srgbClr val="92D050">
                <a:alpha val="3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solidFill>
                    <a:schemeClr val="tx1"/>
                  </a:solidFill>
                </a:rPr>
                <a:t>Main content</a:t>
              </a:r>
              <a:endParaRPr lang="ru-RU" sz="4800" dirty="0">
                <a:solidFill>
                  <a:schemeClr val="tx1"/>
                </a:solidFill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467544" y="4816202"/>
              <a:ext cx="8064896" cy="1584176"/>
            </a:xfrm>
            <a:prstGeom prst="rect">
              <a:avLst/>
            </a:pr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solidFill>
                    <a:schemeClr val="tx1"/>
                  </a:solidFill>
                </a:rPr>
                <a:t>Footer</a:t>
              </a:r>
              <a:endParaRPr lang="ru-RU" sz="7200" dirty="0">
                <a:solidFill>
                  <a:schemeClr val="tx1"/>
                </a:solidFill>
              </a:endParaRPr>
            </a:p>
          </p:txBody>
        </p:sp>
        <p:grpSp>
          <p:nvGrpSpPr>
            <p:cNvPr id="8" name="Группа 7"/>
            <p:cNvGrpSpPr/>
            <p:nvPr/>
          </p:nvGrpSpPr>
          <p:grpSpPr>
            <a:xfrm>
              <a:off x="486594" y="1772816"/>
              <a:ext cx="1277094" cy="3024335"/>
              <a:chOff x="524694" y="1772816"/>
              <a:chExt cx="1203448" cy="3024335"/>
            </a:xfrm>
          </p:grpSpPr>
          <p:sp>
            <p:nvSpPr>
              <p:cNvPr id="13" name="Прямоугольник 12"/>
              <p:cNvSpPr/>
              <p:nvPr/>
            </p:nvSpPr>
            <p:spPr>
              <a:xfrm>
                <a:off x="524694" y="1772816"/>
                <a:ext cx="1203448" cy="3024335"/>
              </a:xfrm>
              <a:prstGeom prst="rect">
                <a:avLst/>
              </a:prstGeom>
              <a:solidFill>
                <a:schemeClr val="tx1">
                  <a:alpha val="3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16087" y="1916832"/>
                <a:ext cx="615553" cy="2736304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r>
                  <a:rPr lang="en-US" sz="2800" dirty="0"/>
                  <a:t>Sidebar left</a:t>
                </a:r>
                <a:endParaRPr lang="ru-RU" sz="2800" dirty="0"/>
              </a:p>
            </p:txBody>
          </p:sp>
        </p:grpSp>
        <p:grpSp>
          <p:nvGrpSpPr>
            <p:cNvPr id="16" name="Группа 15"/>
            <p:cNvGrpSpPr/>
            <p:nvPr/>
          </p:nvGrpSpPr>
          <p:grpSpPr>
            <a:xfrm>
              <a:off x="7308304" y="1772816"/>
              <a:ext cx="1203448" cy="3168352"/>
              <a:chOff x="524694" y="1772816"/>
              <a:chExt cx="1203448" cy="3168352"/>
            </a:xfrm>
          </p:grpSpPr>
          <p:sp>
            <p:nvSpPr>
              <p:cNvPr id="17" name="Прямоугольник 16"/>
              <p:cNvSpPr/>
              <p:nvPr/>
            </p:nvSpPr>
            <p:spPr>
              <a:xfrm>
                <a:off x="524694" y="1772816"/>
                <a:ext cx="1203448" cy="3024335"/>
              </a:xfrm>
              <a:prstGeom prst="rect">
                <a:avLst/>
              </a:prstGeom>
              <a:solidFill>
                <a:schemeClr val="tx1">
                  <a:alpha val="3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716087" y="1916832"/>
                <a:ext cx="615553" cy="3024336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r>
                  <a:rPr lang="en-US" sz="2800" dirty="0"/>
                  <a:t>Sidebar right</a:t>
                </a:r>
                <a:endParaRPr lang="ru-RU" sz="2800" dirty="0"/>
              </a:p>
            </p:txBody>
          </p:sp>
        </p:grpSp>
      </p:grpSp>
      <p:sp>
        <p:nvSpPr>
          <p:cNvPr id="20" name="TextBox 19"/>
          <p:cNvSpPr txBox="1"/>
          <p:nvPr/>
        </p:nvSpPr>
        <p:spPr>
          <a:xfrm>
            <a:off x="323528" y="35332"/>
            <a:ext cx="5561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12 columns + 11 gutters = 23 grid lines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229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74440"/>
            <a:ext cx="8229600" cy="450912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67544" y="1174440"/>
            <a:ext cx="7992888" cy="450912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619672" y="1174440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1772072" y="1152128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7116663" y="1167916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7255346" y="1164654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67544" y="1988840"/>
            <a:ext cx="7992888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58019" y="4835252"/>
            <a:ext cx="7992888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686" y="119155"/>
            <a:ext cx="266611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left-sidebar-start</a:t>
            </a:r>
            <a:endParaRPr lang="ru-RU" b="1" dirty="0"/>
          </a:p>
        </p:txBody>
      </p:sp>
      <p:cxnSp>
        <p:nvCxnSpPr>
          <p:cNvPr id="26" name="Прямая со стрелкой 25"/>
          <p:cNvCxnSpPr>
            <a:stCxn id="14" idx="2"/>
          </p:cNvCxnSpPr>
          <p:nvPr/>
        </p:nvCxnSpPr>
        <p:spPr>
          <a:xfrm flipH="1">
            <a:off x="467546" y="488487"/>
            <a:ext cx="971197" cy="1140313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3148" y="6184847"/>
            <a:ext cx="241118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left-sidebar-end</a:t>
            </a:r>
            <a:endParaRPr lang="ru-RU" b="1" dirty="0"/>
          </a:p>
        </p:txBody>
      </p:sp>
      <p:cxnSp>
        <p:nvCxnSpPr>
          <p:cNvPr id="29" name="Прямая со стрелкой 28"/>
          <p:cNvCxnSpPr/>
          <p:nvPr/>
        </p:nvCxnSpPr>
        <p:spPr>
          <a:xfrm flipV="1">
            <a:off x="1259632" y="5373216"/>
            <a:ext cx="360040" cy="811631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494631" y="96184"/>
            <a:ext cx="2232248" cy="369332"/>
          </a:xfrm>
          <a:prstGeom prst="rect">
            <a:avLst/>
          </a:prstGeom>
          <a:solidFill>
            <a:srgbClr val="92D050">
              <a:alpha val="20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main-area-start</a:t>
            </a:r>
            <a:endParaRPr lang="ru-RU" b="1" dirty="0"/>
          </a:p>
        </p:txBody>
      </p:sp>
      <p:cxnSp>
        <p:nvCxnSpPr>
          <p:cNvPr id="36" name="Прямая со стрелкой 35"/>
          <p:cNvCxnSpPr>
            <a:stCxn id="33" idx="2"/>
          </p:cNvCxnSpPr>
          <p:nvPr/>
        </p:nvCxnSpPr>
        <p:spPr>
          <a:xfrm flipH="1">
            <a:off x="1798783" y="465516"/>
            <a:ext cx="2811972" cy="947260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55642" y="6174322"/>
            <a:ext cx="2071109" cy="369332"/>
          </a:xfrm>
          <a:prstGeom prst="rect">
            <a:avLst/>
          </a:prstGeom>
          <a:solidFill>
            <a:srgbClr val="92D050">
              <a:alpha val="20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main-area-end</a:t>
            </a:r>
            <a:endParaRPr lang="ru-RU" dirty="0"/>
          </a:p>
        </p:txBody>
      </p:sp>
      <p:cxnSp>
        <p:nvCxnSpPr>
          <p:cNvPr id="41" name="Прямая со стрелкой 40"/>
          <p:cNvCxnSpPr>
            <a:stCxn id="40" idx="0"/>
          </p:cNvCxnSpPr>
          <p:nvPr/>
        </p:nvCxnSpPr>
        <p:spPr>
          <a:xfrm flipV="1">
            <a:off x="4591197" y="5161824"/>
            <a:ext cx="2525466" cy="1012498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56176" y="116632"/>
            <a:ext cx="2803973" cy="369332"/>
          </a:xfrm>
          <a:prstGeom prst="rect">
            <a:avLst/>
          </a:prstGeom>
          <a:solidFill>
            <a:srgbClr val="FFFF00">
              <a:alpha val="7000"/>
            </a:srgb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right-sidebar-start</a:t>
            </a:r>
            <a:endParaRPr lang="ru-RU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6384912" y="6207019"/>
            <a:ext cx="2528256" cy="369332"/>
          </a:xfrm>
          <a:prstGeom prst="rect">
            <a:avLst/>
          </a:prstGeom>
          <a:solidFill>
            <a:srgbClr val="FFFF00">
              <a:alpha val="7000"/>
            </a:srgb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right-sidebar-end</a:t>
            </a:r>
            <a:endParaRPr lang="ru-RU" dirty="0"/>
          </a:p>
        </p:txBody>
      </p:sp>
      <p:cxnSp>
        <p:nvCxnSpPr>
          <p:cNvPr id="47" name="Прямая со стрелкой 46"/>
          <p:cNvCxnSpPr>
            <a:stCxn id="45" idx="0"/>
          </p:cNvCxnSpPr>
          <p:nvPr/>
        </p:nvCxnSpPr>
        <p:spPr>
          <a:xfrm flipV="1">
            <a:off x="7649040" y="5278457"/>
            <a:ext cx="779515" cy="928562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 flipH="1">
            <a:off x="7255346" y="495736"/>
            <a:ext cx="448094" cy="1121909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0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8" grpId="0" animBg="1"/>
      <p:bldP spid="33" grpId="0" animBg="1"/>
      <p:bldP spid="40" grpId="0" animBg="1"/>
      <p:bldP spid="44" grpId="0" animBg="1"/>
      <p:bldP spid="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74440"/>
            <a:ext cx="8229600" cy="450912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67544" y="1174440"/>
            <a:ext cx="7992888" cy="450912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619672" y="1174440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1772072" y="1152128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7116663" y="1167916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7255346" y="1164654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67544" y="1988840"/>
            <a:ext cx="7992888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58019" y="4835252"/>
            <a:ext cx="7992888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686" y="119155"/>
            <a:ext cx="266611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left-sidebar-start</a:t>
            </a:r>
            <a:endParaRPr lang="ru-RU" b="1" dirty="0"/>
          </a:p>
        </p:txBody>
      </p:sp>
      <p:cxnSp>
        <p:nvCxnSpPr>
          <p:cNvPr id="26" name="Прямая со стрелкой 25"/>
          <p:cNvCxnSpPr>
            <a:stCxn id="14" idx="2"/>
          </p:cNvCxnSpPr>
          <p:nvPr/>
        </p:nvCxnSpPr>
        <p:spPr>
          <a:xfrm flipH="1">
            <a:off x="467546" y="488487"/>
            <a:ext cx="971197" cy="1140313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3148" y="6184847"/>
            <a:ext cx="241118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left-sidebar-end</a:t>
            </a:r>
            <a:endParaRPr lang="ru-RU" b="1" dirty="0"/>
          </a:p>
        </p:txBody>
      </p:sp>
      <p:cxnSp>
        <p:nvCxnSpPr>
          <p:cNvPr id="29" name="Прямая со стрелкой 28"/>
          <p:cNvCxnSpPr/>
          <p:nvPr/>
        </p:nvCxnSpPr>
        <p:spPr>
          <a:xfrm flipV="1">
            <a:off x="1259632" y="5373216"/>
            <a:ext cx="360040" cy="811631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494631" y="96184"/>
            <a:ext cx="2232248" cy="369332"/>
          </a:xfrm>
          <a:prstGeom prst="rect">
            <a:avLst/>
          </a:prstGeom>
          <a:solidFill>
            <a:srgbClr val="92D050">
              <a:alpha val="20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main-area-start</a:t>
            </a:r>
            <a:endParaRPr lang="ru-RU" b="1" dirty="0"/>
          </a:p>
        </p:txBody>
      </p:sp>
      <p:cxnSp>
        <p:nvCxnSpPr>
          <p:cNvPr id="36" name="Прямая со стрелкой 35"/>
          <p:cNvCxnSpPr>
            <a:stCxn id="33" idx="2"/>
          </p:cNvCxnSpPr>
          <p:nvPr/>
        </p:nvCxnSpPr>
        <p:spPr>
          <a:xfrm flipH="1">
            <a:off x="1798783" y="465516"/>
            <a:ext cx="2811972" cy="947260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55642" y="6174322"/>
            <a:ext cx="2071109" cy="369332"/>
          </a:xfrm>
          <a:prstGeom prst="rect">
            <a:avLst/>
          </a:prstGeom>
          <a:solidFill>
            <a:srgbClr val="92D050">
              <a:alpha val="20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main-area-end</a:t>
            </a:r>
            <a:endParaRPr lang="ru-RU" dirty="0"/>
          </a:p>
        </p:txBody>
      </p:sp>
      <p:cxnSp>
        <p:nvCxnSpPr>
          <p:cNvPr id="41" name="Прямая со стрелкой 40"/>
          <p:cNvCxnSpPr>
            <a:stCxn id="40" idx="0"/>
          </p:cNvCxnSpPr>
          <p:nvPr/>
        </p:nvCxnSpPr>
        <p:spPr>
          <a:xfrm flipV="1">
            <a:off x="4591197" y="5161824"/>
            <a:ext cx="2525466" cy="1012498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56176" y="116632"/>
            <a:ext cx="2803973" cy="369332"/>
          </a:xfrm>
          <a:prstGeom prst="rect">
            <a:avLst/>
          </a:prstGeom>
          <a:solidFill>
            <a:srgbClr val="FFFF00">
              <a:alpha val="7000"/>
            </a:srgb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right-sidebar-start</a:t>
            </a:r>
            <a:endParaRPr lang="ru-RU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6384912" y="6207019"/>
            <a:ext cx="2528256" cy="369332"/>
          </a:xfrm>
          <a:prstGeom prst="rect">
            <a:avLst/>
          </a:prstGeom>
          <a:solidFill>
            <a:srgbClr val="FFFF00">
              <a:alpha val="7000"/>
            </a:srgb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right-sidebar-end</a:t>
            </a:r>
            <a:endParaRPr lang="ru-RU" dirty="0"/>
          </a:p>
        </p:txBody>
      </p:sp>
      <p:cxnSp>
        <p:nvCxnSpPr>
          <p:cNvPr id="47" name="Прямая со стрелкой 46"/>
          <p:cNvCxnSpPr>
            <a:stCxn id="45" idx="0"/>
          </p:cNvCxnSpPr>
          <p:nvPr/>
        </p:nvCxnSpPr>
        <p:spPr>
          <a:xfrm flipV="1">
            <a:off x="7649040" y="5278457"/>
            <a:ext cx="779515" cy="928562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 flipH="1">
            <a:off x="7255346" y="495736"/>
            <a:ext cx="448094" cy="1121909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004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74440"/>
            <a:ext cx="8229600" cy="450912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67544" y="1174440"/>
            <a:ext cx="7992888" cy="450912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619672" y="1174440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1772072" y="1152128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7116663" y="1167916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7255346" y="1164654"/>
            <a:ext cx="0" cy="450912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67544" y="1988840"/>
            <a:ext cx="7992888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58019" y="4835252"/>
            <a:ext cx="7992888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6615" y="92922"/>
            <a:ext cx="183896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header-start</a:t>
            </a:r>
            <a:endParaRPr lang="ru-RU" b="1" dirty="0"/>
          </a:p>
        </p:txBody>
      </p:sp>
      <p:cxnSp>
        <p:nvCxnSpPr>
          <p:cNvPr id="26" name="Прямая со стрелкой 25"/>
          <p:cNvCxnSpPr>
            <a:stCxn id="14" idx="2"/>
          </p:cNvCxnSpPr>
          <p:nvPr/>
        </p:nvCxnSpPr>
        <p:spPr>
          <a:xfrm>
            <a:off x="1206098" y="462254"/>
            <a:ext cx="719449" cy="702400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465884" y="109439"/>
            <a:ext cx="157080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header-end</a:t>
            </a:r>
            <a:endParaRPr lang="ru-RU" b="1" dirty="0"/>
          </a:p>
        </p:txBody>
      </p:sp>
      <p:cxnSp>
        <p:nvCxnSpPr>
          <p:cNvPr id="29" name="Прямая со стрелкой 28"/>
          <p:cNvCxnSpPr/>
          <p:nvPr/>
        </p:nvCxnSpPr>
        <p:spPr>
          <a:xfrm flipV="1">
            <a:off x="3450216" y="2199264"/>
            <a:ext cx="1121784" cy="627151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11760" y="2843644"/>
            <a:ext cx="2004904" cy="369332"/>
          </a:xfrm>
          <a:prstGeom prst="rect">
            <a:avLst/>
          </a:prstGeom>
          <a:solidFill>
            <a:srgbClr val="92D050">
              <a:alpha val="20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main-start</a:t>
            </a:r>
            <a:endParaRPr lang="ru-RU" b="1" dirty="0"/>
          </a:p>
        </p:txBody>
      </p:sp>
      <p:cxnSp>
        <p:nvCxnSpPr>
          <p:cNvPr id="36" name="Прямая со стрелкой 35"/>
          <p:cNvCxnSpPr>
            <a:stCxn id="28" idx="2"/>
          </p:cNvCxnSpPr>
          <p:nvPr/>
        </p:nvCxnSpPr>
        <p:spPr>
          <a:xfrm flipH="1">
            <a:off x="2608857" y="478771"/>
            <a:ext cx="642429" cy="1500283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483768" y="3628917"/>
            <a:ext cx="1932896" cy="369332"/>
          </a:xfrm>
          <a:prstGeom prst="rect">
            <a:avLst/>
          </a:prstGeom>
          <a:solidFill>
            <a:srgbClr val="92D050">
              <a:alpha val="20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en-US" dirty="0"/>
              <a:t>main-end</a:t>
            </a:r>
            <a:endParaRPr lang="ru-RU" dirty="0"/>
          </a:p>
        </p:txBody>
      </p:sp>
      <p:cxnSp>
        <p:nvCxnSpPr>
          <p:cNvPr id="41" name="Прямая со стрелкой 40"/>
          <p:cNvCxnSpPr>
            <a:stCxn id="40" idx="2"/>
          </p:cNvCxnSpPr>
          <p:nvPr/>
        </p:nvCxnSpPr>
        <p:spPr>
          <a:xfrm>
            <a:off x="3450216" y="3998249"/>
            <a:ext cx="1121784" cy="678704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2795" y="6290982"/>
            <a:ext cx="1838965" cy="369332"/>
          </a:xfrm>
          <a:prstGeom prst="rect">
            <a:avLst/>
          </a:prstGeom>
          <a:solidFill>
            <a:srgbClr val="FFFF00">
              <a:alpha val="7000"/>
            </a:srgb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footer-start</a:t>
            </a:r>
            <a:endParaRPr lang="ru-RU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3051856" y="6284167"/>
            <a:ext cx="1563248" cy="369332"/>
          </a:xfrm>
          <a:prstGeom prst="rect">
            <a:avLst/>
          </a:prstGeom>
          <a:solidFill>
            <a:srgbClr val="FFFF00">
              <a:alpha val="7000"/>
            </a:srgb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footer-end</a:t>
            </a:r>
            <a:endParaRPr lang="ru-RU" dirty="0"/>
          </a:p>
        </p:txBody>
      </p:sp>
      <p:cxnSp>
        <p:nvCxnSpPr>
          <p:cNvPr id="47" name="Прямая со стрелкой 46"/>
          <p:cNvCxnSpPr/>
          <p:nvPr/>
        </p:nvCxnSpPr>
        <p:spPr>
          <a:xfrm flipH="1" flipV="1">
            <a:off x="2771801" y="5683560"/>
            <a:ext cx="1442822" cy="608811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stCxn id="44" idx="0"/>
          </p:cNvCxnSpPr>
          <p:nvPr/>
        </p:nvCxnSpPr>
        <p:spPr>
          <a:xfrm flipV="1">
            <a:off x="1492278" y="4835253"/>
            <a:ext cx="1116579" cy="1455729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472877" y="2141240"/>
            <a:ext cx="7992888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>
            <a:off x="478210" y="4691236"/>
            <a:ext cx="7992888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463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285" y="53709"/>
            <a:ext cx="3312368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Grid templates areas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7504" y="476672"/>
            <a:ext cx="4104456" cy="9233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За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допомогою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ASCII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графіки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можна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описувати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як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виглядатиме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розкладка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66797" y="110405"/>
            <a:ext cx="4392488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.grid-container {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grid-template-areas: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"header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header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header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"left  content right" 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"footer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footer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footer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8" name="Группа 27"/>
          <p:cNvGrpSpPr/>
          <p:nvPr/>
        </p:nvGrpSpPr>
        <p:grpSpPr>
          <a:xfrm>
            <a:off x="125329" y="2060848"/>
            <a:ext cx="8234587" cy="4531432"/>
            <a:chOff x="323528" y="332656"/>
            <a:chExt cx="8234587" cy="4531432"/>
          </a:xfrm>
        </p:grpSpPr>
        <p:grpSp>
          <p:nvGrpSpPr>
            <p:cNvPr id="29" name="Группа 28"/>
            <p:cNvGrpSpPr/>
            <p:nvPr/>
          </p:nvGrpSpPr>
          <p:grpSpPr>
            <a:xfrm>
              <a:off x="323528" y="332656"/>
              <a:ext cx="8229600" cy="4531432"/>
              <a:chOff x="323528" y="1152128"/>
              <a:chExt cx="8229600" cy="4531432"/>
            </a:xfrm>
          </p:grpSpPr>
          <p:pic>
            <p:nvPicPr>
              <p:cNvPr id="39" name="Рисунок 38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3528" y="1174440"/>
                <a:ext cx="8229600" cy="4509120"/>
              </a:xfrm>
              <a:prstGeom prst="rect">
                <a:avLst/>
              </a:prstGeom>
            </p:spPr>
          </p:pic>
          <p:sp>
            <p:nvSpPr>
              <p:cNvPr id="40" name="Прямоугольник 39"/>
              <p:cNvSpPr/>
              <p:nvPr/>
            </p:nvSpPr>
            <p:spPr>
              <a:xfrm>
                <a:off x="467544" y="1174440"/>
                <a:ext cx="7992888" cy="4509120"/>
              </a:xfrm>
              <a:prstGeom prst="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41" name="Прямая соединительная линия 40"/>
              <p:cNvCxnSpPr/>
              <p:nvPr/>
            </p:nvCxnSpPr>
            <p:spPr>
              <a:xfrm>
                <a:off x="3032594" y="1174440"/>
                <a:ext cx="0" cy="450912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Прямая соединительная линия 41"/>
              <p:cNvCxnSpPr/>
              <p:nvPr/>
            </p:nvCxnSpPr>
            <p:spPr>
              <a:xfrm>
                <a:off x="3184994" y="1152128"/>
                <a:ext cx="0" cy="450912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Прямая соединительная линия 42"/>
              <p:cNvCxnSpPr/>
              <p:nvPr/>
            </p:nvCxnSpPr>
            <p:spPr>
              <a:xfrm>
                <a:off x="5742982" y="1167916"/>
                <a:ext cx="0" cy="450912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Прямая соединительная линия 43"/>
              <p:cNvCxnSpPr/>
              <p:nvPr/>
            </p:nvCxnSpPr>
            <p:spPr>
              <a:xfrm>
                <a:off x="5881665" y="1164654"/>
                <a:ext cx="0" cy="450912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Прямая соединительная линия 44"/>
              <p:cNvCxnSpPr/>
              <p:nvPr/>
            </p:nvCxnSpPr>
            <p:spPr>
              <a:xfrm>
                <a:off x="467544" y="1988840"/>
                <a:ext cx="7992888" cy="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/>
              <p:cNvCxnSpPr/>
              <p:nvPr/>
            </p:nvCxnSpPr>
            <p:spPr>
              <a:xfrm>
                <a:off x="458019" y="4835252"/>
                <a:ext cx="7992888" cy="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/>
              <p:cNvCxnSpPr/>
              <p:nvPr/>
            </p:nvCxnSpPr>
            <p:spPr>
              <a:xfrm>
                <a:off x="472877" y="2141240"/>
                <a:ext cx="7992888" cy="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единительная линия 47"/>
              <p:cNvCxnSpPr/>
              <p:nvPr/>
            </p:nvCxnSpPr>
            <p:spPr>
              <a:xfrm>
                <a:off x="478210" y="4691236"/>
                <a:ext cx="7992888" cy="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Прямоугольник 29"/>
            <p:cNvSpPr/>
            <p:nvPr/>
          </p:nvSpPr>
          <p:spPr>
            <a:xfrm>
              <a:off x="467544" y="404664"/>
              <a:ext cx="7992888" cy="720080"/>
            </a:xfrm>
            <a:prstGeom prst="rect">
              <a:avLst/>
            </a:prstGeom>
            <a:solidFill>
              <a:srgbClr val="ABDFEB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</a:rPr>
                <a:t>grid-area: header</a:t>
              </a:r>
              <a:endParaRPr lang="ru-RU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31" name="Прямоугольник 30"/>
            <p:cNvSpPr/>
            <p:nvPr/>
          </p:nvSpPr>
          <p:spPr>
            <a:xfrm>
              <a:off x="467544" y="1340768"/>
              <a:ext cx="2520280" cy="2522612"/>
            </a:xfrm>
            <a:prstGeom prst="rect">
              <a:avLst/>
            </a:prstGeom>
            <a:solidFill>
              <a:srgbClr val="FFFF00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/>
            <p:cNvSpPr/>
            <p:nvPr/>
          </p:nvSpPr>
          <p:spPr>
            <a:xfrm>
              <a:off x="3203848" y="1340768"/>
              <a:ext cx="2520280" cy="2522612"/>
            </a:xfrm>
            <a:prstGeom prst="rect">
              <a:avLst/>
            </a:prstGeom>
            <a:solidFill>
              <a:schemeClr val="accent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5940152" y="1340768"/>
              <a:ext cx="2520280" cy="2522612"/>
            </a:xfrm>
            <a:prstGeom prst="rect">
              <a:avLst/>
            </a:prstGeom>
            <a:solidFill>
              <a:srgbClr val="3756F2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501844" y="4015780"/>
              <a:ext cx="7992888" cy="790799"/>
            </a:xfrm>
            <a:prstGeom prst="rect">
              <a:avLst/>
            </a:prstGeom>
            <a:solidFill>
              <a:schemeClr val="accent3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23515" y="1900244"/>
              <a:ext cx="281837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grid-area: content</a:t>
              </a:r>
              <a:endParaRPr lang="ru-RU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473702" y="4077072"/>
              <a:ext cx="440255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grid-area: footer</a:t>
              </a:r>
              <a:endParaRPr lang="ru-RU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7877" y="1749960"/>
              <a:ext cx="269530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grid-area:</a:t>
              </a:r>
            </a:p>
            <a:p>
              <a:r>
                <a:rPr lang="en-US" sz="3200" b="1" dirty="0">
                  <a:solidFill>
                    <a:srgbClr val="C00000"/>
                  </a:solidFill>
                </a:rPr>
                <a:t>  left</a:t>
              </a:r>
              <a:endParaRPr lang="ru-RU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862810" y="2091544"/>
              <a:ext cx="269530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grid-area:</a:t>
              </a:r>
            </a:p>
            <a:p>
              <a:r>
                <a:rPr lang="en-US" sz="3200" b="1" dirty="0">
                  <a:solidFill>
                    <a:srgbClr val="C00000"/>
                  </a:solidFill>
                </a:rPr>
                <a:t>  right</a:t>
              </a:r>
              <a:endParaRPr lang="ru-RU" sz="3200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6053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/>
          <p:cNvGrpSpPr/>
          <p:nvPr/>
        </p:nvGrpSpPr>
        <p:grpSpPr>
          <a:xfrm>
            <a:off x="323528" y="121704"/>
            <a:ext cx="8234587" cy="4531432"/>
            <a:chOff x="323528" y="332656"/>
            <a:chExt cx="8234587" cy="4531432"/>
          </a:xfrm>
        </p:grpSpPr>
        <p:grpSp>
          <p:nvGrpSpPr>
            <p:cNvPr id="4" name="Группа 3"/>
            <p:cNvGrpSpPr/>
            <p:nvPr/>
          </p:nvGrpSpPr>
          <p:grpSpPr>
            <a:xfrm>
              <a:off x="323528" y="332656"/>
              <a:ext cx="8229600" cy="4531432"/>
              <a:chOff x="323528" y="1152128"/>
              <a:chExt cx="8229600" cy="4531432"/>
            </a:xfrm>
          </p:grpSpPr>
          <p:pic>
            <p:nvPicPr>
              <p:cNvPr id="2" name="Рисунок 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3528" y="1174440"/>
                <a:ext cx="8229600" cy="4509120"/>
              </a:xfrm>
              <a:prstGeom prst="rect">
                <a:avLst/>
              </a:prstGeom>
            </p:spPr>
          </p:pic>
          <p:sp>
            <p:nvSpPr>
              <p:cNvPr id="3" name="Прямоугольник 2"/>
              <p:cNvSpPr/>
              <p:nvPr/>
            </p:nvSpPr>
            <p:spPr>
              <a:xfrm>
                <a:off x="467544" y="1174440"/>
                <a:ext cx="7992888" cy="4509120"/>
              </a:xfrm>
              <a:prstGeom prst="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5" name="Прямая соединительная линия 4"/>
              <p:cNvCxnSpPr/>
              <p:nvPr/>
            </p:nvCxnSpPr>
            <p:spPr>
              <a:xfrm>
                <a:off x="3032594" y="1174440"/>
                <a:ext cx="0" cy="450912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/>
              <p:cNvCxnSpPr/>
              <p:nvPr/>
            </p:nvCxnSpPr>
            <p:spPr>
              <a:xfrm>
                <a:off x="3184994" y="1152128"/>
                <a:ext cx="0" cy="450912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/>
              <p:cNvCxnSpPr/>
              <p:nvPr/>
            </p:nvCxnSpPr>
            <p:spPr>
              <a:xfrm>
                <a:off x="5742982" y="1167916"/>
                <a:ext cx="0" cy="450912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/>
              <p:cNvCxnSpPr/>
              <p:nvPr/>
            </p:nvCxnSpPr>
            <p:spPr>
              <a:xfrm>
                <a:off x="5881665" y="1164654"/>
                <a:ext cx="0" cy="450912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/>
              <p:cNvCxnSpPr/>
              <p:nvPr/>
            </p:nvCxnSpPr>
            <p:spPr>
              <a:xfrm>
                <a:off x="467544" y="1988840"/>
                <a:ext cx="7992888" cy="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/>
              <p:cNvCxnSpPr/>
              <p:nvPr/>
            </p:nvCxnSpPr>
            <p:spPr>
              <a:xfrm>
                <a:off x="458019" y="4835252"/>
                <a:ext cx="7992888" cy="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/>
              <p:cNvCxnSpPr/>
              <p:nvPr/>
            </p:nvCxnSpPr>
            <p:spPr>
              <a:xfrm>
                <a:off x="472877" y="2141240"/>
                <a:ext cx="7992888" cy="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/>
              <p:cNvCxnSpPr/>
              <p:nvPr/>
            </p:nvCxnSpPr>
            <p:spPr>
              <a:xfrm>
                <a:off x="478210" y="4691236"/>
                <a:ext cx="7992888" cy="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Прямоугольник 5"/>
            <p:cNvSpPr/>
            <p:nvPr/>
          </p:nvSpPr>
          <p:spPr>
            <a:xfrm>
              <a:off x="467544" y="404664"/>
              <a:ext cx="7992888" cy="720080"/>
            </a:xfrm>
            <a:prstGeom prst="rect">
              <a:avLst/>
            </a:prstGeom>
            <a:solidFill>
              <a:srgbClr val="ABDFEB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</a:rPr>
                <a:t>grid-area: header</a:t>
              </a:r>
              <a:endParaRPr lang="ru-RU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31" name="Прямоугольник 30"/>
            <p:cNvSpPr/>
            <p:nvPr/>
          </p:nvSpPr>
          <p:spPr>
            <a:xfrm>
              <a:off x="467544" y="1340768"/>
              <a:ext cx="2520280" cy="2522612"/>
            </a:xfrm>
            <a:prstGeom prst="rect">
              <a:avLst/>
            </a:prstGeom>
            <a:solidFill>
              <a:srgbClr val="FFFF00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/>
            <p:cNvSpPr/>
            <p:nvPr/>
          </p:nvSpPr>
          <p:spPr>
            <a:xfrm>
              <a:off x="3203848" y="1340768"/>
              <a:ext cx="2520280" cy="2522612"/>
            </a:xfrm>
            <a:prstGeom prst="rect">
              <a:avLst/>
            </a:prstGeom>
            <a:solidFill>
              <a:schemeClr val="accent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5940152" y="1340768"/>
              <a:ext cx="2520280" cy="2522612"/>
            </a:xfrm>
            <a:prstGeom prst="rect">
              <a:avLst/>
            </a:prstGeom>
            <a:solidFill>
              <a:srgbClr val="3756F2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501844" y="4015780"/>
              <a:ext cx="7992888" cy="790799"/>
            </a:xfrm>
            <a:prstGeom prst="rect">
              <a:avLst/>
            </a:prstGeom>
            <a:solidFill>
              <a:schemeClr val="accent3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23515" y="1900244"/>
              <a:ext cx="281837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grid-area: content</a:t>
              </a:r>
              <a:endParaRPr lang="ru-RU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473702" y="4077072"/>
              <a:ext cx="440255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grid-area: footer</a:t>
              </a:r>
              <a:endParaRPr lang="ru-RU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7877" y="1749960"/>
              <a:ext cx="269530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grid-area:</a:t>
              </a:r>
            </a:p>
            <a:p>
              <a:r>
                <a:rPr lang="en-US" sz="3200" b="1" dirty="0">
                  <a:solidFill>
                    <a:srgbClr val="C00000"/>
                  </a:solidFill>
                </a:rPr>
                <a:t>  left</a:t>
              </a:r>
              <a:endParaRPr lang="ru-RU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862810" y="2091544"/>
              <a:ext cx="269530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grid-area:</a:t>
              </a:r>
            </a:p>
            <a:p>
              <a:r>
                <a:rPr lang="en-US" sz="3200" b="1" dirty="0">
                  <a:solidFill>
                    <a:srgbClr val="C00000"/>
                  </a:solidFill>
                </a:rPr>
                <a:t>  right</a:t>
              </a:r>
              <a:endParaRPr lang="ru-RU" sz="3200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6203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665852" y="86002"/>
            <a:ext cx="3384376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2"/>
              </a:rPr>
              <a:t>https://goo.gl/ikg718</a:t>
            </a:r>
            <a:r>
              <a:rPr lang="en-US" b="1" dirty="0"/>
              <a:t> 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116632"/>
            <a:ext cx="360040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 </a:t>
            </a:r>
            <a:r>
              <a:rPr lang="en-US" b="1" dirty="0"/>
              <a:t>CSS Box Alignment Module</a:t>
            </a:r>
            <a:endParaRPr lang="ru-RU" b="1" dirty="0">
              <a:solidFill>
                <a:srgbClr val="C00000"/>
              </a:solidFill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123478" y="620688"/>
            <a:ext cx="2858556" cy="1294311"/>
            <a:chOff x="6069793" y="1339555"/>
            <a:chExt cx="2858556" cy="1294311"/>
          </a:xfrm>
        </p:grpSpPr>
        <p:sp>
          <p:nvSpPr>
            <p:cNvPr id="7" name="TextBox 6"/>
            <p:cNvSpPr txBox="1"/>
            <p:nvPr/>
          </p:nvSpPr>
          <p:spPr>
            <a:xfrm>
              <a:off x="6069793" y="1710536"/>
              <a:ext cx="2858556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justify-items</a:t>
              </a:r>
            </a:p>
            <a:p>
              <a:r>
                <a:rPr lang="en-US" b="1" dirty="0"/>
                <a:t>justify-content </a:t>
              </a:r>
            </a:p>
            <a:p>
              <a:r>
                <a:rPr lang="en-US" b="1" dirty="0"/>
                <a:t>justify-self 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69793" y="1339555"/>
              <a:ext cx="2858556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row axis</a:t>
              </a:r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3308281" y="692696"/>
            <a:ext cx="2858556" cy="1291199"/>
            <a:chOff x="5928762" y="3205147"/>
            <a:chExt cx="2858556" cy="1291199"/>
          </a:xfrm>
        </p:grpSpPr>
        <p:sp>
          <p:nvSpPr>
            <p:cNvPr id="8" name="TextBox 7"/>
            <p:cNvSpPr txBox="1"/>
            <p:nvPr/>
          </p:nvSpPr>
          <p:spPr>
            <a:xfrm>
              <a:off x="5928762" y="3573016"/>
              <a:ext cx="2858556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align-items</a:t>
              </a:r>
            </a:p>
            <a:p>
              <a:r>
                <a:rPr lang="en-US" b="1" dirty="0"/>
                <a:t>align-content</a:t>
              </a:r>
            </a:p>
            <a:p>
              <a:r>
                <a:rPr lang="en-US" b="1" dirty="0"/>
                <a:t>align-self</a:t>
              </a:r>
              <a:endParaRPr lang="ru-RU" b="1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28762" y="3205147"/>
              <a:ext cx="2858556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column axis</a:t>
              </a:r>
            </a:p>
          </p:txBody>
        </p:sp>
      </p:grp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40D28F-CDC0-44D7-94A6-FA5C8C466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78" y="2192339"/>
            <a:ext cx="7536580" cy="459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5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30317" y="44624"/>
            <a:ext cx="8978187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justify-items </a:t>
            </a:r>
            <a:r>
              <a:rPr lang="en-US" b="1" dirty="0">
                <a:solidFill>
                  <a:srgbClr val="0070C0"/>
                </a:solidFill>
              </a:rPr>
              <a:t>start | end | center  | stretch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ru-RU" b="1" dirty="0" err="1"/>
              <a:t>Застосовується</a:t>
            </a:r>
            <a:r>
              <a:rPr lang="ru-RU" b="1" dirty="0"/>
              <a:t> до </a:t>
            </a:r>
            <a:r>
              <a:rPr lang="en-US" b="1" dirty="0">
                <a:solidFill>
                  <a:srgbClr val="FF0000"/>
                </a:solidFill>
              </a:rPr>
              <a:t>grid-box</a:t>
            </a:r>
            <a:r>
              <a:rPr lang="uk-UA" b="1" dirty="0"/>
              <a:t>, вирівнювання - по </a:t>
            </a:r>
            <a:r>
              <a:rPr lang="en-US" b="1" dirty="0">
                <a:solidFill>
                  <a:srgbClr val="FF0000"/>
                </a:solidFill>
              </a:rPr>
              <a:t>row axis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align-items </a:t>
            </a:r>
            <a:r>
              <a:rPr lang="en-US" b="1" dirty="0">
                <a:solidFill>
                  <a:srgbClr val="0070C0"/>
                </a:solidFill>
              </a:rPr>
              <a:t>start | end | center  | stretch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ru-RU" b="1" dirty="0" err="1"/>
              <a:t>Застосовується</a:t>
            </a:r>
            <a:r>
              <a:rPr lang="ru-RU" b="1" dirty="0"/>
              <a:t> к </a:t>
            </a:r>
            <a:r>
              <a:rPr lang="en-US" b="1" dirty="0">
                <a:solidFill>
                  <a:srgbClr val="FF0000"/>
                </a:solidFill>
              </a:rPr>
              <a:t>grid-box</a:t>
            </a:r>
            <a:r>
              <a:rPr lang="uk-UA" b="1" dirty="0"/>
              <a:t>, вирівнювання - по </a:t>
            </a:r>
            <a:r>
              <a:rPr lang="en-US" b="1" dirty="0">
                <a:solidFill>
                  <a:srgbClr val="FF0000"/>
                </a:solidFill>
              </a:rPr>
              <a:t>column axis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076CA-1755-4B2E-9863-6CAF96704779}"/>
              </a:ext>
            </a:extLst>
          </p:cNvPr>
          <p:cNvSpPr txBox="1"/>
          <p:nvPr/>
        </p:nvSpPr>
        <p:spPr>
          <a:xfrm>
            <a:off x="100808" y="1807656"/>
            <a:ext cx="8978187" cy="31393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justify-content</a:t>
            </a:r>
            <a:r>
              <a:rPr lang="ru-RU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0070C0"/>
                </a:solidFill>
              </a:rPr>
              <a:t>start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| end | center | stretch | space-around | </a:t>
            </a:r>
          </a:p>
          <a:p>
            <a:r>
              <a:rPr lang="en-US" b="1" dirty="0">
                <a:solidFill>
                  <a:srgbClr val="0070C0"/>
                </a:solidFill>
              </a:rPr>
              <a:t>space-between  |  space evenly</a:t>
            </a:r>
          </a:p>
          <a:p>
            <a:endParaRPr lang="en-US" b="1" dirty="0"/>
          </a:p>
          <a:p>
            <a:r>
              <a:rPr lang="ru-RU" b="1" dirty="0" err="1"/>
              <a:t>Застосовується</a:t>
            </a:r>
            <a:r>
              <a:rPr lang="ru-RU" b="1" dirty="0"/>
              <a:t> к </a:t>
            </a:r>
            <a:r>
              <a:rPr lang="en-US" b="1" dirty="0">
                <a:solidFill>
                  <a:srgbClr val="FF0000"/>
                </a:solidFill>
              </a:rPr>
              <a:t>grid-box</a:t>
            </a:r>
            <a:r>
              <a:rPr lang="uk-UA" b="1" dirty="0"/>
              <a:t>, вирівнювання - по </a:t>
            </a:r>
            <a:r>
              <a:rPr lang="en-US" b="1" dirty="0">
                <a:solidFill>
                  <a:srgbClr val="FF0000"/>
                </a:solidFill>
              </a:rPr>
              <a:t>row axis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align-content</a:t>
            </a:r>
            <a:r>
              <a:rPr lang="ru-RU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0070C0"/>
                </a:solidFill>
              </a:rPr>
              <a:t>start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| end | center | stretch | space-around | </a:t>
            </a:r>
          </a:p>
          <a:p>
            <a:r>
              <a:rPr lang="en-US" b="1" dirty="0">
                <a:solidFill>
                  <a:srgbClr val="0070C0"/>
                </a:solidFill>
              </a:rPr>
              <a:t>space-between  |  space evenly</a:t>
            </a:r>
          </a:p>
          <a:p>
            <a:endParaRPr lang="en-US" b="1" dirty="0"/>
          </a:p>
          <a:p>
            <a:r>
              <a:rPr lang="ru-RU" b="1" dirty="0" err="1"/>
              <a:t>Застосовується</a:t>
            </a:r>
            <a:r>
              <a:rPr lang="ru-RU" b="1" dirty="0"/>
              <a:t> к </a:t>
            </a:r>
            <a:r>
              <a:rPr lang="en-US" b="1" dirty="0">
                <a:solidFill>
                  <a:srgbClr val="FF0000"/>
                </a:solidFill>
              </a:rPr>
              <a:t>grid-box</a:t>
            </a:r>
            <a:r>
              <a:rPr lang="uk-UA" b="1" dirty="0"/>
              <a:t>, вирівнювання - по </a:t>
            </a:r>
            <a:r>
              <a:rPr lang="en-US" b="1" dirty="0">
                <a:solidFill>
                  <a:srgbClr val="FF0000"/>
                </a:solidFill>
              </a:rPr>
              <a:t>column axis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BC2EDC-3FB7-4310-ABF1-C5D161EB496C}"/>
              </a:ext>
            </a:extLst>
          </p:cNvPr>
          <p:cNvSpPr txBox="1"/>
          <p:nvPr/>
        </p:nvSpPr>
        <p:spPr>
          <a:xfrm>
            <a:off x="130317" y="5229200"/>
            <a:ext cx="8978187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justify-self </a:t>
            </a:r>
            <a:r>
              <a:rPr lang="en-US" b="1" dirty="0">
                <a:solidFill>
                  <a:srgbClr val="0070C0"/>
                </a:solidFill>
              </a:rPr>
              <a:t>start | end | center  | stretch    </a:t>
            </a:r>
            <a:r>
              <a:rPr lang="en-US" b="1" dirty="0">
                <a:solidFill>
                  <a:srgbClr val="FF0000"/>
                </a:solidFill>
              </a:rPr>
              <a:t>row axis</a:t>
            </a:r>
            <a:endParaRPr lang="ru-RU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align-self  </a:t>
            </a:r>
            <a:r>
              <a:rPr lang="en-US" b="1" dirty="0">
                <a:solidFill>
                  <a:srgbClr val="0070C0"/>
                </a:solidFill>
              </a:rPr>
              <a:t>start | end | center  | stretch     </a:t>
            </a:r>
            <a:r>
              <a:rPr lang="en-US" b="1" dirty="0">
                <a:solidFill>
                  <a:srgbClr val="FF0000"/>
                </a:solidFill>
              </a:rPr>
              <a:t>column axis</a:t>
            </a:r>
            <a:endParaRPr lang="en-US" b="1" dirty="0">
              <a:solidFill>
                <a:srgbClr val="0070C0"/>
              </a:solidFill>
            </a:endParaRPr>
          </a:p>
          <a:p>
            <a:endParaRPr lang="en-US" b="1"/>
          </a:p>
          <a:p>
            <a:r>
              <a:rPr lang="ru-RU" b="1"/>
              <a:t>Індивідуальне</a:t>
            </a:r>
            <a:r>
              <a:rPr lang="ru-RU" b="1" dirty="0"/>
              <a:t> </a:t>
            </a:r>
            <a:r>
              <a:rPr lang="ru-RU" b="1" dirty="0" err="1"/>
              <a:t>вирівнювання</a:t>
            </a:r>
            <a:r>
              <a:rPr lang="ru-RU" b="1" dirty="0"/>
              <a:t> </a:t>
            </a:r>
            <a:r>
              <a:rPr lang="ru-RU" b="1" dirty="0" err="1"/>
              <a:t>елемента</a:t>
            </a:r>
            <a:r>
              <a:rPr lang="ru-RU" b="1" dirty="0"/>
              <a:t> </a:t>
            </a:r>
            <a:r>
              <a:rPr lang="ru-RU" b="1" dirty="0" err="1"/>
              <a:t>всередині</a:t>
            </a:r>
            <a:r>
              <a:rPr lang="ru-RU" b="1" dirty="0"/>
              <a:t> </a:t>
            </a:r>
            <a:r>
              <a:rPr lang="ru-RU" b="1" dirty="0" err="1"/>
              <a:t>parent</a:t>
            </a:r>
            <a:r>
              <a:rPr lang="ru-RU" b="1" dirty="0"/>
              <a:t> </a:t>
            </a:r>
            <a:r>
              <a:rPr lang="ru-RU" b="1" dirty="0" err="1"/>
              <a:t>елемента</a:t>
            </a:r>
            <a:endParaRPr lang="ru-RU" b="1" dirty="0"/>
          </a:p>
          <a:p>
            <a:r>
              <a:rPr lang="ru-RU" b="1" dirty="0" err="1"/>
              <a:t>Застосовується</a:t>
            </a:r>
            <a:r>
              <a:rPr lang="ru-RU" b="1" dirty="0"/>
              <a:t> до </a:t>
            </a:r>
            <a:r>
              <a:rPr lang="en-US" b="1" dirty="0">
                <a:solidFill>
                  <a:srgbClr val="FF0000"/>
                </a:solidFill>
              </a:rPr>
              <a:t>grid-item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255395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944" y="908721"/>
            <a:ext cx="4484955" cy="5877160"/>
          </a:xfrm>
          <a:prstGeom prst="rect">
            <a:avLst/>
          </a:prstGeom>
        </p:spPr>
      </p:pic>
      <p:grpSp>
        <p:nvGrpSpPr>
          <p:cNvPr id="12" name="Группа 11"/>
          <p:cNvGrpSpPr/>
          <p:nvPr/>
        </p:nvGrpSpPr>
        <p:grpSpPr>
          <a:xfrm>
            <a:off x="289620" y="54149"/>
            <a:ext cx="8530852" cy="769441"/>
            <a:chOff x="73596" y="54149"/>
            <a:chExt cx="8530852" cy="769441"/>
          </a:xfrm>
        </p:grpSpPr>
        <p:sp>
          <p:nvSpPr>
            <p:cNvPr id="4" name="TextBox 3"/>
            <p:cNvSpPr txBox="1"/>
            <p:nvPr/>
          </p:nvSpPr>
          <p:spPr>
            <a:xfrm>
              <a:off x="73596" y="54149"/>
              <a:ext cx="8530852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a-DK" sz="4400" b="1" dirty="0">
                  <a:latin typeface="Arial Black" panose="020B0A04020102020204" pitchFamily="34" charset="0"/>
                </a:rPr>
                <a:t>The    l  phants in the room</a:t>
              </a:r>
            </a:p>
          </p:txBody>
        </p:sp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8694" y="248261"/>
              <a:ext cx="376352" cy="400264"/>
            </a:xfrm>
            <a:prstGeom prst="rect">
              <a:avLst/>
            </a:prstGeom>
          </p:spPr>
        </p:pic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5289" y="224124"/>
              <a:ext cx="432048" cy="4485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1759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44624"/>
            <a:ext cx="892899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Якщо</a:t>
            </a:r>
            <a:r>
              <a:rPr lang="ru-RU" b="1" dirty="0"/>
              <a:t> браузер не </a:t>
            </a:r>
            <a:r>
              <a:rPr lang="ru-RU" b="1" dirty="0" err="1"/>
              <a:t>підтримує</a:t>
            </a:r>
            <a:r>
              <a:rPr lang="ru-RU" b="1" dirty="0"/>
              <a:t> </a:t>
            </a:r>
            <a:r>
              <a:rPr lang="ru-RU" b="1" dirty="0">
                <a:solidFill>
                  <a:srgbClr val="0070C0"/>
                </a:solidFill>
              </a:rPr>
              <a:t>Grid</a:t>
            </a:r>
            <a:r>
              <a:rPr lang="ru-RU" b="1" dirty="0"/>
              <a:t> </a:t>
            </a:r>
            <a:r>
              <a:rPr lang="ru-RU" b="1" dirty="0" err="1"/>
              <a:t>Layout</a:t>
            </a:r>
            <a:r>
              <a:rPr lang="ru-RU" b="1" dirty="0"/>
              <a:t>, то при </a:t>
            </a:r>
            <a:r>
              <a:rPr lang="ru-RU" b="1" dirty="0" err="1"/>
              <a:t>присвоєнні</a:t>
            </a:r>
            <a:endParaRPr lang="ru-RU" b="1" dirty="0"/>
          </a:p>
          <a:p>
            <a:r>
              <a:rPr lang="ru-RU" b="1" dirty="0"/>
              <a:t>контейнеру </a:t>
            </a:r>
            <a:r>
              <a:rPr lang="en-US" b="1" dirty="0" err="1">
                <a:solidFill>
                  <a:srgbClr val="0070C0"/>
                </a:solidFill>
              </a:rPr>
              <a:t>display:grid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endParaRPr lang="da-DK" b="1" dirty="0">
              <a:solidFill>
                <a:srgbClr val="0070C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978152"/>
              </p:ext>
            </p:extLst>
          </p:nvPr>
        </p:nvGraphicFramePr>
        <p:xfrm>
          <a:off x="82394" y="836712"/>
          <a:ext cx="8954102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518">
                  <a:extLst>
                    <a:ext uri="{9D8B030D-6E8A-4147-A177-3AD203B41FA5}">
                      <a16:colId xmlns:a16="http://schemas.microsoft.com/office/drawing/2014/main" val="751258144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3547096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Свойства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елементів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Поведінка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елементів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при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присвоєнні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їх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контейнеру </a:t>
                      </a:r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при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display: grid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165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Втрачають властивість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490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vergical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-align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Втрачають ефект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26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flex items 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Стають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grid items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078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display: block; 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display: inline-block;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Стають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grid items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150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838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16632"/>
            <a:ext cx="8928992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1. </a:t>
            </a:r>
            <a:r>
              <a:rPr lang="ru-RU" b="1" dirty="0" err="1"/>
              <a:t>Цей</a:t>
            </a:r>
            <a:r>
              <a:rPr lang="ru-RU" b="1" dirty="0"/>
              <a:t> стиль буде нормально </a:t>
            </a:r>
            <a:r>
              <a:rPr lang="ru-RU" b="1" dirty="0" err="1"/>
              <a:t>працювати</a:t>
            </a:r>
            <a:r>
              <a:rPr lang="ru-RU" b="1" dirty="0"/>
              <a:t> в браузерах, </a:t>
            </a:r>
            <a:r>
              <a:rPr lang="ru-RU" b="1" dirty="0" err="1"/>
              <a:t>які</a:t>
            </a:r>
            <a:r>
              <a:rPr lang="ru-RU" b="1" dirty="0"/>
              <a:t> не </a:t>
            </a:r>
            <a:r>
              <a:rPr lang="ru-RU" b="1" dirty="0" err="1"/>
              <a:t>підтримують</a:t>
            </a:r>
            <a:r>
              <a:rPr lang="ru-RU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Grid-layout</a:t>
            </a:r>
            <a:r>
              <a:rPr lang="en-US" b="1" dirty="0"/>
              <a:t> </a:t>
            </a:r>
            <a:r>
              <a:rPr lang="ru-RU" b="1" dirty="0"/>
              <a:t>але </a:t>
            </a:r>
            <a:r>
              <a:rPr lang="ru-RU" b="1" dirty="0" err="1"/>
              <a:t>підтримують</a:t>
            </a:r>
            <a:r>
              <a:rPr lang="ru-RU" b="1" dirty="0"/>
              <a:t>  </a:t>
            </a:r>
            <a:r>
              <a:rPr lang="en-US" b="1" dirty="0">
                <a:solidFill>
                  <a:srgbClr val="0070C0"/>
                </a:solidFill>
              </a:rPr>
              <a:t>Flex-box</a:t>
            </a:r>
            <a:endParaRPr lang="da-DK" b="1" dirty="0">
              <a:solidFill>
                <a:srgbClr val="0070C0"/>
              </a:solidFill>
            </a:endParaRPr>
          </a:p>
          <a:p>
            <a:endParaRPr lang="da-DK" b="1" dirty="0"/>
          </a:p>
          <a:p>
            <a:r>
              <a:rPr lang="da-DK" b="1" dirty="0">
                <a:solidFill>
                  <a:srgbClr val="0070C0"/>
                </a:solidFill>
              </a:rPr>
              <a:t>.listing {</a:t>
            </a:r>
          </a:p>
          <a:p>
            <a:r>
              <a:rPr lang="da-DK" b="1" dirty="0">
                <a:solidFill>
                  <a:srgbClr val="0070C0"/>
                </a:solidFill>
              </a:rPr>
              <a:t>    dislplay: flex;</a:t>
            </a:r>
          </a:p>
          <a:p>
            <a:r>
              <a:rPr lang="da-DK" b="1" dirty="0">
                <a:solidFill>
                  <a:srgbClr val="0070C0"/>
                </a:solidFill>
              </a:rPr>
              <a:t>    flex-wrap: wrap;</a:t>
            </a:r>
          </a:p>
          <a:p>
            <a:r>
              <a:rPr lang="da-DK" b="1" dirty="0">
                <a:solidFill>
                  <a:srgbClr val="0070C0"/>
                </a:solidFill>
              </a:rPr>
              <a:t>    margin: 0 20px;</a:t>
            </a:r>
          </a:p>
          <a:p>
            <a:r>
              <a:rPr lang="da-DK" b="1" dirty="0">
                <a:solidFill>
                  <a:srgbClr val="0070C0"/>
                </a:solidFill>
              </a:rPr>
              <a:t>    display: grid;</a:t>
            </a:r>
          </a:p>
          <a:p>
            <a:r>
              <a:rPr lang="da-DK" b="1" dirty="0">
                <a:solidFill>
                  <a:srgbClr val="0070C0"/>
                </a:solidFill>
              </a:rPr>
              <a:t>    grid-template-columns: repeat(12, 1fr);</a:t>
            </a:r>
          </a:p>
          <a:p>
            <a:r>
              <a:rPr lang="da-DK" b="1" dirty="0">
                <a:solidFill>
                  <a:srgbClr val="0070C0"/>
                </a:solidFill>
              </a:rPr>
              <a:t>    grid-gap: 20px;</a:t>
            </a:r>
          </a:p>
          <a:p>
            <a:r>
              <a:rPr lang="da-DK" b="1" dirty="0">
                <a:solidFill>
                  <a:srgbClr val="0070C0"/>
                </a:solidFill>
              </a:rPr>
              <a:t>}</a:t>
            </a:r>
          </a:p>
          <a:p>
            <a:endParaRPr lang="da-DK" b="1" dirty="0">
              <a:solidFill>
                <a:srgbClr val="0070C0"/>
              </a:solidFill>
            </a:endParaRPr>
          </a:p>
          <a:p>
            <a:r>
              <a:rPr lang="da-DK" b="1" dirty="0">
                <a:solidFill>
                  <a:srgbClr val="0070C0"/>
                </a:solidFill>
              </a:rPr>
              <a:t>.listing &gt; * {</a:t>
            </a:r>
          </a:p>
          <a:p>
            <a:r>
              <a:rPr lang="da-DK" b="1" dirty="0">
                <a:solidFill>
                  <a:srgbClr val="0070C0"/>
                </a:solidFill>
              </a:rPr>
              <a:t>   flex: 1 1 30%;</a:t>
            </a:r>
          </a:p>
          <a:p>
            <a:r>
              <a:rPr lang="da-DK" b="1" dirty="0">
                <a:solidFill>
                  <a:srgbClr val="0070C0"/>
                </a:solidFill>
              </a:rPr>
              <a:t>   margin: 0 20px 20px 20px;</a:t>
            </a:r>
          </a:p>
          <a:p>
            <a:r>
              <a:rPr lang="da-DK" b="1" dirty="0">
                <a:solidFill>
                  <a:srgbClr val="0070C0"/>
                </a:solidFill>
              </a:rPr>
              <a:t>}	</a:t>
            </a:r>
          </a:p>
        </p:txBody>
      </p:sp>
    </p:spTree>
    <p:extLst>
      <p:ext uri="{BB962C8B-B14F-4D97-AF65-F5344CB8AC3E}">
        <p14:creationId xmlns:p14="http://schemas.microsoft.com/office/powerpoint/2010/main" val="4130191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16632"/>
            <a:ext cx="8928992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2. </a:t>
            </a:r>
            <a:r>
              <a:rPr lang="uk-UA" b="1" dirty="0"/>
              <a:t>Використати </a:t>
            </a:r>
            <a:r>
              <a:rPr lang="en-US" b="1" dirty="0" err="1">
                <a:solidFill>
                  <a:srgbClr val="C00000"/>
                </a:solidFill>
              </a:rPr>
              <a:t>Feauture</a:t>
            </a:r>
            <a:r>
              <a:rPr lang="en-US" b="1" dirty="0">
                <a:solidFill>
                  <a:srgbClr val="C00000"/>
                </a:solidFill>
              </a:rPr>
              <a:t> Queries</a:t>
            </a:r>
            <a:endParaRPr lang="da-DK" b="1" dirty="0">
              <a:solidFill>
                <a:srgbClr val="C00000"/>
              </a:solidFill>
            </a:endParaRPr>
          </a:p>
          <a:p>
            <a:endParaRPr lang="en-US" b="1" dirty="0"/>
          </a:p>
          <a:p>
            <a:r>
              <a:rPr lang="uk-UA" b="1" dirty="0"/>
              <a:t>Наприклад є таке правило</a:t>
            </a:r>
            <a:endParaRPr lang="en-US" b="1" dirty="0"/>
          </a:p>
          <a:p>
            <a:r>
              <a:rPr lang="da-DK" b="1" dirty="0">
                <a:solidFill>
                  <a:srgbClr val="0070C0"/>
                </a:solidFill>
              </a:rPr>
              <a:t>.listing &gt; * {</a:t>
            </a:r>
          </a:p>
          <a:p>
            <a:r>
              <a:rPr lang="da-DK" b="1" dirty="0">
                <a:solidFill>
                  <a:srgbClr val="0070C0"/>
                </a:solidFill>
              </a:rPr>
              <a:t>   flex: 1 1 30%;</a:t>
            </a:r>
          </a:p>
          <a:p>
            <a:r>
              <a:rPr lang="da-DK" b="1" dirty="0">
                <a:solidFill>
                  <a:srgbClr val="0070C0"/>
                </a:solidFill>
              </a:rPr>
              <a:t>   margin: 0 20px 20px 20px;</a:t>
            </a:r>
          </a:p>
          <a:p>
            <a:r>
              <a:rPr lang="da-DK" b="1" dirty="0">
                <a:solidFill>
                  <a:srgbClr val="0070C0"/>
                </a:solidFill>
              </a:rPr>
              <a:t>}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uk-UA" b="1" dirty="0"/>
              <a:t>Переписуємо його</a:t>
            </a:r>
          </a:p>
          <a:p>
            <a:endParaRPr lang="uk-UA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@supports(display:grid){</a:t>
            </a:r>
          </a:p>
          <a:p>
            <a:pPr lvl="1"/>
            <a:r>
              <a:rPr lang="da-DK" b="1" dirty="0">
                <a:solidFill>
                  <a:srgbClr val="0070C0"/>
                </a:solidFill>
              </a:rPr>
              <a:t>.listing &gt; * {</a:t>
            </a:r>
          </a:p>
          <a:p>
            <a:pPr lvl="1"/>
            <a:r>
              <a:rPr lang="uk-UA" b="1" dirty="0">
                <a:solidFill>
                  <a:srgbClr val="0070C0"/>
                </a:solidFill>
              </a:rPr>
              <a:t>	</a:t>
            </a:r>
            <a:r>
              <a:rPr lang="en-US" b="1" dirty="0">
                <a:solidFill>
                  <a:srgbClr val="0070C0"/>
                </a:solidFill>
              </a:rPr>
              <a:t>margin: 0;</a:t>
            </a:r>
          </a:p>
          <a:p>
            <a:pPr lvl="1"/>
            <a:r>
              <a:rPr lang="da-DK" b="1" dirty="0">
                <a:solidFill>
                  <a:srgbClr val="0070C0"/>
                </a:solidFill>
              </a:rPr>
              <a:t>}</a:t>
            </a:r>
          </a:p>
          <a:p>
            <a:r>
              <a:rPr lang="en-US" b="1" dirty="0">
                <a:solidFill>
                  <a:srgbClr val="C00000"/>
                </a:solidFill>
              </a:rPr>
              <a:t>}</a:t>
            </a:r>
            <a:endParaRPr lang="da-DK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474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88640"/>
            <a:ext cx="8928992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3. </a:t>
            </a:r>
            <a:r>
              <a:rPr lang="uk-UA" b="1" dirty="0"/>
              <a:t>Використовувати для старих браузерів  </a:t>
            </a:r>
            <a:r>
              <a:rPr lang="en-US" b="1" dirty="0">
                <a:solidFill>
                  <a:srgbClr val="C00000"/>
                </a:solidFill>
              </a:rPr>
              <a:t>float</a:t>
            </a:r>
          </a:p>
          <a:p>
            <a:endParaRPr lang="en-US" b="1" dirty="0"/>
          </a:p>
          <a:p>
            <a:r>
              <a:rPr lang="da-DK" b="1" dirty="0">
                <a:solidFill>
                  <a:srgbClr val="0070C0"/>
                </a:solidFill>
              </a:rPr>
              <a:t>.grid &gt; div {</a:t>
            </a:r>
          </a:p>
          <a:p>
            <a:r>
              <a:rPr lang="da-DK" b="1" dirty="0">
                <a:solidFill>
                  <a:srgbClr val="0070C0"/>
                </a:solidFill>
              </a:rPr>
              <a:t>   float: left;</a:t>
            </a:r>
          </a:p>
          <a:p>
            <a:r>
              <a:rPr lang="da-DK" b="1" dirty="0">
                <a:solidFill>
                  <a:srgbClr val="0070C0"/>
                </a:solidFill>
              </a:rPr>
              <a:t>   width: 33.3333%;</a:t>
            </a:r>
          </a:p>
          <a:p>
            <a:r>
              <a:rPr lang="da-DK" b="1" dirty="0">
                <a:solidFill>
                  <a:srgbClr val="0070C0"/>
                </a:solidFill>
              </a:rPr>
              <a:t>}</a:t>
            </a:r>
            <a:endParaRPr lang="en-US" b="1" dirty="0"/>
          </a:p>
          <a:p>
            <a:endParaRPr lang="en-US" b="1" dirty="0"/>
          </a:p>
          <a:p>
            <a:r>
              <a:rPr lang="en-US" b="1" dirty="0">
                <a:solidFill>
                  <a:srgbClr val="C00000"/>
                </a:solidFill>
              </a:rPr>
              <a:t>@supports(</a:t>
            </a:r>
            <a:r>
              <a:rPr lang="en-US" b="1" dirty="0" err="1">
                <a:solidFill>
                  <a:srgbClr val="C00000"/>
                </a:solidFill>
              </a:rPr>
              <a:t>display:grid</a:t>
            </a:r>
            <a:r>
              <a:rPr lang="en-US" b="1" dirty="0">
                <a:solidFill>
                  <a:srgbClr val="C00000"/>
                </a:solidFill>
              </a:rPr>
              <a:t>){</a:t>
            </a:r>
          </a:p>
          <a:p>
            <a:r>
              <a:rPr lang="da-DK" b="1" dirty="0">
                <a:solidFill>
                  <a:srgbClr val="C00000"/>
                </a:solidFill>
              </a:rPr>
              <a:t>   </a:t>
            </a:r>
            <a:r>
              <a:rPr lang="da-DK" b="1" dirty="0">
                <a:solidFill>
                  <a:srgbClr val="0070C0"/>
                </a:solidFill>
              </a:rPr>
              <a:t>.grid &gt; div {</a:t>
            </a:r>
          </a:p>
          <a:p>
            <a:r>
              <a:rPr lang="da-DK" b="1" dirty="0">
                <a:solidFill>
                  <a:srgbClr val="0070C0"/>
                </a:solidFill>
              </a:rPr>
              <a:t>      width: auto;</a:t>
            </a:r>
          </a:p>
          <a:p>
            <a:r>
              <a:rPr lang="da-DK" b="1" dirty="0">
                <a:solidFill>
                  <a:srgbClr val="0070C0"/>
                </a:solidFill>
              </a:rPr>
              <a:t>    }</a:t>
            </a:r>
            <a:endParaRPr lang="en-US" b="1" dirty="0"/>
          </a:p>
          <a:p>
            <a:r>
              <a:rPr lang="da-DK" b="1" dirty="0">
                <a:solidFill>
                  <a:srgbClr val="C00000"/>
                </a:solidFill>
              </a:rPr>
              <a:t>}</a:t>
            </a:r>
          </a:p>
          <a:p>
            <a:endParaRPr lang="da-DK" b="1" dirty="0">
              <a:solidFill>
                <a:srgbClr val="C00000"/>
              </a:solidFill>
            </a:endParaRPr>
          </a:p>
          <a:p>
            <a:r>
              <a:rPr lang="da-DK" b="1" dirty="0">
                <a:solidFill>
                  <a:srgbClr val="0070C0"/>
                </a:solidFill>
              </a:rPr>
              <a:t>.grid {</a:t>
            </a:r>
          </a:p>
          <a:p>
            <a:r>
              <a:rPr lang="da-DK" b="1" dirty="0">
                <a:solidFill>
                  <a:srgbClr val="0070C0"/>
                </a:solidFill>
              </a:rPr>
              <a:t>   display: grid;</a:t>
            </a:r>
          </a:p>
          <a:p>
            <a:r>
              <a:rPr lang="da-DK" b="1" dirty="0">
                <a:solidFill>
                  <a:srgbClr val="0070C0"/>
                </a:solidFill>
              </a:rPr>
              <a:t>   grid-gap: 20px;</a:t>
            </a:r>
          </a:p>
          <a:p>
            <a:r>
              <a:rPr lang="da-DK" b="1" dirty="0">
                <a:solidFill>
                  <a:srgbClr val="0070C0"/>
                </a:solidFill>
              </a:rPr>
              <a:t>   grid-template-colums: repeat(3, auto);</a:t>
            </a:r>
          </a:p>
          <a:p>
            <a:r>
              <a:rPr lang="da-DK" b="1" dirty="0">
                <a:solidFill>
                  <a:srgbClr val="0070C0"/>
                </a:solidFill>
              </a:rPr>
              <a:t>   width: 500px;</a:t>
            </a:r>
          </a:p>
          <a:p>
            <a:r>
              <a:rPr lang="da-DK" b="1" dirty="0">
                <a:solidFill>
                  <a:srgbClr val="0070C0"/>
                </a:solidFill>
              </a:rPr>
              <a:t>}</a:t>
            </a:r>
          </a:p>
          <a:p>
            <a:endParaRPr lang="da-DK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987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16632"/>
            <a:ext cx="8928992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4.</a:t>
            </a:r>
            <a:r>
              <a:rPr lang="ru-RU" b="1" dirty="0"/>
              <a:t> </a:t>
            </a:r>
            <a:r>
              <a:rPr lang="uk-UA" b="1" dirty="0"/>
              <a:t>Використовувати для старих браузерів  </a:t>
            </a:r>
            <a:r>
              <a:rPr lang="en-US" b="1" dirty="0">
                <a:solidFill>
                  <a:srgbClr val="C00000"/>
                </a:solidFill>
              </a:rPr>
              <a:t>display: inline-block</a:t>
            </a:r>
            <a:endParaRPr lang="da-DK" b="1" dirty="0">
              <a:solidFill>
                <a:srgbClr val="C00000"/>
              </a:solidFill>
            </a:endParaRPr>
          </a:p>
          <a:p>
            <a:endParaRPr lang="en-US" b="1" dirty="0"/>
          </a:p>
          <a:p>
            <a:r>
              <a:rPr lang="da-DK" b="1" dirty="0">
                <a:solidFill>
                  <a:srgbClr val="0070C0"/>
                </a:solidFill>
              </a:rPr>
              <a:t>.grid &gt; div {</a:t>
            </a:r>
          </a:p>
          <a:p>
            <a:r>
              <a:rPr lang="da-DK" b="1" dirty="0">
                <a:solidFill>
                  <a:srgbClr val="0070C0"/>
                </a:solidFill>
              </a:rPr>
              <a:t>   display: inline-block;</a:t>
            </a:r>
          </a:p>
          <a:p>
            <a:r>
              <a:rPr lang="da-DK" b="1" dirty="0">
                <a:solidFill>
                  <a:srgbClr val="0070C0"/>
                </a:solidFill>
              </a:rPr>
              <a:t>}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da-DK" b="1" dirty="0">
                <a:solidFill>
                  <a:srgbClr val="0070C0"/>
                </a:solidFill>
              </a:rPr>
              <a:t>.grid {</a:t>
            </a:r>
          </a:p>
          <a:p>
            <a:r>
              <a:rPr lang="da-DK" b="1" dirty="0">
                <a:solidFill>
                  <a:srgbClr val="0070C0"/>
                </a:solidFill>
              </a:rPr>
              <a:t>   display: grid;</a:t>
            </a:r>
          </a:p>
          <a:p>
            <a:r>
              <a:rPr lang="da-DK" b="1" dirty="0">
                <a:solidFill>
                  <a:srgbClr val="0070C0"/>
                </a:solidFill>
              </a:rPr>
              <a:t>   grid-gap: 10px;</a:t>
            </a:r>
          </a:p>
          <a:p>
            <a:r>
              <a:rPr lang="da-DK" b="1" dirty="0">
                <a:solidFill>
                  <a:srgbClr val="0070C0"/>
                </a:solidFill>
              </a:rPr>
              <a:t>   grid-template-colums: repeat(3, auto);</a:t>
            </a:r>
          </a:p>
          <a:p>
            <a:r>
              <a:rPr lang="da-DK" b="1" dirty="0">
                <a:solidFill>
                  <a:srgbClr val="0070C0"/>
                </a:solidFill>
              </a:rPr>
              <a:t>   width: 500px;</a:t>
            </a:r>
          </a:p>
          <a:p>
            <a:r>
              <a:rPr lang="da-DK" b="1" dirty="0">
                <a:solidFill>
                  <a:srgbClr val="0070C0"/>
                </a:solidFill>
              </a:rPr>
              <a:t>}</a:t>
            </a:r>
          </a:p>
          <a:p>
            <a:endParaRPr lang="da-DK" b="1" dirty="0">
              <a:solidFill>
                <a:srgbClr val="C00000"/>
              </a:solidFill>
            </a:endParaRPr>
          </a:p>
          <a:p>
            <a:endParaRPr lang="da-DK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660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16632"/>
            <a:ext cx="8928992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5.</a:t>
            </a:r>
            <a:r>
              <a:rPr lang="ru-RU" b="1" dirty="0"/>
              <a:t> </a:t>
            </a:r>
            <a:r>
              <a:rPr lang="uk-UA" b="1" dirty="0"/>
              <a:t>Використовувати </a:t>
            </a:r>
            <a:r>
              <a:rPr lang="en-US" b="1" dirty="0">
                <a:solidFill>
                  <a:srgbClr val="C00000"/>
                </a:solidFill>
              </a:rPr>
              <a:t>display: flex</a:t>
            </a:r>
            <a:endParaRPr lang="da-DK" b="1" dirty="0">
              <a:solidFill>
                <a:srgbClr val="C00000"/>
              </a:solidFill>
            </a:endParaRPr>
          </a:p>
          <a:p>
            <a:endParaRPr lang="en-US" b="1" dirty="0"/>
          </a:p>
          <a:p>
            <a:r>
              <a:rPr lang="da-DK" b="1" dirty="0">
                <a:solidFill>
                  <a:srgbClr val="0070C0"/>
                </a:solidFill>
              </a:rPr>
              <a:t>.grid {</a:t>
            </a:r>
          </a:p>
          <a:p>
            <a:pPr lvl="1"/>
            <a:r>
              <a:rPr lang="da-DK" b="1" dirty="0">
                <a:solidFill>
                  <a:srgbClr val="0070C0"/>
                </a:solidFill>
              </a:rPr>
              <a:t>display: flex;</a:t>
            </a:r>
          </a:p>
          <a:p>
            <a:pPr lvl="1"/>
            <a:r>
              <a:rPr lang="da-DK" b="1" dirty="0">
                <a:solidFill>
                  <a:srgbClr val="0070C0"/>
                </a:solidFill>
              </a:rPr>
              <a:t>align-items: center;</a:t>
            </a:r>
          </a:p>
          <a:p>
            <a:pPr lvl="1"/>
            <a:r>
              <a:rPr lang="da-DK" b="1" dirty="0">
                <a:solidFill>
                  <a:srgbClr val="0070C0"/>
                </a:solidFill>
              </a:rPr>
              <a:t>width: 500px;</a:t>
            </a:r>
          </a:p>
          <a:p>
            <a:pPr lvl="1"/>
            <a:r>
              <a:rPr lang="da-DK" b="1" dirty="0">
                <a:solidFill>
                  <a:srgbClr val="0070C0"/>
                </a:solidFill>
              </a:rPr>
              <a:t>height: 150px;</a:t>
            </a:r>
          </a:p>
          <a:p>
            <a:pPr lvl="1"/>
            <a:r>
              <a:rPr lang="da-DK" b="1" dirty="0">
                <a:solidFill>
                  <a:srgbClr val="0070C0"/>
                </a:solidFill>
              </a:rPr>
              <a:t>border: 1px solid #e2e2e2; </a:t>
            </a:r>
          </a:p>
          <a:p>
            <a:r>
              <a:rPr lang="da-DK" b="1" dirty="0">
                <a:solidFill>
                  <a:srgbClr val="0070C0"/>
                </a:solidFill>
              </a:rPr>
              <a:t>}</a:t>
            </a:r>
          </a:p>
          <a:p>
            <a:endParaRPr lang="da-DK" b="1" dirty="0">
              <a:solidFill>
                <a:srgbClr val="0070C0"/>
              </a:solidFill>
            </a:endParaRPr>
          </a:p>
          <a:p>
            <a:r>
              <a:rPr lang="da-DK" b="1" dirty="0">
                <a:solidFill>
                  <a:srgbClr val="0070C0"/>
                </a:solidFill>
              </a:rPr>
              <a:t>.grid &gt; div {</a:t>
            </a:r>
          </a:p>
          <a:p>
            <a:r>
              <a:rPr lang="da-DK" b="1" dirty="0">
                <a:solidFill>
                  <a:srgbClr val="0070C0"/>
                </a:solidFill>
              </a:rPr>
              <a:t>   flex: 1;</a:t>
            </a:r>
          </a:p>
          <a:p>
            <a:r>
              <a:rPr lang="da-DK" b="1" dirty="0">
                <a:solidFill>
                  <a:srgbClr val="0070C0"/>
                </a:solidFill>
              </a:rPr>
              <a:t>}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da-DK" b="1" dirty="0">
                <a:solidFill>
                  <a:srgbClr val="0070C0"/>
                </a:solidFill>
              </a:rPr>
              <a:t>.grid {</a:t>
            </a:r>
          </a:p>
          <a:p>
            <a:r>
              <a:rPr lang="da-DK" b="1" dirty="0">
                <a:solidFill>
                  <a:srgbClr val="0070C0"/>
                </a:solidFill>
              </a:rPr>
              <a:t>   display: grid;</a:t>
            </a:r>
          </a:p>
          <a:p>
            <a:r>
              <a:rPr lang="da-DK" b="1" dirty="0">
                <a:solidFill>
                  <a:srgbClr val="0070C0"/>
                </a:solidFill>
              </a:rPr>
              <a:t>   grid-gap: 10px;</a:t>
            </a:r>
          </a:p>
          <a:p>
            <a:r>
              <a:rPr lang="da-DK" b="1" dirty="0">
                <a:solidFill>
                  <a:srgbClr val="0070C0"/>
                </a:solidFill>
              </a:rPr>
              <a:t>   grid-template-colums: repeat(3, auto);</a:t>
            </a:r>
          </a:p>
          <a:p>
            <a:r>
              <a:rPr lang="da-DK" b="1" dirty="0">
                <a:solidFill>
                  <a:srgbClr val="0070C0"/>
                </a:solidFill>
              </a:rPr>
              <a:t>}</a:t>
            </a:r>
          </a:p>
          <a:p>
            <a:endParaRPr lang="da-DK" b="1" dirty="0">
              <a:solidFill>
                <a:srgbClr val="C00000"/>
              </a:solidFill>
            </a:endParaRPr>
          </a:p>
          <a:p>
            <a:endParaRPr lang="da-DK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640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700808"/>
            <a:ext cx="818685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2060"/>
                </a:solidFill>
              </a:rPr>
              <a:t>Thank you </a:t>
            </a:r>
          </a:p>
          <a:p>
            <a:pPr algn="ctr"/>
            <a:r>
              <a:rPr lang="en-US" sz="8000" b="1" dirty="0">
                <a:solidFill>
                  <a:srgbClr val="002060"/>
                </a:solidFill>
              </a:rPr>
              <a:t>for attention</a:t>
            </a:r>
            <a:endParaRPr lang="ru-RU" sz="8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673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07340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_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203717"/>
            <a:ext cx="89289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844824"/>
            <a:ext cx="8928992" cy="369332"/>
          </a:xfrm>
          <a:prstGeom prst="rect">
            <a:avLst/>
          </a:prstGeom>
          <a:solidFill>
            <a:srgbClr val="92D050">
              <a:alpha val="14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2485931"/>
            <a:ext cx="8928992" cy="369332"/>
          </a:xfrm>
          <a:prstGeom prst="rect">
            <a:avLst/>
          </a:prstGeom>
          <a:solidFill>
            <a:srgbClr val="FFFF00">
              <a:alpha val="16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3127038"/>
            <a:ext cx="8928992" cy="369332"/>
          </a:xfrm>
          <a:prstGeom prst="rect">
            <a:avLst/>
          </a:prstGeom>
          <a:solidFill>
            <a:srgbClr val="00B0F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12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6308</TotalTime>
  <Words>1278</Words>
  <Application>Microsoft Office PowerPoint</Application>
  <PresentationFormat>Экран (4:3)</PresentationFormat>
  <Paragraphs>299</Paragraphs>
  <Slides>31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8" baseType="lpstr">
      <vt:lpstr>Arial Black</vt:lpstr>
      <vt:lpstr>Calibri</vt:lpstr>
      <vt:lpstr>Courier New</vt:lpstr>
      <vt:lpstr>Verdana</vt:lpstr>
      <vt:lpstr>Wingdings 2</vt:lpstr>
      <vt:lpstr>Wingdings 3</vt:lpstr>
      <vt:lpstr>Тема1</vt:lpstr>
      <vt:lpstr>CSS Grid Lyout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1096</cp:revision>
  <dcterms:modified xsi:type="dcterms:W3CDTF">2024-08-18T06:30:47Z</dcterms:modified>
</cp:coreProperties>
</file>