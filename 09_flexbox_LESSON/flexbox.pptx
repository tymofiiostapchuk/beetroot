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66" r:id="rId2"/>
    <p:sldId id="397" r:id="rId3"/>
    <p:sldId id="450" r:id="rId4"/>
    <p:sldId id="393" r:id="rId5"/>
    <p:sldId id="395" r:id="rId6"/>
    <p:sldId id="338" r:id="rId7"/>
    <p:sldId id="401" r:id="rId8"/>
    <p:sldId id="408" r:id="rId9"/>
    <p:sldId id="427" r:id="rId10"/>
    <p:sldId id="409" r:id="rId11"/>
    <p:sldId id="416" r:id="rId12"/>
    <p:sldId id="437" r:id="rId13"/>
    <p:sldId id="442" r:id="rId14"/>
    <p:sldId id="443" r:id="rId15"/>
    <p:sldId id="449" r:id="rId16"/>
    <p:sldId id="429" r:id="rId17"/>
    <p:sldId id="448" r:id="rId18"/>
    <p:sldId id="444" r:id="rId19"/>
    <p:sldId id="445" r:id="rId20"/>
    <p:sldId id="446" r:id="rId21"/>
    <p:sldId id="453" r:id="rId22"/>
    <p:sldId id="452" r:id="rId23"/>
    <p:sldId id="430" r:id="rId24"/>
    <p:sldId id="341" r:id="rId2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5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74" autoAdjust="0"/>
  </p:normalViewPr>
  <p:slideViewPr>
    <p:cSldViewPr showGuides="1">
      <p:cViewPr varScale="1">
        <p:scale>
          <a:sx n="109" d="100"/>
          <a:sy n="109" d="100"/>
        </p:scale>
        <p:origin x="792" y="108"/>
      </p:cViewPr>
      <p:guideLst>
        <p:guide orient="horz" pos="2160"/>
        <p:guide pos="25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0" d="100"/>
          <a:sy n="70" d="100"/>
        </p:scale>
        <p:origin x="-1891" y="-10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31450-B050-45E2-8615-538A492B15A9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0A7537-64E2-4FB1-A143-BC4EC49EFF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302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44945-8607-4F2F-AB6B-4EC0DBA6E6CF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747D1-FEBF-423A-AD6B-EF9B292E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585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2075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9899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654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3466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9037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9950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6592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98055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002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8488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8160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604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44394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68017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49962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5914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8377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25934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83987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1493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8659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81336" y="58614"/>
            <a:ext cx="4618856" cy="562074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22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07504" y="908720"/>
            <a:ext cx="8928992" cy="369332"/>
          </a:xfrm>
          <a:prstGeom prst="rect">
            <a:avLst/>
          </a:prstGeom>
          <a:solidFill>
            <a:srgbClr val="92D05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07504" y="2195572"/>
            <a:ext cx="8928992" cy="369332"/>
          </a:xfrm>
          <a:prstGeom prst="rect">
            <a:avLst/>
          </a:prstGeom>
          <a:solidFill>
            <a:srgbClr val="FFFF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07504" y="3707740"/>
            <a:ext cx="8928992" cy="369332"/>
          </a:xfrm>
          <a:prstGeom prst="rect">
            <a:avLst/>
          </a:prstGeom>
          <a:solidFill>
            <a:srgbClr val="7030A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35496" y="5219908"/>
            <a:ext cx="8928992" cy="369332"/>
          </a:xfrm>
          <a:prstGeom prst="rect">
            <a:avLst/>
          </a:prstGeom>
          <a:solidFill>
            <a:srgbClr val="FF00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40073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26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517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388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318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47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680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584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959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088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899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633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98EDE-99C0-458B-82F9-AAF47343B0E8}" type="datetimeFigureOut">
              <a:rPr lang="ru-RU" smtClean="0"/>
              <a:t>15.08.2024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40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4624"/>
            <a:ext cx="4464496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 err="1"/>
              <a:t>Що</a:t>
            </a:r>
            <a:r>
              <a:rPr lang="ru-RU" sz="2000" b="1" dirty="0"/>
              <a:t> ми </a:t>
            </a:r>
            <a:r>
              <a:rPr lang="ru-RU" sz="2000" b="1" dirty="0" err="1"/>
              <a:t>мали</a:t>
            </a:r>
            <a:r>
              <a:rPr lang="ru-RU" sz="2000" b="1" dirty="0"/>
              <a:t> до </a:t>
            </a:r>
            <a:r>
              <a:rPr lang="ru-RU" sz="2000" b="1" dirty="0" err="1"/>
              <a:t>flex-box</a:t>
            </a:r>
            <a:endParaRPr lang="ru-RU" sz="2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07504" y="611396"/>
            <a:ext cx="7848872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- </a:t>
            </a:r>
            <a:r>
              <a:rPr lang="ru-RU" dirty="0" err="1"/>
              <a:t>нормальний</a:t>
            </a:r>
            <a:r>
              <a:rPr lang="ru-RU" dirty="0"/>
              <a:t> </a:t>
            </a:r>
            <a:r>
              <a:rPr lang="ru-RU" dirty="0" err="1"/>
              <a:t>потік</a:t>
            </a:r>
            <a:r>
              <a:rPr lang="ru-RU" dirty="0"/>
              <a:t> </a:t>
            </a:r>
            <a:r>
              <a:rPr lang="ru-RU" dirty="0" err="1"/>
              <a:t>блоків</a:t>
            </a:r>
            <a:r>
              <a:rPr lang="en-US" dirty="0"/>
              <a:t> (position: static)</a:t>
            </a:r>
            <a:endParaRPr lang="ru-RU" dirty="0"/>
          </a:p>
          <a:p>
            <a:r>
              <a:rPr lang="en-US" dirty="0"/>
              <a:t>- box model, float</a:t>
            </a:r>
          </a:p>
          <a:p>
            <a:r>
              <a:rPr lang="en-US" dirty="0"/>
              <a:t>- </a:t>
            </a:r>
            <a:r>
              <a:rPr lang="ru-RU" dirty="0" err="1"/>
              <a:t>позиціонування</a:t>
            </a:r>
            <a:r>
              <a:rPr lang="ru-RU" dirty="0"/>
              <a:t> </a:t>
            </a:r>
            <a:r>
              <a:rPr lang="ru-RU" dirty="0" err="1"/>
              <a:t>блоків</a:t>
            </a:r>
            <a:r>
              <a:rPr lang="en-US" dirty="0"/>
              <a:t> (position: absolute | relative)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916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4624"/>
            <a:ext cx="4464496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 err="1"/>
              <a:t>Властивість</a:t>
            </a:r>
            <a:r>
              <a:rPr lang="ru-RU" sz="2000" b="1" dirty="0"/>
              <a:t> </a:t>
            </a:r>
            <a:r>
              <a:rPr lang="en-US" sz="2000" b="1" dirty="0" err="1"/>
              <a:t>display:flex</a:t>
            </a:r>
            <a:endParaRPr lang="ru-RU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07504" y="577711"/>
            <a:ext cx="8928992" cy="3139321"/>
          </a:xfrm>
          <a:prstGeom prst="rect">
            <a:avLst/>
          </a:prstGeom>
          <a:solidFill>
            <a:srgbClr val="7030A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Особливості</a:t>
            </a:r>
            <a:r>
              <a:rPr lang="ru-RU" dirty="0"/>
              <a:t> </a:t>
            </a:r>
            <a:r>
              <a:rPr lang="en-US" dirty="0" err="1">
                <a:solidFill>
                  <a:srgbClr val="C00000"/>
                </a:solidFill>
              </a:rPr>
              <a:t>display:flex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- </a:t>
            </a:r>
            <a:r>
              <a:rPr lang="ru-RU" dirty="0" err="1"/>
              <a:t>присвоюється</a:t>
            </a:r>
            <a:r>
              <a:rPr lang="ru-RU" dirty="0"/>
              <a:t> контейнеру, в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знаходяться</a:t>
            </a:r>
            <a:r>
              <a:rPr lang="ru-RU" dirty="0"/>
              <a:t> будь-</a:t>
            </a:r>
            <a:r>
              <a:rPr lang="ru-RU" dirty="0" err="1"/>
              <a:t>які</a:t>
            </a:r>
            <a:r>
              <a:rPr lang="ru-RU" dirty="0"/>
              <a:t> </a:t>
            </a:r>
            <a:endParaRPr lang="en-US" dirty="0"/>
          </a:p>
          <a:p>
            <a:r>
              <a:rPr lang="en-US" dirty="0"/>
              <a:t>  </a:t>
            </a:r>
            <a:r>
              <a:rPr lang="ru-RU" dirty="0" err="1"/>
              <a:t>елементи</a:t>
            </a:r>
            <a:r>
              <a:rPr lang="ru-RU" dirty="0"/>
              <a:t>.</a:t>
            </a:r>
          </a:p>
          <a:p>
            <a:r>
              <a:rPr lang="ru-RU" dirty="0"/>
              <a:t>- </a:t>
            </a:r>
            <a:r>
              <a:rPr lang="ru-RU" dirty="0" err="1"/>
              <a:t>елементи</a:t>
            </a:r>
            <a:r>
              <a:rPr lang="ru-RU" dirty="0"/>
              <a:t> контейнера </a:t>
            </a:r>
            <a:r>
              <a:rPr lang="ru-RU" dirty="0" err="1"/>
              <a:t>набувають</a:t>
            </a:r>
            <a:r>
              <a:rPr lang="ru-RU" dirty="0"/>
              <a:t> </a:t>
            </a:r>
            <a:r>
              <a:rPr lang="ru-RU" dirty="0" err="1"/>
              <a:t>властивостей</a:t>
            </a:r>
            <a:r>
              <a:rPr lang="ru-RU" dirty="0"/>
              <a:t> </a:t>
            </a:r>
            <a:r>
              <a:rPr lang="en-US" dirty="0">
                <a:solidFill>
                  <a:srgbClr val="C00000"/>
                </a:solidFill>
              </a:rPr>
              <a:t>flex-item</a:t>
            </a:r>
          </a:p>
          <a:p>
            <a:r>
              <a:rPr lang="en-US" dirty="0"/>
              <a:t>- </a:t>
            </a:r>
            <a:r>
              <a:rPr lang="ru-RU" dirty="0" err="1"/>
              <a:t>Розміри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 </a:t>
            </a:r>
            <a:r>
              <a:rPr lang="ru-RU" dirty="0" err="1"/>
              <a:t>розраховуються</a:t>
            </a:r>
            <a:r>
              <a:rPr lang="ru-RU" dirty="0"/>
              <a:t> так само як у </a:t>
            </a:r>
            <a:r>
              <a:rPr lang="ru-RU" dirty="0" err="1"/>
              <a:t>блочної</a:t>
            </a:r>
            <a:r>
              <a:rPr lang="ru-RU" dirty="0"/>
              <a:t> </a:t>
            </a:r>
            <a:r>
              <a:rPr lang="ru-RU" dirty="0" err="1"/>
              <a:t>моделі</a:t>
            </a:r>
            <a:endParaRPr lang="ru-RU" dirty="0"/>
          </a:p>
          <a:p>
            <a:r>
              <a:rPr lang="ru-RU" dirty="0"/>
              <a:t>  (</a:t>
            </a:r>
            <a:r>
              <a:rPr lang="en-US" dirty="0">
                <a:solidFill>
                  <a:srgbClr val="0070C0"/>
                </a:solidFill>
              </a:rPr>
              <a:t>margins, paddings, borders</a:t>
            </a:r>
            <a:r>
              <a:rPr lang="en-US" dirty="0"/>
              <a:t>)</a:t>
            </a:r>
          </a:p>
          <a:p>
            <a:r>
              <a:rPr lang="en-US" dirty="0"/>
              <a:t>- </a:t>
            </a:r>
            <a:r>
              <a:rPr lang="ru-RU" dirty="0"/>
              <a:t>у </a:t>
            </a:r>
            <a:r>
              <a:rPr lang="en-US" dirty="0">
                <a:solidFill>
                  <a:srgbClr val="C00000"/>
                </a:solidFill>
              </a:rPr>
              <a:t>flex-item</a:t>
            </a:r>
            <a:r>
              <a:rPr lang="en-US" dirty="0"/>
              <a:t> </a:t>
            </a:r>
            <a:r>
              <a:rPr lang="ru-RU" dirty="0" err="1"/>
              <a:t>елементів</a:t>
            </a:r>
            <a:r>
              <a:rPr lang="ru-RU" dirty="0"/>
              <a:t> не </a:t>
            </a:r>
            <a:r>
              <a:rPr lang="ru-RU" dirty="0" err="1"/>
              <a:t>працює</a:t>
            </a:r>
            <a:r>
              <a:rPr lang="ru-RU" dirty="0"/>
              <a:t> </a:t>
            </a:r>
            <a:r>
              <a:rPr lang="en-US" dirty="0">
                <a:solidFill>
                  <a:srgbClr val="C00000"/>
                </a:solidFill>
              </a:rPr>
              <a:t>float</a:t>
            </a:r>
          </a:p>
          <a:p>
            <a:r>
              <a:rPr lang="en-US" dirty="0"/>
              <a:t>- </a:t>
            </a:r>
            <a:r>
              <a:rPr lang="ru-RU" dirty="0"/>
              <a:t>у </a:t>
            </a:r>
            <a:r>
              <a:rPr lang="en-US" dirty="0">
                <a:solidFill>
                  <a:srgbClr val="C00000"/>
                </a:solidFill>
              </a:rPr>
              <a:t>flex-item</a:t>
            </a:r>
            <a:r>
              <a:rPr lang="en-US" dirty="0"/>
              <a:t> </a:t>
            </a:r>
            <a:r>
              <a:rPr lang="ru-RU" dirty="0" err="1"/>
              <a:t>елементів</a:t>
            </a:r>
            <a:r>
              <a:rPr lang="ru-RU" dirty="0"/>
              <a:t> </a:t>
            </a:r>
            <a:r>
              <a:rPr lang="ru-RU" dirty="0" err="1"/>
              <a:t>немає</a:t>
            </a:r>
            <a:r>
              <a:rPr lang="ru-RU" dirty="0"/>
              <a:t> </a:t>
            </a:r>
            <a:r>
              <a:rPr lang="en-US" dirty="0">
                <a:solidFill>
                  <a:srgbClr val="C00000"/>
                </a:solidFill>
              </a:rPr>
              <a:t>margin-collapse</a:t>
            </a:r>
            <a:r>
              <a:rPr lang="en-US" dirty="0"/>
              <a:t> - </a:t>
            </a:r>
            <a:r>
              <a:rPr lang="ru-RU" dirty="0" err="1"/>
              <a:t>тобто</a:t>
            </a:r>
            <a:r>
              <a:rPr lang="ru-RU" dirty="0"/>
              <a:t> </a:t>
            </a:r>
            <a:r>
              <a:rPr lang="en-US" dirty="0">
                <a:solidFill>
                  <a:srgbClr val="C00000"/>
                </a:solidFill>
              </a:rPr>
              <a:t>margins</a:t>
            </a:r>
          </a:p>
          <a:p>
            <a:r>
              <a:rPr lang="en-US" dirty="0"/>
              <a:t>   </a:t>
            </a:r>
            <a:r>
              <a:rPr lang="ru-RU" dirty="0" err="1"/>
              <a:t>сусідніх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 не </a:t>
            </a:r>
            <a:r>
              <a:rPr lang="ru-RU" dirty="0" err="1"/>
              <a:t>взаємодіють</a:t>
            </a:r>
            <a:endParaRPr lang="ru-RU" dirty="0"/>
          </a:p>
          <a:p>
            <a:r>
              <a:rPr lang="ru-RU" dirty="0"/>
              <a:t>- </a:t>
            </a:r>
            <a:r>
              <a:rPr lang="ru-RU" dirty="0" err="1"/>
              <a:t>елементами</a:t>
            </a:r>
            <a:r>
              <a:rPr lang="ru-RU" dirty="0"/>
              <a:t> контейнера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керувати</a:t>
            </a:r>
            <a:r>
              <a:rPr lang="ru-RU" dirty="0"/>
              <a:t> </a:t>
            </a:r>
            <a:r>
              <a:rPr lang="ru-RU" dirty="0" err="1"/>
              <a:t>змінюючи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вирівнювання</a:t>
            </a:r>
            <a:r>
              <a:rPr lang="ru-RU" dirty="0"/>
              <a:t>,</a:t>
            </a:r>
          </a:p>
          <a:p>
            <a:r>
              <a:rPr lang="ru-RU" dirty="0"/>
              <a:t>  </a:t>
            </a:r>
            <a:r>
              <a:rPr lang="ru-RU" dirty="0" err="1"/>
              <a:t>розмір</a:t>
            </a:r>
            <a:r>
              <a:rPr lang="ru-RU" dirty="0"/>
              <a:t>, </a:t>
            </a:r>
            <a:r>
              <a:rPr lang="ru-RU" dirty="0" err="1"/>
              <a:t>напрямок</a:t>
            </a:r>
            <a:r>
              <a:rPr lang="ru-RU" dirty="0"/>
              <a:t> </a:t>
            </a:r>
            <a:r>
              <a:rPr lang="ru-RU" dirty="0" err="1"/>
              <a:t>поширення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3211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E90D50-4FE4-AC4D-AB84-8CD540218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916832"/>
            <a:ext cx="8856984" cy="443269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7504" y="129406"/>
            <a:ext cx="8928992" cy="1477328"/>
          </a:xfrm>
          <a:prstGeom prst="rect">
            <a:avLst/>
          </a:prstGeom>
          <a:solidFill>
            <a:srgbClr val="7030A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Увага</a:t>
            </a:r>
            <a:r>
              <a:rPr lang="ru-RU" dirty="0"/>
              <a:t>!!!</a:t>
            </a:r>
          </a:p>
          <a:p>
            <a:r>
              <a:rPr lang="ru-RU" dirty="0" err="1"/>
              <a:t>Надалі</a:t>
            </a:r>
            <a:r>
              <a:rPr lang="ru-RU" dirty="0"/>
              <a:t> </a:t>
            </a:r>
            <a:r>
              <a:rPr lang="ru-RU" dirty="0" err="1"/>
              <a:t>елемент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знаходиться</a:t>
            </a:r>
            <a:r>
              <a:rPr lang="ru-RU" dirty="0"/>
              <a:t> в </a:t>
            </a:r>
            <a:r>
              <a:rPr lang="en-US" dirty="0"/>
              <a:t>flex </a:t>
            </a:r>
            <a:r>
              <a:rPr lang="ru-RU" dirty="0" err="1"/>
              <a:t>контейнері</a:t>
            </a:r>
            <a:r>
              <a:rPr lang="ru-RU" dirty="0"/>
              <a:t>, </a:t>
            </a:r>
            <a:r>
              <a:rPr lang="ru-RU" dirty="0" err="1"/>
              <a:t>набуває</a:t>
            </a:r>
            <a:r>
              <a:rPr lang="ru-RU" dirty="0"/>
              <a:t> </a:t>
            </a:r>
            <a:r>
              <a:rPr lang="en-US" dirty="0"/>
              <a:t>display</a:t>
            </a:r>
            <a:r>
              <a:rPr lang="ru-RU" dirty="0"/>
              <a:t> </a:t>
            </a:r>
            <a:r>
              <a:rPr lang="en-US" dirty="0">
                <a:solidFill>
                  <a:srgbClr val="0070C0"/>
                </a:solidFill>
              </a:rPr>
              <a:t>flex-item</a:t>
            </a:r>
          </a:p>
          <a:p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означає</a:t>
            </a:r>
            <a:r>
              <a:rPr lang="ru-RU" dirty="0"/>
              <a:t>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>
                <a:solidFill>
                  <a:srgbClr val="7030A0"/>
                </a:solidFill>
              </a:rPr>
              <a:t>замовчки</a:t>
            </a:r>
            <a:r>
              <a:rPr lang="ru-RU" dirty="0">
                <a:solidFill>
                  <a:srgbClr val="7030A0"/>
                </a:solidFill>
              </a:rPr>
              <a:t> ширина кожного </a:t>
            </a:r>
            <a:r>
              <a:rPr lang="ru-RU" dirty="0" err="1">
                <a:solidFill>
                  <a:srgbClr val="7030A0"/>
                </a:solidFill>
              </a:rPr>
              <a:t>елементу</a:t>
            </a:r>
            <a:r>
              <a:rPr lang="ru-RU" dirty="0">
                <a:solidFill>
                  <a:srgbClr val="7030A0"/>
                </a:solidFill>
              </a:rPr>
              <a:t> </a:t>
            </a:r>
            <a:r>
              <a:rPr lang="ru-RU" dirty="0" err="1">
                <a:solidFill>
                  <a:srgbClr val="7030A0"/>
                </a:solidFill>
              </a:rPr>
              <a:t>визначається</a:t>
            </a:r>
            <a:r>
              <a:rPr lang="ru-RU" dirty="0">
                <a:solidFill>
                  <a:srgbClr val="7030A0"/>
                </a:solidFill>
              </a:rPr>
              <a:t> </a:t>
            </a:r>
            <a:r>
              <a:rPr lang="ru-RU" dirty="0" err="1">
                <a:solidFill>
                  <a:srgbClr val="7030A0"/>
                </a:solidFill>
              </a:rPr>
              <a:t>кількістю</a:t>
            </a:r>
            <a:r>
              <a:rPr lang="ru-RU" dirty="0">
                <a:solidFill>
                  <a:srgbClr val="7030A0"/>
                </a:solidFill>
              </a:rPr>
              <a:t> </a:t>
            </a:r>
            <a:r>
              <a:rPr lang="ru-RU" dirty="0" err="1">
                <a:solidFill>
                  <a:srgbClr val="7030A0"/>
                </a:solidFill>
              </a:rPr>
              <a:t>його</a:t>
            </a:r>
            <a:r>
              <a:rPr lang="ru-RU" dirty="0">
                <a:solidFill>
                  <a:srgbClr val="7030A0"/>
                </a:solidFill>
              </a:rPr>
              <a:t> контенту</a:t>
            </a:r>
          </a:p>
        </p:txBody>
      </p:sp>
    </p:spTree>
    <p:extLst>
      <p:ext uri="{BB962C8B-B14F-4D97-AF65-F5344CB8AC3E}">
        <p14:creationId xmlns:p14="http://schemas.microsoft.com/office/powerpoint/2010/main" val="2537734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36512" y="4445667"/>
            <a:ext cx="8928992" cy="236988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властивість</a:t>
            </a:r>
            <a:r>
              <a:rPr lang="ru-RU" dirty="0"/>
              <a:t> контейнера</a:t>
            </a:r>
            <a:endParaRPr lang="en-US" dirty="0"/>
          </a:p>
          <a:p>
            <a:r>
              <a:rPr lang="en-US" dirty="0"/>
              <a:t>     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flex-direction: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     row | row-reverse | column | column-reverse</a:t>
            </a:r>
          </a:p>
          <a:p>
            <a:r>
              <a:rPr lang="en-US" dirty="0"/>
              <a:t> </a:t>
            </a:r>
            <a:r>
              <a:rPr lang="ru-RU" dirty="0"/>
              <a:t> </a:t>
            </a:r>
            <a:r>
              <a:rPr lang="en-US" dirty="0"/>
              <a:t>  </a:t>
            </a:r>
          </a:p>
          <a:p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en-US" dirty="0">
                <a:solidFill>
                  <a:srgbClr val="0070C0"/>
                </a:solidFill>
              </a:rPr>
              <a:t>flex-direction: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row  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(за 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</a:rPr>
              <a:t>замовчуванням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r>
              <a:rPr lang="ru-RU" dirty="0"/>
              <a:t>- </a:t>
            </a:r>
            <a:r>
              <a:rPr lang="ru-RU" dirty="0" err="1">
                <a:solidFill>
                  <a:srgbClr val="C00000"/>
                </a:solidFill>
              </a:rPr>
              <a:t>main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ax</a:t>
            </a:r>
            <a:r>
              <a:rPr lang="en-US" dirty="0" err="1">
                <a:solidFill>
                  <a:srgbClr val="C00000"/>
                </a:solidFill>
              </a:rPr>
              <a:t>i</a:t>
            </a:r>
            <a:r>
              <a:rPr lang="ru-RU" dirty="0">
                <a:solidFill>
                  <a:srgbClr val="C00000"/>
                </a:solidFill>
              </a:rPr>
              <a:t>s</a:t>
            </a:r>
            <a:r>
              <a:rPr lang="ru-RU" dirty="0"/>
              <a:t> </a:t>
            </a:r>
            <a:r>
              <a:rPr lang="en-US" dirty="0"/>
              <a:t> - </a:t>
            </a:r>
            <a:r>
              <a:rPr lang="ru-RU" dirty="0" err="1"/>
              <a:t>розташована</a:t>
            </a:r>
            <a:r>
              <a:rPr lang="ru-RU" dirty="0"/>
              <a:t> горизонтально,</a:t>
            </a:r>
          </a:p>
          <a:p>
            <a:r>
              <a:rPr lang="ru-RU" dirty="0"/>
              <a:t>- </a:t>
            </a:r>
            <a:r>
              <a:rPr lang="ru-RU" dirty="0" err="1">
                <a:solidFill>
                  <a:srgbClr val="C00000"/>
                </a:solidFill>
              </a:rPr>
              <a:t>cross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axis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 - </a:t>
            </a:r>
            <a:r>
              <a:rPr lang="ru-RU" dirty="0" err="1"/>
              <a:t>розташована</a:t>
            </a:r>
            <a:r>
              <a:rPr lang="ru-RU" dirty="0"/>
              <a:t> вертикально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56" y="4445667"/>
            <a:ext cx="187220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 flex.html</a:t>
            </a:r>
            <a:endParaRPr lang="ru-RU" b="1" dirty="0">
              <a:solidFill>
                <a:srgbClr val="0070C0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7F49E5C-EA81-1DB8-529F-DAF862EACB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71389"/>
            <a:ext cx="7344816" cy="426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998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107504" y="65747"/>
            <a:ext cx="8856984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 у </a:t>
            </a:r>
            <a:r>
              <a:rPr lang="ru-RU" dirty="0" err="1"/>
              <a:t>контейнері</a:t>
            </a:r>
            <a:r>
              <a:rPr lang="ru-RU" dirty="0"/>
              <a:t> </a:t>
            </a:r>
            <a:r>
              <a:rPr lang="ru-RU" dirty="0" err="1"/>
              <a:t>багато</a:t>
            </a:r>
            <a:r>
              <a:rPr lang="ru-RU" dirty="0"/>
              <a:t>, і </a:t>
            </a:r>
            <a:r>
              <a:rPr lang="ru-RU" dirty="0" err="1"/>
              <a:t>їхня</a:t>
            </a:r>
            <a:r>
              <a:rPr lang="ru-RU" dirty="0"/>
              <a:t> </a:t>
            </a:r>
            <a:r>
              <a:rPr lang="ru-RU" dirty="0" err="1"/>
              <a:t>загальна</a:t>
            </a:r>
            <a:r>
              <a:rPr lang="ru-RU" dirty="0"/>
              <a:t> ширина </a:t>
            </a:r>
            <a:r>
              <a:rPr lang="ru-RU" dirty="0" err="1"/>
              <a:t>перевищує</a:t>
            </a:r>
            <a:r>
              <a:rPr lang="ru-RU" dirty="0"/>
              <a:t> ширину контейнера, то при </a:t>
            </a:r>
            <a:r>
              <a:rPr lang="ru-RU" dirty="0" err="1">
                <a:solidFill>
                  <a:srgbClr val="C00000"/>
                </a:solidFill>
              </a:rPr>
              <a:t>flex-wrap</a:t>
            </a:r>
            <a:r>
              <a:rPr lang="ru-RU" dirty="0">
                <a:solidFill>
                  <a:srgbClr val="C00000"/>
                </a:solidFill>
              </a:rPr>
              <a:t>: </a:t>
            </a:r>
            <a:r>
              <a:rPr lang="ru-RU" dirty="0" err="1">
                <a:solidFill>
                  <a:srgbClr val="C00000"/>
                </a:solidFill>
              </a:rPr>
              <a:t>nowrap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/>
              <a:t>буде </a:t>
            </a:r>
            <a:r>
              <a:rPr lang="ru-RU" dirty="0" err="1"/>
              <a:t>переповнення</a:t>
            </a:r>
            <a:r>
              <a:rPr lang="en-US" dirty="0"/>
              <a:t> </a:t>
            </a:r>
            <a:r>
              <a:rPr lang="ru-RU" dirty="0"/>
              <a:t>контейнера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25AE33E-6BF8-5766-DCDF-D154A6F690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048" y="1508824"/>
            <a:ext cx="3866295" cy="54725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73C30A-BF9E-7D7F-F4E3-A133B9D2B07F}"/>
              </a:ext>
            </a:extLst>
          </p:cNvPr>
          <p:cNvSpPr txBox="1"/>
          <p:nvPr/>
        </p:nvSpPr>
        <p:spPr>
          <a:xfrm>
            <a:off x="1558224" y="1628800"/>
            <a:ext cx="284482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flex-wrap: </a:t>
            </a:r>
            <a:r>
              <a:rPr lang="en-US" b="1" dirty="0" err="1">
                <a:solidFill>
                  <a:schemeClr val="accent2"/>
                </a:solidFill>
              </a:rPr>
              <a:t>nowrap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B6BCDA-5075-524B-75CC-477D41A59770}"/>
              </a:ext>
            </a:extLst>
          </p:cNvPr>
          <p:cNvSpPr txBox="1"/>
          <p:nvPr/>
        </p:nvSpPr>
        <p:spPr>
          <a:xfrm>
            <a:off x="2026784" y="3008616"/>
            <a:ext cx="237626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flex-wrap: wrap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79FBD4-A9D9-8728-CA66-D9936802416E}"/>
              </a:ext>
            </a:extLst>
          </p:cNvPr>
          <p:cNvSpPr txBox="1"/>
          <p:nvPr/>
        </p:nvSpPr>
        <p:spPr>
          <a:xfrm>
            <a:off x="982160" y="5164510"/>
            <a:ext cx="3420888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flex-wrap: wrap-reverse</a:t>
            </a:r>
            <a:endParaRPr lang="ru-RU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365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4624"/>
            <a:ext cx="2952328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 err="1"/>
              <a:t>Скорочений</a:t>
            </a:r>
            <a:r>
              <a:rPr lang="ru-RU" sz="2000" b="1" dirty="0"/>
              <a:t> </a:t>
            </a:r>
            <a:r>
              <a:rPr lang="ru-RU" sz="2000" b="1" dirty="0" err="1"/>
              <a:t>запис</a:t>
            </a:r>
            <a:endParaRPr lang="ru-RU" sz="2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07504" y="611396"/>
            <a:ext cx="8928992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>
                <a:solidFill>
                  <a:schemeClr val="accent2"/>
                </a:solidFill>
              </a:rPr>
              <a:t>flex-flow: &lt;flex direction&gt; | &lt;flex wrap&gt;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102" y="1268760"/>
            <a:ext cx="8928992" cy="646331"/>
          </a:xfrm>
          <a:prstGeom prst="rect">
            <a:avLst/>
          </a:prstGeom>
          <a:solidFill>
            <a:srgbClr val="7030A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Наприклад</a:t>
            </a:r>
            <a:endParaRPr lang="ru-RU" dirty="0"/>
          </a:p>
          <a:p>
            <a:r>
              <a:rPr lang="en-US" dirty="0"/>
              <a:t>flex-flow: column wrap;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881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4624"/>
            <a:ext cx="4464496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/>
              <a:t>Свойство </a:t>
            </a:r>
            <a:r>
              <a:rPr lang="ru-RU" sz="2000" b="1" dirty="0" err="1">
                <a:solidFill>
                  <a:schemeClr val="accent2"/>
                </a:solidFill>
              </a:rPr>
              <a:t>justify-content</a:t>
            </a:r>
            <a:endParaRPr lang="ru-RU" sz="2000" b="1" dirty="0">
              <a:solidFill>
                <a:schemeClr val="accent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467380"/>
            <a:ext cx="8928992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Визначає</a:t>
            </a:r>
            <a:r>
              <a:rPr lang="ru-RU" dirty="0"/>
              <a:t>, як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вирівняні</a:t>
            </a:r>
            <a:r>
              <a:rPr lang="ru-RU" dirty="0"/>
              <a:t> </a:t>
            </a:r>
            <a:r>
              <a:rPr lang="ru-RU" dirty="0" err="1"/>
              <a:t>елементи</a:t>
            </a:r>
            <a:r>
              <a:rPr lang="ru-RU" dirty="0"/>
              <a:t> </a:t>
            </a:r>
            <a:r>
              <a:rPr lang="ru-RU" dirty="0" err="1"/>
              <a:t>вздовж</a:t>
            </a:r>
            <a:r>
              <a:rPr lang="ru-RU" dirty="0"/>
              <a:t> </a:t>
            </a:r>
            <a:r>
              <a:rPr lang="ru-RU" dirty="0" err="1"/>
              <a:t>головної</a:t>
            </a:r>
            <a:r>
              <a:rPr lang="ru-RU" dirty="0"/>
              <a:t> </a:t>
            </a:r>
            <a:r>
              <a:rPr lang="ru-RU" dirty="0" err="1"/>
              <a:t>осі</a:t>
            </a:r>
            <a:r>
              <a:rPr lang="ru-RU" dirty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28" y="1268760"/>
            <a:ext cx="9058744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>
                <a:solidFill>
                  <a:srgbClr val="0070C0"/>
                </a:solidFill>
              </a:rPr>
              <a:t>flex-start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| </a:t>
            </a:r>
            <a:r>
              <a:rPr lang="ru-RU" dirty="0" err="1">
                <a:solidFill>
                  <a:srgbClr val="0070C0"/>
                </a:solidFill>
              </a:rPr>
              <a:t>flex-end</a:t>
            </a:r>
            <a:r>
              <a:rPr lang="en-US" dirty="0">
                <a:solidFill>
                  <a:srgbClr val="0070C0"/>
                </a:solidFill>
              </a:rPr>
              <a:t> | c</a:t>
            </a:r>
            <a:r>
              <a:rPr lang="ru-RU" dirty="0" err="1">
                <a:solidFill>
                  <a:srgbClr val="0070C0"/>
                </a:solidFill>
              </a:rPr>
              <a:t>enter</a:t>
            </a:r>
            <a:r>
              <a:rPr lang="en-US" dirty="0">
                <a:solidFill>
                  <a:srgbClr val="0070C0"/>
                </a:solidFill>
              </a:rPr>
              <a:t> | </a:t>
            </a:r>
            <a:r>
              <a:rPr lang="ru-RU" dirty="0" err="1">
                <a:solidFill>
                  <a:srgbClr val="0070C0"/>
                </a:solidFill>
              </a:rPr>
              <a:t>space-between</a:t>
            </a:r>
            <a:r>
              <a:rPr lang="en-US" dirty="0">
                <a:solidFill>
                  <a:srgbClr val="0070C0"/>
                </a:solidFill>
              </a:rPr>
              <a:t> | </a:t>
            </a:r>
            <a:r>
              <a:rPr lang="ru-RU" dirty="0" err="1">
                <a:solidFill>
                  <a:srgbClr val="0070C0"/>
                </a:solidFill>
              </a:rPr>
              <a:t>space-around</a:t>
            </a:r>
            <a:r>
              <a:rPr lang="en-US" dirty="0">
                <a:solidFill>
                  <a:srgbClr val="0070C0"/>
                </a:solidFill>
              </a:rPr>
              <a:t> | </a:t>
            </a:r>
          </a:p>
          <a:p>
            <a:r>
              <a:rPr lang="en-US" dirty="0">
                <a:solidFill>
                  <a:srgbClr val="0070C0"/>
                </a:solidFill>
              </a:rPr>
              <a:t>space-evenly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F96220-DF6D-31EE-DCE0-11A5CCB2966E}"/>
              </a:ext>
            </a:extLst>
          </p:cNvPr>
          <p:cNvSpPr txBox="1"/>
          <p:nvPr/>
        </p:nvSpPr>
        <p:spPr>
          <a:xfrm>
            <a:off x="144016" y="3645024"/>
            <a:ext cx="8928992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Визначає</a:t>
            </a:r>
            <a:r>
              <a:rPr lang="ru-RU" dirty="0"/>
              <a:t> те, як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вирівняні</a:t>
            </a:r>
            <a:r>
              <a:rPr lang="ru-RU" dirty="0"/>
              <a:t> </a:t>
            </a:r>
            <a:r>
              <a:rPr lang="ru-RU" dirty="0" err="1"/>
              <a:t>елементи</a:t>
            </a:r>
            <a:r>
              <a:rPr lang="ru-RU" dirty="0"/>
              <a:t> </a:t>
            </a:r>
            <a:r>
              <a:rPr lang="ru-RU" dirty="0" err="1"/>
              <a:t>поперечної</a:t>
            </a:r>
            <a:r>
              <a:rPr lang="ru-RU" dirty="0"/>
              <a:t> </a:t>
            </a:r>
            <a:r>
              <a:rPr lang="ru-RU" dirty="0" err="1"/>
              <a:t>осі</a:t>
            </a:r>
            <a:r>
              <a:rPr lang="ru-RU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DBE891-D996-6634-127C-4C02CBE3DFD1}"/>
              </a:ext>
            </a:extLst>
          </p:cNvPr>
          <p:cNvSpPr txBox="1"/>
          <p:nvPr/>
        </p:nvSpPr>
        <p:spPr>
          <a:xfrm>
            <a:off x="121768" y="4158372"/>
            <a:ext cx="9058744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>
                <a:solidFill>
                  <a:srgbClr val="0070C0"/>
                </a:solidFill>
              </a:rPr>
              <a:t>stretch</a:t>
            </a:r>
            <a:r>
              <a:rPr lang="en-US" dirty="0">
                <a:solidFill>
                  <a:srgbClr val="0070C0"/>
                </a:solidFill>
              </a:rPr>
              <a:t> | </a:t>
            </a:r>
            <a:r>
              <a:rPr lang="ru-RU" dirty="0" err="1">
                <a:solidFill>
                  <a:srgbClr val="0070C0"/>
                </a:solidFill>
              </a:rPr>
              <a:t>flex-start</a:t>
            </a:r>
            <a:r>
              <a:rPr lang="en-US" dirty="0">
                <a:solidFill>
                  <a:srgbClr val="0070C0"/>
                </a:solidFill>
              </a:rPr>
              <a:t> | </a:t>
            </a:r>
            <a:r>
              <a:rPr lang="ru-RU" dirty="0" err="1">
                <a:solidFill>
                  <a:srgbClr val="0070C0"/>
                </a:solidFill>
              </a:rPr>
              <a:t>flex-end</a:t>
            </a:r>
            <a:r>
              <a:rPr lang="en-US" dirty="0">
                <a:solidFill>
                  <a:srgbClr val="0070C0"/>
                </a:solidFill>
              </a:rPr>
              <a:t> | c</a:t>
            </a:r>
            <a:r>
              <a:rPr lang="ru-RU" dirty="0" err="1">
                <a:solidFill>
                  <a:srgbClr val="0070C0"/>
                </a:solidFill>
              </a:rPr>
              <a:t>enter</a:t>
            </a:r>
            <a:r>
              <a:rPr lang="en-US" dirty="0">
                <a:solidFill>
                  <a:srgbClr val="0070C0"/>
                </a:solidFill>
              </a:rPr>
              <a:t> | </a:t>
            </a:r>
            <a:r>
              <a:rPr lang="ru-RU" dirty="0" err="1">
                <a:solidFill>
                  <a:srgbClr val="0070C0"/>
                </a:solidFill>
              </a:rPr>
              <a:t>baseline</a:t>
            </a:r>
            <a:endParaRPr lang="en-US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D446E6A-62AA-0002-447F-0DCF2948C08D}"/>
              </a:ext>
            </a:extLst>
          </p:cNvPr>
          <p:cNvSpPr txBox="1">
            <a:spLocks/>
          </p:cNvSpPr>
          <p:nvPr/>
        </p:nvSpPr>
        <p:spPr>
          <a:xfrm>
            <a:off x="121768" y="3212976"/>
            <a:ext cx="4464496" cy="360040"/>
          </a:xfrm>
          <a:prstGeom prst="rect">
            <a:avLst/>
          </a:prstGeom>
          <a:ln w="25400" cap="flat" cmpd="sng" algn="ctr">
            <a:solidFill>
              <a:schemeClr val="bg2">
                <a:lumMod val="50000"/>
              </a:schemeClr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/>
              <a:t>Свойство </a:t>
            </a:r>
            <a:r>
              <a:rPr lang="en-US" sz="2000" b="1">
                <a:solidFill>
                  <a:schemeClr val="accent2"/>
                </a:solidFill>
              </a:rPr>
              <a:t>align-items</a:t>
            </a:r>
            <a:endParaRPr lang="ru-RU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045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7504" y="116632"/>
            <a:ext cx="5743133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.flex-container{</a:t>
            </a:r>
          </a:p>
          <a:p>
            <a:r>
              <a:rPr lang="en-US" dirty="0"/>
              <a:t>     align-items: baseline;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9167"/>
            <a:ext cx="9144000" cy="218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579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4624"/>
            <a:ext cx="4464496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/>
              <a:t>Свойство</a:t>
            </a:r>
            <a:r>
              <a:rPr lang="ru-RU" sz="2000" b="1" dirty="0">
                <a:solidFill>
                  <a:schemeClr val="accent2"/>
                </a:solidFill>
              </a:rPr>
              <a:t> </a:t>
            </a:r>
            <a:r>
              <a:rPr lang="en-US" sz="2000" b="1" dirty="0">
                <a:solidFill>
                  <a:schemeClr val="accent2"/>
                </a:solidFill>
              </a:rPr>
              <a:t>align-self</a:t>
            </a:r>
            <a:endParaRPr lang="ru-RU" sz="2000" b="1" dirty="0">
              <a:solidFill>
                <a:schemeClr val="accent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22429"/>
            <a:ext cx="8928992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Вирівнювання</a:t>
            </a:r>
            <a:r>
              <a:rPr lang="ru-RU" dirty="0"/>
              <a:t> </a:t>
            </a:r>
            <a:r>
              <a:rPr lang="ru-RU" dirty="0" err="1"/>
              <a:t>окремо</a:t>
            </a:r>
            <a:r>
              <a:rPr lang="ru-RU" dirty="0"/>
              <a:t> взятого </a:t>
            </a:r>
            <a:r>
              <a:rPr lang="ru-RU" dirty="0" err="1"/>
              <a:t>flex</a:t>
            </a:r>
            <a:r>
              <a:rPr lang="ru-RU" dirty="0"/>
              <a:t>-блоку по </a:t>
            </a:r>
            <a:r>
              <a:rPr lang="ru-RU" dirty="0" err="1"/>
              <a:t>поперечній</a:t>
            </a:r>
            <a:r>
              <a:rPr lang="ru-RU" dirty="0"/>
              <a:t> </a:t>
            </a:r>
            <a:r>
              <a:rPr lang="ru-RU" dirty="0" err="1"/>
              <a:t>осі</a:t>
            </a:r>
            <a:r>
              <a:rPr lang="ru-RU" dirty="0"/>
              <a:t>.</a:t>
            </a:r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!!! </a:t>
            </a:r>
            <a:r>
              <a:rPr lang="ru-RU" dirty="0" err="1">
                <a:solidFill>
                  <a:schemeClr val="accent2"/>
                </a:solidFill>
              </a:rPr>
              <a:t>Застосовується</a:t>
            </a:r>
            <a:r>
              <a:rPr lang="ru-RU" dirty="0">
                <a:solidFill>
                  <a:schemeClr val="accent2"/>
                </a:solidFill>
              </a:rPr>
              <a:t> до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</a:rPr>
              <a:t>flex items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49760" y="1535881"/>
            <a:ext cx="9058744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rgbClr val="0070C0"/>
                </a:solidFill>
              </a:rPr>
              <a:t>S</a:t>
            </a:r>
            <a:r>
              <a:rPr lang="ru-RU" dirty="0" err="1">
                <a:solidFill>
                  <a:srgbClr val="0070C0"/>
                </a:solidFill>
              </a:rPr>
              <a:t>tretch</a:t>
            </a:r>
            <a:r>
              <a:rPr lang="en-US" dirty="0">
                <a:solidFill>
                  <a:srgbClr val="0070C0"/>
                </a:solidFill>
              </a:rPr>
              <a:t> | </a:t>
            </a:r>
            <a:r>
              <a:rPr lang="ru-RU" dirty="0" err="1">
                <a:solidFill>
                  <a:srgbClr val="0070C0"/>
                </a:solidFill>
              </a:rPr>
              <a:t>flex-start</a:t>
            </a:r>
            <a:r>
              <a:rPr lang="en-US" dirty="0">
                <a:solidFill>
                  <a:srgbClr val="0070C0"/>
                </a:solidFill>
              </a:rPr>
              <a:t> | </a:t>
            </a:r>
            <a:r>
              <a:rPr lang="ru-RU" dirty="0" err="1">
                <a:solidFill>
                  <a:srgbClr val="0070C0"/>
                </a:solidFill>
              </a:rPr>
              <a:t>flex-end</a:t>
            </a:r>
            <a:r>
              <a:rPr lang="en-US" dirty="0">
                <a:solidFill>
                  <a:srgbClr val="0070C0"/>
                </a:solidFill>
              </a:rPr>
              <a:t> | </a:t>
            </a:r>
            <a:r>
              <a:rPr lang="ru-RU" dirty="0" err="1">
                <a:solidFill>
                  <a:srgbClr val="0070C0"/>
                </a:solidFill>
              </a:rPr>
              <a:t>center</a:t>
            </a:r>
            <a:r>
              <a:rPr lang="en-US" dirty="0">
                <a:solidFill>
                  <a:srgbClr val="0070C0"/>
                </a:solidFill>
              </a:rPr>
              <a:t> | b</a:t>
            </a:r>
            <a:r>
              <a:rPr lang="ru-RU" dirty="0" err="1">
                <a:solidFill>
                  <a:srgbClr val="0070C0"/>
                </a:solidFill>
              </a:rPr>
              <a:t>aseline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F2D44B-0252-BF0B-4E32-CD81778D39F6}"/>
              </a:ext>
            </a:extLst>
          </p:cNvPr>
          <p:cNvSpPr txBox="1"/>
          <p:nvPr/>
        </p:nvSpPr>
        <p:spPr>
          <a:xfrm>
            <a:off x="7164288" y="116632"/>
            <a:ext cx="187220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 flex.html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86F03E-F9A7-2968-89F0-B9BDBD2B23E5}"/>
              </a:ext>
            </a:extLst>
          </p:cNvPr>
          <p:cNvSpPr txBox="1"/>
          <p:nvPr/>
        </p:nvSpPr>
        <p:spPr>
          <a:xfrm>
            <a:off x="107504" y="2815768"/>
            <a:ext cx="5743133" cy="1477328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.box</a:t>
            </a:r>
            <a:r>
              <a:rPr lang="ru-RU" dirty="0"/>
              <a:t>1</a:t>
            </a:r>
            <a:r>
              <a:rPr lang="en-US" dirty="0"/>
              <a:t> {  align-self: auto; }</a:t>
            </a:r>
          </a:p>
          <a:p>
            <a:r>
              <a:rPr lang="en-US" dirty="0"/>
              <a:t>.box2 {  align-self: auto; }</a:t>
            </a:r>
          </a:p>
          <a:p>
            <a:r>
              <a:rPr lang="en-US" dirty="0"/>
              <a:t>.box3 {  align-self: stretch; }</a:t>
            </a:r>
          </a:p>
          <a:p>
            <a:r>
              <a:rPr lang="en-US" dirty="0"/>
              <a:t>.box4 {  align-self: flex-end; }</a:t>
            </a:r>
          </a:p>
          <a:p>
            <a:r>
              <a:rPr lang="en-US" dirty="0"/>
              <a:t>.box5 {  align-self: auto; }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A011021-F03D-ECC2-1189-8B95A199D0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37112"/>
            <a:ext cx="9144000" cy="231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474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4624"/>
            <a:ext cx="4464496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/>
              <a:t>Свойство </a:t>
            </a:r>
            <a:r>
              <a:rPr lang="en-US" sz="2000" b="1" dirty="0">
                <a:solidFill>
                  <a:schemeClr val="accent2"/>
                </a:solidFill>
              </a:rPr>
              <a:t>align-contents</a:t>
            </a:r>
            <a:endParaRPr lang="ru-RU" sz="2000" b="1" dirty="0">
              <a:solidFill>
                <a:schemeClr val="accent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467380"/>
            <a:ext cx="8928992" cy="1477328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Визначає</a:t>
            </a:r>
            <a:r>
              <a:rPr lang="ru-RU" dirty="0"/>
              <a:t> те, </a:t>
            </a:r>
            <a:r>
              <a:rPr lang="ru-RU" dirty="0" err="1"/>
              <a:t>яким</a:t>
            </a:r>
            <a:r>
              <a:rPr lang="ru-RU" dirty="0"/>
              <a:t> чином ряди </a:t>
            </a:r>
            <a:r>
              <a:rPr lang="ru-RU" dirty="0" err="1"/>
              <a:t>блоків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утворилися</a:t>
            </a:r>
            <a:r>
              <a:rPr lang="ru-RU" dirty="0"/>
              <a:t>,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вирівняні</a:t>
            </a:r>
            <a:r>
              <a:rPr lang="ru-RU" dirty="0"/>
              <a:t> по </a:t>
            </a:r>
            <a:r>
              <a:rPr lang="ru-RU" dirty="0" err="1"/>
              <a:t>вертикалі</a:t>
            </a:r>
            <a:r>
              <a:rPr lang="ru-RU" dirty="0"/>
              <a:t> і як вони </a:t>
            </a:r>
            <a:r>
              <a:rPr lang="ru-RU" dirty="0" err="1"/>
              <a:t>поділять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собою весь </a:t>
            </a:r>
            <a:r>
              <a:rPr lang="ru-RU" dirty="0" err="1"/>
              <a:t>простір</a:t>
            </a:r>
            <a:r>
              <a:rPr lang="ru-RU" dirty="0"/>
              <a:t> </a:t>
            </a:r>
            <a:r>
              <a:rPr lang="ru-RU" dirty="0" err="1"/>
              <a:t>flex</a:t>
            </a:r>
            <a:r>
              <a:rPr lang="ru-RU" dirty="0"/>
              <a:t>-контейнера.</a:t>
            </a:r>
            <a:endParaRPr lang="en-US" dirty="0"/>
          </a:p>
          <a:p>
            <a:r>
              <a:rPr lang="ru-RU" dirty="0">
                <a:solidFill>
                  <a:schemeClr val="accent2"/>
                </a:solidFill>
              </a:rPr>
              <a:t>ВАЖЛИВО!</a:t>
            </a:r>
            <a:r>
              <a:rPr lang="en-US" dirty="0">
                <a:solidFill>
                  <a:schemeClr val="accent2"/>
                </a:solidFill>
              </a:rPr>
              <a:t>align-content </a:t>
            </a:r>
            <a:r>
              <a:rPr lang="ru-RU" dirty="0" err="1"/>
              <a:t>працює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в </a:t>
            </a:r>
            <a:r>
              <a:rPr lang="ru-RU" dirty="0" err="1"/>
              <a:t>багаторядковому</a:t>
            </a:r>
            <a:r>
              <a:rPr lang="ru-RU" dirty="0"/>
              <a:t> </a:t>
            </a:r>
            <a:r>
              <a:rPr lang="ru-RU" dirty="0" err="1"/>
              <a:t>режимі</a:t>
            </a:r>
            <a:endParaRPr lang="ru-RU" dirty="0"/>
          </a:p>
          <a:p>
            <a:r>
              <a:rPr lang="ru-RU" dirty="0"/>
              <a:t>(</a:t>
            </a:r>
            <a:r>
              <a:rPr lang="ru-RU" dirty="0" err="1"/>
              <a:t>тобто</a:t>
            </a:r>
            <a:r>
              <a:rPr lang="ru-RU" dirty="0"/>
              <a:t> у </a:t>
            </a:r>
            <a:r>
              <a:rPr lang="ru-RU" dirty="0" err="1"/>
              <a:t>разі</a:t>
            </a:r>
            <a:r>
              <a:rPr lang="ru-RU" dirty="0"/>
              <a:t> </a:t>
            </a:r>
            <a:r>
              <a:rPr lang="en-US" dirty="0" err="1">
                <a:solidFill>
                  <a:srgbClr val="0070C0"/>
                </a:solidFill>
              </a:rPr>
              <a:t>flex-wrap:wrap</a:t>
            </a:r>
            <a:r>
              <a:rPr lang="en-US" dirty="0"/>
              <a:t>;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en-US" dirty="0" err="1">
                <a:solidFill>
                  <a:srgbClr val="0070C0"/>
                </a:solidFill>
              </a:rPr>
              <a:t>flex-wrap:wrap-reverse</a:t>
            </a:r>
            <a:r>
              <a:rPr lang="en-US" dirty="0">
                <a:solidFill>
                  <a:srgbClr val="0070C0"/>
                </a:solidFill>
              </a:rPr>
              <a:t>;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5496" y="2276872"/>
            <a:ext cx="9058744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rgbClr val="0070C0"/>
                </a:solidFill>
              </a:rPr>
              <a:t>s</a:t>
            </a:r>
            <a:r>
              <a:rPr lang="ru-RU" dirty="0" err="1">
                <a:solidFill>
                  <a:srgbClr val="0070C0"/>
                </a:solidFill>
              </a:rPr>
              <a:t>tretch</a:t>
            </a:r>
            <a:r>
              <a:rPr lang="en-US" dirty="0">
                <a:solidFill>
                  <a:srgbClr val="0070C0"/>
                </a:solidFill>
              </a:rPr>
              <a:t> | </a:t>
            </a:r>
            <a:r>
              <a:rPr lang="ru-RU" dirty="0" err="1">
                <a:solidFill>
                  <a:srgbClr val="0070C0"/>
                </a:solidFill>
              </a:rPr>
              <a:t>flex-start</a:t>
            </a:r>
            <a:r>
              <a:rPr lang="en-US" dirty="0">
                <a:solidFill>
                  <a:srgbClr val="0070C0"/>
                </a:solidFill>
              </a:rPr>
              <a:t> | </a:t>
            </a:r>
            <a:r>
              <a:rPr lang="ru-RU" dirty="0" err="1">
                <a:solidFill>
                  <a:srgbClr val="0070C0"/>
                </a:solidFill>
              </a:rPr>
              <a:t>flex-end</a:t>
            </a:r>
            <a:r>
              <a:rPr lang="en-US" dirty="0">
                <a:solidFill>
                  <a:srgbClr val="0070C0"/>
                </a:solidFill>
              </a:rPr>
              <a:t> | </a:t>
            </a:r>
            <a:r>
              <a:rPr lang="ru-RU" dirty="0" err="1">
                <a:solidFill>
                  <a:srgbClr val="0070C0"/>
                </a:solidFill>
              </a:rPr>
              <a:t>center</a:t>
            </a:r>
            <a:r>
              <a:rPr lang="en-US" dirty="0">
                <a:solidFill>
                  <a:srgbClr val="0070C0"/>
                </a:solidFill>
              </a:rPr>
              <a:t> | </a:t>
            </a:r>
            <a:r>
              <a:rPr lang="ru-RU" dirty="0" err="1">
                <a:solidFill>
                  <a:srgbClr val="0070C0"/>
                </a:solidFill>
              </a:rPr>
              <a:t>space-between</a:t>
            </a:r>
            <a:r>
              <a:rPr lang="en-US" dirty="0">
                <a:solidFill>
                  <a:srgbClr val="0070C0"/>
                </a:solidFill>
              </a:rPr>
              <a:t> | </a:t>
            </a:r>
          </a:p>
          <a:p>
            <a:r>
              <a:rPr lang="ru-RU" dirty="0" err="1">
                <a:solidFill>
                  <a:srgbClr val="0070C0"/>
                </a:solidFill>
              </a:rPr>
              <a:t>space-around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6012160" y="39978"/>
            <a:ext cx="295232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 align_contents.html</a:t>
            </a:r>
            <a:endParaRPr lang="ru-RU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471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4624"/>
            <a:ext cx="4464496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/>
              <a:t>Свойство </a:t>
            </a:r>
            <a:r>
              <a:rPr lang="en-US" sz="2000" b="1" dirty="0">
                <a:solidFill>
                  <a:schemeClr val="accent2"/>
                </a:solidFill>
              </a:rPr>
              <a:t>order</a:t>
            </a:r>
            <a:endParaRPr lang="ru-RU" sz="2000" b="1" dirty="0">
              <a:solidFill>
                <a:schemeClr val="accent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467380"/>
            <a:ext cx="8928992" cy="1477328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Визначає</a:t>
            </a:r>
            <a:r>
              <a:rPr lang="ru-RU" dirty="0"/>
              <a:t> порядок </a:t>
            </a:r>
            <a:r>
              <a:rPr lang="ru-RU" dirty="0" err="1"/>
              <a:t>проходження</a:t>
            </a:r>
            <a:r>
              <a:rPr lang="ru-RU" dirty="0"/>
              <a:t> </a:t>
            </a:r>
            <a:r>
              <a:rPr lang="ru-RU" dirty="0" err="1"/>
              <a:t>окремо</a:t>
            </a:r>
            <a:r>
              <a:rPr lang="ru-RU" dirty="0"/>
              <a:t> взятого </a:t>
            </a:r>
            <a:r>
              <a:rPr lang="ru-RU" dirty="0" err="1"/>
              <a:t>flex-елемента</a:t>
            </a:r>
            <a:r>
              <a:rPr lang="ru-RU" dirty="0"/>
              <a:t> </a:t>
            </a:r>
            <a:r>
              <a:rPr lang="ru-RU" dirty="0" err="1"/>
              <a:t>всередині</a:t>
            </a:r>
            <a:r>
              <a:rPr lang="ru-RU" dirty="0"/>
              <a:t> </a:t>
            </a:r>
            <a:r>
              <a:rPr lang="ru-RU" dirty="0" err="1"/>
              <a:t>flex</a:t>
            </a:r>
            <a:r>
              <a:rPr lang="ru-RU" dirty="0"/>
              <a:t>-контейнера.</a:t>
            </a:r>
          </a:p>
          <a:p>
            <a:r>
              <a:rPr lang="en-US" dirty="0">
                <a:solidFill>
                  <a:schemeClr val="accent2"/>
                </a:solidFill>
              </a:rPr>
              <a:t>!!! </a:t>
            </a:r>
            <a:r>
              <a:rPr lang="ru-RU" dirty="0" err="1">
                <a:solidFill>
                  <a:schemeClr val="accent2"/>
                </a:solidFill>
              </a:rPr>
              <a:t>Застосовується</a:t>
            </a:r>
            <a:r>
              <a:rPr lang="ru-RU" dirty="0">
                <a:solidFill>
                  <a:schemeClr val="accent2"/>
                </a:solidFill>
              </a:rPr>
              <a:t> к </a:t>
            </a:r>
            <a:r>
              <a:rPr lang="en-US" dirty="0">
                <a:solidFill>
                  <a:schemeClr val="accent2"/>
                </a:solidFill>
              </a:rPr>
              <a:t>flex items</a:t>
            </a:r>
            <a:endParaRPr lang="ru-RU" dirty="0">
              <a:solidFill>
                <a:schemeClr val="accent2"/>
              </a:solidFill>
            </a:endParaRPr>
          </a:p>
          <a:p>
            <a:endParaRPr lang="ru-RU" dirty="0">
              <a:solidFill>
                <a:schemeClr val="accent2"/>
              </a:solidFill>
            </a:endParaRPr>
          </a:p>
          <a:p>
            <a:r>
              <a:rPr lang="ru-RU" dirty="0"/>
              <a:t>За </a:t>
            </a:r>
            <a:r>
              <a:rPr lang="ru-RU" dirty="0" err="1"/>
              <a:t>замовчуванням</a:t>
            </a:r>
            <a:r>
              <a:rPr lang="ru-RU" dirty="0"/>
              <a:t> для </a:t>
            </a:r>
            <a:r>
              <a:rPr lang="en-US" dirty="0"/>
              <a:t>flex-</a:t>
            </a:r>
            <a:r>
              <a:rPr lang="ru-RU" dirty="0" err="1"/>
              <a:t>елемента</a:t>
            </a:r>
            <a:r>
              <a:rPr lang="ru-RU" dirty="0"/>
              <a:t> </a:t>
            </a:r>
            <a:r>
              <a:rPr lang="en-US" dirty="0">
                <a:solidFill>
                  <a:srgbClr val="0070C0"/>
                </a:solidFill>
              </a:rPr>
              <a:t>order: 0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2D3E19-D586-4B7C-88C4-E4DDAA234A81}"/>
              </a:ext>
            </a:extLst>
          </p:cNvPr>
          <p:cNvSpPr txBox="1"/>
          <p:nvPr/>
        </p:nvSpPr>
        <p:spPr>
          <a:xfrm>
            <a:off x="7164288" y="39978"/>
            <a:ext cx="18002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 flex.html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33DC86-FA44-F2A1-F4DB-9F7E36779FD1}"/>
              </a:ext>
            </a:extLst>
          </p:cNvPr>
          <p:cNvSpPr txBox="1"/>
          <p:nvPr/>
        </p:nvSpPr>
        <p:spPr>
          <a:xfrm>
            <a:off x="139552" y="2413337"/>
            <a:ext cx="3096344" cy="2031325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. box3{</a:t>
            </a:r>
          </a:p>
          <a:p>
            <a:r>
              <a:rPr lang="en-US" dirty="0"/>
              <a:t>     order: -1;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. box2{</a:t>
            </a:r>
          </a:p>
          <a:p>
            <a:r>
              <a:rPr lang="en-US" dirty="0"/>
              <a:t>     order: 1;</a:t>
            </a:r>
          </a:p>
          <a:p>
            <a:r>
              <a:rPr lang="en-US" dirty="0"/>
              <a:t>}</a:t>
            </a:r>
            <a:endParaRPr lang="ru-RU" dirty="0"/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D933EE8-4116-137E-F870-FA3195825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51344"/>
            <a:ext cx="9144000" cy="189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82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4624"/>
            <a:ext cx="5184576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l"/>
            <a:r>
              <a:rPr lang="en-US" sz="2000" b="1" dirty="0"/>
              <a:t>flex-grow, flex-shrink, flex-basis</a:t>
            </a:r>
            <a:endParaRPr lang="ru-RU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7504" y="2996952"/>
            <a:ext cx="8928992" cy="3693319"/>
          </a:xfrm>
          <a:prstGeom prst="rect">
            <a:avLst/>
          </a:prstGeom>
          <a:solidFill>
            <a:srgbClr val="7030A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flex-basis </a:t>
            </a:r>
            <a:r>
              <a:rPr lang="en-US" dirty="0"/>
              <a:t>-&gt;  </a:t>
            </a:r>
            <a:r>
              <a:rPr lang="ru-RU" dirty="0"/>
              <a:t>0 </a:t>
            </a:r>
            <a:r>
              <a:rPr lang="en-US" dirty="0"/>
              <a:t>|</a:t>
            </a:r>
            <a:r>
              <a:rPr lang="ru-RU" dirty="0"/>
              <a:t> </a:t>
            </a:r>
            <a:r>
              <a:rPr lang="en-US" dirty="0" err="1"/>
              <a:t>px</a:t>
            </a:r>
            <a:r>
              <a:rPr lang="en-US" dirty="0"/>
              <a:t> | </a:t>
            </a:r>
            <a:r>
              <a:rPr lang="en-US" dirty="0" err="1"/>
              <a:t>em</a:t>
            </a:r>
            <a:r>
              <a:rPr lang="en-US" dirty="0"/>
              <a:t> | ex | % 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flex-basis</a:t>
            </a:r>
            <a:r>
              <a:rPr lang="en-US" dirty="0"/>
              <a:t> –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розмір</a:t>
            </a:r>
            <a:r>
              <a:rPr lang="ru-RU" dirty="0"/>
              <a:t> </a:t>
            </a:r>
            <a:r>
              <a:rPr lang="ru-RU" dirty="0" err="1">
                <a:solidFill>
                  <a:srgbClr val="C00000"/>
                </a:solidFill>
              </a:rPr>
              <a:t>flex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 перед </a:t>
            </a:r>
            <a:r>
              <a:rPr lang="ru-RU" dirty="0" err="1"/>
              <a:t>тим</a:t>
            </a:r>
            <a:r>
              <a:rPr lang="ru-RU" dirty="0"/>
              <a:t> як вони </a:t>
            </a:r>
            <a:r>
              <a:rPr lang="ru-RU" dirty="0" err="1"/>
              <a:t>розмістяться</a:t>
            </a:r>
            <a:r>
              <a:rPr lang="ru-RU" dirty="0"/>
              <a:t> у </a:t>
            </a:r>
            <a:r>
              <a:rPr lang="ru-RU" dirty="0" err="1"/>
              <a:t>контейнері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імовірний</a:t>
            </a:r>
            <a:r>
              <a:rPr lang="ru-RU" dirty="0"/>
              <a:t> (</a:t>
            </a:r>
            <a:r>
              <a:rPr lang="ru-RU" dirty="0" err="1"/>
              <a:t>ідеальний</a:t>
            </a:r>
            <a:r>
              <a:rPr lang="ru-RU" dirty="0"/>
              <a:t>) </a:t>
            </a:r>
            <a:r>
              <a:rPr lang="ru-RU" dirty="0" err="1"/>
              <a:t>розмір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, але не </a:t>
            </a:r>
            <a:r>
              <a:rPr lang="ru-RU" dirty="0" err="1"/>
              <a:t>гарантований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Для </a:t>
            </a:r>
            <a:r>
              <a:rPr lang="ru-RU" dirty="0" err="1">
                <a:solidFill>
                  <a:srgbClr val="C00000"/>
                </a:solidFill>
              </a:rPr>
              <a:t>flex-basis</a:t>
            </a:r>
            <a:r>
              <a:rPr lang="ru-RU" dirty="0"/>
              <a:t>, браузер </a:t>
            </a:r>
            <a:r>
              <a:rPr lang="ru-RU" dirty="0" err="1"/>
              <a:t>встановить</a:t>
            </a:r>
            <a:r>
              <a:rPr lang="ru-RU" dirty="0"/>
              <a:t> для </a:t>
            </a:r>
            <a:r>
              <a:rPr lang="ru-RU" dirty="0" err="1"/>
              <a:t>елемента</a:t>
            </a:r>
            <a:r>
              <a:rPr lang="ru-RU" dirty="0"/>
              <a:t> </a:t>
            </a:r>
            <a:r>
              <a:rPr lang="ru-RU" dirty="0" err="1"/>
              <a:t>вказану</a:t>
            </a:r>
            <a:r>
              <a:rPr lang="ru-RU" dirty="0"/>
              <a:t> ширину,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достатньо</a:t>
            </a:r>
            <a:r>
              <a:rPr lang="ru-RU" dirty="0"/>
              <a:t> </a:t>
            </a:r>
            <a:r>
              <a:rPr lang="ru-RU" dirty="0" err="1"/>
              <a:t>вільного</a:t>
            </a:r>
            <a:r>
              <a:rPr lang="ru-RU" dirty="0"/>
              <a:t> простору.</a:t>
            </a:r>
          </a:p>
          <a:p>
            <a:endParaRPr lang="ru-RU" dirty="0"/>
          </a:p>
          <a:p>
            <a:r>
              <a:rPr lang="ru-RU" dirty="0"/>
              <a:t>А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ні</a:t>
            </a:r>
            <a:r>
              <a:rPr lang="ru-RU" dirty="0"/>
              <a:t> - то ширина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меншою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більшою</a:t>
            </a:r>
            <a:r>
              <a:rPr lang="ru-RU" dirty="0"/>
              <a:t> (</a:t>
            </a:r>
            <a:r>
              <a:rPr lang="ru-RU" dirty="0" err="1"/>
              <a:t>залежно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вільного</a:t>
            </a:r>
            <a:r>
              <a:rPr lang="ru-RU" dirty="0"/>
              <a:t> простору),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якщо</a:t>
            </a:r>
            <a:r>
              <a:rPr lang="ru-RU" dirty="0"/>
              <a:t> для контейнера </a:t>
            </a:r>
            <a:r>
              <a:rPr lang="ru-RU" dirty="0" err="1"/>
              <a:t>встановлено</a:t>
            </a:r>
            <a:r>
              <a:rPr lang="ru-RU" dirty="0"/>
              <a:t> </a:t>
            </a:r>
            <a:r>
              <a:rPr lang="ru-RU" dirty="0" err="1"/>
              <a:t>властивість</a:t>
            </a:r>
            <a:r>
              <a:rPr lang="ru-RU" dirty="0"/>
              <a:t> </a:t>
            </a:r>
            <a:r>
              <a:rPr lang="ru-RU" dirty="0" err="1">
                <a:solidFill>
                  <a:srgbClr val="C00000"/>
                </a:solidFill>
              </a:rPr>
              <a:t>flex-wrap</a:t>
            </a:r>
            <a:r>
              <a:rPr lang="ru-RU" dirty="0"/>
              <a:t>: </a:t>
            </a:r>
            <a:r>
              <a:rPr lang="ru-RU" dirty="0" err="1">
                <a:solidFill>
                  <a:srgbClr val="C00000"/>
                </a:solidFill>
              </a:rPr>
              <a:t>wrap</a:t>
            </a:r>
            <a:r>
              <a:rPr lang="ru-RU" dirty="0"/>
              <a:t>, то </a:t>
            </a:r>
            <a:r>
              <a:rPr lang="ru-RU" dirty="0" err="1"/>
              <a:t>елеїент</a:t>
            </a:r>
            <a:r>
              <a:rPr lang="ru-RU" dirty="0"/>
              <a:t> буде перенесений на </a:t>
            </a:r>
            <a:r>
              <a:rPr lang="ru-RU" dirty="0" err="1"/>
              <a:t>новий</a:t>
            </a:r>
            <a:r>
              <a:rPr lang="ru-RU" dirty="0"/>
              <a:t> рядок.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9512" y="498738"/>
            <a:ext cx="8519260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/>
              <a:t>Ці</a:t>
            </a:r>
            <a:r>
              <a:rPr lang="ru-RU" b="1" dirty="0"/>
              <a:t> </a:t>
            </a:r>
            <a:r>
              <a:rPr lang="ru-RU" b="1" dirty="0" err="1"/>
              <a:t>властивості</a:t>
            </a:r>
            <a:r>
              <a:rPr lang="ru-RU" b="1" dirty="0"/>
              <a:t> </a:t>
            </a:r>
            <a:r>
              <a:rPr lang="ru-RU" b="1" dirty="0" err="1"/>
              <a:t>застосовуються</a:t>
            </a:r>
            <a:r>
              <a:rPr lang="ru-RU" b="1" dirty="0"/>
              <a:t> </a:t>
            </a:r>
            <a:r>
              <a:rPr lang="ru-RU" b="1" dirty="0" err="1">
                <a:solidFill>
                  <a:schemeClr val="accent2"/>
                </a:solidFill>
              </a:rPr>
              <a:t>тільки</a:t>
            </a:r>
            <a:r>
              <a:rPr lang="ru-RU" b="1" dirty="0">
                <a:solidFill>
                  <a:schemeClr val="accent2"/>
                </a:solidFill>
              </a:rPr>
              <a:t> </a:t>
            </a:r>
            <a:r>
              <a:rPr lang="ru-RU" b="1" dirty="0"/>
              <a:t>до </a:t>
            </a:r>
            <a:r>
              <a:rPr lang="uk-UA" b="1" dirty="0"/>
              <a:t>елементів </a:t>
            </a:r>
            <a:r>
              <a:rPr lang="en-US" b="1" dirty="0">
                <a:solidFill>
                  <a:schemeClr val="accent2"/>
                </a:solidFill>
              </a:rPr>
              <a:t>flex-items</a:t>
            </a:r>
            <a:endParaRPr lang="ru-RU" b="1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2B0102E-35B8-5680-045E-8C20B986693F}"/>
              </a:ext>
            </a:extLst>
          </p:cNvPr>
          <p:cNvSpPr/>
          <p:nvPr/>
        </p:nvSpPr>
        <p:spPr>
          <a:xfrm>
            <a:off x="179512" y="1124744"/>
            <a:ext cx="8712968" cy="1728192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7D66690-1160-CEA1-4417-354E7757855A}"/>
              </a:ext>
            </a:extLst>
          </p:cNvPr>
          <p:cNvSpPr/>
          <p:nvPr/>
        </p:nvSpPr>
        <p:spPr>
          <a:xfrm>
            <a:off x="395536" y="1268760"/>
            <a:ext cx="2304256" cy="13681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flex-basis: 20%;</a:t>
            </a:r>
            <a:endParaRPr lang="ru-RU" sz="1600" b="1" dirty="0">
              <a:solidFill>
                <a:schemeClr val="tx1"/>
              </a:solidFill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82CF0AEF-B215-97E0-A7B1-D484B9F53967}"/>
              </a:ext>
            </a:extLst>
          </p:cNvPr>
          <p:cNvCxnSpPr/>
          <p:nvPr/>
        </p:nvCxnSpPr>
        <p:spPr>
          <a:xfrm>
            <a:off x="395536" y="2204864"/>
            <a:ext cx="230425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DD1E050-47F6-722F-6B34-FBE97229B145}"/>
              </a:ext>
            </a:extLst>
          </p:cNvPr>
          <p:cNvSpPr/>
          <p:nvPr/>
        </p:nvSpPr>
        <p:spPr>
          <a:xfrm>
            <a:off x="2915816" y="1268760"/>
            <a:ext cx="2304256" cy="13681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flex-basis: 20%;</a:t>
            </a:r>
            <a:endParaRPr lang="ru-RU" sz="1600" b="1" dirty="0">
              <a:solidFill>
                <a:schemeClr val="tx1"/>
              </a:solidFill>
            </a:endParaRP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128514E2-F3C6-231B-3CCF-78EB8D025D07}"/>
              </a:ext>
            </a:extLst>
          </p:cNvPr>
          <p:cNvCxnSpPr/>
          <p:nvPr/>
        </p:nvCxnSpPr>
        <p:spPr>
          <a:xfrm>
            <a:off x="2915816" y="2204864"/>
            <a:ext cx="230425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DAFEE60-6C3C-391D-A2EC-861939F8BE4F}"/>
              </a:ext>
            </a:extLst>
          </p:cNvPr>
          <p:cNvSpPr/>
          <p:nvPr/>
        </p:nvSpPr>
        <p:spPr>
          <a:xfrm>
            <a:off x="5508104" y="1268760"/>
            <a:ext cx="3240360" cy="13681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 space 60%</a:t>
            </a:r>
            <a:endParaRPr lang="ru-RU" b="1" dirty="0">
              <a:solidFill>
                <a:schemeClr val="tx1"/>
              </a:solidFill>
            </a:endParaRP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B9B46305-8461-E397-BA8A-C73B6FCCC05F}"/>
              </a:ext>
            </a:extLst>
          </p:cNvPr>
          <p:cNvCxnSpPr>
            <a:cxnSpLocks/>
          </p:cNvCxnSpPr>
          <p:nvPr/>
        </p:nvCxnSpPr>
        <p:spPr>
          <a:xfrm>
            <a:off x="5508104" y="2204864"/>
            <a:ext cx="3240360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57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5286" y="19248"/>
            <a:ext cx="6276914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l"/>
            <a:r>
              <a:rPr lang="ru-RU" sz="2000" b="1" dirty="0"/>
              <a:t>Алгоритм </a:t>
            </a:r>
            <a:r>
              <a:rPr lang="ru-RU" sz="2000" b="1" dirty="0" err="1"/>
              <a:t>розрахунку</a:t>
            </a:r>
            <a:r>
              <a:rPr lang="ru-RU" sz="2000" b="1" dirty="0"/>
              <a:t> </a:t>
            </a:r>
            <a:r>
              <a:rPr lang="ru-RU" sz="2000" b="1" dirty="0" err="1"/>
              <a:t>положення</a:t>
            </a:r>
            <a:r>
              <a:rPr lang="ru-RU" sz="2000" b="1" dirty="0"/>
              <a:t> </a:t>
            </a:r>
            <a:r>
              <a:rPr lang="ru-RU" sz="2000" b="1" dirty="0" err="1"/>
              <a:t>flex</a:t>
            </a:r>
            <a:r>
              <a:rPr lang="ru-RU" sz="2000" b="1" dirty="0"/>
              <a:t> </a:t>
            </a:r>
            <a:r>
              <a:rPr lang="ru-RU" sz="2000" b="1" dirty="0" err="1"/>
              <a:t>елементів</a:t>
            </a:r>
            <a:endParaRPr lang="ru-RU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7504" y="439504"/>
            <a:ext cx="8928992" cy="1200329"/>
          </a:xfrm>
          <a:prstGeom prst="rect">
            <a:avLst/>
          </a:prstGeom>
          <a:solidFill>
            <a:srgbClr val="7030A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marL="342900" indent="-342900">
              <a:buAutoNum type="arabicPeriod"/>
            </a:pPr>
            <a:r>
              <a:rPr lang="ru-RU" dirty="0" err="1"/>
              <a:t>Визначення</a:t>
            </a:r>
            <a:r>
              <a:rPr lang="ru-RU" dirty="0"/>
              <a:t> </a:t>
            </a:r>
            <a:r>
              <a:rPr lang="ru-RU" dirty="0" err="1"/>
              <a:t>базових</a:t>
            </a:r>
            <a:r>
              <a:rPr lang="ru-RU" dirty="0"/>
              <a:t> </a:t>
            </a:r>
            <a:r>
              <a:rPr lang="ru-RU" dirty="0" err="1"/>
              <a:t>розмірів</a:t>
            </a:r>
            <a:endParaRPr lang="ru-RU" dirty="0"/>
          </a:p>
          <a:p>
            <a:pPr marL="342900" indent="-342900">
              <a:buAutoNum type="arabicPeriod"/>
            </a:pPr>
            <a:r>
              <a:rPr lang="ru-RU" dirty="0" err="1"/>
              <a:t>Перерозподіл</a:t>
            </a:r>
            <a:r>
              <a:rPr lang="ru-RU" dirty="0"/>
              <a:t> </a:t>
            </a:r>
            <a:r>
              <a:rPr lang="ru-RU" dirty="0" err="1"/>
              <a:t>вільного</a:t>
            </a:r>
            <a:r>
              <a:rPr lang="ru-RU" dirty="0"/>
              <a:t> простору контейнера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елементами</a:t>
            </a:r>
            <a:endParaRPr lang="ru-RU" dirty="0"/>
          </a:p>
          <a:p>
            <a:pPr marL="342900" indent="-342900">
              <a:buAutoNum type="arabicPeriod"/>
            </a:pPr>
            <a:r>
              <a:rPr lang="ru-RU" dirty="0" err="1"/>
              <a:t>Застосування</a:t>
            </a:r>
            <a:r>
              <a:rPr lang="ru-RU" dirty="0"/>
              <a:t> </a:t>
            </a:r>
            <a:r>
              <a:rPr lang="ru-RU" dirty="0" err="1"/>
              <a:t>обмежень</a:t>
            </a:r>
            <a:r>
              <a:rPr lang="ru-RU" dirty="0"/>
              <a:t> </a:t>
            </a:r>
            <a:r>
              <a:rPr lang="ru-RU" dirty="0" err="1"/>
              <a:t>розмірів</a:t>
            </a:r>
            <a:r>
              <a:rPr lang="en-US" dirty="0"/>
              <a:t>  </a:t>
            </a:r>
          </a:p>
          <a:p>
            <a:r>
              <a:rPr lang="en-US" dirty="0"/>
              <a:t>   </a:t>
            </a:r>
            <a:r>
              <a:rPr lang="ru-RU" dirty="0"/>
              <a:t>(</a:t>
            </a:r>
            <a:r>
              <a:rPr lang="en-US" dirty="0"/>
              <a:t>min-width, max-width, min-height, max-height</a:t>
            </a:r>
            <a:r>
              <a:rPr lang="ru-RU" dirty="0"/>
              <a:t>).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86" y="1916832"/>
            <a:ext cx="8941209" cy="369332"/>
          </a:xfrm>
          <a:prstGeom prst="rect">
            <a:avLst/>
          </a:prstGeom>
          <a:solidFill>
            <a:srgbClr val="7030A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>
                <a:solidFill>
                  <a:srgbClr val="C00000"/>
                </a:solidFill>
              </a:rPr>
              <a:t>Базовий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розмір</a:t>
            </a:r>
            <a:r>
              <a:rPr lang="ru-RU" dirty="0">
                <a:solidFill>
                  <a:srgbClr val="C00000"/>
                </a:solidFill>
              </a:rPr>
              <a:t> – </a:t>
            </a:r>
            <a:r>
              <a:rPr lang="ru-RU" dirty="0" err="1"/>
              <a:t>розмір</a:t>
            </a:r>
            <a:r>
              <a:rPr lang="ru-RU" dirty="0"/>
              <a:t> </a:t>
            </a:r>
            <a:r>
              <a:rPr lang="ru-RU" dirty="0" err="1"/>
              <a:t>елемента</a:t>
            </a:r>
            <a:r>
              <a:rPr lang="ru-RU" dirty="0"/>
              <a:t> </a:t>
            </a:r>
            <a:r>
              <a:rPr lang="ru-RU" dirty="0" err="1"/>
              <a:t>вздовж</a:t>
            </a:r>
            <a:r>
              <a:rPr lang="ru-RU" dirty="0"/>
              <a:t> </a:t>
            </a:r>
            <a:r>
              <a:rPr lang="ru-RU" dirty="0" err="1"/>
              <a:t>головної</a:t>
            </a:r>
            <a:r>
              <a:rPr lang="ru-RU" dirty="0"/>
              <a:t> </a:t>
            </a:r>
            <a:r>
              <a:rPr lang="ru-RU" dirty="0" err="1"/>
              <a:t>осі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79512" y="3200607"/>
            <a:ext cx="239039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flex-basis: auto</a:t>
            </a:r>
            <a:endParaRPr lang="ru-RU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553642" y="2561962"/>
            <a:ext cx="5281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/>
              <a:t>Розраховане значення базового розміру</a:t>
            </a:r>
            <a:endParaRPr lang="ru-RU" b="1" dirty="0"/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107504" y="2564904"/>
            <a:ext cx="856895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107504" y="2996952"/>
            <a:ext cx="856895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5" idx="3"/>
            <a:endCxn id="12" idx="1"/>
          </p:cNvCxnSpPr>
          <p:nvPr/>
        </p:nvCxnSpPr>
        <p:spPr>
          <a:xfrm flipV="1">
            <a:off x="2569910" y="3372769"/>
            <a:ext cx="2808312" cy="125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839786" y="299285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b="1" dirty="0">
                <a:solidFill>
                  <a:srgbClr val="C00000"/>
                </a:solidFill>
              </a:rPr>
              <a:t>ні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78222" y="3188103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/>
              <a:t>значення</a:t>
            </a:r>
            <a:r>
              <a:rPr lang="uk-UA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flex-basis</a:t>
            </a:r>
            <a:endParaRPr lang="ru-RU" b="1" dirty="0">
              <a:solidFill>
                <a:srgbClr val="C00000"/>
              </a:solidFill>
            </a:endParaRPr>
          </a:p>
        </p:txBody>
      </p:sp>
      <p:cxnSp>
        <p:nvCxnSpPr>
          <p:cNvPr id="13" name="Прямая со стрелкой 12"/>
          <p:cNvCxnSpPr/>
          <p:nvPr/>
        </p:nvCxnSpPr>
        <p:spPr>
          <a:xfrm>
            <a:off x="1356497" y="3569939"/>
            <a:ext cx="0" cy="5354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9421" y="4143099"/>
            <a:ext cx="2460489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main axis</a:t>
            </a:r>
          </a:p>
          <a:p>
            <a:r>
              <a:rPr lang="en-US" b="1" dirty="0"/>
              <a:t>width: auto</a:t>
            </a:r>
            <a:endParaRPr lang="ru-RU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58256" y="359200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да</a:t>
            </a:r>
          </a:p>
        </p:txBody>
      </p:sp>
      <p:cxnSp>
        <p:nvCxnSpPr>
          <p:cNvPr id="16" name="Прямая со стрелкой 15"/>
          <p:cNvCxnSpPr>
            <a:stCxn id="14" idx="3"/>
            <a:endCxn id="18" idx="1"/>
          </p:cNvCxnSpPr>
          <p:nvPr/>
        </p:nvCxnSpPr>
        <p:spPr>
          <a:xfrm flipV="1">
            <a:off x="2569910" y="4443462"/>
            <a:ext cx="2736304" cy="228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77615" y="409606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b="1" dirty="0">
                <a:solidFill>
                  <a:srgbClr val="C00000"/>
                </a:solidFill>
              </a:rPr>
              <a:t>ні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06214" y="4258796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/>
              <a:t>значення</a:t>
            </a:r>
            <a:r>
              <a:rPr lang="uk-UA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width</a:t>
            </a:r>
            <a:endParaRPr lang="ru-RU" b="1" dirty="0">
              <a:solidFill>
                <a:srgbClr val="C00000"/>
              </a:solidFill>
            </a:endParaRPr>
          </a:p>
        </p:txBody>
      </p:sp>
      <p:cxnSp>
        <p:nvCxnSpPr>
          <p:cNvPr id="19" name="Прямая со стрелкой 18"/>
          <p:cNvCxnSpPr/>
          <p:nvPr/>
        </p:nvCxnSpPr>
        <p:spPr>
          <a:xfrm>
            <a:off x="1342363" y="4753425"/>
            <a:ext cx="0" cy="5354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5287" y="5326585"/>
            <a:ext cx="2460489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cross axis</a:t>
            </a:r>
          </a:p>
          <a:p>
            <a:r>
              <a:rPr lang="en-US" b="1" dirty="0"/>
              <a:t>height: auto</a:t>
            </a:r>
            <a:endParaRPr lang="ru-RU" b="1" dirty="0"/>
          </a:p>
        </p:txBody>
      </p:sp>
      <p:cxnSp>
        <p:nvCxnSpPr>
          <p:cNvPr id="21" name="Прямая со стрелкой 20"/>
          <p:cNvCxnSpPr>
            <a:endCxn id="23" idx="1"/>
          </p:cNvCxnSpPr>
          <p:nvPr/>
        </p:nvCxnSpPr>
        <p:spPr>
          <a:xfrm flipV="1">
            <a:off x="2591473" y="5648879"/>
            <a:ext cx="2628599" cy="219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591473" y="530147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b="1" dirty="0">
                <a:solidFill>
                  <a:srgbClr val="C00000"/>
                </a:solidFill>
              </a:rPr>
              <a:t>ні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20072" y="5464213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/>
              <a:t>значення</a:t>
            </a:r>
            <a:r>
              <a:rPr lang="uk-UA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height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3568" y="482543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да</a:t>
            </a:r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1331640" y="5980503"/>
            <a:ext cx="0" cy="5354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72845" y="609021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да</a:t>
            </a:r>
          </a:p>
        </p:txBody>
      </p:sp>
      <p:cxnSp>
        <p:nvCxnSpPr>
          <p:cNvPr id="27" name="Прямая со стрелкой 26"/>
          <p:cNvCxnSpPr>
            <a:endCxn id="28" idx="1"/>
          </p:cNvCxnSpPr>
          <p:nvPr/>
        </p:nvCxnSpPr>
        <p:spPr>
          <a:xfrm>
            <a:off x="1345774" y="6481617"/>
            <a:ext cx="3888432" cy="30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34206" y="6300028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C00000"/>
                </a:solidFill>
              </a:rPr>
              <a:t>розмір</a:t>
            </a:r>
            <a:r>
              <a:rPr lang="ru-RU" b="1" dirty="0">
                <a:solidFill>
                  <a:srgbClr val="C00000"/>
                </a:solidFill>
              </a:rPr>
              <a:t> контенту </a:t>
            </a:r>
            <a:r>
              <a:rPr lang="ru-RU" b="1" dirty="0" err="1">
                <a:solidFill>
                  <a:srgbClr val="C00000"/>
                </a:solidFill>
              </a:rPr>
              <a:t>елемента</a:t>
            </a:r>
            <a:endParaRPr lang="ru-RU" b="1" dirty="0">
              <a:solidFill>
                <a:srgbClr val="C00000"/>
              </a:solidFill>
            </a:endParaRPr>
          </a:p>
        </p:txBody>
      </p:sp>
      <p:cxnSp>
        <p:nvCxnSpPr>
          <p:cNvPr id="29" name="Прямая соединительная линия 28"/>
          <p:cNvCxnSpPr>
            <a:cxnSpLocks/>
          </p:cNvCxnSpPr>
          <p:nvPr/>
        </p:nvCxnSpPr>
        <p:spPr>
          <a:xfrm>
            <a:off x="3434552" y="2596771"/>
            <a:ext cx="0" cy="3960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54538" y="2564904"/>
            <a:ext cx="341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Встановлене</a:t>
            </a:r>
            <a:r>
              <a:rPr lang="ru-RU" b="1" dirty="0"/>
              <a:t> </a:t>
            </a:r>
            <a:r>
              <a:rPr lang="ru-RU" b="1" dirty="0" err="1"/>
              <a:t>значення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847019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116632"/>
            <a:ext cx="3024336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l"/>
            <a:r>
              <a:rPr lang="uk-UA" sz="2000" b="1" dirty="0"/>
              <a:t>  </a:t>
            </a:r>
            <a:r>
              <a:rPr lang="ru-RU" sz="2000" b="1" dirty="0"/>
              <a:t>Формула </a:t>
            </a:r>
            <a:r>
              <a:rPr lang="en-US" sz="2000" b="1" dirty="0"/>
              <a:t>flex-basis</a:t>
            </a:r>
            <a:endParaRPr lang="ru-RU" sz="20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60342" y="620688"/>
            <a:ext cx="9023316" cy="369332"/>
          </a:xfrm>
          <a:prstGeom prst="rect">
            <a:avLst/>
          </a:prstGeom>
          <a:solidFill>
            <a:srgbClr val="7030A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rgbClr val="0070C0"/>
                </a:solidFill>
              </a:rPr>
              <a:t>content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-&gt;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width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-&gt;</a:t>
            </a:r>
            <a:r>
              <a:rPr lang="en-US" dirty="0">
                <a:solidFill>
                  <a:schemeClr val="accent2"/>
                </a:solidFill>
              </a:rPr>
              <a:t> flex-basis(</a:t>
            </a:r>
            <a:r>
              <a:rPr lang="ru-RU" dirty="0" err="1"/>
              <a:t>обмежений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</a:rPr>
              <a:t>max-width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</a:rPr>
              <a:t>min-width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</a:rPr>
              <a:t>)</a:t>
            </a:r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4716016" y="107340"/>
            <a:ext cx="4032448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flex_basis_VS_width.html</a:t>
            </a:r>
            <a:endParaRPr lang="ru-RU" b="1" dirty="0"/>
          </a:p>
        </p:txBody>
      </p:sp>
      <p:sp>
        <p:nvSpPr>
          <p:cNvPr id="33" name="Заголовок 1"/>
          <p:cNvSpPr txBox="1">
            <a:spLocks/>
          </p:cNvSpPr>
          <p:nvPr/>
        </p:nvSpPr>
        <p:spPr>
          <a:xfrm>
            <a:off x="1403648" y="1617403"/>
            <a:ext cx="5519770" cy="360040"/>
          </a:xfrm>
          <a:prstGeom prst="rect">
            <a:avLst/>
          </a:prstGeom>
          <a:ln w="25400" cap="flat" cmpd="sng" algn="ctr">
            <a:solidFill>
              <a:schemeClr val="bg2">
                <a:lumMod val="50000"/>
              </a:schemeClr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uk-UA" sz="2000" b="1" dirty="0"/>
              <a:t>Ключові відмінності </a:t>
            </a:r>
            <a:r>
              <a:rPr lang="en-US" sz="2000" b="1" dirty="0"/>
              <a:t>flex-basis </a:t>
            </a:r>
            <a:r>
              <a:rPr lang="uk-UA" sz="2000" b="1" dirty="0"/>
              <a:t>та </a:t>
            </a:r>
            <a:r>
              <a:rPr lang="en-US" sz="2000" b="1" dirty="0"/>
              <a:t>width</a:t>
            </a:r>
            <a:endParaRPr lang="ru-RU" sz="2000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60342" y="2132856"/>
            <a:ext cx="9058744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en-US" dirty="0" err="1">
                <a:solidFill>
                  <a:srgbClr val="0070C0"/>
                </a:solidFill>
              </a:rPr>
              <a:t>flex-direction:row</a:t>
            </a:r>
            <a:r>
              <a:rPr lang="en-US" dirty="0"/>
              <a:t> </a:t>
            </a:r>
            <a:r>
              <a:rPr lang="ru-RU" dirty="0"/>
              <a:t>то </a:t>
            </a:r>
            <a:r>
              <a:rPr lang="en-US" dirty="0">
                <a:solidFill>
                  <a:srgbClr val="C00000"/>
                </a:solidFill>
              </a:rPr>
              <a:t>flex-basis</a:t>
            </a:r>
            <a:r>
              <a:rPr lang="en-US" dirty="0"/>
              <a:t> </a:t>
            </a:r>
            <a:r>
              <a:rPr lang="ru-RU" dirty="0" err="1"/>
              <a:t>контролює</a:t>
            </a:r>
            <a:r>
              <a:rPr lang="ru-RU" dirty="0"/>
              <a:t> </a:t>
            </a:r>
            <a:r>
              <a:rPr lang="en-US" dirty="0">
                <a:solidFill>
                  <a:srgbClr val="00B050"/>
                </a:solidFill>
              </a:rPr>
              <a:t>width</a:t>
            </a:r>
            <a:endParaRPr lang="ru-RU" dirty="0">
              <a:solidFill>
                <a:srgbClr val="00B050"/>
              </a:solidFill>
            </a:endParaRPr>
          </a:p>
          <a:p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en-US" dirty="0" err="1">
                <a:solidFill>
                  <a:srgbClr val="0070C0"/>
                </a:solidFill>
              </a:rPr>
              <a:t>flex-direction:column</a:t>
            </a:r>
            <a:r>
              <a:rPr lang="en-US" dirty="0"/>
              <a:t> </a:t>
            </a:r>
            <a:r>
              <a:rPr lang="ru-RU" dirty="0"/>
              <a:t>то </a:t>
            </a:r>
            <a:r>
              <a:rPr lang="en-US" dirty="0">
                <a:solidFill>
                  <a:srgbClr val="C00000"/>
                </a:solidFill>
              </a:rPr>
              <a:t>flex-basis</a:t>
            </a:r>
            <a:r>
              <a:rPr lang="en-US" dirty="0"/>
              <a:t> </a:t>
            </a:r>
            <a:r>
              <a:rPr lang="ru-RU" dirty="0" err="1"/>
              <a:t>контролює</a:t>
            </a:r>
            <a:r>
              <a:rPr lang="ru-RU" dirty="0"/>
              <a:t> </a:t>
            </a:r>
            <a:r>
              <a:rPr lang="en-US" dirty="0">
                <a:solidFill>
                  <a:srgbClr val="00B050"/>
                </a:solidFill>
              </a:rPr>
              <a:t>height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49760" y="3078326"/>
            <a:ext cx="9058744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rgbClr val="C00000"/>
                </a:solidFill>
              </a:rPr>
              <a:t>flex-basis</a:t>
            </a:r>
            <a:r>
              <a:rPr lang="en-US" dirty="0"/>
              <a:t> </a:t>
            </a:r>
            <a:r>
              <a:rPr lang="ru-RU" dirty="0" err="1"/>
              <a:t>застосовується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до </a:t>
            </a:r>
            <a:r>
              <a:rPr lang="ru-RU" dirty="0" err="1">
                <a:solidFill>
                  <a:srgbClr val="C00000"/>
                </a:solidFill>
              </a:rPr>
              <a:t>flex-item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endParaRPr lang="en-US" dirty="0"/>
          </a:p>
          <a:p>
            <a:r>
              <a:rPr lang="en-US" dirty="0"/>
              <a:t>           </a:t>
            </a:r>
            <a:r>
              <a:rPr lang="uk-UA" dirty="0"/>
              <a:t>і </a:t>
            </a:r>
            <a:r>
              <a:rPr lang="ru-RU" dirty="0" err="1"/>
              <a:t>працює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по </a:t>
            </a:r>
            <a:r>
              <a:rPr lang="en-US" dirty="0">
                <a:solidFill>
                  <a:srgbClr val="C00000"/>
                </a:solidFill>
              </a:rPr>
              <a:t>main</a:t>
            </a:r>
            <a:r>
              <a:rPr lang="en-US" dirty="0"/>
              <a:t> </a:t>
            </a:r>
            <a:r>
              <a:rPr lang="ru-RU" dirty="0" err="1"/>
              <a:t>осі</a:t>
            </a:r>
            <a:r>
              <a:rPr lang="en-US" dirty="0"/>
              <a:t>  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17703" y="4071705"/>
            <a:ext cx="9058744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rgbClr val="C00000"/>
                </a:solidFill>
              </a:rPr>
              <a:t>flex-basis</a:t>
            </a:r>
            <a:r>
              <a:rPr lang="en-US" dirty="0"/>
              <a:t> </a:t>
            </a:r>
            <a:r>
              <a:rPr lang="ru-RU" dirty="0"/>
              <a:t>не </a:t>
            </a:r>
            <a:r>
              <a:rPr lang="ru-RU" dirty="0" err="1"/>
              <a:t>працює</a:t>
            </a:r>
            <a:r>
              <a:rPr lang="ru-RU" dirty="0"/>
              <a:t>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елементи</a:t>
            </a:r>
            <a:r>
              <a:rPr lang="ru-RU" dirty="0"/>
              <a:t> </a:t>
            </a:r>
            <a:r>
              <a:rPr lang="ru-RU" dirty="0" err="1"/>
              <a:t>мають</a:t>
            </a:r>
            <a:r>
              <a:rPr lang="ru-RU" dirty="0"/>
              <a:t> </a:t>
            </a:r>
            <a:r>
              <a:rPr lang="ru-RU" dirty="0" err="1"/>
              <a:t>властивість</a:t>
            </a:r>
            <a:endParaRPr lang="ru-RU" dirty="0"/>
          </a:p>
          <a:p>
            <a:r>
              <a:rPr lang="en-US" dirty="0" err="1">
                <a:solidFill>
                  <a:srgbClr val="00B050"/>
                </a:solidFill>
              </a:rPr>
              <a:t>position:absolute</a:t>
            </a:r>
            <a:r>
              <a:rPr lang="en-US" dirty="0">
                <a:solidFill>
                  <a:srgbClr val="00B050"/>
                </a:solidFill>
              </a:rPr>
              <a:t> </a:t>
            </a:r>
            <a:endParaRPr lang="ru-RU" dirty="0">
              <a:solidFill>
                <a:srgbClr val="00B050"/>
              </a:solidFill>
            </a:endParaRPr>
          </a:p>
          <a:p>
            <a:r>
              <a:rPr lang="ru-RU" i="1" dirty="0" err="1"/>
              <a:t>Устанока</a:t>
            </a:r>
            <a:r>
              <a:rPr lang="ru-RU" i="1" dirty="0"/>
              <a:t> </a:t>
            </a:r>
            <a:r>
              <a:rPr lang="en-US" i="1" dirty="0" err="1">
                <a:solidFill>
                  <a:srgbClr val="00B050"/>
                </a:solidFill>
              </a:rPr>
              <a:t>position:absolute</a:t>
            </a:r>
            <a:r>
              <a:rPr lang="en-US" i="1" dirty="0">
                <a:solidFill>
                  <a:srgbClr val="00B050"/>
                </a:solidFill>
              </a:rPr>
              <a:t> </a:t>
            </a:r>
            <a:r>
              <a:rPr lang="ru-RU" i="1" dirty="0">
                <a:solidFill>
                  <a:srgbClr val="00B050"/>
                </a:solidFill>
              </a:rPr>
              <a:t> </a:t>
            </a:r>
            <a:r>
              <a:rPr lang="en-US" i="1" dirty="0">
                <a:solidFill>
                  <a:srgbClr val="0070C0"/>
                </a:solidFill>
              </a:rPr>
              <a:t>flex-item</a:t>
            </a:r>
            <a:r>
              <a:rPr lang="en-US" i="1" dirty="0">
                <a:solidFill>
                  <a:srgbClr val="00B050"/>
                </a:solidFill>
              </a:rPr>
              <a:t> </a:t>
            </a:r>
            <a:r>
              <a:rPr lang="ru-RU" i="1" dirty="0" err="1"/>
              <a:t>елементам</a:t>
            </a:r>
            <a:r>
              <a:rPr lang="ru-RU" i="1" dirty="0"/>
              <a:t> – </a:t>
            </a:r>
            <a:r>
              <a:rPr lang="ru-RU" i="1" dirty="0" err="1"/>
              <a:t>погана</a:t>
            </a:r>
            <a:r>
              <a:rPr lang="ru-RU" i="1" dirty="0"/>
              <a:t> практика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760" y="5305861"/>
            <a:ext cx="9058744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Застосовуючи</a:t>
            </a:r>
            <a:r>
              <a:rPr lang="ru-RU" dirty="0"/>
              <a:t> короткий синтаксис </a:t>
            </a:r>
            <a:r>
              <a:rPr lang="ru-RU" dirty="0" err="1"/>
              <a:t>властивості</a:t>
            </a:r>
            <a:r>
              <a:rPr lang="ru-RU" dirty="0"/>
              <a:t> </a:t>
            </a:r>
            <a:r>
              <a:rPr lang="en-US" dirty="0">
                <a:solidFill>
                  <a:srgbClr val="C00000"/>
                </a:solidFill>
              </a:rPr>
              <a:t>flex</a:t>
            </a:r>
            <a:r>
              <a:rPr lang="en-US" dirty="0"/>
              <a:t>: </a:t>
            </a:r>
            <a:r>
              <a:rPr lang="ru-RU" dirty="0"/>
              <a:t>для </a:t>
            </a:r>
            <a:r>
              <a:rPr lang="ru-RU" dirty="0" err="1"/>
              <a:t>опису</a:t>
            </a:r>
            <a:r>
              <a:rPr lang="ru-RU" dirty="0"/>
              <a:t> </a:t>
            </a:r>
          </a:p>
          <a:p>
            <a:r>
              <a:rPr lang="en-US" dirty="0">
                <a:solidFill>
                  <a:srgbClr val="C00000"/>
                </a:solidFill>
              </a:rPr>
              <a:t>flex-basis, flex-grow, flex-shrink </a:t>
            </a:r>
            <a:r>
              <a:rPr lang="ru-RU" dirty="0" err="1"/>
              <a:t>отримуємо</a:t>
            </a:r>
            <a:r>
              <a:rPr lang="ru-RU" dirty="0"/>
              <a:t> </a:t>
            </a:r>
            <a:r>
              <a:rPr lang="ru-RU" dirty="0" err="1"/>
              <a:t>менше</a:t>
            </a:r>
            <a:r>
              <a:rPr lang="ru-RU" dirty="0"/>
              <a:t> коду в </a:t>
            </a:r>
            <a:r>
              <a:rPr lang="ru-RU" dirty="0" err="1"/>
              <a:t>порівнянні</a:t>
            </a:r>
            <a:r>
              <a:rPr lang="ru-RU" dirty="0"/>
              <a:t> з </a:t>
            </a:r>
            <a:r>
              <a:rPr lang="ru-RU" dirty="0" err="1"/>
              <a:t>випадком</a:t>
            </a:r>
            <a:r>
              <a:rPr lang="ru-RU" dirty="0"/>
              <a:t> коли </a:t>
            </a:r>
            <a:r>
              <a:rPr lang="ru-RU" dirty="0" err="1"/>
              <a:t>задамо</a:t>
            </a:r>
            <a:r>
              <a:rPr lang="ru-RU" dirty="0"/>
              <a:t> </a:t>
            </a:r>
            <a:r>
              <a:rPr lang="en-US" dirty="0"/>
              <a:t>width flex-</a:t>
            </a:r>
            <a:r>
              <a:rPr lang="ru-RU" dirty="0" err="1"/>
              <a:t>елементу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733221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 txBox="1">
            <a:spLocks/>
          </p:cNvSpPr>
          <p:nvPr/>
        </p:nvSpPr>
        <p:spPr>
          <a:xfrm>
            <a:off x="1979712" y="102117"/>
            <a:ext cx="5519770" cy="360040"/>
          </a:xfrm>
          <a:prstGeom prst="rect">
            <a:avLst/>
          </a:prstGeom>
          <a:ln w="25400" cap="flat" cmpd="sng" algn="ctr">
            <a:solidFill>
              <a:schemeClr val="bg2">
                <a:lumMod val="50000"/>
              </a:schemeClr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b="1" dirty="0" err="1"/>
              <a:t>Що</a:t>
            </a:r>
            <a:r>
              <a:rPr lang="ru-RU" sz="2000" b="1" dirty="0"/>
              <a:t> </a:t>
            </a:r>
            <a:r>
              <a:rPr lang="ru-RU" sz="2000" b="1" dirty="0" err="1"/>
              <a:t>застосовувати</a:t>
            </a:r>
            <a:r>
              <a:rPr lang="ru-RU" sz="2000" b="1" dirty="0"/>
              <a:t> - </a:t>
            </a:r>
            <a:r>
              <a:rPr lang="en-US" sz="2000" b="1" dirty="0"/>
              <a:t>flex-basis </a:t>
            </a:r>
            <a:r>
              <a:rPr lang="ru-RU" sz="2000" b="1" dirty="0" err="1"/>
              <a:t>або</a:t>
            </a:r>
            <a:r>
              <a:rPr lang="ru-RU" sz="2000" b="1" dirty="0"/>
              <a:t> </a:t>
            </a:r>
            <a:r>
              <a:rPr lang="en-US" sz="2000" b="1" dirty="0"/>
              <a:t>width?</a:t>
            </a:r>
            <a:endParaRPr lang="ru-RU" sz="2000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85256" y="548680"/>
            <a:ext cx="9058744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rgbClr val="C00000"/>
                </a:solidFill>
              </a:rPr>
              <a:t>width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flex-basis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/>
              <a:t>діють</a:t>
            </a:r>
            <a:r>
              <a:rPr lang="ru-RU" dirty="0"/>
              <a:t> по </a:t>
            </a:r>
            <a:r>
              <a:rPr lang="ru-RU" dirty="0" err="1"/>
              <a:t>горизонтальних</a:t>
            </a:r>
            <a:r>
              <a:rPr lang="ru-RU" dirty="0"/>
              <a:t> осях </a:t>
            </a:r>
            <a:r>
              <a:rPr lang="ru-RU" dirty="0" err="1"/>
              <a:t>однаково</a:t>
            </a:r>
            <a:r>
              <a:rPr lang="ru-RU" dirty="0"/>
              <a:t> за </a:t>
            </a:r>
            <a:r>
              <a:rPr lang="ru-RU" dirty="0" err="1"/>
              <a:t>винятком</a:t>
            </a:r>
            <a:r>
              <a:rPr lang="ru-RU" dirty="0"/>
              <a:t> </a:t>
            </a:r>
            <a:r>
              <a:rPr lang="ru-RU" dirty="0" err="1"/>
              <a:t>випадків</a:t>
            </a:r>
            <a:r>
              <a:rPr lang="ru-RU" dirty="0"/>
              <a:t>, коли </a:t>
            </a:r>
            <a:r>
              <a:rPr lang="ru-RU" dirty="0" err="1"/>
              <a:t>значення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flex-basis </a:t>
            </a:r>
            <a:r>
              <a:rPr lang="en-US" dirty="0"/>
              <a:t>auto</a:t>
            </a:r>
            <a:r>
              <a:rPr lang="ru-RU" dirty="0"/>
              <a:t> или</a:t>
            </a:r>
            <a:r>
              <a:rPr lang="en-US" dirty="0"/>
              <a:t> content </a:t>
            </a:r>
            <a:endParaRPr lang="ru-RU" dirty="0"/>
          </a:p>
        </p:txBody>
      </p:sp>
      <p:sp>
        <p:nvSpPr>
          <p:cNvPr id="50" name="TextBox 49"/>
          <p:cNvSpPr txBox="1"/>
          <p:nvPr/>
        </p:nvSpPr>
        <p:spPr>
          <a:xfrm>
            <a:off x="85256" y="1628800"/>
            <a:ext cx="9058744" cy="830997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ru-RU" sz="2400" dirty="0"/>
              <a:t>Для </a:t>
            </a:r>
            <a:r>
              <a:rPr lang="ru-RU" sz="2400" dirty="0" err="1"/>
              <a:t>flex-item</a:t>
            </a:r>
            <a:r>
              <a:rPr lang="ru-RU" sz="2400" dirty="0"/>
              <a:t> </a:t>
            </a:r>
            <a:r>
              <a:rPr lang="ru-RU" sz="2400" dirty="0" err="1"/>
              <a:t>елементів</a:t>
            </a:r>
            <a:r>
              <a:rPr lang="ru-RU" sz="2400" dirty="0"/>
              <a:t> </a:t>
            </a:r>
            <a:r>
              <a:rPr lang="uk-UA" sz="2400" dirty="0"/>
              <a:t>бажано </a:t>
            </a:r>
            <a:r>
              <a:rPr lang="ru-RU" sz="2400" dirty="0" err="1"/>
              <a:t>застосовувати</a:t>
            </a:r>
            <a:r>
              <a:rPr lang="ru-RU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flex-basis</a:t>
            </a:r>
            <a:r>
              <a:rPr lang="ru-RU" sz="2400" dirty="0">
                <a:solidFill>
                  <a:srgbClr val="C00000"/>
                </a:solidFill>
              </a:rPr>
              <a:t> !!!</a:t>
            </a:r>
            <a:endParaRPr lang="ru-RU" sz="2400" i="1" dirty="0"/>
          </a:p>
        </p:txBody>
      </p:sp>
    </p:spTree>
    <p:extLst>
      <p:ext uri="{BB962C8B-B14F-4D97-AF65-F5344CB8AC3E}">
        <p14:creationId xmlns:p14="http://schemas.microsoft.com/office/powerpoint/2010/main" val="1447569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7504" y="103272"/>
            <a:ext cx="8928992" cy="1754326"/>
          </a:xfrm>
          <a:prstGeom prst="rect">
            <a:avLst/>
          </a:prstGeom>
          <a:solidFill>
            <a:srgbClr val="7030A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flex-grow </a:t>
            </a:r>
            <a:r>
              <a:rPr lang="en-US" dirty="0"/>
              <a:t>-&gt; </a:t>
            </a:r>
            <a:r>
              <a:rPr lang="ru-RU" dirty="0" err="1"/>
              <a:t>це</a:t>
            </a:r>
            <a:r>
              <a:rPr lang="ru-RU" dirty="0"/>
              <a:t> число, яке </a:t>
            </a:r>
            <a:r>
              <a:rPr lang="ru-RU" dirty="0" err="1"/>
              <a:t>використовується</a:t>
            </a:r>
            <a:r>
              <a:rPr lang="ru-RU" dirty="0"/>
              <a:t> для </a:t>
            </a:r>
            <a:r>
              <a:rPr lang="ru-RU" dirty="0" err="1"/>
              <a:t>визначення</a:t>
            </a:r>
            <a:r>
              <a:rPr lang="ru-RU" dirty="0"/>
              <a:t> </a:t>
            </a:r>
            <a:r>
              <a:rPr lang="ru-RU" dirty="0" err="1"/>
              <a:t>наскільки</a:t>
            </a:r>
            <a:r>
              <a:rPr lang="ru-RU" dirty="0"/>
              <a:t> </a:t>
            </a:r>
            <a:r>
              <a:rPr lang="en-US" dirty="0">
                <a:solidFill>
                  <a:srgbClr val="C00000"/>
                </a:solidFill>
              </a:rPr>
              <a:t>flex-item</a:t>
            </a:r>
            <a:r>
              <a:rPr lang="en-US" dirty="0"/>
              <a:t> </a:t>
            </a:r>
            <a:r>
              <a:rPr lang="ru-RU" dirty="0"/>
              <a:t>буде </a:t>
            </a:r>
            <a:r>
              <a:rPr lang="ru-RU" dirty="0" err="1"/>
              <a:t>розширено</a:t>
            </a:r>
            <a:r>
              <a:rPr lang="ru-RU" dirty="0"/>
              <a:t> по </a:t>
            </a:r>
            <a:r>
              <a:rPr lang="ru-RU" dirty="0" err="1"/>
              <a:t>відношенню</a:t>
            </a:r>
            <a:r>
              <a:rPr lang="ru-RU" dirty="0"/>
              <a:t> до </a:t>
            </a:r>
            <a:r>
              <a:rPr lang="ru-RU" dirty="0" err="1"/>
              <a:t>інших</a:t>
            </a:r>
            <a:endParaRPr lang="ru-RU" dirty="0"/>
          </a:p>
          <a:p>
            <a:r>
              <a:rPr lang="en-US" dirty="0"/>
              <a:t>flex-items </a:t>
            </a:r>
            <a:r>
              <a:rPr lang="ru-RU" dirty="0"/>
              <a:t>у </a:t>
            </a:r>
            <a:r>
              <a:rPr lang="ru-RU" dirty="0" err="1"/>
              <a:t>контейнері</a:t>
            </a:r>
            <a:endParaRPr lang="ru-RU" dirty="0"/>
          </a:p>
          <a:p>
            <a:r>
              <a:rPr lang="ru-RU" dirty="0" err="1"/>
              <a:t>Якщо</a:t>
            </a:r>
            <a:r>
              <a:rPr lang="ru-RU" dirty="0"/>
              <a:t> кожному </a:t>
            </a:r>
            <a:r>
              <a:rPr lang="en-US" dirty="0">
                <a:solidFill>
                  <a:srgbClr val="C00000"/>
                </a:solidFill>
              </a:rPr>
              <a:t>flex-item</a:t>
            </a:r>
            <a:r>
              <a:rPr lang="en-US" dirty="0"/>
              <a:t> </a:t>
            </a:r>
            <a:r>
              <a:rPr lang="ru-RU" dirty="0" err="1"/>
              <a:t>присвоїти</a:t>
            </a:r>
            <a:r>
              <a:rPr lang="ru-RU" dirty="0"/>
              <a:t> 1, то все </a:t>
            </a:r>
            <a:r>
              <a:rPr lang="ru-RU" dirty="0" err="1"/>
              <a:t>вільне</a:t>
            </a:r>
            <a:r>
              <a:rPr lang="ru-RU" dirty="0"/>
              <a:t> </a:t>
            </a:r>
            <a:r>
              <a:rPr lang="ru-RU" dirty="0" err="1"/>
              <a:t>місце</a:t>
            </a:r>
            <a:r>
              <a:rPr lang="ru-RU" dirty="0"/>
              <a:t> в </a:t>
            </a:r>
            <a:r>
              <a:rPr lang="ru-RU" dirty="0" err="1"/>
              <a:t>контейнері</a:t>
            </a:r>
            <a:r>
              <a:rPr lang="ru-RU" dirty="0"/>
              <a:t> буде </a:t>
            </a:r>
            <a:r>
              <a:rPr lang="ru-RU" dirty="0" err="1"/>
              <a:t>розподілено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ними </a:t>
            </a:r>
            <a:r>
              <a:rPr lang="ru-RU" dirty="0" err="1"/>
              <a:t>порівну</a:t>
            </a:r>
            <a:r>
              <a:rPr lang="ru-RU" dirty="0"/>
              <a:t>, і </a:t>
            </a:r>
            <a:r>
              <a:rPr lang="ru-RU" dirty="0" err="1"/>
              <a:t>всі</a:t>
            </a:r>
            <a:r>
              <a:rPr lang="ru-RU" dirty="0"/>
              <a:t> вони </a:t>
            </a:r>
            <a:r>
              <a:rPr lang="ru-RU" dirty="0" err="1"/>
              <a:t>будуть</a:t>
            </a:r>
            <a:r>
              <a:rPr lang="ru-RU" dirty="0"/>
              <a:t> по </a:t>
            </a:r>
            <a:r>
              <a:rPr lang="ru-RU" dirty="0" err="1"/>
              <a:t>ширині</a:t>
            </a:r>
            <a:r>
              <a:rPr lang="ru-RU" dirty="0"/>
              <a:t> </a:t>
            </a:r>
            <a:r>
              <a:rPr lang="ru-RU" dirty="0" err="1"/>
              <a:t>однакові</a:t>
            </a:r>
            <a:r>
              <a:rPr lang="ru-RU"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504" y="2073622"/>
            <a:ext cx="8928992" cy="923330"/>
          </a:xfrm>
          <a:prstGeom prst="rect">
            <a:avLst/>
          </a:prstGeom>
          <a:solidFill>
            <a:schemeClr val="accent6"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flex-shrink </a:t>
            </a:r>
            <a:r>
              <a:rPr lang="en-US" dirty="0"/>
              <a:t>-&gt; </a:t>
            </a:r>
            <a:r>
              <a:rPr lang="ru-RU" dirty="0" err="1"/>
              <a:t>це</a:t>
            </a:r>
            <a:r>
              <a:rPr lang="ru-RU" dirty="0"/>
              <a:t> число, яке </a:t>
            </a:r>
            <a:r>
              <a:rPr lang="ru-RU" dirty="0" err="1"/>
              <a:t>використовується</a:t>
            </a:r>
            <a:r>
              <a:rPr lang="ru-RU" dirty="0"/>
              <a:t> для </a:t>
            </a:r>
            <a:r>
              <a:rPr lang="ru-RU" dirty="0" err="1"/>
              <a:t>визначення</a:t>
            </a:r>
            <a:r>
              <a:rPr lang="ru-RU" dirty="0"/>
              <a:t> </a:t>
            </a:r>
            <a:r>
              <a:rPr lang="ru-RU" dirty="0" err="1"/>
              <a:t>наскільки</a:t>
            </a:r>
            <a:r>
              <a:rPr lang="ru-RU" dirty="0"/>
              <a:t> </a:t>
            </a:r>
            <a:r>
              <a:rPr lang="ru-RU" dirty="0" err="1">
                <a:solidFill>
                  <a:srgbClr val="C00000"/>
                </a:solidFill>
              </a:rPr>
              <a:t>flex-item</a:t>
            </a:r>
            <a:r>
              <a:rPr lang="ru-RU" dirty="0"/>
              <a:t> буде </a:t>
            </a:r>
            <a:r>
              <a:rPr lang="ru-RU" dirty="0" err="1"/>
              <a:t>звужуватися</a:t>
            </a:r>
            <a:r>
              <a:rPr lang="ru-RU" dirty="0"/>
              <a:t> по </a:t>
            </a:r>
            <a:r>
              <a:rPr lang="ru-RU" dirty="0" err="1"/>
              <a:t>відношенню</a:t>
            </a:r>
            <a:r>
              <a:rPr lang="ru-RU" dirty="0"/>
              <a:t> до </a:t>
            </a:r>
            <a:r>
              <a:rPr lang="ru-RU" dirty="0" err="1"/>
              <a:t>інших</a:t>
            </a:r>
            <a:endParaRPr lang="ru-RU" dirty="0"/>
          </a:p>
          <a:p>
            <a:r>
              <a:rPr lang="ru-RU" dirty="0" err="1"/>
              <a:t>flex-items</a:t>
            </a:r>
            <a:r>
              <a:rPr lang="ru-RU" dirty="0"/>
              <a:t> у </a:t>
            </a:r>
            <a:r>
              <a:rPr lang="ru-RU" dirty="0" err="1"/>
              <a:t>контейнері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3696419"/>
            <a:ext cx="7344816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flex: &lt;flex grow&gt; |  &lt;flex shrink&gt; | &lt;flex basis&gt;</a:t>
            </a: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644415"/>
              </p:ext>
            </p:extLst>
          </p:nvPr>
        </p:nvGraphicFramePr>
        <p:xfrm>
          <a:off x="107504" y="4272483"/>
          <a:ext cx="892899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316937808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1201432037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1954957395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4207817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flex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flex grow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flex shrink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flex basis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560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За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замовчуванням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auto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072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auto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auto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032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auto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95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018062"/>
                  </a:ext>
                </a:extLst>
              </a:tr>
            </a:tbl>
          </a:graphicData>
        </a:graphic>
      </p:graphicFrame>
      <p:sp>
        <p:nvSpPr>
          <p:cNvPr id="7" name="Заголовок 1"/>
          <p:cNvSpPr>
            <a:spLocks noGrp="1"/>
          </p:cNvSpPr>
          <p:nvPr>
            <p:ph type="ctrTitle"/>
          </p:nvPr>
        </p:nvSpPr>
        <p:spPr>
          <a:xfrm>
            <a:off x="3095836" y="3212976"/>
            <a:ext cx="2952328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 err="1"/>
              <a:t>Скорочений</a:t>
            </a:r>
            <a:r>
              <a:rPr lang="ru-RU" sz="2000" b="1" dirty="0"/>
              <a:t> </a:t>
            </a:r>
            <a:r>
              <a:rPr lang="ru-RU" sz="2000" b="1" dirty="0" err="1"/>
              <a:t>запис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4266391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95DA288-73A1-93C7-E654-B7658B7F6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0" y="2460263"/>
            <a:ext cx="8861128" cy="155435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C130826-CED5-4E25-9CC8-C769C57598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0" y="4548501"/>
            <a:ext cx="8923329" cy="18328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B44372-EA90-33AB-DB52-A7335BD174DF}"/>
              </a:ext>
            </a:extLst>
          </p:cNvPr>
          <p:cNvSpPr txBox="1"/>
          <p:nvPr/>
        </p:nvSpPr>
        <p:spPr>
          <a:xfrm>
            <a:off x="107504" y="103272"/>
            <a:ext cx="8928992" cy="1754326"/>
          </a:xfrm>
          <a:prstGeom prst="rect">
            <a:avLst/>
          </a:prstGeom>
          <a:solidFill>
            <a:srgbClr val="7030A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flex-grow </a:t>
            </a:r>
            <a:r>
              <a:rPr lang="en-US" dirty="0"/>
              <a:t>-&gt; </a:t>
            </a:r>
            <a:r>
              <a:rPr lang="ru-RU" dirty="0" err="1"/>
              <a:t>це</a:t>
            </a:r>
            <a:r>
              <a:rPr lang="ru-RU" dirty="0"/>
              <a:t> число, яке </a:t>
            </a:r>
            <a:r>
              <a:rPr lang="ru-RU" dirty="0" err="1"/>
              <a:t>використовується</a:t>
            </a:r>
            <a:r>
              <a:rPr lang="ru-RU" dirty="0"/>
              <a:t> для </a:t>
            </a:r>
            <a:r>
              <a:rPr lang="ru-RU" dirty="0" err="1"/>
              <a:t>визначення</a:t>
            </a:r>
            <a:r>
              <a:rPr lang="ru-RU" dirty="0"/>
              <a:t> </a:t>
            </a:r>
            <a:r>
              <a:rPr lang="ru-RU" dirty="0" err="1"/>
              <a:t>наскільки</a:t>
            </a:r>
            <a:r>
              <a:rPr lang="ru-RU" dirty="0"/>
              <a:t> </a:t>
            </a:r>
            <a:r>
              <a:rPr lang="en-US" dirty="0">
                <a:solidFill>
                  <a:srgbClr val="C00000"/>
                </a:solidFill>
              </a:rPr>
              <a:t>flex-item</a:t>
            </a:r>
            <a:r>
              <a:rPr lang="en-US" dirty="0"/>
              <a:t> </a:t>
            </a:r>
            <a:r>
              <a:rPr lang="ru-RU" dirty="0"/>
              <a:t>буде </a:t>
            </a:r>
            <a:r>
              <a:rPr lang="ru-RU" dirty="0" err="1"/>
              <a:t>розширено</a:t>
            </a:r>
            <a:r>
              <a:rPr lang="ru-RU" dirty="0"/>
              <a:t> по </a:t>
            </a:r>
            <a:r>
              <a:rPr lang="ru-RU" dirty="0" err="1"/>
              <a:t>відношенню</a:t>
            </a:r>
            <a:r>
              <a:rPr lang="ru-RU" dirty="0"/>
              <a:t> до </a:t>
            </a:r>
            <a:r>
              <a:rPr lang="ru-RU" dirty="0" err="1"/>
              <a:t>інших</a:t>
            </a:r>
            <a:endParaRPr lang="ru-RU" dirty="0"/>
          </a:p>
          <a:p>
            <a:r>
              <a:rPr lang="en-US" dirty="0"/>
              <a:t>flex-items </a:t>
            </a:r>
            <a:r>
              <a:rPr lang="ru-RU" dirty="0"/>
              <a:t>у </a:t>
            </a:r>
            <a:r>
              <a:rPr lang="ru-RU" dirty="0" err="1"/>
              <a:t>контейнері</a:t>
            </a:r>
            <a:endParaRPr lang="ru-RU" dirty="0"/>
          </a:p>
          <a:p>
            <a:r>
              <a:rPr lang="ru-RU" dirty="0" err="1"/>
              <a:t>Якщо</a:t>
            </a:r>
            <a:r>
              <a:rPr lang="ru-RU" dirty="0"/>
              <a:t> кожному </a:t>
            </a:r>
            <a:r>
              <a:rPr lang="en-US" dirty="0">
                <a:solidFill>
                  <a:srgbClr val="C00000"/>
                </a:solidFill>
              </a:rPr>
              <a:t>flex-item</a:t>
            </a:r>
            <a:r>
              <a:rPr lang="en-US" dirty="0"/>
              <a:t> </a:t>
            </a:r>
            <a:r>
              <a:rPr lang="uk-UA" dirty="0"/>
              <a:t>елементу </a:t>
            </a:r>
            <a:r>
              <a:rPr lang="ru-RU" dirty="0" err="1"/>
              <a:t>присвоїти</a:t>
            </a:r>
            <a:r>
              <a:rPr lang="ru-RU" dirty="0"/>
              <a:t> </a:t>
            </a:r>
            <a:r>
              <a:rPr lang="en-US" dirty="0">
                <a:solidFill>
                  <a:srgbClr val="C00000"/>
                </a:solidFill>
              </a:rPr>
              <a:t>flex-grow: </a:t>
            </a:r>
            <a:r>
              <a:rPr lang="ru-RU" dirty="0">
                <a:solidFill>
                  <a:srgbClr val="C00000"/>
                </a:solidFill>
              </a:rPr>
              <a:t>1</a:t>
            </a:r>
            <a:r>
              <a:rPr lang="ru-RU" dirty="0"/>
              <a:t>, то все </a:t>
            </a:r>
            <a:r>
              <a:rPr lang="ru-RU" dirty="0" err="1"/>
              <a:t>вільне</a:t>
            </a:r>
            <a:r>
              <a:rPr lang="ru-RU" dirty="0"/>
              <a:t> </a:t>
            </a:r>
            <a:r>
              <a:rPr lang="ru-RU" dirty="0" err="1"/>
              <a:t>місце</a:t>
            </a:r>
            <a:r>
              <a:rPr lang="ru-RU" dirty="0"/>
              <a:t> в </a:t>
            </a:r>
            <a:r>
              <a:rPr lang="ru-RU" dirty="0" err="1"/>
              <a:t>контейнері</a:t>
            </a:r>
            <a:r>
              <a:rPr lang="ru-RU" dirty="0"/>
              <a:t> буде </a:t>
            </a:r>
            <a:r>
              <a:rPr lang="ru-RU" dirty="0" err="1"/>
              <a:t>розподілено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ними </a:t>
            </a:r>
            <a:r>
              <a:rPr lang="ru-RU" dirty="0" err="1"/>
              <a:t>порівну</a:t>
            </a:r>
            <a:r>
              <a:rPr lang="ru-RU" dirty="0"/>
              <a:t>, і </a:t>
            </a:r>
            <a:r>
              <a:rPr lang="ru-RU" dirty="0" err="1"/>
              <a:t>всі</a:t>
            </a:r>
            <a:r>
              <a:rPr lang="ru-RU" dirty="0"/>
              <a:t> вони </a:t>
            </a:r>
            <a:r>
              <a:rPr lang="ru-RU" dirty="0" err="1"/>
              <a:t>будуть</a:t>
            </a:r>
            <a:r>
              <a:rPr lang="ru-RU" dirty="0"/>
              <a:t> по </a:t>
            </a:r>
            <a:r>
              <a:rPr lang="ru-RU" dirty="0" err="1"/>
              <a:t>ширині</a:t>
            </a:r>
            <a:r>
              <a:rPr lang="ru-RU" dirty="0"/>
              <a:t> </a:t>
            </a:r>
            <a:r>
              <a:rPr lang="ru-RU" dirty="0" err="1"/>
              <a:t>однакові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6538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116632"/>
            <a:ext cx="8712968" cy="1728192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467544" y="260648"/>
            <a:ext cx="2304256" cy="13681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err="1">
                <a:solidFill>
                  <a:schemeClr val="tx1"/>
                </a:solidFill>
              </a:rPr>
              <a:t>Базовий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розмір</a:t>
            </a:r>
            <a:endParaRPr lang="ru-RU" b="1" dirty="0">
              <a:solidFill>
                <a:schemeClr val="tx1"/>
              </a:solidFill>
            </a:endParaRPr>
          </a:p>
        </p:txBody>
      </p:sp>
      <p:cxnSp>
        <p:nvCxnSpPr>
          <p:cNvPr id="5" name="Прямая со стрелкой 4"/>
          <p:cNvCxnSpPr/>
          <p:nvPr/>
        </p:nvCxnSpPr>
        <p:spPr>
          <a:xfrm>
            <a:off x="467544" y="1196752"/>
            <a:ext cx="230425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2987824" y="260648"/>
            <a:ext cx="2304256" cy="13681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err="1">
                <a:solidFill>
                  <a:schemeClr val="tx1"/>
                </a:solidFill>
              </a:rPr>
              <a:t>Базовий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розмір</a:t>
            </a:r>
            <a:endParaRPr lang="ru-RU" b="1" dirty="0">
              <a:solidFill>
                <a:schemeClr val="tx1"/>
              </a:solidFill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2987824" y="1196752"/>
            <a:ext cx="230425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5580112" y="260648"/>
            <a:ext cx="3240360" cy="13681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 space</a:t>
            </a:r>
            <a:endParaRPr lang="ru-RU" b="1" dirty="0">
              <a:solidFill>
                <a:schemeClr val="tx1"/>
              </a:solidFill>
            </a:endParaRPr>
          </a:p>
        </p:txBody>
      </p:sp>
      <p:cxnSp>
        <p:nvCxnSpPr>
          <p:cNvPr id="13" name="Прямая со стрелкой 12"/>
          <p:cNvCxnSpPr>
            <a:cxnSpLocks/>
          </p:cNvCxnSpPr>
          <p:nvPr/>
        </p:nvCxnSpPr>
        <p:spPr>
          <a:xfrm>
            <a:off x="5580112" y="1196752"/>
            <a:ext cx="3240360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Группа 23"/>
          <p:cNvGrpSpPr/>
          <p:nvPr/>
        </p:nvGrpSpPr>
        <p:grpSpPr>
          <a:xfrm>
            <a:off x="300578" y="3001599"/>
            <a:ext cx="8712968" cy="1728192"/>
            <a:chOff x="251520" y="3140968"/>
            <a:chExt cx="8712968" cy="1728192"/>
          </a:xfrm>
        </p:grpSpPr>
        <p:sp>
          <p:nvSpPr>
            <p:cNvPr id="14" name="Прямоугольник 13"/>
            <p:cNvSpPr/>
            <p:nvPr/>
          </p:nvSpPr>
          <p:spPr>
            <a:xfrm>
              <a:off x="251520" y="3140968"/>
              <a:ext cx="8712968" cy="1728192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/>
            <p:cNvSpPr/>
            <p:nvPr/>
          </p:nvSpPr>
          <p:spPr>
            <a:xfrm>
              <a:off x="467544" y="3284984"/>
              <a:ext cx="2304256" cy="13681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 err="1">
                  <a:solidFill>
                    <a:schemeClr val="tx1"/>
                  </a:solidFill>
                </a:rPr>
                <a:t>Базовий</a:t>
              </a:r>
              <a:r>
                <a:rPr lang="ru-RU" b="1" dirty="0">
                  <a:solidFill>
                    <a:schemeClr val="tx1"/>
                  </a:solidFill>
                </a:rPr>
                <a:t> </a:t>
              </a:r>
              <a:r>
                <a:rPr lang="ru-RU" b="1" dirty="0" err="1">
                  <a:solidFill>
                    <a:schemeClr val="tx1"/>
                  </a:solidFill>
                </a:rPr>
                <a:t>розмір</a:t>
              </a:r>
              <a:endParaRPr lang="ru-RU" b="1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Прямая со стрелкой 15"/>
            <p:cNvCxnSpPr/>
            <p:nvPr/>
          </p:nvCxnSpPr>
          <p:spPr>
            <a:xfrm>
              <a:off x="467544" y="4221088"/>
              <a:ext cx="230425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Группа 24"/>
          <p:cNvGrpSpPr/>
          <p:nvPr/>
        </p:nvGrpSpPr>
        <p:grpSpPr>
          <a:xfrm>
            <a:off x="3959932" y="2190926"/>
            <a:ext cx="1838965" cy="925863"/>
            <a:chOff x="6588224" y="2411596"/>
            <a:chExt cx="1838965" cy="925863"/>
          </a:xfrm>
        </p:grpSpPr>
        <p:sp>
          <p:nvSpPr>
            <p:cNvPr id="21" name="TextBox 20"/>
            <p:cNvSpPr txBox="1"/>
            <p:nvPr/>
          </p:nvSpPr>
          <p:spPr>
            <a:xfrm>
              <a:off x="6588224" y="2411596"/>
              <a:ext cx="1838965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flex-grow: 1</a:t>
              </a:r>
              <a:endParaRPr lang="ru-RU" b="1" dirty="0"/>
            </a:p>
          </p:txBody>
        </p:sp>
        <p:cxnSp>
          <p:nvCxnSpPr>
            <p:cNvPr id="23" name="Прямая со стрелкой 22"/>
            <p:cNvCxnSpPr>
              <a:cxnSpLocks/>
              <a:stCxn id="21" idx="2"/>
            </p:cNvCxnSpPr>
            <p:nvPr/>
          </p:nvCxnSpPr>
          <p:spPr>
            <a:xfrm flipH="1">
              <a:off x="7507706" y="2780928"/>
              <a:ext cx="1" cy="55653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9835AA2-1A51-C01F-4632-EEF25F5534B9}"/>
              </a:ext>
            </a:extLst>
          </p:cNvPr>
          <p:cNvSpPr/>
          <p:nvPr/>
        </p:nvSpPr>
        <p:spPr>
          <a:xfrm>
            <a:off x="3059832" y="3140968"/>
            <a:ext cx="2304256" cy="13681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err="1">
                <a:solidFill>
                  <a:schemeClr val="tx1"/>
                </a:solidFill>
              </a:rPr>
              <a:t>Базовий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розмір</a:t>
            </a:r>
            <a:endParaRPr lang="ru-RU" b="1" dirty="0">
              <a:solidFill>
                <a:schemeClr val="tx1"/>
              </a:solidFill>
            </a:endParaRP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89072EE9-989C-89F6-4853-ECADF6F8E7B0}"/>
              </a:ext>
            </a:extLst>
          </p:cNvPr>
          <p:cNvCxnSpPr/>
          <p:nvPr/>
        </p:nvCxnSpPr>
        <p:spPr>
          <a:xfrm>
            <a:off x="3059832" y="4077072"/>
            <a:ext cx="230425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9E6DD0A-6194-54E8-BEFF-8BB0B9C9B00B}"/>
              </a:ext>
            </a:extLst>
          </p:cNvPr>
          <p:cNvSpPr/>
          <p:nvPr/>
        </p:nvSpPr>
        <p:spPr>
          <a:xfrm>
            <a:off x="5652120" y="3140968"/>
            <a:ext cx="3240360" cy="13681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 space</a:t>
            </a:r>
            <a:endParaRPr lang="ru-RU" b="1" dirty="0">
              <a:solidFill>
                <a:schemeClr val="tx1"/>
              </a:solidFill>
            </a:endParaRPr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E02D3A34-1618-DC7F-5120-F2BF597550C5}"/>
              </a:ext>
            </a:extLst>
          </p:cNvPr>
          <p:cNvCxnSpPr>
            <a:cxnSpLocks/>
          </p:cNvCxnSpPr>
          <p:nvPr/>
        </p:nvCxnSpPr>
        <p:spPr>
          <a:xfrm>
            <a:off x="5652120" y="4077072"/>
            <a:ext cx="3240360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EA8A9BA-8415-9608-9C33-A19EB72B0D72}"/>
              </a:ext>
            </a:extLst>
          </p:cNvPr>
          <p:cNvSpPr/>
          <p:nvPr/>
        </p:nvSpPr>
        <p:spPr>
          <a:xfrm>
            <a:off x="3059833" y="3120884"/>
            <a:ext cx="5832647" cy="13882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4741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116632"/>
            <a:ext cx="8712968" cy="1728192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467544" y="260648"/>
            <a:ext cx="2304256" cy="13681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err="1">
                <a:solidFill>
                  <a:schemeClr val="tx1"/>
                </a:solidFill>
              </a:rPr>
              <a:t>Базовий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розмір</a:t>
            </a:r>
            <a:endParaRPr lang="ru-RU" b="1" dirty="0">
              <a:solidFill>
                <a:schemeClr val="tx1"/>
              </a:solidFill>
            </a:endParaRPr>
          </a:p>
        </p:txBody>
      </p:sp>
      <p:cxnSp>
        <p:nvCxnSpPr>
          <p:cNvPr id="5" name="Прямая со стрелкой 4"/>
          <p:cNvCxnSpPr/>
          <p:nvPr/>
        </p:nvCxnSpPr>
        <p:spPr>
          <a:xfrm>
            <a:off x="467544" y="1196752"/>
            <a:ext cx="230425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2987824" y="260648"/>
            <a:ext cx="2304256" cy="13681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err="1">
                <a:solidFill>
                  <a:schemeClr val="tx1"/>
                </a:solidFill>
              </a:rPr>
              <a:t>Базовий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розмір</a:t>
            </a:r>
            <a:endParaRPr lang="ru-RU" b="1" dirty="0">
              <a:solidFill>
                <a:schemeClr val="tx1"/>
              </a:solidFill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2987824" y="1196752"/>
            <a:ext cx="230425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5436096" y="260648"/>
            <a:ext cx="3384376" cy="13681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 space</a:t>
            </a:r>
            <a:endParaRPr lang="ru-RU" b="1" dirty="0">
              <a:solidFill>
                <a:schemeClr val="tx1"/>
              </a:solidFill>
            </a:endParaRPr>
          </a:p>
        </p:txBody>
      </p:sp>
      <p:cxnSp>
        <p:nvCxnSpPr>
          <p:cNvPr id="13" name="Прямая со стрелкой 12"/>
          <p:cNvCxnSpPr/>
          <p:nvPr/>
        </p:nvCxnSpPr>
        <p:spPr>
          <a:xfrm>
            <a:off x="5436096" y="1196752"/>
            <a:ext cx="338437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Группа 23"/>
          <p:cNvGrpSpPr/>
          <p:nvPr/>
        </p:nvGrpSpPr>
        <p:grpSpPr>
          <a:xfrm>
            <a:off x="107504" y="3284984"/>
            <a:ext cx="8712968" cy="1728192"/>
            <a:chOff x="251520" y="3140968"/>
            <a:chExt cx="8712968" cy="1728192"/>
          </a:xfrm>
        </p:grpSpPr>
        <p:sp>
          <p:nvSpPr>
            <p:cNvPr id="22" name="Прямоугольник 21"/>
            <p:cNvSpPr/>
            <p:nvPr/>
          </p:nvSpPr>
          <p:spPr>
            <a:xfrm>
              <a:off x="7136829" y="3284984"/>
              <a:ext cx="1655101" cy="136815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Прямоугольник 18"/>
            <p:cNvSpPr/>
            <p:nvPr/>
          </p:nvSpPr>
          <p:spPr>
            <a:xfrm>
              <a:off x="2734118" y="3284984"/>
              <a:ext cx="1655101" cy="136815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Прямоугольник 13"/>
            <p:cNvSpPr/>
            <p:nvPr/>
          </p:nvSpPr>
          <p:spPr>
            <a:xfrm>
              <a:off x="251520" y="3140968"/>
              <a:ext cx="8712968" cy="1728192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/>
            <p:cNvSpPr/>
            <p:nvPr/>
          </p:nvSpPr>
          <p:spPr>
            <a:xfrm>
              <a:off x="467543" y="3284984"/>
              <a:ext cx="3921676" cy="13681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Прямоугольник 19"/>
            <p:cNvSpPr/>
            <p:nvPr/>
          </p:nvSpPr>
          <p:spPr>
            <a:xfrm>
              <a:off x="4608004" y="3311561"/>
              <a:ext cx="4183926" cy="13681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592DBEC-7A3F-AE4D-005B-505858DE984B}"/>
              </a:ext>
            </a:extLst>
          </p:cNvPr>
          <p:cNvGrpSpPr/>
          <p:nvPr/>
        </p:nvGrpSpPr>
        <p:grpSpPr>
          <a:xfrm>
            <a:off x="1619672" y="1628800"/>
            <a:ext cx="2520280" cy="1282587"/>
            <a:chOff x="1619672" y="1628800"/>
            <a:chExt cx="2520280" cy="1282587"/>
          </a:xfrm>
        </p:grpSpPr>
        <p:sp>
          <p:nvSpPr>
            <p:cNvPr id="21" name="TextBox 20"/>
            <p:cNvSpPr txBox="1"/>
            <p:nvPr/>
          </p:nvSpPr>
          <p:spPr>
            <a:xfrm>
              <a:off x="1799692" y="2542055"/>
              <a:ext cx="1944216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n-US" b="1" dirty="0"/>
                <a:t>flex-grow: 1</a:t>
              </a:r>
              <a:endParaRPr lang="ru-RU" b="1" dirty="0"/>
            </a:p>
          </p:txBody>
        </p:sp>
        <p:cxnSp>
          <p:nvCxnSpPr>
            <p:cNvPr id="23" name="Прямая со стрелкой 22"/>
            <p:cNvCxnSpPr>
              <a:cxnSpLocks/>
              <a:stCxn id="21" idx="0"/>
              <a:endCxn id="3" idx="2"/>
            </p:cNvCxnSpPr>
            <p:nvPr/>
          </p:nvCxnSpPr>
          <p:spPr>
            <a:xfrm flipH="1" flipV="1">
              <a:off x="1619672" y="1628800"/>
              <a:ext cx="1152128" cy="91325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 стрелкой 26"/>
            <p:cNvCxnSpPr>
              <a:cxnSpLocks/>
              <a:stCxn id="21" idx="0"/>
              <a:endCxn id="10" idx="2"/>
            </p:cNvCxnSpPr>
            <p:nvPr/>
          </p:nvCxnSpPr>
          <p:spPr>
            <a:xfrm flipV="1">
              <a:off x="2771800" y="1628800"/>
              <a:ext cx="1368152" cy="91325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101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1093386"/>
            <a:ext cx="8712968" cy="2191598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3707904" y="1165394"/>
            <a:ext cx="3024336" cy="936104"/>
          </a:xfrm>
          <a:prstGeom prst="rect">
            <a:avLst/>
          </a:prstGeom>
          <a:solidFill>
            <a:schemeClr val="bg1">
              <a:lumMod val="85000"/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b="1" dirty="0">
                <a:solidFill>
                  <a:schemeClr val="tx1"/>
                </a:solidFill>
              </a:rPr>
              <a:t>Базовий розмір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300px</a:t>
            </a:r>
            <a:endParaRPr lang="ru-RU" b="1" dirty="0">
              <a:solidFill>
                <a:schemeClr val="tx1"/>
              </a:solidFill>
            </a:endParaRPr>
          </a:p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3707904" y="1844824"/>
            <a:ext cx="302433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6876256" y="1165394"/>
            <a:ext cx="1944216" cy="9361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 space</a:t>
            </a:r>
            <a:endParaRPr lang="ru-RU" b="1" dirty="0">
              <a:solidFill>
                <a:schemeClr val="tx1"/>
              </a:solidFill>
            </a:endParaRPr>
          </a:p>
        </p:txBody>
      </p:sp>
      <p:cxnSp>
        <p:nvCxnSpPr>
          <p:cNvPr id="13" name="Прямая со стрелкой 12"/>
          <p:cNvCxnSpPr/>
          <p:nvPr/>
        </p:nvCxnSpPr>
        <p:spPr>
          <a:xfrm>
            <a:off x="6876256" y="1844824"/>
            <a:ext cx="194421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251520" y="805354"/>
            <a:ext cx="8712968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51920" y="620688"/>
            <a:ext cx="87395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800px</a:t>
            </a:r>
            <a:endParaRPr lang="ru-RU" b="1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467544" y="2276872"/>
            <a:ext cx="3024336" cy="936104"/>
          </a:xfrm>
          <a:prstGeom prst="rect">
            <a:avLst/>
          </a:prstGeom>
          <a:solidFill>
            <a:schemeClr val="bg1">
              <a:lumMod val="85000"/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b="1" dirty="0">
                <a:solidFill>
                  <a:schemeClr val="tx1"/>
                </a:solidFill>
              </a:rPr>
              <a:t>Базовий розмір</a:t>
            </a:r>
            <a:endParaRPr lang="ru-RU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300px</a:t>
            </a:r>
            <a:endParaRPr lang="ru-RU" b="1" dirty="0">
              <a:solidFill>
                <a:schemeClr val="tx1"/>
              </a:solidFill>
            </a:endParaRPr>
          </a:p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cxnSp>
        <p:nvCxnSpPr>
          <p:cNvPr id="27" name="Прямая со стрелкой 26"/>
          <p:cNvCxnSpPr/>
          <p:nvPr/>
        </p:nvCxnSpPr>
        <p:spPr>
          <a:xfrm>
            <a:off x="467544" y="2956302"/>
            <a:ext cx="302433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Прямоугольник 27"/>
          <p:cNvSpPr/>
          <p:nvPr/>
        </p:nvSpPr>
        <p:spPr>
          <a:xfrm>
            <a:off x="3491880" y="2276872"/>
            <a:ext cx="5328592" cy="9361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 space</a:t>
            </a:r>
            <a:endParaRPr lang="ru-RU" b="1" dirty="0">
              <a:solidFill>
                <a:schemeClr val="tx1"/>
              </a:solidFill>
            </a:endParaRPr>
          </a:p>
        </p:txBody>
      </p:sp>
      <p:cxnSp>
        <p:nvCxnSpPr>
          <p:cNvPr id="29" name="Прямая со стрелкой 28"/>
          <p:cNvCxnSpPr/>
          <p:nvPr/>
        </p:nvCxnSpPr>
        <p:spPr>
          <a:xfrm>
            <a:off x="3491880" y="2956302"/>
            <a:ext cx="5328592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46847" y="37529"/>
            <a:ext cx="2390398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flex-wrap: wrap;</a:t>
            </a:r>
            <a:endParaRPr lang="ru-RU" b="1" dirty="0"/>
          </a:p>
          <a:p>
            <a:r>
              <a:rPr lang="en-US" b="1" dirty="0"/>
              <a:t>flex-grow: 0;</a:t>
            </a:r>
            <a:endParaRPr lang="ru-RU" b="1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C188F63C-85C8-AA82-B990-C6C9650DB46A}"/>
              </a:ext>
            </a:extLst>
          </p:cNvPr>
          <p:cNvGrpSpPr/>
          <p:nvPr/>
        </p:nvGrpSpPr>
        <p:grpSpPr>
          <a:xfrm>
            <a:off x="251520" y="4509120"/>
            <a:ext cx="8712968" cy="2191598"/>
            <a:chOff x="251520" y="4509120"/>
            <a:chExt cx="8712968" cy="2191598"/>
          </a:xfrm>
        </p:grpSpPr>
        <p:sp>
          <p:nvSpPr>
            <p:cNvPr id="32" name="Прямоугольник 31"/>
            <p:cNvSpPr/>
            <p:nvPr/>
          </p:nvSpPr>
          <p:spPr>
            <a:xfrm>
              <a:off x="251520" y="4509120"/>
              <a:ext cx="8712968" cy="2191598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Прямоугольник 32"/>
            <p:cNvSpPr/>
            <p:nvPr/>
          </p:nvSpPr>
          <p:spPr>
            <a:xfrm>
              <a:off x="467544" y="4581128"/>
              <a:ext cx="3960440" cy="936104"/>
            </a:xfrm>
            <a:prstGeom prst="rect">
              <a:avLst/>
            </a:prstGeom>
            <a:solidFill>
              <a:schemeClr val="bg1">
                <a:lumMod val="85000"/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 dirty="0">
                <a:solidFill>
                  <a:schemeClr val="tx1"/>
                </a:solidFill>
              </a:endParaRPr>
            </a:p>
          </p:txBody>
        </p:sp>
        <p:sp>
          <p:nvSpPr>
            <p:cNvPr id="35" name="Прямоугольник 34"/>
            <p:cNvSpPr/>
            <p:nvPr/>
          </p:nvSpPr>
          <p:spPr>
            <a:xfrm>
              <a:off x="4572000" y="4581128"/>
              <a:ext cx="4248472" cy="936104"/>
            </a:xfrm>
            <a:prstGeom prst="rect">
              <a:avLst/>
            </a:prstGeom>
            <a:solidFill>
              <a:schemeClr val="bg1">
                <a:lumMod val="85000"/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Прямоугольник 38"/>
            <p:cNvSpPr/>
            <p:nvPr/>
          </p:nvSpPr>
          <p:spPr>
            <a:xfrm>
              <a:off x="467544" y="5661248"/>
              <a:ext cx="8352928" cy="936104"/>
            </a:xfrm>
            <a:prstGeom prst="rect">
              <a:avLst/>
            </a:prstGeom>
            <a:solidFill>
              <a:schemeClr val="bg1">
                <a:lumMod val="85000"/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246847" y="3718773"/>
            <a:ext cx="2390398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flex-wrap: wrap;</a:t>
            </a:r>
            <a:endParaRPr lang="ru-RU" b="1" dirty="0"/>
          </a:p>
          <a:p>
            <a:r>
              <a:rPr lang="en-US" b="1" dirty="0"/>
              <a:t>flex-grow: 1;</a:t>
            </a:r>
            <a:endParaRPr lang="ru-RU" b="1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C4DEE00-2E06-7DA8-3CF3-93DCACF4A56C}"/>
              </a:ext>
            </a:extLst>
          </p:cNvPr>
          <p:cNvSpPr/>
          <p:nvPr/>
        </p:nvSpPr>
        <p:spPr>
          <a:xfrm>
            <a:off x="467544" y="1196752"/>
            <a:ext cx="3024336" cy="936104"/>
          </a:xfrm>
          <a:prstGeom prst="rect">
            <a:avLst/>
          </a:prstGeom>
          <a:solidFill>
            <a:schemeClr val="bg1">
              <a:lumMod val="85000"/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b="1" dirty="0">
                <a:solidFill>
                  <a:schemeClr val="tx1"/>
                </a:solidFill>
              </a:rPr>
              <a:t>Базовий розмір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300px</a:t>
            </a:r>
            <a:endParaRPr lang="ru-RU" b="1" dirty="0">
              <a:solidFill>
                <a:schemeClr val="tx1"/>
              </a:solidFill>
            </a:endParaRPr>
          </a:p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0B7F1126-FAD3-E756-30E6-7B2AD93FA3CA}"/>
              </a:ext>
            </a:extLst>
          </p:cNvPr>
          <p:cNvCxnSpPr/>
          <p:nvPr/>
        </p:nvCxnSpPr>
        <p:spPr>
          <a:xfrm>
            <a:off x="467544" y="1876182"/>
            <a:ext cx="302433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97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7504" y="116632"/>
            <a:ext cx="8928992" cy="923330"/>
          </a:xfrm>
          <a:prstGeom prst="rect">
            <a:avLst/>
          </a:prstGeom>
          <a:solidFill>
            <a:schemeClr val="accent6"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flex-shrink </a:t>
            </a:r>
            <a:r>
              <a:rPr lang="en-US" dirty="0"/>
              <a:t>-&gt; </a:t>
            </a:r>
            <a:r>
              <a:rPr lang="ru-RU" dirty="0" err="1"/>
              <a:t>це</a:t>
            </a:r>
            <a:r>
              <a:rPr lang="ru-RU" dirty="0"/>
              <a:t> число, яке </a:t>
            </a:r>
            <a:r>
              <a:rPr lang="ru-RU" dirty="0" err="1"/>
              <a:t>використовується</a:t>
            </a:r>
            <a:r>
              <a:rPr lang="ru-RU" dirty="0"/>
              <a:t> для </a:t>
            </a:r>
            <a:r>
              <a:rPr lang="ru-RU" dirty="0" err="1"/>
              <a:t>визначення</a:t>
            </a:r>
            <a:r>
              <a:rPr lang="ru-RU" dirty="0"/>
              <a:t> </a:t>
            </a:r>
            <a:r>
              <a:rPr lang="ru-RU" dirty="0" err="1"/>
              <a:t>наскільки</a:t>
            </a:r>
            <a:r>
              <a:rPr lang="ru-RU" dirty="0"/>
              <a:t> </a:t>
            </a:r>
            <a:r>
              <a:rPr lang="ru-RU" dirty="0" err="1">
                <a:solidFill>
                  <a:srgbClr val="C00000"/>
                </a:solidFill>
              </a:rPr>
              <a:t>flex-item</a:t>
            </a:r>
            <a:r>
              <a:rPr lang="ru-RU" dirty="0"/>
              <a:t> буде </a:t>
            </a:r>
            <a:r>
              <a:rPr lang="ru-RU" dirty="0" err="1"/>
              <a:t>звужуватися</a:t>
            </a:r>
            <a:r>
              <a:rPr lang="ru-RU" dirty="0"/>
              <a:t> по </a:t>
            </a:r>
            <a:r>
              <a:rPr lang="ru-RU" dirty="0" err="1"/>
              <a:t>відношенню</a:t>
            </a:r>
            <a:r>
              <a:rPr lang="ru-RU" dirty="0"/>
              <a:t> до </a:t>
            </a:r>
            <a:r>
              <a:rPr lang="ru-RU" dirty="0" err="1"/>
              <a:t>інших</a:t>
            </a:r>
            <a:endParaRPr lang="ru-RU" dirty="0"/>
          </a:p>
          <a:p>
            <a:r>
              <a:rPr lang="ru-RU" dirty="0" err="1"/>
              <a:t>flex-items</a:t>
            </a:r>
            <a:r>
              <a:rPr lang="ru-RU" dirty="0"/>
              <a:t> у </a:t>
            </a:r>
            <a:r>
              <a:rPr lang="ru-RU" dirty="0" err="1"/>
              <a:t>контейнері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6073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7504" y="638696"/>
            <a:ext cx="7344816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flex: &lt;flex grow&gt; |  &lt;flex shrink&gt; | &lt;flex basis&gt;</a:t>
            </a: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897583"/>
              </p:ext>
            </p:extLst>
          </p:nvPr>
        </p:nvGraphicFramePr>
        <p:xfrm>
          <a:off x="107504" y="1214760"/>
          <a:ext cx="892899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316937808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1201432037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1954957395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4207817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flex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flex grow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flex shrink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flex basis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560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За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замовчуванням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auto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072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auto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auto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032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auto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95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018062"/>
                  </a:ext>
                </a:extLst>
              </a:tr>
            </a:tbl>
          </a:graphicData>
        </a:graphic>
      </p:graphicFrame>
      <p:sp>
        <p:nvSpPr>
          <p:cNvPr id="7" name="Заголовок 1"/>
          <p:cNvSpPr>
            <a:spLocks noGrp="1"/>
          </p:cNvSpPr>
          <p:nvPr>
            <p:ph type="ctrTitle"/>
          </p:nvPr>
        </p:nvSpPr>
        <p:spPr>
          <a:xfrm>
            <a:off x="3095836" y="155253"/>
            <a:ext cx="2952328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 err="1"/>
              <a:t>Скорочений</a:t>
            </a:r>
            <a:r>
              <a:rPr lang="ru-RU" sz="2000" b="1" dirty="0"/>
              <a:t> </a:t>
            </a:r>
            <a:r>
              <a:rPr lang="ru-RU" sz="2000" b="1" dirty="0" err="1"/>
              <a:t>запис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1038298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332656"/>
            <a:ext cx="5616624" cy="561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4908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4624"/>
            <a:ext cx="4464496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endParaRPr lang="ru-RU" sz="2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07504" y="611396"/>
            <a:ext cx="8928992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07504" y="5805264"/>
            <a:ext cx="8928992" cy="369332"/>
          </a:xfrm>
          <a:prstGeom prst="rect">
            <a:avLst/>
          </a:prstGeom>
          <a:solidFill>
            <a:srgbClr val="7030A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07504" y="6381328"/>
            <a:ext cx="8928992" cy="369332"/>
          </a:xfrm>
          <a:prstGeom prst="rect">
            <a:avLst/>
          </a:prstGeom>
          <a:solidFill>
            <a:schemeClr val="accent6"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6804248" y="31496"/>
            <a:ext cx="223224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files/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086322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Метро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791</TotalTime>
  <Words>1077</Words>
  <Application>Microsoft Office PowerPoint</Application>
  <PresentationFormat>Экран (4:3)</PresentationFormat>
  <Paragraphs>230</Paragraphs>
  <Slides>24</Slides>
  <Notes>24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8" baseType="lpstr">
      <vt:lpstr>Arial</vt:lpstr>
      <vt:lpstr>Calibri</vt:lpstr>
      <vt:lpstr>Courier New</vt:lpstr>
      <vt:lpstr>Тема Office</vt:lpstr>
      <vt:lpstr>Що ми мали до flex-box</vt:lpstr>
      <vt:lpstr>Властивість display:flex</vt:lpstr>
      <vt:lpstr>Презентация PowerPoint</vt:lpstr>
      <vt:lpstr>Презентация PowerPoint</vt:lpstr>
      <vt:lpstr>Презентация PowerPoint</vt:lpstr>
      <vt:lpstr>Скорочений запис</vt:lpstr>
      <vt:lpstr>Свойство justify-content</vt:lpstr>
      <vt:lpstr>Презентация PowerPoint</vt:lpstr>
      <vt:lpstr>Свойство align-self</vt:lpstr>
      <vt:lpstr>Свойство align-contents</vt:lpstr>
      <vt:lpstr>Свойство order</vt:lpstr>
      <vt:lpstr>flex-grow, flex-shrink, flex-basis</vt:lpstr>
      <vt:lpstr>Алгоритм розрахунку положення flex елементів</vt:lpstr>
      <vt:lpstr>  Формула flex-basis</vt:lpstr>
      <vt:lpstr>Презентация PowerPoint</vt:lpstr>
      <vt:lpstr>Скорочений запис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Скорочений запис</vt:lpstr>
      <vt:lpstr>Презентация PowerPoint</vt:lpstr>
      <vt:lpstr>Презентация PowerPoint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roman</dc:creator>
  <cp:lastModifiedBy>Роман Никифоров</cp:lastModifiedBy>
  <cp:revision>341</cp:revision>
  <dcterms:created xsi:type="dcterms:W3CDTF">2012-03-08T07:38:11Z</dcterms:created>
  <dcterms:modified xsi:type="dcterms:W3CDTF">2024-08-15T08:08:55Z</dcterms:modified>
</cp:coreProperties>
</file>