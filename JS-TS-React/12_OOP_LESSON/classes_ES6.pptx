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3"/>
  </p:notesMasterIdLst>
  <p:sldIdLst>
    <p:sldId id="256" r:id="rId2"/>
    <p:sldId id="318" r:id="rId3"/>
    <p:sldId id="350" r:id="rId4"/>
    <p:sldId id="352" r:id="rId5"/>
    <p:sldId id="351" r:id="rId6"/>
    <p:sldId id="354" r:id="rId7"/>
    <p:sldId id="357" r:id="rId8"/>
    <p:sldId id="359" r:id="rId9"/>
    <p:sldId id="358" r:id="rId10"/>
    <p:sldId id="349" r:id="rId11"/>
    <p:sldId id="368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0" autoAdjust="0"/>
    <p:restoredTop sz="95852" autoAdjust="0"/>
  </p:normalViewPr>
  <p:slideViewPr>
    <p:cSldViewPr>
      <p:cViewPr varScale="1">
        <p:scale>
          <a:sx n="99" d="100"/>
          <a:sy n="99" d="100"/>
        </p:scale>
        <p:origin x="10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46FDC-1031-4836-92F9-245DF2638E3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77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05.11.2022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48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OOP in</a:t>
            </a:r>
            <a:br>
              <a:rPr lang="en-US" sz="48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48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Java Script</a:t>
            </a:r>
            <a:endParaRPr lang="ru-RU" sz="4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15816" y="116632"/>
            <a:ext cx="331236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Визначення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оператор 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instanceof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перевіряє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чи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належить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даному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класу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548680"/>
            <a:ext cx="892899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0070C0"/>
                </a:solidFill>
              </a:rPr>
              <a:t>class </a:t>
            </a:r>
            <a:r>
              <a:rPr lang="da-DK" b="1" dirty="0"/>
              <a:t>Animal {</a:t>
            </a:r>
          </a:p>
          <a:p>
            <a:endParaRPr lang="da-DK" b="1" dirty="0"/>
          </a:p>
          <a:p>
            <a:r>
              <a:rPr lang="da-DK" b="1" dirty="0"/>
              <a:t>}</a:t>
            </a:r>
          </a:p>
          <a:p>
            <a:r>
              <a:rPr lang="da-DK" b="1" dirty="0"/>
              <a:t>console.log(</a:t>
            </a:r>
            <a:r>
              <a:rPr lang="da-DK" b="1" dirty="0">
                <a:solidFill>
                  <a:srgbClr val="0070C0"/>
                </a:solidFill>
              </a:rPr>
              <a:t>typeof </a:t>
            </a:r>
            <a:r>
              <a:rPr lang="da-DK" b="1" dirty="0"/>
              <a:t>Animal)</a:t>
            </a:r>
            <a:r>
              <a:rPr lang="da-DK" b="1" dirty="0">
                <a:solidFill>
                  <a:srgbClr val="0070C0"/>
                </a:solidFill>
              </a:rPr>
              <a:t>; </a:t>
            </a:r>
            <a:r>
              <a:rPr lang="da-DK" b="1" i="1" dirty="0">
                <a:solidFill>
                  <a:schemeClr val="bg1">
                    <a:lumMod val="50000"/>
                  </a:schemeClr>
                </a:solidFill>
              </a:rPr>
              <a:t>// function</a:t>
            </a:r>
          </a:p>
          <a:p>
            <a:endParaRPr lang="da-DK" b="1" dirty="0"/>
          </a:p>
          <a:p>
            <a:r>
              <a:rPr lang="da-DK" b="1" dirty="0"/>
              <a:t>const</a:t>
            </a:r>
            <a:r>
              <a:rPr lang="da-DK" b="1" dirty="0">
                <a:solidFill>
                  <a:srgbClr val="0070C0"/>
                </a:solidFill>
              </a:rPr>
              <a:t> </a:t>
            </a:r>
            <a:r>
              <a:rPr lang="da-DK" b="1" dirty="0">
                <a:solidFill>
                  <a:srgbClr val="00B050"/>
                </a:solidFill>
              </a:rPr>
              <a:t>course</a:t>
            </a:r>
            <a:r>
              <a:rPr lang="da-DK" b="1" dirty="0">
                <a:solidFill>
                  <a:srgbClr val="0070C0"/>
                </a:solidFill>
              </a:rPr>
              <a:t> = </a:t>
            </a:r>
            <a:r>
              <a:rPr lang="da-DK" b="1" dirty="0">
                <a:solidFill>
                  <a:srgbClr val="C00000"/>
                </a:solidFill>
              </a:rPr>
              <a:t>new</a:t>
            </a:r>
            <a:r>
              <a:rPr lang="da-DK" b="1" dirty="0"/>
              <a:t> Animal();</a:t>
            </a:r>
          </a:p>
          <a:p>
            <a:r>
              <a:rPr lang="da-DK" b="1" dirty="0"/>
              <a:t>console.log(</a:t>
            </a:r>
            <a:r>
              <a:rPr lang="da-DK" b="1" dirty="0">
                <a:solidFill>
                  <a:srgbClr val="0070C0"/>
                </a:solidFill>
              </a:rPr>
              <a:t>typeof </a:t>
            </a:r>
            <a:r>
              <a:rPr lang="da-DK" b="1" dirty="0"/>
              <a:t>Animal);</a:t>
            </a:r>
            <a:r>
              <a:rPr lang="da-DK" b="1" dirty="0">
                <a:solidFill>
                  <a:srgbClr val="0070C0"/>
                </a:solidFill>
              </a:rPr>
              <a:t> </a:t>
            </a:r>
            <a:r>
              <a:rPr lang="da-DK" b="1" i="1" dirty="0">
                <a:solidFill>
                  <a:schemeClr val="bg1">
                    <a:lumMod val="50000"/>
                  </a:schemeClr>
                </a:solidFill>
              </a:rPr>
              <a:t>//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4499828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console.log(</a:t>
            </a:r>
            <a:r>
              <a:rPr lang="da-DK" b="1" dirty="0">
                <a:solidFill>
                  <a:srgbClr val="00B050"/>
                </a:solidFill>
              </a:rPr>
              <a:t>course</a:t>
            </a:r>
            <a:r>
              <a:rPr lang="da-DK" b="1" dirty="0">
                <a:solidFill>
                  <a:srgbClr val="0070C0"/>
                </a:solidFill>
              </a:rPr>
              <a:t> instanceof </a:t>
            </a:r>
            <a:r>
              <a:rPr lang="da-DK" b="1" dirty="0"/>
              <a:t>Animal</a:t>
            </a:r>
            <a:r>
              <a:rPr lang="da-DK" b="1" dirty="0">
                <a:solidFill>
                  <a:srgbClr val="0070C0"/>
                </a:solidFill>
              </a:rPr>
              <a:t>); </a:t>
            </a:r>
            <a:r>
              <a:rPr lang="da-DK" b="1" i="1" dirty="0">
                <a:solidFill>
                  <a:schemeClr val="bg1">
                    <a:lumMod val="50000"/>
                  </a:schemeClr>
                </a:solidFill>
              </a:rPr>
              <a:t>// true</a:t>
            </a:r>
          </a:p>
        </p:txBody>
      </p:sp>
    </p:spTree>
    <p:extLst>
      <p:ext uri="{BB962C8B-B14F-4D97-AF65-F5344CB8AC3E}">
        <p14:creationId xmlns:p14="http://schemas.microsoft.com/office/powerpoint/2010/main" val="4040172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619672" y="60596"/>
            <a:ext cx="5184576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/>
              <a:t>Конструктор та </a:t>
            </a:r>
            <a:r>
              <a:rPr lang="ru-RU" b="1" dirty="0" err="1"/>
              <a:t>методи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7504" y="550580"/>
            <a:ext cx="8928992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конструктор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викликається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коли ми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створюємо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об'єкт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instance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за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допомогою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ключового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слова </a:t>
            </a: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new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4" y="4581128"/>
            <a:ext cx="892899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Клас</a:t>
            </a:r>
            <a:r>
              <a:rPr lang="ru-RU" b="1" dirty="0"/>
              <a:t> </a:t>
            </a:r>
            <a:r>
              <a:rPr lang="ru-RU" b="1" dirty="0" err="1"/>
              <a:t>містить</a:t>
            </a:r>
            <a:r>
              <a:rPr lang="ru-RU" b="1" dirty="0"/>
              <a:t> </a:t>
            </a:r>
            <a:r>
              <a:rPr lang="ru-RU" b="1" dirty="0" err="1">
                <a:solidFill>
                  <a:srgbClr val="C00000"/>
                </a:solidFill>
              </a:rPr>
              <a:t>властивості</a:t>
            </a:r>
            <a:r>
              <a:rPr lang="ru-RU" b="1" dirty="0"/>
              <a:t> та </a:t>
            </a:r>
            <a:r>
              <a:rPr lang="ru-RU" b="1" dirty="0" err="1">
                <a:solidFill>
                  <a:srgbClr val="C00000"/>
                </a:solidFill>
              </a:rPr>
              <a:t>методи</a:t>
            </a:r>
            <a:endParaRPr lang="ru-RU" b="1" dirty="0">
              <a:solidFill>
                <a:srgbClr val="C00000"/>
              </a:solidFill>
            </a:endParaRPr>
          </a:p>
          <a:p>
            <a:r>
              <a:rPr lang="ru-RU" b="1" dirty="0" err="1">
                <a:solidFill>
                  <a:srgbClr val="0070C0"/>
                </a:solidFill>
              </a:rPr>
              <a:t>Властивості</a:t>
            </a:r>
            <a:r>
              <a:rPr lang="ru-RU" b="1" dirty="0"/>
              <a:t> </a:t>
            </a:r>
            <a:r>
              <a:rPr lang="ru-RU" b="1" dirty="0" err="1"/>
              <a:t>зазвичай</a:t>
            </a:r>
            <a:r>
              <a:rPr lang="ru-RU" b="1" dirty="0"/>
              <a:t> </a:t>
            </a:r>
            <a:r>
              <a:rPr lang="ru-RU" b="1" dirty="0" err="1"/>
              <a:t>визначаються</a:t>
            </a:r>
            <a:r>
              <a:rPr lang="ru-RU" b="1" dirty="0"/>
              <a:t> в </a:t>
            </a:r>
            <a:r>
              <a:rPr lang="ru-RU" b="1" dirty="0" err="1"/>
              <a:t>конструкторі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endParaRPr lang="ru-RU" b="1" dirty="0"/>
          </a:p>
          <a:p>
            <a:r>
              <a:rPr lang="ru-RU" b="1" dirty="0"/>
              <a:t>Доступ до </a:t>
            </a:r>
            <a:r>
              <a:rPr lang="ru-RU" b="1" dirty="0" err="1"/>
              <a:t>властивостей</a:t>
            </a:r>
            <a:r>
              <a:rPr lang="ru-RU" b="1" dirty="0"/>
              <a:t> та </a:t>
            </a:r>
            <a:r>
              <a:rPr lang="ru-RU" b="1" dirty="0" err="1"/>
              <a:t>методів</a:t>
            </a:r>
            <a:r>
              <a:rPr lang="ru-RU" b="1" dirty="0"/>
              <a:t> </a:t>
            </a:r>
            <a:r>
              <a:rPr lang="ru-RU" b="1" dirty="0" err="1"/>
              <a:t>усередині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b="1" dirty="0"/>
              <a:t> </a:t>
            </a:r>
            <a:r>
              <a:rPr lang="ru-RU" b="1" dirty="0" err="1"/>
              <a:t>здійснюється</a:t>
            </a:r>
            <a:r>
              <a:rPr lang="ru-RU" b="1" dirty="0"/>
              <a:t> через </a:t>
            </a:r>
            <a:r>
              <a:rPr lang="ru-RU" b="1" dirty="0" err="1"/>
              <a:t>ключову</a:t>
            </a:r>
            <a:r>
              <a:rPr lang="ru-RU" b="1" dirty="0"/>
              <a:t> </a:t>
            </a:r>
            <a:r>
              <a:rPr lang="ru-RU" b="1" dirty="0" err="1"/>
              <a:t>властивість</a:t>
            </a:r>
            <a:r>
              <a:rPr lang="ru-RU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this</a:t>
            </a:r>
            <a:endParaRPr lang="ru-RU" b="1" dirty="0">
              <a:solidFill>
                <a:schemeClr val="accent2"/>
              </a:solidFill>
            </a:endParaRPr>
          </a:p>
          <a:p>
            <a:r>
              <a:rPr lang="ru-RU" b="1" dirty="0"/>
              <a:t>     </a:t>
            </a:r>
            <a:r>
              <a:rPr lang="en-US" sz="2000" b="1" dirty="0">
                <a:solidFill>
                  <a:schemeClr val="accent2"/>
                </a:solidFill>
              </a:rPr>
              <a:t>this.</a:t>
            </a:r>
            <a:r>
              <a:rPr lang="uk-UA" sz="2000" b="1" dirty="0" err="1">
                <a:solidFill>
                  <a:srgbClr val="0070C0"/>
                </a:solidFill>
              </a:rPr>
              <a:t>ім'я_властивості</a:t>
            </a:r>
            <a:endParaRPr lang="ru-RU" sz="2000" b="1" dirty="0">
              <a:solidFill>
                <a:srgbClr val="0070C0"/>
              </a:solidFill>
            </a:endParaRPr>
          </a:p>
          <a:p>
            <a:r>
              <a:rPr lang="ru-RU" sz="2000" b="1" dirty="0"/>
              <a:t>    </a:t>
            </a:r>
            <a:r>
              <a:rPr lang="en-US" sz="2000" b="1" dirty="0">
                <a:solidFill>
                  <a:schemeClr val="accent2"/>
                </a:solidFill>
              </a:rPr>
              <a:t>this.</a:t>
            </a:r>
            <a:r>
              <a:rPr lang="uk-UA" sz="2000" b="1" dirty="0" err="1">
                <a:solidFill>
                  <a:srgbClr val="0070C0"/>
                </a:solidFill>
              </a:rPr>
              <a:t>ім'я_метода</a:t>
            </a:r>
            <a:r>
              <a:rPr lang="uk-UA" sz="2000" b="1" dirty="0">
                <a:solidFill>
                  <a:srgbClr val="0070C0"/>
                </a:solidFill>
              </a:rPr>
              <a:t>()</a:t>
            </a:r>
            <a:endParaRPr lang="da-DK" b="1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504" y="1270819"/>
            <a:ext cx="8928992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class Animal {</a:t>
            </a:r>
            <a:r>
              <a:rPr lang="da-DK" b="1" dirty="0">
                <a:solidFill>
                  <a:srgbClr val="0070C0"/>
                </a:solidFill>
              </a:rPr>
              <a:t>		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>
                <a:solidFill>
                  <a:srgbClr val="0070C0"/>
                </a:solidFill>
              </a:rPr>
              <a:t>    </a:t>
            </a:r>
            <a:r>
              <a:rPr lang="da-DK" b="1" dirty="0">
                <a:solidFill>
                  <a:schemeClr val="accent2"/>
                </a:solidFill>
              </a:rPr>
              <a:t>constructor</a:t>
            </a:r>
            <a:r>
              <a:rPr lang="da-DK" b="1" dirty="0">
                <a:solidFill>
                  <a:srgbClr val="0070C0"/>
                </a:solidFill>
              </a:rPr>
              <a:t>(name)</a:t>
            </a:r>
            <a:r>
              <a:rPr lang="da-DK" b="1" dirty="0">
                <a:solidFill>
                  <a:schemeClr val="accent2"/>
                </a:solidFill>
              </a:rPr>
              <a:t>{</a:t>
            </a:r>
            <a:endParaRPr lang="ru-RU" b="1" dirty="0">
              <a:solidFill>
                <a:schemeClr val="accent2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	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da-DK" b="1" dirty="0">
                <a:solidFill>
                  <a:srgbClr val="0070C0"/>
                </a:solidFill>
              </a:rPr>
              <a:t>this.name = name;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da-DK" b="1" dirty="0">
                <a:solidFill>
                  <a:srgbClr val="0070C0"/>
                </a:solidFill>
              </a:rPr>
              <a:t>	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>
                <a:solidFill>
                  <a:srgbClr val="0070C0"/>
                </a:solidFill>
              </a:rPr>
              <a:t>    </a:t>
            </a:r>
            <a:r>
              <a:rPr lang="da-DK" b="1" dirty="0">
                <a:solidFill>
                  <a:schemeClr val="accent2"/>
                </a:solidFill>
              </a:rPr>
              <a:t>}</a:t>
            </a:r>
          </a:p>
          <a:p>
            <a:r>
              <a:rPr lang="da-DK" b="1" dirty="0">
                <a:solidFill>
                  <a:schemeClr val="accent2"/>
                </a:solidFill>
              </a:rPr>
              <a:t>    </a:t>
            </a:r>
            <a:r>
              <a:rPr lang="da-DK" b="1" dirty="0">
                <a:solidFill>
                  <a:srgbClr val="7030A0"/>
                </a:solidFill>
              </a:rPr>
              <a:t>getInfo() {</a:t>
            </a:r>
          </a:p>
          <a:p>
            <a:r>
              <a:rPr lang="da-DK" b="1" dirty="0">
                <a:solidFill>
                  <a:srgbClr val="7030A0"/>
                </a:solidFill>
              </a:rPr>
              <a:t>    </a:t>
            </a:r>
            <a:r>
              <a:rPr lang="ru-RU" b="1" dirty="0">
                <a:solidFill>
                  <a:srgbClr val="7030A0"/>
                </a:solidFill>
              </a:rPr>
              <a:t>    </a:t>
            </a:r>
            <a:r>
              <a:rPr lang="da-DK" b="1" dirty="0">
                <a:solidFill>
                  <a:srgbClr val="7030A0"/>
                </a:solidFill>
              </a:rPr>
              <a:t>console.log(this.name);</a:t>
            </a:r>
          </a:p>
          <a:p>
            <a:r>
              <a:rPr lang="da-DK" b="1" dirty="0">
                <a:solidFill>
                  <a:srgbClr val="7030A0"/>
                </a:solidFill>
              </a:rPr>
              <a:t>  </a:t>
            </a:r>
            <a:r>
              <a:rPr lang="ru-RU" b="1" dirty="0">
                <a:solidFill>
                  <a:srgbClr val="7030A0"/>
                </a:solidFill>
              </a:rPr>
              <a:t>  </a:t>
            </a:r>
            <a:r>
              <a:rPr lang="da-DK" b="1" dirty="0">
                <a:solidFill>
                  <a:srgbClr val="7030A0"/>
                </a:solidFill>
              </a:rPr>
              <a:t>}</a:t>
            </a:r>
            <a:r>
              <a:rPr lang="ru-RU" b="1" dirty="0">
                <a:solidFill>
                  <a:schemeClr val="accent2"/>
                </a:solidFill>
              </a:rPr>
              <a:t>	</a:t>
            </a:r>
            <a:r>
              <a:rPr lang="da-DK" b="1" dirty="0">
                <a:solidFill>
                  <a:schemeClr val="accent2"/>
                </a:solidFill>
              </a:rPr>
              <a:t> </a:t>
            </a:r>
            <a:endParaRPr lang="ru-RU" b="1" dirty="0">
              <a:solidFill>
                <a:schemeClr val="accent2"/>
              </a:solidFill>
            </a:endParaRPr>
          </a:p>
          <a:p>
            <a:r>
              <a:rPr lang="da-DK" b="1" dirty="0"/>
              <a:t>}</a:t>
            </a:r>
            <a:endParaRPr lang="ru-RU" b="1" dirty="0"/>
          </a:p>
          <a:p>
            <a:endParaRPr lang="ru-RU" b="1" dirty="0">
              <a:solidFill>
                <a:srgbClr val="0070C0"/>
              </a:solidFill>
            </a:endParaRPr>
          </a:p>
          <a:p>
            <a:r>
              <a:rPr lang="da-DK" b="1" dirty="0"/>
              <a:t>const</a:t>
            </a:r>
            <a:r>
              <a:rPr lang="da-DK" b="1" dirty="0">
                <a:solidFill>
                  <a:srgbClr val="0070C0"/>
                </a:solidFill>
              </a:rPr>
              <a:t> cat = </a:t>
            </a:r>
            <a:r>
              <a:rPr lang="da-DK" b="1" dirty="0"/>
              <a:t>new Animal('Tom');</a:t>
            </a:r>
            <a:r>
              <a:rPr lang="da-DK" b="1" dirty="0">
                <a:solidFill>
                  <a:srgbClr val="0070C0"/>
                </a:solidFill>
              </a:rPr>
              <a:t> 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cat</a:t>
            </a:r>
            <a:r>
              <a:rPr lang="en-US" b="1" dirty="0"/>
              <a:t>.</a:t>
            </a:r>
            <a:r>
              <a:rPr lang="da-DK" b="1" dirty="0">
                <a:solidFill>
                  <a:srgbClr val="7030A0"/>
                </a:solidFill>
              </a:rPr>
              <a:t>getInfo</a:t>
            </a:r>
            <a:r>
              <a:rPr lang="en-US" b="1" dirty="0"/>
              <a:t>()</a:t>
            </a:r>
            <a:r>
              <a:rPr lang="da-DK" b="1" dirty="0"/>
              <a:t>;</a:t>
            </a:r>
            <a:r>
              <a:rPr lang="da-DK" b="1" dirty="0">
                <a:solidFill>
                  <a:srgbClr val="0070C0"/>
                </a:solidFill>
              </a:rPr>
              <a:t>  </a:t>
            </a:r>
            <a:r>
              <a:rPr lang="da-DK" b="1" i="1" dirty="0">
                <a:solidFill>
                  <a:schemeClr val="bg1">
                    <a:lumMod val="50000"/>
                  </a:schemeClr>
                </a:solidFill>
              </a:rPr>
              <a:t>//  Tom</a:t>
            </a:r>
          </a:p>
        </p:txBody>
      </p:sp>
    </p:spTree>
    <p:extLst>
      <p:ext uri="{BB962C8B-B14F-4D97-AF65-F5344CB8AC3E}">
        <p14:creationId xmlns:p14="http://schemas.microsoft.com/office/powerpoint/2010/main" val="218594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75656" y="116632"/>
            <a:ext cx="6480720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Створення</a:t>
            </a:r>
            <a:r>
              <a:rPr lang="ru-RU" b="1" dirty="0"/>
              <a:t> </a:t>
            </a:r>
            <a:r>
              <a:rPr lang="ru-RU" b="1" dirty="0" err="1"/>
              <a:t>екземплярів</a:t>
            </a:r>
            <a:r>
              <a:rPr lang="ru-RU" b="1" dirty="0"/>
              <a:t> (</a:t>
            </a:r>
            <a:r>
              <a:rPr lang="ru-RU" b="1" dirty="0" err="1"/>
              <a:t>об'єктів</a:t>
            </a:r>
            <a:r>
              <a:rPr lang="ru-RU" b="1" dirty="0"/>
              <a:t>) </a:t>
            </a:r>
            <a:r>
              <a:rPr lang="ru-RU" b="1" dirty="0" err="1"/>
              <a:t>класу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764704"/>
            <a:ext cx="892899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class Animal {</a:t>
            </a:r>
          </a:p>
          <a:p>
            <a:r>
              <a:rPr lang="da-DK" b="1" dirty="0"/>
              <a:t>  constructor(name) {</a:t>
            </a:r>
          </a:p>
          <a:p>
            <a:r>
              <a:rPr lang="da-DK" b="1" dirty="0"/>
              <a:t>    this.name = name;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  getInfo() {</a:t>
            </a:r>
          </a:p>
          <a:p>
            <a:r>
              <a:rPr lang="da-DK" b="1" dirty="0"/>
              <a:t>    console.log(this.name);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}</a:t>
            </a:r>
          </a:p>
          <a:p>
            <a:endParaRPr lang="da-DK" b="1" dirty="0"/>
          </a:p>
          <a:p>
            <a:r>
              <a:rPr lang="da-DK" b="1" dirty="0"/>
              <a:t>const </a:t>
            </a:r>
            <a:r>
              <a:rPr lang="da-DK" b="1" dirty="0">
                <a:solidFill>
                  <a:srgbClr val="0070C0"/>
                </a:solidFill>
              </a:rPr>
              <a:t>a1</a:t>
            </a:r>
            <a:r>
              <a:rPr lang="da-DK" b="1" dirty="0"/>
              <a:t> = new Animal("Tom");</a:t>
            </a:r>
          </a:p>
          <a:p>
            <a:r>
              <a:rPr lang="da-DK" b="1" dirty="0"/>
              <a:t>const </a:t>
            </a:r>
            <a:r>
              <a:rPr lang="da-DK" b="1" dirty="0">
                <a:solidFill>
                  <a:srgbClr val="002060"/>
                </a:solidFill>
              </a:rPr>
              <a:t>a2</a:t>
            </a:r>
            <a:r>
              <a:rPr lang="da-DK" b="1" dirty="0"/>
              <a:t> = new Animal("Jerry");</a:t>
            </a:r>
          </a:p>
          <a:p>
            <a:endParaRPr lang="da-DK" b="1" dirty="0"/>
          </a:p>
          <a:p>
            <a:r>
              <a:rPr lang="da-DK" b="1" dirty="0">
                <a:solidFill>
                  <a:srgbClr val="0070C0"/>
                </a:solidFill>
              </a:rPr>
              <a:t>a1</a:t>
            </a:r>
            <a:r>
              <a:rPr lang="da-DK" b="1" dirty="0"/>
              <a:t>.getInfo();</a:t>
            </a:r>
          </a:p>
          <a:p>
            <a:r>
              <a:rPr lang="da-DK" b="1" dirty="0">
                <a:solidFill>
                  <a:srgbClr val="002060"/>
                </a:solidFill>
              </a:rPr>
              <a:t>a2</a:t>
            </a:r>
            <a:r>
              <a:rPr lang="da-DK" b="1" dirty="0"/>
              <a:t>.getInfo();</a:t>
            </a:r>
            <a:endParaRPr lang="da-DK" b="1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95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915816" y="44624"/>
            <a:ext cx="403244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Статичні</a:t>
            </a:r>
            <a:r>
              <a:rPr lang="ru-RU" b="1" dirty="0"/>
              <a:t> </a:t>
            </a:r>
            <a:r>
              <a:rPr lang="ru-RU" b="1" dirty="0" err="1"/>
              <a:t>властивості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endParaRPr lang="ru-RU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07504" y="550580"/>
            <a:ext cx="8928992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 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не належать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екземпляру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створити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кілька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одного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класу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статичні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та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методи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будуть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спільними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всіх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об'єктів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654" y="1916832"/>
            <a:ext cx="892899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>
                <a:solidFill>
                  <a:srgbClr val="0070C0"/>
                </a:solidFill>
              </a:rPr>
              <a:t>class Animal {		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>
                <a:solidFill>
                  <a:srgbClr val="0070C0"/>
                </a:solidFill>
              </a:rPr>
              <a:t>    </a:t>
            </a:r>
            <a:r>
              <a:rPr lang="da-DK" b="1" dirty="0">
                <a:solidFill>
                  <a:srgbClr val="0070C0"/>
                </a:solidFill>
              </a:rPr>
              <a:t>constructor(name){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	</a:t>
            </a:r>
            <a:r>
              <a:rPr lang="ru-RU" b="1" dirty="0">
                <a:solidFill>
                  <a:srgbClr val="0070C0"/>
                </a:solidFill>
              </a:rPr>
              <a:t> </a:t>
            </a:r>
            <a:r>
              <a:rPr lang="da-DK" b="1" dirty="0">
                <a:solidFill>
                  <a:srgbClr val="0070C0"/>
                </a:solidFill>
              </a:rPr>
              <a:t>this.name = name;		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ru-RU" b="1" dirty="0">
                <a:solidFill>
                  <a:srgbClr val="0070C0"/>
                </a:solidFill>
              </a:rPr>
              <a:t>    </a:t>
            </a:r>
            <a:r>
              <a:rPr lang="da-DK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da-DK" b="1" dirty="0">
                <a:solidFill>
                  <a:srgbClr val="0070C0"/>
                </a:solidFill>
              </a:rPr>
              <a:t>}</a:t>
            </a:r>
            <a:endParaRPr lang="ru-RU" b="1" dirty="0">
              <a:solidFill>
                <a:srgbClr val="0070C0"/>
              </a:solidFill>
            </a:endParaRPr>
          </a:p>
          <a:p>
            <a:r>
              <a:rPr lang="en-US" b="1" dirty="0" err="1">
                <a:solidFill>
                  <a:schemeClr val="accent2"/>
                </a:solidFill>
              </a:rPr>
              <a:t>Animal.zoo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/>
              <a:t>= "</a:t>
            </a:r>
            <a:r>
              <a:rPr lang="en-US" b="1" dirty="0" err="1"/>
              <a:t>Cincinati</a:t>
            </a:r>
            <a:r>
              <a:rPr lang="en-US" b="1" dirty="0"/>
              <a:t> Zoo";</a:t>
            </a:r>
            <a:endParaRPr lang="ru-RU" b="1" dirty="0"/>
          </a:p>
          <a:p>
            <a:endParaRPr lang="ru-RU" b="1" dirty="0">
              <a:solidFill>
                <a:srgbClr val="0070C0"/>
              </a:solidFill>
            </a:endParaRPr>
          </a:p>
          <a:p>
            <a:r>
              <a:rPr lang="en-US" b="1" dirty="0"/>
              <a:t>const</a:t>
            </a:r>
            <a:r>
              <a:rPr lang="da-DK" b="1" dirty="0"/>
              <a:t> a = new Animal('Tom'); </a:t>
            </a:r>
            <a:endParaRPr lang="ru-RU" b="1" dirty="0"/>
          </a:p>
          <a:p>
            <a:endParaRPr lang="ru-RU" b="1" dirty="0">
              <a:solidFill>
                <a:srgbClr val="0070C0"/>
              </a:solidFill>
            </a:endParaRPr>
          </a:p>
          <a:p>
            <a:r>
              <a:rPr lang="en-US" b="1" dirty="0" err="1">
                <a:solidFill>
                  <a:srgbClr val="0070C0"/>
                </a:solidFill>
              </a:rPr>
              <a:t>c.</a:t>
            </a:r>
            <a:r>
              <a:rPr lang="en-US" b="1" dirty="0" err="1">
                <a:solidFill>
                  <a:schemeClr val="accent2"/>
                </a:solidFill>
              </a:rPr>
              <a:t>zoo</a:t>
            </a:r>
            <a:r>
              <a:rPr lang="en-US" b="1" dirty="0">
                <a:solidFill>
                  <a:srgbClr val="0070C0"/>
                </a:solidFill>
              </a:rPr>
              <a:t>;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</a:rPr>
              <a:t>//error - 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</a:rPr>
              <a:t>так не </a:t>
            </a:r>
            <a:r>
              <a:rPr lang="ru-RU" b="1" i="1" dirty="0" err="1">
                <a:solidFill>
                  <a:schemeClr val="bg1">
                    <a:lumMod val="50000"/>
                  </a:schemeClr>
                </a:solidFill>
              </a:rPr>
              <a:t>можна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b="1" i="1" dirty="0" err="1">
                <a:solidFill>
                  <a:schemeClr val="bg1">
                    <a:lumMod val="50000"/>
                  </a:schemeClr>
                </a:solidFill>
              </a:rPr>
              <a:t>викликати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b="1" i="1" dirty="0" err="1">
                <a:solidFill>
                  <a:schemeClr val="bg1">
                    <a:lumMod val="50000"/>
                  </a:schemeClr>
                </a:solidFill>
              </a:rPr>
              <a:t>статичну</a:t>
            </a:r>
            <a:r>
              <a:rPr lang="ru-RU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b="1" i="1" dirty="0" err="1">
                <a:solidFill>
                  <a:schemeClr val="bg1">
                    <a:lumMod val="50000"/>
                  </a:schemeClr>
                </a:solidFill>
              </a:rPr>
              <a:t>властивість</a:t>
            </a:r>
            <a:endParaRPr lang="ru-RU" b="1" i="1" dirty="0">
              <a:solidFill>
                <a:schemeClr val="bg1">
                  <a:lumMod val="50000"/>
                </a:schemeClr>
              </a:solidFill>
            </a:endParaRPr>
          </a:p>
          <a:p>
            <a:endParaRPr lang="da-DK" b="1" dirty="0">
              <a:solidFill>
                <a:srgbClr val="0070C0"/>
              </a:solidFill>
            </a:endParaRPr>
          </a:p>
          <a:p>
            <a:r>
              <a:rPr lang="da-DK" b="1" dirty="0"/>
              <a:t>console.log(</a:t>
            </a:r>
            <a:r>
              <a:rPr lang="en-US" b="1" dirty="0" err="1">
                <a:solidFill>
                  <a:schemeClr val="accent2"/>
                </a:solidFill>
              </a:rPr>
              <a:t>Animal.zoo</a:t>
            </a:r>
            <a:r>
              <a:rPr lang="da-DK" b="1" dirty="0"/>
              <a:t>);</a:t>
            </a:r>
            <a:r>
              <a:rPr lang="da-DK" b="1" dirty="0">
                <a:solidFill>
                  <a:srgbClr val="0070C0"/>
                </a:solidFill>
              </a:rPr>
              <a:t>  </a:t>
            </a:r>
            <a:r>
              <a:rPr lang="da-DK" b="1" i="1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US" b="1" i="1" dirty="0" err="1">
                <a:solidFill>
                  <a:schemeClr val="bg1">
                    <a:lumMod val="65000"/>
                  </a:schemeClr>
                </a:solidFill>
              </a:rPr>
              <a:t>Cincinati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 Zoo</a:t>
            </a:r>
            <a:endParaRPr lang="da-DK" b="1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5499075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!!!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Статичні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методи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викликаються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щодо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імені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класу</a:t>
            </a:r>
            <a:endParaRPr lang="ru-RU" b="1" dirty="0">
              <a:solidFill>
                <a:schemeClr val="accent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68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67844" y="44624"/>
            <a:ext cx="2772308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Статичні</a:t>
            </a:r>
            <a:r>
              <a:rPr lang="ru-RU" b="1" dirty="0"/>
              <a:t> </a:t>
            </a:r>
            <a:r>
              <a:rPr lang="ru-RU" b="1" dirty="0" err="1"/>
              <a:t>методи</a:t>
            </a:r>
            <a:endParaRPr lang="ru-RU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1491749"/>
            <a:ext cx="8928992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class </a:t>
            </a:r>
            <a:r>
              <a:rPr lang="da-DK" b="1" dirty="0">
                <a:solidFill>
                  <a:srgbClr val="C00000"/>
                </a:solidFill>
              </a:rPr>
              <a:t>Animal</a:t>
            </a:r>
            <a:r>
              <a:rPr lang="da-DK" b="1" dirty="0"/>
              <a:t> {</a:t>
            </a:r>
            <a:endParaRPr lang="ru-RU" b="1" dirty="0"/>
          </a:p>
          <a:p>
            <a:r>
              <a:rPr lang="da-DK" b="1" dirty="0"/>
              <a:t>	constructor(</a:t>
            </a:r>
            <a:r>
              <a:rPr lang="en-US" b="1" dirty="0"/>
              <a:t>name</a:t>
            </a:r>
            <a:r>
              <a:rPr lang="da-DK" b="1" dirty="0"/>
              <a:t>){</a:t>
            </a:r>
          </a:p>
          <a:p>
            <a:r>
              <a:rPr lang="da-DK" b="1" dirty="0"/>
              <a:t>	   this.</a:t>
            </a:r>
            <a:r>
              <a:rPr lang="en-US" b="1" dirty="0"/>
              <a:t> name</a:t>
            </a:r>
            <a:r>
              <a:rPr lang="da-DK" b="1" dirty="0"/>
              <a:t> = </a:t>
            </a:r>
            <a:r>
              <a:rPr lang="en-US" b="1" dirty="0"/>
              <a:t>name</a:t>
            </a:r>
            <a:r>
              <a:rPr lang="da-DK" b="1" dirty="0"/>
              <a:t>;	</a:t>
            </a:r>
          </a:p>
          <a:p>
            <a:r>
              <a:rPr lang="da-DK" b="1" dirty="0"/>
              <a:t>	}		</a:t>
            </a:r>
          </a:p>
          <a:p>
            <a:r>
              <a:rPr lang="da-DK" b="1" dirty="0"/>
              <a:t>	</a:t>
            </a:r>
          </a:p>
          <a:p>
            <a:r>
              <a:rPr lang="da-DK" b="1" dirty="0">
                <a:solidFill>
                  <a:srgbClr val="0070C0"/>
                </a:solidFill>
              </a:rPr>
              <a:t>      </a:t>
            </a:r>
            <a:r>
              <a:rPr lang="da-DK" b="1" dirty="0"/>
              <a:t>static getZooInfo(){				  </a:t>
            </a:r>
          </a:p>
          <a:p>
            <a:r>
              <a:rPr lang="da-DK" b="1" dirty="0"/>
              <a:t>         console.log(</a:t>
            </a:r>
            <a:r>
              <a:rPr lang="en-US" b="1" dirty="0"/>
              <a:t>"</a:t>
            </a:r>
            <a:r>
              <a:rPr lang="en-US" b="1" dirty="0" err="1"/>
              <a:t>Cincinati</a:t>
            </a:r>
            <a:r>
              <a:rPr lang="en-US" b="1" dirty="0"/>
              <a:t> Zoo"</a:t>
            </a:r>
            <a:r>
              <a:rPr lang="da-DK" b="1" dirty="0"/>
              <a:t>);</a:t>
            </a:r>
          </a:p>
          <a:p>
            <a:r>
              <a:rPr lang="da-DK" b="1" dirty="0"/>
              <a:t>	}</a:t>
            </a:r>
          </a:p>
          <a:p>
            <a:r>
              <a:rPr lang="da-DK" b="1" dirty="0"/>
              <a:t>}</a:t>
            </a:r>
            <a:endParaRPr lang="da-DK" b="1" i="1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4244895"/>
            <a:ext cx="892899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const tiger = new Animal('George');</a:t>
            </a:r>
          </a:p>
          <a:p>
            <a:endParaRPr lang="en-US" b="1" i="1" dirty="0">
              <a:solidFill>
                <a:srgbClr val="0070C0"/>
              </a:solidFill>
            </a:endParaRPr>
          </a:p>
          <a:p>
            <a:r>
              <a:rPr lang="en-US" b="1" dirty="0" err="1"/>
              <a:t>tiger</a:t>
            </a:r>
            <a:r>
              <a:rPr lang="en-US" b="1" i="1" dirty="0" err="1"/>
              <a:t>.</a:t>
            </a:r>
            <a:r>
              <a:rPr lang="en-US" b="1" i="1" dirty="0" err="1">
                <a:solidFill>
                  <a:srgbClr val="0070C0"/>
                </a:solidFill>
              </a:rPr>
              <a:t>getZooInfo</a:t>
            </a:r>
            <a:r>
              <a:rPr lang="en-US" b="1" i="1" dirty="0">
                <a:solidFill>
                  <a:srgbClr val="0070C0"/>
                </a:solidFill>
              </a:rPr>
              <a:t>();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 // Error</a:t>
            </a:r>
          </a:p>
          <a:p>
            <a:r>
              <a:rPr lang="en-US" b="1" i="1" dirty="0"/>
              <a:t>console.log(</a:t>
            </a:r>
            <a:r>
              <a:rPr lang="da-DK" b="1" dirty="0">
                <a:solidFill>
                  <a:srgbClr val="C00000"/>
                </a:solidFill>
              </a:rPr>
              <a:t>Animal</a:t>
            </a:r>
            <a:r>
              <a:rPr lang="en-US" b="1" i="1" dirty="0">
                <a:solidFill>
                  <a:srgbClr val="0070C0"/>
                </a:solidFill>
              </a:rPr>
              <a:t>.</a:t>
            </a:r>
            <a:r>
              <a:rPr lang="da-DK" b="1" dirty="0"/>
              <a:t>getZooInfo</a:t>
            </a:r>
            <a:r>
              <a:rPr lang="en-US" b="1" i="1" dirty="0">
                <a:solidFill>
                  <a:srgbClr val="0070C0"/>
                </a:solidFill>
              </a:rPr>
              <a:t>());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b="1" i="1" dirty="0" err="1">
                <a:solidFill>
                  <a:schemeClr val="bg1">
                    <a:lumMod val="65000"/>
                  </a:schemeClr>
                </a:solidFill>
              </a:rPr>
              <a:t>Cincinati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 Zoo</a:t>
            </a:r>
            <a:endParaRPr lang="da-DK" b="1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5949280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!!! у </a:t>
            </a:r>
            <a:r>
              <a:rPr lang="ru-RU" b="1" dirty="0" err="1">
                <a:solidFill>
                  <a:srgbClr val="C00000"/>
                </a:solidFill>
              </a:rPr>
              <a:t>static</a:t>
            </a:r>
            <a:r>
              <a:rPr lang="ru-RU" b="1" dirty="0">
                <a:solidFill>
                  <a:srgbClr val="C00000"/>
                </a:solidFill>
              </a:rPr>
              <a:t> методах недоступна </a:t>
            </a:r>
            <a:r>
              <a:rPr lang="ru-RU" b="1" dirty="0" err="1">
                <a:solidFill>
                  <a:srgbClr val="C00000"/>
                </a:solidFill>
              </a:rPr>
              <a:t>змінна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 err="1">
                <a:solidFill>
                  <a:srgbClr val="C00000"/>
                </a:solidFill>
              </a:rPr>
              <a:t>this</a:t>
            </a:r>
            <a:endParaRPr lang="da-DK" b="1" i="1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417438"/>
            <a:ext cx="8928992" cy="923330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/>
              <a:t>- Належать не </a:t>
            </a:r>
            <a:r>
              <a:rPr lang="ru-RU" b="1" dirty="0" err="1"/>
              <a:t>об'єкту</a:t>
            </a:r>
            <a:r>
              <a:rPr lang="ru-RU" b="1" dirty="0"/>
              <a:t> а </a:t>
            </a:r>
            <a:r>
              <a:rPr lang="ru-RU" b="1" dirty="0" err="1"/>
              <a:t>класу</a:t>
            </a:r>
            <a:r>
              <a:rPr lang="ru-RU" b="1" dirty="0"/>
              <a:t>;</a:t>
            </a:r>
          </a:p>
          <a:p>
            <a:r>
              <a:rPr lang="ru-RU" b="1" dirty="0"/>
              <a:t>- </a:t>
            </a:r>
            <a:r>
              <a:rPr lang="ru-RU" b="1" dirty="0" err="1"/>
              <a:t>Викликаються</a:t>
            </a:r>
            <a:r>
              <a:rPr lang="ru-RU" b="1" dirty="0"/>
              <a:t> </a:t>
            </a:r>
            <a:r>
              <a:rPr lang="ru-RU" b="1" dirty="0" err="1"/>
              <a:t>щодо</a:t>
            </a:r>
            <a:r>
              <a:rPr lang="ru-RU" b="1" dirty="0"/>
              <a:t> </a:t>
            </a:r>
            <a:r>
              <a:rPr lang="ru-RU" b="1" dirty="0" err="1"/>
              <a:t>імені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b="1" dirty="0"/>
              <a:t>;</a:t>
            </a:r>
          </a:p>
          <a:p>
            <a:r>
              <a:rPr lang="ru-RU" b="1" dirty="0"/>
              <a:t>- у </a:t>
            </a:r>
            <a:r>
              <a:rPr lang="ru-RU" b="1" dirty="0" err="1"/>
              <a:t>static</a:t>
            </a:r>
            <a:r>
              <a:rPr lang="ru-RU" b="1" dirty="0"/>
              <a:t> методах недоступна </a:t>
            </a:r>
            <a:r>
              <a:rPr lang="ru-RU" b="1" dirty="0" err="1"/>
              <a:t>змінна</a:t>
            </a:r>
            <a:r>
              <a:rPr lang="ru-RU" b="1" dirty="0"/>
              <a:t> </a:t>
            </a:r>
            <a:r>
              <a:rPr lang="ru-RU" b="1" dirty="0" err="1"/>
              <a:t>this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87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89802" y="49293"/>
            <a:ext cx="3564396" cy="360040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err="1"/>
              <a:t>Наслідування</a:t>
            </a:r>
            <a:r>
              <a:rPr lang="ru-RU" b="1" dirty="0"/>
              <a:t> </a:t>
            </a:r>
            <a:r>
              <a:rPr lang="ru-RU" b="1" dirty="0" err="1"/>
              <a:t>класів</a:t>
            </a:r>
            <a:endParaRPr lang="ru-R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443112"/>
            <a:ext cx="892899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/>
              <a:t>Батьківський</a:t>
            </a:r>
            <a:r>
              <a:rPr lang="ru-RU" b="1" dirty="0"/>
              <a:t> </a:t>
            </a:r>
            <a:r>
              <a:rPr lang="ru-RU" b="1" dirty="0" err="1"/>
              <a:t>клас</a:t>
            </a:r>
            <a:r>
              <a:rPr lang="ru-RU" b="1" dirty="0"/>
              <a:t> </a:t>
            </a:r>
            <a:r>
              <a:rPr lang="en-US" b="1" dirty="0"/>
              <a:t> </a:t>
            </a:r>
            <a:r>
              <a:rPr lang="ru-RU" b="1" dirty="0"/>
              <a:t>-</a:t>
            </a:r>
            <a:r>
              <a:rPr lang="en-US" b="1" dirty="0"/>
              <a:t>&gt; </a:t>
            </a:r>
            <a:r>
              <a:rPr lang="en-US" b="1" dirty="0">
                <a:solidFill>
                  <a:schemeClr val="accent2"/>
                </a:solidFill>
              </a:rPr>
              <a:t>super</a:t>
            </a:r>
            <a:r>
              <a:rPr lang="en-US" b="1" dirty="0"/>
              <a:t> </a:t>
            </a:r>
            <a:r>
              <a:rPr lang="en-US" b="1" dirty="0">
                <a:solidFill>
                  <a:schemeClr val="accent2"/>
                </a:solidFill>
              </a:rPr>
              <a:t>class</a:t>
            </a:r>
            <a:endParaRPr lang="ru-RU" b="1" dirty="0"/>
          </a:p>
          <a:p>
            <a:r>
              <a:rPr lang="ru-RU" b="1" dirty="0" err="1"/>
              <a:t>Дочірній</a:t>
            </a:r>
            <a:r>
              <a:rPr lang="ru-RU" b="1" dirty="0"/>
              <a:t> </a:t>
            </a:r>
            <a:r>
              <a:rPr lang="ru-RU" b="1" dirty="0" err="1"/>
              <a:t>клас</a:t>
            </a:r>
            <a:r>
              <a:rPr lang="ru-RU" b="1" dirty="0"/>
              <a:t> </a:t>
            </a:r>
            <a:r>
              <a:rPr lang="en-US" b="1" dirty="0"/>
              <a:t> </a:t>
            </a:r>
            <a:r>
              <a:rPr lang="ru-RU" b="1" dirty="0"/>
              <a:t>-</a:t>
            </a:r>
            <a:r>
              <a:rPr lang="en-US" b="1" dirty="0"/>
              <a:t>&gt; </a:t>
            </a:r>
            <a:r>
              <a:rPr lang="en-US" b="1" dirty="0">
                <a:solidFill>
                  <a:schemeClr val="accent2"/>
                </a:solidFill>
              </a:rPr>
              <a:t>derived class</a:t>
            </a:r>
            <a:endParaRPr lang="ru-RU" b="1" dirty="0">
              <a:solidFill>
                <a:schemeClr val="accent2"/>
              </a:solidFill>
            </a:endParaRPr>
          </a:p>
          <a:p>
            <a:endParaRPr lang="ru-RU" b="1" dirty="0"/>
          </a:p>
          <a:p>
            <a:r>
              <a:rPr lang="ru-RU" b="1" dirty="0" err="1"/>
              <a:t>Усі</a:t>
            </a:r>
            <a:r>
              <a:rPr lang="ru-RU" b="1" dirty="0"/>
              <a:t> </a:t>
            </a:r>
            <a:r>
              <a:rPr lang="ru-RU" b="1" dirty="0" err="1"/>
              <a:t>властивості</a:t>
            </a:r>
            <a:r>
              <a:rPr lang="ru-RU" b="1" dirty="0"/>
              <a:t> та </a:t>
            </a:r>
            <a:r>
              <a:rPr lang="ru-RU" b="1" dirty="0" err="1"/>
              <a:t>методи</a:t>
            </a:r>
            <a:r>
              <a:rPr lang="ru-RU" b="1" dirty="0"/>
              <a:t> </a:t>
            </a:r>
            <a:r>
              <a:rPr lang="ru-RU" b="1" dirty="0" err="1"/>
              <a:t>батьківського</a:t>
            </a:r>
            <a:r>
              <a:rPr lang="ru-RU" b="1" dirty="0"/>
              <a:t> </a:t>
            </a:r>
            <a:r>
              <a:rPr lang="ru-RU" b="1" dirty="0" err="1"/>
              <a:t>класу</a:t>
            </a:r>
            <a:r>
              <a:rPr lang="ru-RU" b="1" dirty="0"/>
              <a:t> </a:t>
            </a:r>
            <a:r>
              <a:rPr lang="ru-RU" b="1" dirty="0" err="1"/>
              <a:t>успадковуються</a:t>
            </a:r>
            <a:r>
              <a:rPr lang="ru-RU" b="1" dirty="0"/>
              <a:t> </a:t>
            </a:r>
            <a:r>
              <a:rPr lang="ru-RU" b="1" dirty="0" err="1"/>
              <a:t>дочірнім</a:t>
            </a:r>
            <a:r>
              <a:rPr lang="ru-RU" b="1" dirty="0"/>
              <a:t> </a:t>
            </a:r>
            <a:r>
              <a:rPr lang="ru-RU" b="1" dirty="0" err="1"/>
              <a:t>класом</a:t>
            </a:r>
            <a:endParaRPr lang="da-DK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8482" y="2060848"/>
            <a:ext cx="892899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class Dog extends Animal {}</a:t>
            </a:r>
          </a:p>
          <a:p>
            <a:r>
              <a:rPr lang="en-US" b="1" dirty="0"/>
              <a:t>class Cat extends Animal {}</a:t>
            </a:r>
          </a:p>
          <a:p>
            <a:endParaRPr lang="en-US" b="1" dirty="0"/>
          </a:p>
          <a:p>
            <a:r>
              <a:rPr lang="en-US" b="1" dirty="0"/>
              <a:t>const d = new Dog("Pluto");</a:t>
            </a:r>
          </a:p>
          <a:p>
            <a:r>
              <a:rPr lang="en-US" b="1" dirty="0"/>
              <a:t>const c = new Cat("Tom");</a:t>
            </a:r>
          </a:p>
          <a:p>
            <a:endParaRPr lang="en-US" b="1" dirty="0"/>
          </a:p>
          <a:p>
            <a:r>
              <a:rPr lang="en-US" b="1" dirty="0" err="1"/>
              <a:t>d.getInfo</a:t>
            </a:r>
            <a:r>
              <a:rPr lang="en-US" b="1" dirty="0"/>
              <a:t>();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 Pluto</a:t>
            </a:r>
          </a:p>
          <a:p>
            <a:r>
              <a:rPr lang="en-US" b="1" dirty="0" err="1"/>
              <a:t>c.getInfo</a:t>
            </a:r>
            <a:r>
              <a:rPr lang="en-US" b="1" dirty="0"/>
              <a:t>(); </a:t>
            </a:r>
            <a:r>
              <a:rPr lang="en-US" b="1" i="1" dirty="0">
                <a:solidFill>
                  <a:schemeClr val="bg1">
                    <a:lumMod val="65000"/>
                  </a:schemeClr>
                </a:solidFill>
              </a:rPr>
              <a:t>//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 Tom</a:t>
            </a:r>
            <a:endParaRPr lang="da-DK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15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34044"/>
            <a:ext cx="8928992" cy="64633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class </a:t>
            </a:r>
            <a:r>
              <a:rPr lang="da-DK" b="1" dirty="0">
                <a:solidFill>
                  <a:schemeClr val="accent2"/>
                </a:solidFill>
              </a:rPr>
              <a:t>Animal</a:t>
            </a:r>
            <a:r>
              <a:rPr lang="da-DK" b="1" dirty="0"/>
              <a:t> {</a:t>
            </a:r>
          </a:p>
          <a:p>
            <a:r>
              <a:rPr lang="da-DK" b="1" dirty="0"/>
              <a:t>  constructor(name) {</a:t>
            </a:r>
          </a:p>
          <a:p>
            <a:r>
              <a:rPr lang="da-DK" b="1" dirty="0"/>
              <a:t>    this.name = name;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  getInfo() {</a:t>
            </a:r>
          </a:p>
          <a:p>
            <a:r>
              <a:rPr lang="da-DK" b="1" dirty="0"/>
              <a:t>    console.log(this.name + ", voice: " + </a:t>
            </a:r>
            <a:r>
              <a:rPr lang="da-DK" b="1" dirty="0">
                <a:solidFill>
                  <a:srgbClr val="0070C0"/>
                </a:solidFill>
              </a:rPr>
              <a:t>this.voice()</a:t>
            </a:r>
            <a:r>
              <a:rPr lang="da-DK" b="1" dirty="0"/>
              <a:t>);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  </a:t>
            </a:r>
            <a:r>
              <a:rPr lang="da-DK" b="1" dirty="0">
                <a:solidFill>
                  <a:srgbClr val="0070C0"/>
                </a:solidFill>
              </a:rPr>
              <a:t>voice() {}</a:t>
            </a:r>
            <a:r>
              <a:rPr lang="da-DK" b="1" dirty="0"/>
              <a:t> </a:t>
            </a:r>
            <a:r>
              <a:rPr lang="da-DK" b="1" i="1" dirty="0">
                <a:solidFill>
                  <a:schemeClr val="bg1">
                    <a:lumMod val="65000"/>
                  </a:schemeClr>
                </a:solidFill>
              </a:rPr>
              <a:t>// abstract method must be overriden in subclasses</a:t>
            </a:r>
          </a:p>
          <a:p>
            <a:r>
              <a:rPr lang="da-DK" b="1" dirty="0"/>
              <a:t>}</a:t>
            </a:r>
          </a:p>
          <a:p>
            <a:r>
              <a:rPr lang="da-DK" b="1" dirty="0"/>
              <a:t>class </a:t>
            </a:r>
            <a:r>
              <a:rPr lang="da-DK" b="1" dirty="0">
                <a:solidFill>
                  <a:srgbClr val="002060"/>
                </a:solidFill>
              </a:rPr>
              <a:t>Dog</a:t>
            </a:r>
            <a:r>
              <a:rPr lang="da-DK" b="1" dirty="0"/>
              <a:t> extends </a:t>
            </a:r>
            <a:r>
              <a:rPr lang="da-DK" b="1" dirty="0">
                <a:solidFill>
                  <a:schemeClr val="accent2"/>
                </a:solidFill>
              </a:rPr>
              <a:t>Animal</a:t>
            </a:r>
            <a:r>
              <a:rPr lang="da-DK" b="1" dirty="0"/>
              <a:t> {</a:t>
            </a:r>
          </a:p>
          <a:p>
            <a:r>
              <a:rPr lang="da-DK" b="1" dirty="0"/>
              <a:t>  </a:t>
            </a:r>
            <a:r>
              <a:rPr lang="da-DK" b="1" dirty="0">
                <a:solidFill>
                  <a:srgbClr val="0070C0"/>
                </a:solidFill>
              </a:rPr>
              <a:t>voice</a:t>
            </a:r>
            <a:r>
              <a:rPr lang="da-DK" b="1" dirty="0"/>
              <a:t>() {</a:t>
            </a:r>
          </a:p>
          <a:p>
            <a:r>
              <a:rPr lang="da-DK" b="1" dirty="0"/>
              <a:t>    return "Woff";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}</a:t>
            </a:r>
          </a:p>
          <a:p>
            <a:r>
              <a:rPr lang="da-DK" b="1" dirty="0"/>
              <a:t>class </a:t>
            </a:r>
            <a:r>
              <a:rPr lang="da-DK" b="1" dirty="0">
                <a:solidFill>
                  <a:srgbClr val="002060"/>
                </a:solidFill>
              </a:rPr>
              <a:t>Cat</a:t>
            </a:r>
            <a:r>
              <a:rPr lang="da-DK" b="1" dirty="0"/>
              <a:t> extends </a:t>
            </a:r>
            <a:r>
              <a:rPr lang="da-DK" b="1" dirty="0">
                <a:solidFill>
                  <a:schemeClr val="accent2"/>
                </a:solidFill>
              </a:rPr>
              <a:t>Animal</a:t>
            </a:r>
            <a:r>
              <a:rPr lang="da-DK" b="1" dirty="0"/>
              <a:t> {</a:t>
            </a:r>
          </a:p>
          <a:p>
            <a:r>
              <a:rPr lang="da-DK" b="1" dirty="0"/>
              <a:t>  </a:t>
            </a:r>
            <a:r>
              <a:rPr lang="da-DK" b="1" dirty="0">
                <a:solidFill>
                  <a:srgbClr val="0070C0"/>
                </a:solidFill>
              </a:rPr>
              <a:t>voice</a:t>
            </a:r>
            <a:r>
              <a:rPr lang="da-DK" b="1" dirty="0"/>
              <a:t>() {</a:t>
            </a:r>
          </a:p>
          <a:p>
            <a:r>
              <a:rPr lang="da-DK" b="1" dirty="0"/>
              <a:t>    return "Miau";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}</a:t>
            </a:r>
          </a:p>
          <a:p>
            <a:r>
              <a:rPr lang="da-DK" b="1" dirty="0"/>
              <a:t>const d = new </a:t>
            </a:r>
            <a:r>
              <a:rPr lang="da-DK" b="1" dirty="0">
                <a:solidFill>
                  <a:srgbClr val="002060"/>
                </a:solidFill>
              </a:rPr>
              <a:t>Dog</a:t>
            </a:r>
            <a:r>
              <a:rPr lang="da-DK" b="1" dirty="0"/>
              <a:t>("Pluto");</a:t>
            </a:r>
          </a:p>
          <a:p>
            <a:r>
              <a:rPr lang="da-DK" b="1" dirty="0"/>
              <a:t>const c = new </a:t>
            </a:r>
            <a:r>
              <a:rPr lang="da-DK" b="1" dirty="0">
                <a:solidFill>
                  <a:srgbClr val="002060"/>
                </a:solidFill>
              </a:rPr>
              <a:t>Cat</a:t>
            </a:r>
            <a:r>
              <a:rPr lang="da-DK" b="1" dirty="0"/>
              <a:t>("Tom");</a:t>
            </a:r>
          </a:p>
          <a:p>
            <a:r>
              <a:rPr lang="da-DK" b="1" dirty="0"/>
              <a:t>d.getInfo();</a:t>
            </a:r>
          </a:p>
          <a:p>
            <a:r>
              <a:rPr lang="da-DK" b="1" dirty="0"/>
              <a:t>c.getInfo();</a:t>
            </a:r>
            <a:endParaRPr lang="da-DK" b="1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938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07504" y="44624"/>
            <a:ext cx="8928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uk-UA" b="1" dirty="0"/>
              <a:t>Якщо ми визначаємо в підкласі конструктор, потрібно обов'язково в ньому викликати конструктор </a:t>
            </a:r>
            <a:r>
              <a:rPr lang="en-US" b="1" dirty="0"/>
              <a:t>super </a:t>
            </a:r>
            <a:r>
              <a:rPr lang="uk-UA" b="1" dirty="0"/>
              <a:t>класу і </a:t>
            </a:r>
            <a:r>
              <a:rPr lang="uk-UA" b="1" dirty="0" err="1"/>
              <a:t>пеоєдати</a:t>
            </a:r>
            <a:r>
              <a:rPr lang="uk-UA" b="1" dirty="0"/>
              <a:t> йому всі аргументи, які він приймає.</a:t>
            </a:r>
            <a:endParaRPr lang="da-DK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1196752"/>
            <a:ext cx="8928992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class </a:t>
            </a:r>
            <a:r>
              <a:rPr lang="da-DK" b="1" dirty="0">
                <a:solidFill>
                  <a:srgbClr val="0070C0"/>
                </a:solidFill>
              </a:rPr>
              <a:t>RubberDuck</a:t>
            </a:r>
            <a:r>
              <a:rPr lang="da-DK" b="1" dirty="0"/>
              <a:t> extends </a:t>
            </a:r>
            <a:r>
              <a:rPr lang="da-DK" b="1" dirty="0">
                <a:solidFill>
                  <a:srgbClr val="C00000"/>
                </a:solidFill>
              </a:rPr>
              <a:t>Animal</a:t>
            </a:r>
            <a:r>
              <a:rPr lang="da-DK" b="1" dirty="0"/>
              <a:t> {</a:t>
            </a:r>
          </a:p>
          <a:p>
            <a:r>
              <a:rPr lang="da-DK" b="1" dirty="0"/>
              <a:t>  constructor(name, </a:t>
            </a:r>
            <a:r>
              <a:rPr lang="da-DK" b="1" dirty="0">
                <a:solidFill>
                  <a:srgbClr val="C00000"/>
                </a:solidFill>
              </a:rPr>
              <a:t>color</a:t>
            </a:r>
            <a:r>
              <a:rPr lang="da-DK" b="1" dirty="0"/>
              <a:t>) {</a:t>
            </a:r>
          </a:p>
          <a:p>
            <a:r>
              <a:rPr lang="da-DK" b="1" dirty="0"/>
              <a:t>    super(name);</a:t>
            </a:r>
          </a:p>
          <a:p>
            <a:r>
              <a:rPr lang="da-DK" b="1" dirty="0"/>
              <a:t>    this.</a:t>
            </a:r>
            <a:r>
              <a:rPr lang="da-DK" b="1" dirty="0">
                <a:solidFill>
                  <a:srgbClr val="C00000"/>
                </a:solidFill>
              </a:rPr>
              <a:t>color</a:t>
            </a:r>
            <a:r>
              <a:rPr lang="da-DK" b="1" dirty="0"/>
              <a:t> = </a:t>
            </a:r>
            <a:r>
              <a:rPr lang="da-DK" b="1" dirty="0">
                <a:solidFill>
                  <a:srgbClr val="C00000"/>
                </a:solidFill>
              </a:rPr>
              <a:t>color</a:t>
            </a:r>
            <a:r>
              <a:rPr lang="da-DK" b="1" dirty="0"/>
              <a:t>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  getInfo() {</a:t>
            </a:r>
          </a:p>
          <a:p>
            <a:r>
              <a:rPr lang="da-DK" b="1" dirty="0"/>
              <a:t>    console.log("I am " + this.name + ", color: " + this.</a:t>
            </a:r>
            <a:r>
              <a:rPr lang="da-DK" b="1" dirty="0">
                <a:solidFill>
                  <a:srgbClr val="C00000"/>
                </a:solidFill>
              </a:rPr>
              <a:t>color</a:t>
            </a:r>
            <a:r>
              <a:rPr lang="da-DK" b="1" dirty="0"/>
              <a:t>);</a:t>
            </a:r>
          </a:p>
          <a:p>
            <a:r>
              <a:rPr lang="da-DK" b="1" dirty="0"/>
              <a:t>  }</a:t>
            </a:r>
          </a:p>
          <a:p>
            <a:r>
              <a:rPr lang="da-DK" b="1" dirty="0"/>
              <a:t>}</a:t>
            </a:r>
          </a:p>
          <a:p>
            <a:endParaRPr lang="da-DK" b="1" dirty="0"/>
          </a:p>
          <a:p>
            <a:r>
              <a:rPr lang="da-DK" b="1" dirty="0"/>
              <a:t>const duck = new RubberDuck("Scrooge Mcduck");</a:t>
            </a:r>
          </a:p>
          <a:p>
            <a:endParaRPr lang="da-DK" b="1" dirty="0"/>
          </a:p>
          <a:p>
            <a:r>
              <a:rPr lang="da-DK" b="1" dirty="0"/>
              <a:t>duck.getInfo();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1245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6067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8930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6106</TotalTime>
  <Words>701</Words>
  <Application>Microsoft Office PowerPoint</Application>
  <PresentationFormat>Экран (4:3)</PresentationFormat>
  <Paragraphs>136</Paragraphs>
  <Slides>11</Slides>
  <Notes>1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Calibri</vt:lpstr>
      <vt:lpstr>Courier New</vt:lpstr>
      <vt:lpstr>Verdana</vt:lpstr>
      <vt:lpstr>Wingdings 2</vt:lpstr>
      <vt:lpstr>Wingdings 3</vt:lpstr>
      <vt:lpstr>Тема1</vt:lpstr>
      <vt:lpstr>OOP in Java Script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997</cp:revision>
  <dcterms:modified xsi:type="dcterms:W3CDTF">2022-11-05T06:06:50Z</dcterms:modified>
</cp:coreProperties>
</file>