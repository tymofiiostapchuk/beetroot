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sldIdLst>
    <p:sldId id="256" r:id="rId2"/>
    <p:sldId id="410" r:id="rId3"/>
    <p:sldId id="407" r:id="rId4"/>
    <p:sldId id="444" r:id="rId5"/>
    <p:sldId id="403" r:id="rId6"/>
    <p:sldId id="404" r:id="rId7"/>
    <p:sldId id="405" r:id="rId8"/>
    <p:sldId id="406" r:id="rId9"/>
    <p:sldId id="338" r:id="rId10"/>
    <p:sldId id="347" r:id="rId11"/>
    <p:sldId id="450" r:id="rId12"/>
    <p:sldId id="442" r:id="rId13"/>
    <p:sldId id="441" r:id="rId14"/>
    <p:sldId id="438" r:id="rId15"/>
    <p:sldId id="439" r:id="rId16"/>
    <p:sldId id="340" r:id="rId17"/>
    <p:sldId id="435" r:id="rId18"/>
    <p:sldId id="440" r:id="rId19"/>
    <p:sldId id="342" r:id="rId20"/>
    <p:sldId id="436" r:id="rId21"/>
    <p:sldId id="449" r:id="rId22"/>
    <p:sldId id="372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DFEB"/>
    <a:srgbClr val="3756F2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68" autoAdjust="0"/>
    <p:restoredTop sz="94531" autoAdjust="0"/>
  </p:normalViewPr>
  <p:slideViewPr>
    <p:cSldViewPr>
      <p:cViewPr varScale="1">
        <p:scale>
          <a:sx n="111" d="100"/>
          <a:sy n="111" d="100"/>
        </p:scale>
        <p:origin x="97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152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551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44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42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28.09.2024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etify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b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b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Closures</a:t>
            </a:r>
            <a:b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5496" y="605587"/>
            <a:ext cx="9034508" cy="2862322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обгортка</a:t>
            </a:r>
            <a:r>
              <a:rPr lang="ru-RU" dirty="0"/>
              <a:t> </a:t>
            </a:r>
            <a:r>
              <a:rPr lang="ru-RU" dirty="0" err="1"/>
              <a:t>навколо</a:t>
            </a:r>
            <a:r>
              <a:rPr lang="ru-RU" dirty="0"/>
              <a:t> коду,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в даний момент часу (</a:t>
            </a:r>
            <a:r>
              <a:rPr lang="ru-RU" dirty="0" err="1"/>
              <a:t>наприклад</a:t>
            </a:r>
            <a:r>
              <a:rPr lang="ru-RU" dirty="0"/>
              <a:t>, будь-яка </a:t>
            </a:r>
            <a:r>
              <a:rPr lang="ru-RU" dirty="0" err="1"/>
              <a:t>функція</a:t>
            </a:r>
            <a:r>
              <a:rPr lang="ru-RU" dirty="0"/>
              <a:t>).</a:t>
            </a:r>
          </a:p>
          <a:p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обгортка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код.</a:t>
            </a:r>
          </a:p>
          <a:p>
            <a:endParaRPr lang="en-US" dirty="0"/>
          </a:p>
          <a:p>
            <a:r>
              <a:rPr lang="uk-UA" dirty="0"/>
              <a:t>На етапі компіляції </a:t>
            </a:r>
            <a:r>
              <a:rPr lang="uk-UA" dirty="0" err="1"/>
              <a:t>кода</a:t>
            </a:r>
            <a:r>
              <a:rPr lang="uk-UA" dirty="0"/>
              <a:t> </a:t>
            </a:r>
            <a:r>
              <a:rPr lang="uk-UA" dirty="0" err="1"/>
              <a:t>інтерпрітатор</a:t>
            </a:r>
            <a:r>
              <a:rPr lang="uk-UA" dirty="0"/>
              <a:t> формує </a:t>
            </a:r>
            <a:r>
              <a:rPr lang="en-US" dirty="0"/>
              <a:t>scopes </a:t>
            </a:r>
            <a:r>
              <a:rPr lang="uk-UA" dirty="0"/>
              <a:t> - їх також </a:t>
            </a:r>
            <a:r>
              <a:rPr lang="uk-UA" dirty="0" err="1"/>
              <a:t>щк</a:t>
            </a:r>
            <a:r>
              <a:rPr lang="uk-UA" dirty="0"/>
              <a:t> називають </a:t>
            </a:r>
            <a:r>
              <a:rPr lang="en-US" dirty="0">
                <a:solidFill>
                  <a:srgbClr val="FF0000"/>
                </a:solidFill>
              </a:rPr>
              <a:t>lexical environment </a:t>
            </a:r>
            <a:r>
              <a:rPr lang="en-US" dirty="0">
                <a:solidFill>
                  <a:srgbClr val="002060"/>
                </a:solidFill>
              </a:rPr>
              <a:t>(</a:t>
            </a:r>
            <a:r>
              <a:rPr lang="ru-RU" dirty="0" err="1">
                <a:solidFill>
                  <a:srgbClr val="002060"/>
                </a:solidFill>
              </a:rPr>
              <a:t>лексичн</a:t>
            </a:r>
            <a:r>
              <a:rPr lang="uk-UA" dirty="0">
                <a:solidFill>
                  <a:srgbClr val="002060"/>
                </a:solidFill>
              </a:rPr>
              <a:t>і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області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У </a:t>
            </a:r>
            <a:r>
              <a:rPr lang="ru-RU" dirty="0" err="1"/>
              <a:t>коді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лексичних</a:t>
            </a:r>
            <a:r>
              <a:rPr lang="ru-RU" dirty="0"/>
              <a:t> областей. І </a:t>
            </a:r>
            <a:r>
              <a:rPr lang="ru-RU" dirty="0" err="1"/>
              <a:t>поточна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та </a:t>
            </a:r>
            <a:r>
              <a:rPr lang="ru-RU" dirty="0" err="1"/>
              <a:t>керується</a:t>
            </a:r>
            <a:r>
              <a:rPr lang="ru-RU" dirty="0"/>
              <a:t> через </a:t>
            </a:r>
            <a:r>
              <a:rPr lang="en-US" dirty="0">
                <a:solidFill>
                  <a:schemeClr val="accent2"/>
                </a:solidFill>
              </a:rPr>
              <a:t>EXECUTION CONTEXT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у свою </a:t>
            </a:r>
            <a:r>
              <a:rPr lang="ru-RU" dirty="0" err="1"/>
              <a:t>чергу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сутності</a:t>
            </a:r>
            <a:r>
              <a:rPr lang="ru-RU" dirty="0"/>
              <a:t>,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у </a:t>
            </a:r>
            <a:r>
              <a:rPr lang="ru-RU" dirty="0" err="1"/>
              <a:t>написаному</a:t>
            </a:r>
            <a:r>
              <a:rPr lang="ru-RU" dirty="0"/>
              <a:t> </a:t>
            </a:r>
            <a:r>
              <a:rPr lang="ru-RU" dirty="0" err="1"/>
              <a:t>коді</a:t>
            </a:r>
            <a:r>
              <a:rPr lang="ru-RU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80" y="107340"/>
            <a:ext cx="5760640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/>
            </a:lvl1pPr>
          </a:lstStyle>
          <a:p>
            <a:r>
              <a:rPr lang="en-US" dirty="0"/>
              <a:t>Execution content – </a:t>
            </a:r>
            <a:r>
              <a:rPr lang="ru-RU" dirty="0"/>
              <a:t>контекст </a:t>
            </a:r>
            <a:r>
              <a:rPr lang="uk-UA" dirty="0"/>
              <a:t>виконання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3508" y="4077072"/>
            <a:ext cx="9036496" cy="646331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Є </a:t>
            </a:r>
            <a:r>
              <a:rPr lang="en-US" b="1" dirty="0"/>
              <a:t>global context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[</a:t>
            </a:r>
            <a:r>
              <a:rPr lang="en-US" b="1" dirty="0" err="1">
                <a:solidFill>
                  <a:srgbClr val="C00000"/>
                </a:solidFill>
              </a:rPr>
              <a:t>globalObject</a:t>
            </a:r>
            <a:r>
              <a:rPr lang="en-US" b="1" dirty="0">
                <a:solidFill>
                  <a:srgbClr val="C00000"/>
                </a:solidFill>
              </a:rPr>
              <a:t>]</a:t>
            </a:r>
            <a:r>
              <a:rPr lang="ru-RU" b="1" dirty="0"/>
              <a:t>,</a:t>
            </a:r>
            <a:r>
              <a:rPr lang="ru-RU" dirty="0"/>
              <a:t>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розташовані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глобальні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 та </a:t>
            </a:r>
            <a:r>
              <a:rPr lang="ru-RU" dirty="0" err="1"/>
              <a:t>функції</a:t>
            </a:r>
            <a:r>
              <a:rPr lang="ru-RU" dirty="0"/>
              <a:t> – для браузера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en-US" b="1" dirty="0">
                <a:solidFill>
                  <a:srgbClr val="FF0000"/>
                </a:solidFill>
              </a:rPr>
              <a:t>window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546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771800" y="44624"/>
            <a:ext cx="3524944" cy="369332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EXECUTION CONTEXT</a:t>
            </a:r>
            <a:r>
              <a:rPr lang="ru-RU" dirty="0">
                <a:solidFill>
                  <a:schemeClr val="accent2"/>
                </a:solidFill>
              </a:rPr>
              <a:t> (</a:t>
            </a:r>
            <a:r>
              <a:rPr lang="en-US" dirty="0" err="1">
                <a:solidFill>
                  <a:schemeClr val="accent2"/>
                </a:solidFill>
              </a:rPr>
              <a:t>ExC</a:t>
            </a:r>
            <a:r>
              <a:rPr lang="ru-RU" dirty="0">
                <a:solidFill>
                  <a:schemeClr val="accent2"/>
                </a:solidFill>
              </a:rPr>
              <a:t>)</a:t>
            </a:r>
            <a:endParaRPr lang="ru-RU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107504" y="620688"/>
            <a:ext cx="8870981" cy="1944216"/>
            <a:chOff x="179512" y="1484784"/>
            <a:chExt cx="8870981" cy="1944216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179512" y="1484784"/>
              <a:ext cx="8870981" cy="1944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1"/>
              <a:r>
                <a:rPr lang="en-US" b="1" dirty="0">
                  <a:solidFill>
                    <a:schemeClr val="accent2"/>
                  </a:solidFill>
                </a:rPr>
                <a:t>Global Execution Context</a:t>
              </a:r>
            </a:p>
            <a:p>
              <a:pPr lvl="1"/>
              <a:endParaRPr lang="ru-RU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395536" y="1844346"/>
              <a:ext cx="2376264" cy="72055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</a:rPr>
                <a:t>Global Object</a:t>
              </a:r>
              <a:endParaRPr lang="ru-RU" b="1" dirty="0">
                <a:solidFill>
                  <a:schemeClr val="accent2"/>
                </a:solidFill>
              </a:endParaRPr>
            </a:p>
            <a:p>
              <a:pPr algn="ctr"/>
              <a:r>
                <a:rPr lang="ru-RU" b="1" dirty="0">
                  <a:solidFill>
                    <a:schemeClr val="accent2"/>
                  </a:solidFill>
                </a:rPr>
                <a:t>(</a:t>
              </a:r>
              <a:r>
                <a:rPr lang="en-US" b="1" dirty="0">
                  <a:solidFill>
                    <a:schemeClr val="accent2"/>
                  </a:solidFill>
                </a:rPr>
                <a:t>window</a:t>
              </a:r>
              <a:r>
                <a:rPr lang="ru-RU" b="1" dirty="0">
                  <a:solidFill>
                    <a:schemeClr val="accent2"/>
                  </a:solidFill>
                </a:rPr>
                <a:t>)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987824" y="1844824"/>
              <a:ext cx="1728192" cy="7200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</a:rPr>
                <a:t>this</a:t>
              </a:r>
              <a:endParaRPr lang="ru-RU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4928592" y="1823558"/>
              <a:ext cx="2955776" cy="7413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</a:rPr>
                <a:t>Outer Environment</a:t>
              </a:r>
              <a:endParaRPr lang="ru-RU" b="1" dirty="0">
                <a:solidFill>
                  <a:schemeClr val="accent2"/>
                </a:solidFill>
              </a:endParaRPr>
            </a:p>
            <a:p>
              <a:pPr algn="ctr"/>
              <a:r>
                <a:rPr lang="ru-RU" b="1" dirty="0">
                  <a:solidFill>
                    <a:schemeClr val="accent2"/>
                  </a:solidFill>
                </a:rPr>
                <a:t>(</a:t>
              </a:r>
              <a:r>
                <a:rPr lang="en-US" b="1" dirty="0">
                  <a:solidFill>
                    <a:schemeClr val="accent2"/>
                  </a:solidFill>
                </a:rPr>
                <a:t>null</a:t>
              </a:r>
              <a:r>
                <a:rPr lang="ru-RU" b="1" dirty="0">
                  <a:solidFill>
                    <a:schemeClr val="accent2"/>
                  </a:solidFill>
                </a:rPr>
                <a:t>)</a:t>
              </a: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2051720" y="2708920"/>
              <a:ext cx="4176464" cy="5760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err="1">
                  <a:solidFill>
                    <a:srgbClr val="002060"/>
                  </a:solidFill>
                </a:rPr>
                <a:t>виконуємий</a:t>
              </a:r>
              <a:r>
                <a:rPr lang="ru-RU" b="1" dirty="0">
                  <a:solidFill>
                    <a:srgbClr val="002060"/>
                  </a:solidFill>
                </a:rPr>
                <a:t> код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2730" y="2996952"/>
            <a:ext cx="9034508" cy="2585323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Як </a:t>
            </a:r>
            <a:r>
              <a:rPr lang="ru-RU" dirty="0" err="1"/>
              <a:t>тільки</a:t>
            </a:r>
            <a:r>
              <a:rPr lang="ru-RU" dirty="0"/>
              <a:t> ми </a:t>
            </a:r>
            <a:r>
              <a:rPr lang="ru-RU" dirty="0" err="1"/>
              <a:t>запускаємо</a:t>
            </a:r>
            <a:r>
              <a:rPr lang="ru-RU" dirty="0"/>
              <a:t>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/>
              <a:t>файл, </a:t>
            </a:r>
            <a:r>
              <a:rPr lang="ru-RU" dirty="0" err="1"/>
              <a:t>Інтерпретатор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для нас </a:t>
            </a:r>
            <a:r>
              <a:rPr lang="en-US" dirty="0" err="1">
                <a:solidFill>
                  <a:srgbClr val="C00000"/>
                </a:solidFill>
              </a:rPr>
              <a:t>GExC</a:t>
            </a:r>
            <a:r>
              <a:rPr lang="en-US" dirty="0"/>
              <a:t>, </a:t>
            </a:r>
            <a:r>
              <a:rPr lang="ru-RU" dirty="0"/>
              <a:t>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встановлює</a:t>
            </a:r>
            <a:r>
              <a:rPr lang="ru-RU" dirty="0"/>
              <a:t> </a:t>
            </a:r>
            <a:r>
              <a:rPr lang="ru-RU" dirty="0" err="1"/>
              <a:t>глобальний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window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об'єкті</a:t>
            </a:r>
            <a:r>
              <a:rPr lang="ru-RU" dirty="0"/>
              <a:t> </a:t>
            </a:r>
            <a:r>
              <a:rPr lang="ru-RU" dirty="0" err="1"/>
              <a:t>зберігаються</a:t>
            </a:r>
            <a:r>
              <a:rPr lang="ru-RU" dirty="0"/>
              <a:t> </a:t>
            </a:r>
            <a:r>
              <a:rPr lang="ru-RU" dirty="0" err="1"/>
              <a:t>сутності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для нас </a:t>
            </a:r>
            <a:r>
              <a:rPr lang="ru-RU" dirty="0" err="1"/>
              <a:t>сформував</a:t>
            </a:r>
            <a:r>
              <a:rPr lang="ru-RU" dirty="0"/>
              <a:t> </a:t>
            </a:r>
            <a:r>
              <a:rPr lang="ru-RU" dirty="0" err="1"/>
              <a:t>інтерпретатор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window </a:t>
            </a:r>
            <a:r>
              <a:rPr lang="ru-RU" dirty="0" err="1"/>
              <a:t>доступний</a:t>
            </a:r>
            <a:r>
              <a:rPr lang="ru-RU" dirty="0"/>
              <a:t> у будь-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місці</a:t>
            </a:r>
            <a:r>
              <a:rPr lang="ru-RU" dirty="0"/>
              <a:t> </a:t>
            </a:r>
            <a:r>
              <a:rPr lang="ru-RU" dirty="0" err="1"/>
              <a:t>нашої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 err="1"/>
              <a:t>Крім</a:t>
            </a:r>
            <a:r>
              <a:rPr lang="ru-RU" dirty="0"/>
              <a:t> того </a:t>
            </a:r>
            <a:r>
              <a:rPr lang="ru-RU" dirty="0" err="1"/>
              <a:t>створюється</a:t>
            </a:r>
            <a:r>
              <a:rPr lang="ru-RU" dirty="0"/>
              <a:t> </a:t>
            </a:r>
            <a:r>
              <a:rPr lang="ru-RU" dirty="0" err="1"/>
              <a:t>змінна</a:t>
            </a:r>
            <a:r>
              <a:rPr lang="ru-RU" dirty="0"/>
              <a:t> </a:t>
            </a:r>
            <a:r>
              <a:rPr lang="en-US" dirty="0">
                <a:solidFill>
                  <a:schemeClr val="accent2"/>
                </a:solidFill>
              </a:rPr>
              <a:t>this</a:t>
            </a:r>
            <a:endParaRPr lang="uk-U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47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6509" y="150885"/>
            <a:ext cx="8870981" cy="3312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/>
            <a:r>
              <a:rPr lang="en-US" b="1" dirty="0">
                <a:solidFill>
                  <a:schemeClr val="accent2"/>
                </a:solidFill>
              </a:rPr>
              <a:t>Function Execution Context</a:t>
            </a:r>
          </a:p>
          <a:p>
            <a:pPr lvl="1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575350"/>
            <a:ext cx="1728192" cy="77341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this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336304" y="552508"/>
            <a:ext cx="5404048" cy="796261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Outer Environment</a:t>
            </a:r>
            <a:endParaRPr lang="ru-RU" b="1" dirty="0">
              <a:solidFill>
                <a:schemeClr val="accent2"/>
              </a:solidFill>
            </a:endParaRPr>
          </a:p>
          <a:p>
            <a:pPr algn="ctr"/>
            <a:r>
              <a:rPr lang="ru-RU" b="1" dirty="0">
                <a:solidFill>
                  <a:srgbClr val="002060"/>
                </a:solidFill>
              </a:rPr>
              <a:t>(</a:t>
            </a:r>
            <a:r>
              <a:rPr lang="en-US" b="1" dirty="0">
                <a:solidFill>
                  <a:srgbClr val="002060"/>
                </a:solidFill>
              </a:rPr>
              <a:t>link</a:t>
            </a:r>
            <a:r>
              <a:rPr lang="ru-RU" b="1" dirty="0">
                <a:solidFill>
                  <a:srgbClr val="002060"/>
                </a:solidFill>
              </a:rPr>
              <a:t> на </a:t>
            </a:r>
            <a:r>
              <a:rPr lang="en-US" b="1" dirty="0">
                <a:solidFill>
                  <a:srgbClr val="002060"/>
                </a:solidFill>
              </a:rPr>
              <a:t>parent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LexicalScope</a:t>
            </a:r>
            <a:r>
              <a:rPr lang="ru-RU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691680" y="2564904"/>
            <a:ext cx="4176464" cy="618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rgbClr val="002060"/>
                </a:solidFill>
              </a:rPr>
              <a:t>виконуємий</a:t>
            </a:r>
            <a:r>
              <a:rPr lang="ru-RU" b="1" dirty="0">
                <a:solidFill>
                  <a:srgbClr val="002060"/>
                </a:solidFill>
              </a:rPr>
              <a:t> код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23528" y="1484784"/>
            <a:ext cx="1728192" cy="77341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name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195736" y="1484784"/>
            <a:ext cx="1728192" cy="77341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arguments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067944" y="1484784"/>
            <a:ext cx="1728192" cy="77341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length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496" y="3602047"/>
            <a:ext cx="9034508" cy="923330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arguments</a:t>
            </a:r>
            <a:r>
              <a:rPr lang="en-US" dirty="0"/>
              <a:t> – </a:t>
            </a:r>
            <a:r>
              <a:rPr lang="ru-RU" dirty="0" err="1"/>
              <a:t>колекція</a:t>
            </a:r>
            <a:r>
              <a:rPr lang="ru-RU" dirty="0"/>
              <a:t> </a:t>
            </a:r>
            <a:r>
              <a:rPr lang="ru-RU" dirty="0" err="1"/>
              <a:t>переданих</a:t>
            </a:r>
            <a:r>
              <a:rPr lang="ru-RU" dirty="0"/>
              <a:t> </a:t>
            </a:r>
            <a:r>
              <a:rPr lang="ru-RU" dirty="0" err="1"/>
              <a:t>аргументів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– </a:t>
            </a:r>
            <a:r>
              <a:rPr lang="uk-UA" dirty="0"/>
              <a:t>ім'я функції</a:t>
            </a:r>
          </a:p>
          <a:p>
            <a:r>
              <a:rPr lang="en-US" dirty="0">
                <a:solidFill>
                  <a:srgbClr val="C00000"/>
                </a:solidFill>
              </a:rPr>
              <a:t>length</a:t>
            </a:r>
            <a:r>
              <a:rPr lang="en-US" dirty="0"/>
              <a:t> – </a:t>
            </a:r>
            <a:r>
              <a:rPr lang="uk-UA" dirty="0"/>
              <a:t>кількість оголошених параметрів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629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637" y="-5317"/>
            <a:ext cx="9144000" cy="369332"/>
          </a:xfrm>
          <a:prstGeom prst="rect">
            <a:avLst/>
          </a:prstGeom>
          <a:solidFill>
            <a:srgbClr val="00206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Function invoke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383" y="516736"/>
            <a:ext cx="3141465" cy="3416320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function b(){</a:t>
            </a:r>
          </a:p>
          <a:p>
            <a:r>
              <a:rPr lang="en-US" sz="2400" dirty="0"/>
              <a:t>   ...</a:t>
            </a:r>
          </a:p>
          <a:p>
            <a:r>
              <a:rPr lang="en-US" sz="2400" dirty="0"/>
              <a:t>}</a:t>
            </a:r>
          </a:p>
          <a:p>
            <a:endParaRPr lang="ru-RU" sz="2400" dirty="0"/>
          </a:p>
          <a:p>
            <a:r>
              <a:rPr lang="en-US" sz="2400" dirty="0"/>
              <a:t>function a(){</a:t>
            </a:r>
          </a:p>
          <a:p>
            <a:r>
              <a:rPr lang="en-US" sz="2400" dirty="0"/>
              <a:t>   b();</a:t>
            </a:r>
          </a:p>
          <a:p>
            <a:r>
              <a:rPr lang="en-US" sz="2400" dirty="0"/>
              <a:t>}</a:t>
            </a:r>
            <a:endParaRPr lang="ru-RU" sz="2400" dirty="0"/>
          </a:p>
          <a:p>
            <a:endParaRPr lang="en-US" sz="2400" dirty="0"/>
          </a:p>
          <a:p>
            <a:r>
              <a:rPr lang="en-US" sz="2400" dirty="0"/>
              <a:t>a();</a:t>
            </a:r>
            <a:endParaRPr lang="ru-RU" sz="2400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3491880" y="5085184"/>
            <a:ext cx="5328592" cy="1296144"/>
            <a:chOff x="3491880" y="5085184"/>
            <a:chExt cx="5328592" cy="1296144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3491880" y="5085184"/>
              <a:ext cx="5328592" cy="1296144"/>
            </a:xfrm>
            <a:prstGeom prst="rect">
              <a:avLst/>
            </a:prstGeom>
            <a:solidFill>
              <a:srgbClr val="FF2F2F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Global Execution Context</a:t>
              </a:r>
              <a:endParaRPr lang="ru-RU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7092280" y="5805264"/>
              <a:ext cx="1584176" cy="4320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a, b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3491880" y="3300085"/>
            <a:ext cx="5328592" cy="149706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000" b="1" dirty="0">
                <a:solidFill>
                  <a:srgbClr val="C00000"/>
                </a:solidFill>
              </a:rPr>
              <a:t>()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Для </a:t>
            </a:r>
            <a:r>
              <a:rPr lang="ru-RU" sz="2000" b="1" dirty="0" err="1">
                <a:solidFill>
                  <a:schemeClr val="tx1"/>
                </a:solidFill>
              </a:rPr>
              <a:t>функції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створюється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rgbClr val="C00000"/>
                </a:solidFill>
              </a:rPr>
              <a:t>свій</a:t>
            </a:r>
            <a:endParaRPr lang="ru-RU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Execution Context, </a:t>
            </a:r>
            <a:r>
              <a:rPr lang="ru-RU" sz="2000" b="1" dirty="0" err="1">
                <a:solidFill>
                  <a:schemeClr val="tx1"/>
                </a:solidFill>
              </a:rPr>
              <a:t>тобто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rgbClr val="C00000"/>
                </a:solidFill>
              </a:rPr>
              <a:t>своя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область </a:t>
            </a:r>
            <a:r>
              <a:rPr lang="ru-RU" sz="2000" b="1" dirty="0" err="1">
                <a:solidFill>
                  <a:schemeClr val="tx1"/>
                </a:solidFill>
              </a:rPr>
              <a:t>пам'яті</a:t>
            </a:r>
            <a:r>
              <a:rPr lang="ru-RU" sz="2000" b="1" dirty="0">
                <a:solidFill>
                  <a:schemeClr val="tx1"/>
                </a:solidFill>
              </a:rPr>
              <a:t>, </a:t>
            </a:r>
            <a:r>
              <a:rPr lang="ru-RU" sz="2000" b="1" dirty="0" err="1">
                <a:solidFill>
                  <a:srgbClr val="C00000"/>
                </a:solidFill>
              </a:rPr>
              <a:t>свої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змінні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5762" y="3497062"/>
            <a:ext cx="1018253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2383" y="4005064"/>
            <a:ext cx="3141465" cy="923330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</a:t>
            </a:r>
          </a:p>
          <a:p>
            <a:r>
              <a:rPr lang="ru-RU" dirty="0" err="1"/>
              <a:t>створюється</a:t>
            </a:r>
            <a:r>
              <a:rPr lang="ru-RU" dirty="0"/>
              <a:t> </a:t>
            </a:r>
          </a:p>
          <a:p>
            <a:r>
              <a:rPr lang="en-US" dirty="0"/>
              <a:t>Execution Stack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57403" y="2348880"/>
            <a:ext cx="1018253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491880" y="1556792"/>
            <a:ext cx="5328592" cy="149706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b</a:t>
            </a:r>
            <a:r>
              <a:rPr lang="en-US" sz="2000" b="1" dirty="0">
                <a:solidFill>
                  <a:srgbClr val="C00000"/>
                </a:solidFill>
              </a:rPr>
              <a:t>()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Для </a:t>
            </a:r>
            <a:r>
              <a:rPr lang="ru-RU" sz="2000" b="1" dirty="0" err="1">
                <a:solidFill>
                  <a:schemeClr val="tx1"/>
                </a:solidFill>
              </a:rPr>
              <a:t>функцїї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2"/>
                </a:solidFill>
              </a:rPr>
              <a:t>b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створюється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accent2"/>
                </a:solidFill>
              </a:rPr>
              <a:t>свій</a:t>
            </a:r>
            <a:endParaRPr lang="ru-RU" sz="2000" b="1" dirty="0">
              <a:solidFill>
                <a:schemeClr val="accent2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Execution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Context</a:t>
            </a:r>
            <a:r>
              <a:rPr lang="ru-RU" sz="2000" b="1" dirty="0">
                <a:solidFill>
                  <a:schemeClr val="tx1"/>
                </a:solidFill>
              </a:rPr>
              <a:t>, </a:t>
            </a:r>
            <a:r>
              <a:rPr lang="ru-RU" sz="2000" b="1" dirty="0" err="1">
                <a:solidFill>
                  <a:schemeClr val="tx1"/>
                </a:solidFill>
              </a:rPr>
              <a:t>тобто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>
                <a:solidFill>
                  <a:schemeClr val="accent2"/>
                </a:solidFill>
              </a:rPr>
              <a:t>своя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область </a:t>
            </a:r>
            <a:r>
              <a:rPr lang="ru-RU" sz="2000" b="1" dirty="0" err="1">
                <a:solidFill>
                  <a:schemeClr val="tx1"/>
                </a:solidFill>
              </a:rPr>
              <a:t>пам'яті</a:t>
            </a:r>
            <a:r>
              <a:rPr lang="ru-RU" sz="2000" b="1" dirty="0">
                <a:solidFill>
                  <a:schemeClr val="tx1"/>
                </a:solidFill>
              </a:rPr>
              <a:t>, </a:t>
            </a:r>
            <a:r>
              <a:rPr lang="ru-RU" sz="2000" b="1" dirty="0" err="1">
                <a:solidFill>
                  <a:schemeClr val="accent2"/>
                </a:solidFill>
              </a:rPr>
              <a:t>свої</a:t>
            </a:r>
            <a:r>
              <a:rPr lang="ru-RU" sz="2000" b="1" dirty="0">
                <a:solidFill>
                  <a:schemeClr val="tx1"/>
                </a:solidFill>
              </a:rPr>
              <a:t> </a:t>
            </a:r>
            <a:r>
              <a:rPr lang="ru-RU" sz="2000" b="1" dirty="0" err="1">
                <a:solidFill>
                  <a:schemeClr val="tx1"/>
                </a:solidFill>
              </a:rPr>
              <a:t>змінні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0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5" grpId="0" animBg="1"/>
      <p:bldP spid="5" grpId="1" animBg="1"/>
      <p:bldP spid="12" grpId="0" animBg="1"/>
      <p:bldP spid="13" grpId="0" animBg="1"/>
      <p:bldP spid="13" grpId="1" animBg="1"/>
      <p:bldP spid="14" grpId="0" animBg="1"/>
      <p:bldP spid="1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2383" y="188640"/>
            <a:ext cx="3141465" cy="4524315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let d;</a:t>
            </a:r>
            <a:endParaRPr lang="ru-RU" sz="2400" dirty="0"/>
          </a:p>
          <a:p>
            <a:endParaRPr lang="en-US" sz="2400" dirty="0"/>
          </a:p>
          <a:p>
            <a:r>
              <a:rPr lang="en-US" sz="2400" dirty="0"/>
              <a:t>function b(){</a:t>
            </a:r>
          </a:p>
          <a:p>
            <a:r>
              <a:rPr lang="en-US" sz="2400" dirty="0"/>
              <a:t>   let d;</a:t>
            </a:r>
          </a:p>
          <a:p>
            <a:r>
              <a:rPr lang="en-US" sz="2400" dirty="0"/>
              <a:t>}</a:t>
            </a:r>
          </a:p>
          <a:p>
            <a:endParaRPr lang="ru-RU" sz="2400" dirty="0"/>
          </a:p>
          <a:p>
            <a:r>
              <a:rPr lang="en-US" sz="2400" dirty="0"/>
              <a:t>function a(){</a:t>
            </a:r>
          </a:p>
          <a:p>
            <a:r>
              <a:rPr lang="en-US" sz="2400" dirty="0"/>
              <a:t>  b();</a:t>
            </a:r>
          </a:p>
          <a:p>
            <a:r>
              <a:rPr lang="en-US" sz="2400" dirty="0"/>
              <a:t>  let c;</a:t>
            </a:r>
          </a:p>
          <a:p>
            <a:r>
              <a:rPr lang="en-US" sz="2400" dirty="0"/>
              <a:t>}</a:t>
            </a:r>
            <a:endParaRPr lang="ru-RU" sz="2400" dirty="0"/>
          </a:p>
          <a:p>
            <a:endParaRPr lang="en-US" sz="2400" dirty="0"/>
          </a:p>
          <a:p>
            <a:r>
              <a:rPr lang="en-US" sz="2400" dirty="0"/>
              <a:t>a();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2441" y="4203375"/>
            <a:ext cx="1018253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79512" y="3137630"/>
            <a:ext cx="1557289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491880" y="548680"/>
            <a:ext cx="5328592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b()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6948264" y="1088740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d;</a:t>
            </a:r>
            <a:endParaRPr lang="ru-RU" b="1" dirty="0">
              <a:solidFill>
                <a:schemeClr val="tx1"/>
              </a:solidFill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3491880" y="3068960"/>
            <a:ext cx="5328592" cy="1296144"/>
            <a:chOff x="3491880" y="5085184"/>
            <a:chExt cx="5328592" cy="1296144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3491880" y="5085184"/>
              <a:ext cx="5328592" cy="1296144"/>
              <a:chOff x="3491880" y="5073309"/>
              <a:chExt cx="5328592" cy="1296144"/>
            </a:xfrm>
          </p:grpSpPr>
          <p:sp>
            <p:nvSpPr>
              <p:cNvPr id="20" name="Прямоугольник 19"/>
              <p:cNvSpPr/>
              <p:nvPr/>
            </p:nvSpPr>
            <p:spPr>
              <a:xfrm>
                <a:off x="3491880" y="5073309"/>
                <a:ext cx="5328592" cy="1296144"/>
              </a:xfrm>
              <a:prstGeom prst="rect">
                <a:avLst/>
              </a:prstGeom>
              <a:solidFill>
                <a:srgbClr val="FF2F2F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Global Execution Context</a:t>
                </a:r>
                <a:endParaRPr lang="ru-RU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Прямоугольник 20"/>
              <p:cNvSpPr/>
              <p:nvPr/>
            </p:nvSpPr>
            <p:spPr>
              <a:xfrm>
                <a:off x="5868144" y="5741383"/>
                <a:ext cx="1584176" cy="4320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F -&gt; a, b</a:t>
                </a:r>
                <a:endParaRPr lang="ru-RU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Прямоугольник 21"/>
            <p:cNvSpPr/>
            <p:nvPr/>
          </p:nvSpPr>
          <p:spPr>
            <a:xfrm>
              <a:off x="3923928" y="5753258"/>
              <a:ext cx="1584176" cy="4320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var</a:t>
              </a:r>
              <a:r>
                <a:rPr lang="en-US" b="1" dirty="0">
                  <a:solidFill>
                    <a:schemeClr val="tx1"/>
                  </a:solidFill>
                </a:rPr>
                <a:t> d;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Прямоугольник 23"/>
          <p:cNvSpPr/>
          <p:nvPr/>
        </p:nvSpPr>
        <p:spPr>
          <a:xfrm>
            <a:off x="3491880" y="1772816"/>
            <a:ext cx="5328592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a()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6804248" y="2269433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c;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153460" y="2711104"/>
            <a:ext cx="1557289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598402" y="1304764"/>
            <a:ext cx="1557289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29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5" grpId="0" animBg="1"/>
      <p:bldP spid="15" grpId="1" animBg="1"/>
      <p:bldP spid="14" grpId="0" animBg="1"/>
      <p:bldP spid="14" grpId="1" animBg="1"/>
      <p:bldP spid="17" grpId="0" animBg="1"/>
      <p:bldP spid="17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637" y="-5317"/>
            <a:ext cx="9144000" cy="369332"/>
          </a:xfrm>
          <a:prstGeom prst="rect">
            <a:avLst/>
          </a:prstGeom>
          <a:solidFill>
            <a:srgbClr val="00206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Function Execution context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83" y="642168"/>
            <a:ext cx="3141465" cy="4154984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function b(){</a:t>
            </a:r>
          </a:p>
          <a:p>
            <a:r>
              <a:rPr lang="en-US" sz="2400" dirty="0"/>
              <a:t>   let a;</a:t>
            </a:r>
          </a:p>
          <a:p>
            <a:r>
              <a:rPr lang="en-US" sz="2400" dirty="0"/>
              <a:t>}</a:t>
            </a:r>
          </a:p>
          <a:p>
            <a:endParaRPr lang="ru-RU" sz="2400" dirty="0"/>
          </a:p>
          <a:p>
            <a:r>
              <a:rPr lang="en-US" sz="2400" dirty="0"/>
              <a:t>function a(){</a:t>
            </a:r>
          </a:p>
          <a:p>
            <a:r>
              <a:rPr lang="en-US" sz="2400" dirty="0"/>
              <a:t>   let a = 2;</a:t>
            </a:r>
          </a:p>
          <a:p>
            <a:r>
              <a:rPr lang="en-US" sz="2400" dirty="0"/>
              <a:t>   b();</a:t>
            </a:r>
          </a:p>
          <a:p>
            <a:r>
              <a:rPr lang="en-US" sz="2400" dirty="0"/>
              <a:t>}</a:t>
            </a:r>
            <a:endParaRPr lang="ru-RU" sz="2400" dirty="0"/>
          </a:p>
          <a:p>
            <a:endParaRPr lang="en-US" sz="2400" dirty="0"/>
          </a:p>
          <a:p>
            <a:r>
              <a:rPr lang="en-US" sz="2400" dirty="0"/>
              <a:t>let a = 1;</a:t>
            </a:r>
          </a:p>
          <a:p>
            <a:r>
              <a:rPr lang="en-US" sz="2400" dirty="0"/>
              <a:t>a();</a:t>
            </a:r>
            <a:endParaRPr lang="ru-RU" sz="2400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3491880" y="3861048"/>
            <a:ext cx="5328592" cy="1296144"/>
            <a:chOff x="3491880" y="5073309"/>
            <a:chExt cx="5328592" cy="1296144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3491880" y="5073309"/>
              <a:ext cx="5328592" cy="1296144"/>
            </a:xfrm>
            <a:prstGeom prst="rect">
              <a:avLst/>
            </a:prstGeom>
            <a:solidFill>
              <a:srgbClr val="FF2F2F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Global Execution Context</a:t>
              </a:r>
              <a:endParaRPr lang="ru-RU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868144" y="5741383"/>
              <a:ext cx="1584176" cy="4320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Fn</a:t>
              </a:r>
              <a:r>
                <a:rPr lang="en-US" b="1" dirty="0">
                  <a:solidFill>
                    <a:schemeClr val="tx1"/>
                  </a:solidFill>
                </a:rPr>
                <a:t> -&gt; a, b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3923928" y="4529122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a = 1;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2383" y="3944094"/>
            <a:ext cx="2088232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59714" y="1091254"/>
            <a:ext cx="1534729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23750" y="4373033"/>
            <a:ext cx="1304020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491880" y="2636912"/>
            <a:ext cx="5328592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a()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654330" y="2525413"/>
            <a:ext cx="2088232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7092280" y="3185098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a = 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86288" y="2913907"/>
            <a:ext cx="1177400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491880" y="1412776"/>
            <a:ext cx="5328592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b()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5724128" y="1949087"/>
            <a:ext cx="295232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a = undefined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985" y="5445224"/>
            <a:ext cx="9034508" cy="1200329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Для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створюється</a:t>
            </a:r>
            <a:r>
              <a:rPr lang="ru-RU" dirty="0"/>
              <a:t> своя область </a:t>
            </a:r>
            <a:r>
              <a:rPr lang="ru-RU" dirty="0" err="1"/>
              <a:t>пам'яті</a:t>
            </a:r>
            <a:r>
              <a:rPr lang="ru-RU" dirty="0"/>
              <a:t>,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.</a:t>
            </a:r>
          </a:p>
          <a:p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завершення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ця</a:t>
            </a:r>
            <a:r>
              <a:rPr lang="ru-RU" dirty="0"/>
              <a:t> область </a:t>
            </a:r>
            <a:r>
              <a:rPr lang="ru-RU" dirty="0" err="1"/>
              <a:t>пам'яті</a:t>
            </a:r>
            <a:r>
              <a:rPr lang="ru-RU" dirty="0"/>
              <a:t> </a:t>
            </a:r>
            <a:r>
              <a:rPr lang="ru-RU" dirty="0" err="1"/>
              <a:t>очищається</a:t>
            </a:r>
            <a:r>
              <a:rPr lang="ru-RU" dirty="0"/>
              <a:t>, і </a:t>
            </a:r>
            <a:r>
              <a:rPr lang="ru-RU" dirty="0" err="1"/>
              <a:t>змінні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</a:t>
            </a:r>
            <a:r>
              <a:rPr lang="ru-RU" dirty="0" err="1"/>
              <a:t>знищуються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925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637" y="-5317"/>
            <a:ext cx="9144000" cy="369332"/>
          </a:xfrm>
          <a:prstGeom prst="rect">
            <a:avLst/>
          </a:prstGeom>
          <a:solidFill>
            <a:srgbClr val="002060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Function Execution context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83" y="642168"/>
            <a:ext cx="4653633" cy="4893647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function b(){</a:t>
            </a:r>
          </a:p>
          <a:p>
            <a:r>
              <a:rPr lang="en-US" sz="2400" dirty="0"/>
              <a:t> console.log(a);</a:t>
            </a:r>
          </a:p>
          <a:p>
            <a:r>
              <a:rPr lang="en-US" sz="2400" dirty="0"/>
              <a:t>}</a:t>
            </a:r>
          </a:p>
          <a:p>
            <a:endParaRPr lang="ru-RU" sz="2400" dirty="0"/>
          </a:p>
          <a:p>
            <a:r>
              <a:rPr lang="en-US" sz="2400" dirty="0"/>
              <a:t>function a(){</a:t>
            </a:r>
          </a:p>
          <a:p>
            <a:r>
              <a:rPr lang="en-US" sz="2400" dirty="0"/>
              <a:t> let a = 2;</a:t>
            </a:r>
          </a:p>
          <a:p>
            <a:r>
              <a:rPr lang="en-US" sz="2400" dirty="0"/>
              <a:t> console.log(a);</a:t>
            </a:r>
          </a:p>
          <a:p>
            <a:r>
              <a:rPr lang="en-US" sz="2400" dirty="0"/>
              <a:t>  b();</a:t>
            </a:r>
          </a:p>
          <a:p>
            <a:r>
              <a:rPr lang="en-US" sz="2400" dirty="0"/>
              <a:t>}</a:t>
            </a:r>
            <a:endParaRPr lang="ru-RU" sz="2400" dirty="0"/>
          </a:p>
          <a:p>
            <a:endParaRPr lang="en-US" sz="2400" dirty="0"/>
          </a:p>
          <a:p>
            <a:r>
              <a:rPr lang="en-US" sz="2400" dirty="0"/>
              <a:t>let a = 1;</a:t>
            </a:r>
          </a:p>
          <a:p>
            <a:r>
              <a:rPr lang="en-US" sz="2400" dirty="0"/>
              <a:t>console.log(a);</a:t>
            </a:r>
          </a:p>
          <a:p>
            <a:r>
              <a:rPr lang="en-US" sz="2400" dirty="0"/>
              <a:t>a();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076056" y="3861048"/>
            <a:ext cx="3744416" cy="1296144"/>
          </a:xfrm>
          <a:prstGeom prst="rect">
            <a:avLst/>
          </a:prstGeom>
          <a:solidFill>
            <a:srgbClr val="FF2F2F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bg1"/>
                </a:solidFill>
              </a:rPr>
              <a:t>  Global </a:t>
            </a:r>
            <a:r>
              <a:rPr lang="en-US" sz="2400" b="1" dirty="0" err="1">
                <a:solidFill>
                  <a:schemeClr val="bg1"/>
                </a:solidFill>
              </a:rPr>
              <a:t>ExContext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092280" y="4529122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Fn</a:t>
            </a:r>
            <a:r>
              <a:rPr lang="en-US" b="1" dirty="0">
                <a:solidFill>
                  <a:schemeClr val="tx1"/>
                </a:solidFill>
              </a:rPr>
              <a:t> -&gt; a, b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7504" y="4683489"/>
            <a:ext cx="2808312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91542" y="4263479"/>
            <a:ext cx="1994143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5076056" y="2636912"/>
            <a:ext cx="3744416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a()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218430" y="1052736"/>
            <a:ext cx="2913410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7103984" y="3176972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a = 2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35496" y="5041630"/>
            <a:ext cx="1177400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076056" y="1412776"/>
            <a:ext cx="3744416" cy="1080120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b()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5220072" y="4509120"/>
            <a:ext cx="1584176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a = 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73519" y="4651973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2"/>
                </a:solidFill>
              </a:rPr>
              <a:t>// 1</a:t>
            </a:r>
            <a:endParaRPr lang="ru-RU" sz="2400" b="1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26715" y="102311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2"/>
                </a:solidFill>
              </a:rPr>
              <a:t>// 1</a:t>
            </a:r>
            <a:endParaRPr lang="ru-RU" sz="2400" b="1" dirty="0">
              <a:solidFill>
                <a:schemeClr val="accent2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240881" y="2485056"/>
            <a:ext cx="2088232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251520" y="2896490"/>
            <a:ext cx="2880320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2961551" y="2852936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2"/>
                </a:solidFill>
              </a:rPr>
              <a:t>// 2</a:t>
            </a:r>
            <a:endParaRPr lang="ru-RU" sz="2400" b="1" dirty="0">
              <a:solidFill>
                <a:schemeClr val="accent2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269509" y="3256530"/>
            <a:ext cx="1278155" cy="388494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/>
          <p:cNvSpPr txBox="1"/>
          <p:nvPr/>
        </p:nvSpPr>
        <p:spPr>
          <a:xfrm>
            <a:off x="15985" y="5661248"/>
            <a:ext cx="9034508" cy="923330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звернутися</a:t>
            </a:r>
            <a:r>
              <a:rPr lang="ru-RU" dirty="0"/>
              <a:t> до </a:t>
            </a:r>
            <a:r>
              <a:rPr lang="ru-RU" dirty="0" err="1"/>
              <a:t>змінної</a:t>
            </a:r>
            <a:r>
              <a:rPr lang="ru-RU" dirty="0"/>
              <a:t>, яка не </a:t>
            </a:r>
            <a:r>
              <a:rPr lang="ru-RU" dirty="0" err="1"/>
              <a:t>визначена</a:t>
            </a:r>
            <a:r>
              <a:rPr lang="ru-RU" dirty="0"/>
              <a:t> в поточному </a:t>
            </a:r>
            <a:r>
              <a:rPr lang="en-US" dirty="0" err="1">
                <a:solidFill>
                  <a:srgbClr val="C00000"/>
                </a:solidFill>
              </a:rPr>
              <a:t>LexicalContext</a:t>
            </a:r>
            <a:r>
              <a:rPr lang="en-US" dirty="0"/>
              <a:t>, </a:t>
            </a:r>
            <a:r>
              <a:rPr lang="ru-RU" dirty="0"/>
              <a:t>то вона </a:t>
            </a:r>
            <a:r>
              <a:rPr lang="ru-RU" dirty="0" err="1"/>
              <a:t>шукатиметься</a:t>
            </a:r>
            <a:r>
              <a:rPr lang="ru-RU" dirty="0"/>
              <a:t> по </a:t>
            </a:r>
            <a:r>
              <a:rPr lang="ru-RU" dirty="0" err="1"/>
              <a:t>ланцюжку</a:t>
            </a:r>
            <a:r>
              <a:rPr lang="ru-RU" dirty="0"/>
              <a:t> в </a:t>
            </a:r>
            <a:r>
              <a:rPr lang="en-US" dirty="0">
                <a:solidFill>
                  <a:srgbClr val="0070C0"/>
                </a:solidFill>
              </a:rPr>
              <a:t>parent</a:t>
            </a:r>
            <a:r>
              <a:rPr lang="ru-RU" dirty="0"/>
              <a:t> </a:t>
            </a:r>
            <a:r>
              <a:rPr lang="en-US" dirty="0" err="1">
                <a:solidFill>
                  <a:srgbClr val="C00000"/>
                </a:solidFill>
              </a:rPr>
              <a:t>LexicalContexts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626003-D16D-7561-6880-262645750B5B}"/>
              </a:ext>
            </a:extLst>
          </p:cNvPr>
          <p:cNvSpPr/>
          <p:nvPr/>
        </p:nvSpPr>
        <p:spPr>
          <a:xfrm>
            <a:off x="5076056" y="3194974"/>
            <a:ext cx="3744416" cy="57606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console.log()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30CAA4-EA2C-376A-9E87-C85CF3FE3465}"/>
              </a:ext>
            </a:extLst>
          </p:cNvPr>
          <p:cNvSpPr/>
          <p:nvPr/>
        </p:nvSpPr>
        <p:spPr>
          <a:xfrm>
            <a:off x="5077416" y="1882894"/>
            <a:ext cx="3744416" cy="57606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console.log()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D34352-0AB9-4471-3FE0-F619CC276E32}"/>
              </a:ext>
            </a:extLst>
          </p:cNvPr>
          <p:cNvSpPr/>
          <p:nvPr/>
        </p:nvSpPr>
        <p:spPr>
          <a:xfrm>
            <a:off x="5076056" y="777028"/>
            <a:ext cx="3744416" cy="57606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console.log()</a:t>
            </a:r>
          </a:p>
        </p:txBody>
      </p:sp>
    </p:spTree>
    <p:extLst>
      <p:ext uri="{BB962C8B-B14F-4D97-AF65-F5344CB8AC3E}">
        <p14:creationId xmlns:p14="http://schemas.microsoft.com/office/powerpoint/2010/main" val="361715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4" grpId="0" animBg="1"/>
      <p:bldP spid="25" grpId="0"/>
      <p:bldP spid="26" grpId="0"/>
      <p:bldP spid="27" grpId="0" animBg="1"/>
      <p:bldP spid="27" grpId="1" animBg="1"/>
      <p:bldP spid="27" grpId="2" animBg="1"/>
      <p:bldP spid="28" grpId="0" animBg="1"/>
      <p:bldP spid="28" grpId="1" animBg="1"/>
      <p:bldP spid="29" grpId="0"/>
      <p:bldP spid="30" grpId="0" animBg="1"/>
      <p:bldP spid="30" grpId="1" animBg="1"/>
      <p:bldP spid="31" grpId="0" animBg="1"/>
      <p:bldP spid="2" grpId="0" animBg="1"/>
      <p:bldP spid="2" grpId="1" animBg="1"/>
      <p:bldP spid="3" grpId="0" animBg="1"/>
      <p:bldP spid="3" grpId="1" animBg="1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3816424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Closures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7503" y="548680"/>
            <a:ext cx="8929121" cy="1200329"/>
          </a:xfrm>
          <a:prstGeom prst="rect">
            <a:avLst/>
          </a:prstGeom>
          <a:solidFill>
            <a:srgbClr val="92D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Closure is when a function remembers its lexical environment even when the function is executed outside that lexical scope  </a:t>
            </a:r>
          </a:p>
          <a:p>
            <a:endParaRPr lang="en-US" dirty="0"/>
          </a:p>
          <a:p>
            <a:r>
              <a:rPr lang="en-US" dirty="0"/>
              <a:t>  Kyle Simpson (</a:t>
            </a:r>
            <a:r>
              <a:rPr lang="en-US" dirty="0">
                <a:hlinkClick r:id="rId2"/>
              </a:rPr>
              <a:t>https://www.linkedin.com/in/getify</a:t>
            </a:r>
            <a:r>
              <a:rPr lang="en-US" dirty="0"/>
              <a:t> 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439" y="2060848"/>
            <a:ext cx="8929121" cy="923330"/>
          </a:xfrm>
          <a:prstGeom prst="rect">
            <a:avLst/>
          </a:prstGeom>
          <a:solidFill>
            <a:srgbClr val="92D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Closures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коли </a:t>
            </a:r>
            <a:r>
              <a:rPr lang="ru-RU" dirty="0" err="1"/>
              <a:t>функція</a:t>
            </a:r>
            <a:r>
              <a:rPr lang="ru-RU" dirty="0"/>
              <a:t> "</a:t>
            </a:r>
            <a:r>
              <a:rPr lang="ru-RU" dirty="0" err="1"/>
              <a:t>запам'ятовує</a:t>
            </a:r>
            <a:r>
              <a:rPr lang="ru-RU" dirty="0"/>
              <a:t>" </a:t>
            </a:r>
            <a:r>
              <a:rPr lang="ru-RU" dirty="0" err="1"/>
              <a:t>свій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rgbClr val="0070C0"/>
                </a:solidFill>
              </a:rPr>
              <a:t>Lexical </a:t>
            </a:r>
            <a:r>
              <a:rPr lang="en-US" dirty="0" err="1">
                <a:solidFill>
                  <a:srgbClr val="0070C0"/>
                </a:solidFill>
              </a:rPr>
              <a:t>Enviroment</a:t>
            </a:r>
            <a:r>
              <a:rPr lang="en-US" dirty="0"/>
              <a:t>,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виклик</a:t>
            </a:r>
            <a:r>
              <a:rPr lang="ru-RU" dirty="0"/>
              <a:t> </a:t>
            </a:r>
            <a:r>
              <a:rPr lang="ru-RU" dirty="0" err="1"/>
              <a:t>здійснюється</a:t>
            </a:r>
            <a:r>
              <a:rPr lang="ru-RU" dirty="0"/>
              <a:t> поза межами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Lexical Scope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30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2819" y="188640"/>
            <a:ext cx="900100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function </a:t>
            </a:r>
            <a:r>
              <a:rPr lang="en-US" dirty="0" err="1"/>
              <a:t>fn</a:t>
            </a:r>
            <a:r>
              <a:rPr lang="en-US" dirty="0"/>
              <a:t>(){ </a:t>
            </a:r>
          </a:p>
          <a:p>
            <a:r>
              <a:rPr lang="en-US" dirty="0"/>
              <a:t>    return "Hello"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console.log(</a:t>
            </a:r>
            <a:r>
              <a:rPr lang="en-US" dirty="0" err="1"/>
              <a:t>fn</a:t>
            </a:r>
            <a:r>
              <a:rPr lang="en-US" dirty="0"/>
              <a:t>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19" y="1700808"/>
            <a:ext cx="9001000" cy="31393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А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що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буде,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якщо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повернути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з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функції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функцію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?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function </a:t>
            </a:r>
            <a:r>
              <a:rPr lang="en-US" dirty="0" err="1"/>
              <a:t>fn</a:t>
            </a:r>
            <a:r>
              <a:rPr lang="en-US" dirty="0"/>
              <a:t>(){</a:t>
            </a:r>
          </a:p>
          <a:p>
            <a:r>
              <a:rPr lang="en-US" dirty="0"/>
              <a:t>   return </a:t>
            </a:r>
            <a:r>
              <a:rPr lang="en-US" dirty="0">
                <a:solidFill>
                  <a:srgbClr val="0070C0"/>
                </a:solidFill>
              </a:rPr>
              <a:t>function(){</a:t>
            </a:r>
          </a:p>
          <a:p>
            <a:r>
              <a:rPr lang="en-US" dirty="0">
                <a:solidFill>
                  <a:srgbClr val="0070C0"/>
                </a:solidFill>
              </a:rPr>
              <a:t>      console.log("Hello");</a:t>
            </a:r>
          </a:p>
          <a:p>
            <a:r>
              <a:rPr lang="en-US" dirty="0">
                <a:solidFill>
                  <a:srgbClr val="0070C0"/>
                </a:solidFill>
              </a:rPr>
              <a:t>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console.log(</a:t>
            </a:r>
            <a:r>
              <a:rPr lang="en-US" dirty="0" err="1"/>
              <a:t>fn</a:t>
            </a:r>
            <a:r>
              <a:rPr lang="en-US" dirty="0"/>
              <a:t>())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тут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виведеться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код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const f = </a:t>
            </a:r>
            <a:r>
              <a:rPr lang="en-US" dirty="0" err="1"/>
              <a:t>fn</a:t>
            </a:r>
            <a:r>
              <a:rPr lang="en-US" dirty="0"/>
              <a:t>();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У константу f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зберігаємо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код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endParaRPr lang="en-US" dirty="0"/>
          </a:p>
          <a:p>
            <a:r>
              <a:rPr lang="en-US" dirty="0"/>
              <a:t>f();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Hello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24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3000" y="116632"/>
            <a:ext cx="9001000" cy="31393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А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тепер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додамо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до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зовнішньої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функції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 константу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</a:rPr>
              <a:t>name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fn</a:t>
            </a:r>
            <a:r>
              <a:rPr lang="en-US" dirty="0"/>
              <a:t>() {</a:t>
            </a:r>
          </a:p>
          <a:p>
            <a:r>
              <a:rPr lang="en-US" dirty="0"/>
              <a:t>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name</a:t>
            </a:r>
            <a:r>
              <a:rPr lang="en-US" dirty="0"/>
              <a:t> = "Bill";</a:t>
            </a:r>
          </a:p>
          <a:p>
            <a:r>
              <a:rPr lang="en-US" dirty="0"/>
              <a:t>   return </a:t>
            </a:r>
            <a:r>
              <a:rPr lang="en-US" dirty="0">
                <a:solidFill>
                  <a:srgbClr val="0070C0"/>
                </a:solidFill>
              </a:rPr>
              <a:t>function () {</a:t>
            </a:r>
          </a:p>
          <a:p>
            <a:r>
              <a:rPr lang="en-US" dirty="0">
                <a:solidFill>
                  <a:srgbClr val="0070C0"/>
                </a:solidFill>
              </a:rPr>
              <a:t>      console.log(`Hello ${</a:t>
            </a:r>
            <a:r>
              <a:rPr lang="en-US" dirty="0">
                <a:solidFill>
                  <a:schemeClr val="accent2"/>
                </a:solidFill>
              </a:rPr>
              <a:t>name</a:t>
            </a:r>
            <a:r>
              <a:rPr lang="en-US" dirty="0">
                <a:solidFill>
                  <a:srgbClr val="0070C0"/>
                </a:solidFill>
              </a:rPr>
              <a:t>}`);</a:t>
            </a:r>
          </a:p>
          <a:p>
            <a:r>
              <a:rPr lang="en-US" dirty="0">
                <a:solidFill>
                  <a:srgbClr val="0070C0"/>
                </a:solidFill>
              </a:rPr>
              <a:t>   };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const</a:t>
            </a:r>
            <a:r>
              <a:rPr lang="en-US" dirty="0"/>
              <a:t> f = </a:t>
            </a:r>
            <a:r>
              <a:rPr lang="en-US" dirty="0" err="1"/>
              <a:t>fn</a:t>
            </a:r>
            <a:r>
              <a:rPr lang="en-US" dirty="0"/>
              <a:t>();</a:t>
            </a:r>
          </a:p>
          <a:p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4149080"/>
            <a:ext cx="777686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b="1" i="1" dirty="0"/>
              <a:t>У </a:t>
            </a:r>
            <a:r>
              <a:rPr lang="ru-RU" sz="1600" b="1" i="1" dirty="0" err="1"/>
              <a:t>цій</a:t>
            </a:r>
            <a:r>
              <a:rPr lang="ru-RU" sz="1600" b="1" i="1" dirty="0"/>
              <a:t> </a:t>
            </a:r>
            <a:r>
              <a:rPr lang="ru-RU" sz="1600" b="1" i="1" dirty="0" err="1"/>
              <a:t>точці</a:t>
            </a:r>
            <a:r>
              <a:rPr lang="ru-RU" sz="1600" b="1" i="1" dirty="0"/>
              <a:t> коду </a:t>
            </a:r>
            <a:r>
              <a:rPr lang="ru-RU" sz="1600" b="1" i="1" dirty="0" err="1"/>
              <a:t>функція</a:t>
            </a:r>
            <a:r>
              <a:rPr lang="ru-RU" sz="1600" b="1" i="1" dirty="0"/>
              <a:t> </a:t>
            </a:r>
            <a:r>
              <a:rPr lang="ru-RU" sz="1600" b="1" i="1" dirty="0" err="1"/>
              <a:t>вже</a:t>
            </a:r>
            <a:r>
              <a:rPr lang="ru-RU" sz="1600" b="1" i="1" dirty="0"/>
              <a:t> </a:t>
            </a:r>
            <a:r>
              <a:rPr lang="ru-RU" sz="1600" b="1" i="1" dirty="0" err="1"/>
              <a:t>відпрацювала</a:t>
            </a:r>
            <a:r>
              <a:rPr lang="ru-RU" sz="1600" b="1" i="1" dirty="0"/>
              <a:t>, і </a:t>
            </a:r>
            <a:r>
              <a:rPr lang="ru-RU" sz="1600" b="1" i="1" dirty="0" err="1"/>
              <a:t>збирач</a:t>
            </a:r>
            <a:r>
              <a:rPr lang="ru-RU" sz="1600" b="1" i="1" dirty="0"/>
              <a:t> </a:t>
            </a:r>
            <a:r>
              <a:rPr lang="ru-RU" sz="1600" b="1" i="1" dirty="0" err="1"/>
              <a:t>сміття</a:t>
            </a:r>
            <a:r>
              <a:rPr lang="ru-RU" sz="1600" b="1" i="1" dirty="0"/>
              <a:t> повинен </a:t>
            </a:r>
            <a:r>
              <a:rPr lang="ru-RU" sz="1600" b="1" i="1" dirty="0" err="1"/>
              <a:t>знищити</a:t>
            </a:r>
            <a:r>
              <a:rPr lang="ru-RU" sz="1600" b="1" i="1" dirty="0"/>
              <a:t> </a:t>
            </a:r>
            <a:r>
              <a:rPr lang="ru-RU" sz="1600" b="1" i="1" dirty="0" err="1"/>
              <a:t>всі</a:t>
            </a:r>
            <a:r>
              <a:rPr lang="ru-RU" sz="1600" b="1" i="1" dirty="0"/>
              <a:t> </a:t>
            </a:r>
            <a:r>
              <a:rPr lang="ru-RU" sz="1600" b="1" i="1" dirty="0" err="1"/>
              <a:t>її</a:t>
            </a:r>
            <a:r>
              <a:rPr lang="ru-RU" sz="1600" b="1" i="1" dirty="0"/>
              <a:t> </a:t>
            </a:r>
            <a:r>
              <a:rPr lang="ru-RU" sz="1600" b="1" i="1" dirty="0" err="1"/>
              <a:t>локальні</a:t>
            </a:r>
            <a:r>
              <a:rPr lang="ru-RU" sz="1600" b="1" i="1" dirty="0"/>
              <a:t> </a:t>
            </a:r>
            <a:r>
              <a:rPr lang="ru-RU" sz="1600" b="1" i="1" dirty="0" err="1"/>
              <a:t>змінні</a:t>
            </a:r>
            <a:r>
              <a:rPr lang="ru-RU" sz="1600" b="1" i="1" dirty="0"/>
              <a:t> та </a:t>
            </a:r>
            <a:r>
              <a:rPr lang="ru-RU" sz="1600" b="1" i="1" dirty="0" err="1"/>
              <a:t>константи</a:t>
            </a:r>
            <a:endParaRPr lang="ru-RU" sz="1600" b="1" i="1" dirty="0"/>
          </a:p>
          <a:p>
            <a:r>
              <a:rPr lang="ru-RU" sz="1600" b="1" i="1" dirty="0"/>
              <a:t>Але так як у </a:t>
            </a:r>
            <a:r>
              <a:rPr lang="ru-RU" sz="1600" b="1" i="1" dirty="0" err="1"/>
              <a:t>константі</a:t>
            </a:r>
            <a:r>
              <a:rPr lang="ru-RU" sz="1600" b="1" i="1" dirty="0"/>
              <a:t> </a:t>
            </a:r>
            <a:r>
              <a:rPr lang="en-US" sz="1600" b="1" i="1" dirty="0"/>
              <a:t>f </a:t>
            </a:r>
            <a:r>
              <a:rPr lang="ru-RU" sz="1600" b="1" i="1" dirty="0"/>
              <a:t>у нас </a:t>
            </a:r>
            <a:r>
              <a:rPr lang="ru-RU" sz="1600" b="1" i="1" dirty="0" err="1"/>
              <a:t>зберігається</a:t>
            </a:r>
            <a:r>
              <a:rPr lang="ru-RU" sz="1600" b="1" i="1" dirty="0"/>
              <a:t> код </a:t>
            </a:r>
            <a:r>
              <a:rPr lang="ru-RU" sz="1600" b="1" i="1" dirty="0" err="1"/>
              <a:t>внутрішньої</a:t>
            </a:r>
            <a:r>
              <a:rPr lang="ru-RU" sz="1600" b="1" i="1" dirty="0"/>
              <a:t> </a:t>
            </a:r>
            <a:r>
              <a:rPr lang="ru-RU" sz="1600" b="1" i="1" dirty="0" err="1"/>
              <a:t>функції</a:t>
            </a:r>
            <a:r>
              <a:rPr lang="ru-RU" sz="1600" b="1" i="1" dirty="0"/>
              <a:t> і в </a:t>
            </a:r>
            <a:r>
              <a:rPr lang="ru-RU" sz="1600" b="1" i="1" dirty="0" err="1"/>
              <a:t>його</a:t>
            </a:r>
            <a:r>
              <a:rPr lang="ru-RU" sz="1600" b="1" i="1" dirty="0"/>
              <a:t> </a:t>
            </a:r>
            <a:r>
              <a:rPr lang="ru-RU" sz="1600" b="1" i="1" dirty="0" err="1"/>
              <a:t>коді</a:t>
            </a:r>
            <a:r>
              <a:rPr lang="ru-RU" sz="1600" b="1" i="1" dirty="0"/>
              <a:t> </a:t>
            </a:r>
            <a:r>
              <a:rPr lang="ru-RU" sz="1600" b="1" i="1" dirty="0" err="1"/>
              <a:t>використовується</a:t>
            </a:r>
            <a:r>
              <a:rPr lang="ru-RU" sz="1600" b="1" i="1" dirty="0"/>
              <a:t> константа, то вона не </a:t>
            </a:r>
            <a:r>
              <a:rPr lang="ru-RU" sz="1600" b="1" i="1" dirty="0" err="1"/>
              <a:t>знищується</a:t>
            </a:r>
            <a:r>
              <a:rPr lang="ru-RU" sz="1600" b="1" i="1" dirty="0"/>
              <a:t> </a:t>
            </a:r>
            <a:r>
              <a:rPr lang="ru-RU" sz="1600" b="1" i="1" dirty="0" err="1"/>
              <a:t>збирачем</a:t>
            </a:r>
            <a:r>
              <a:rPr lang="ru-RU" sz="1600" b="1" i="1" dirty="0"/>
              <a:t> </a:t>
            </a:r>
            <a:r>
              <a:rPr lang="ru-RU" sz="1600" b="1" i="1" dirty="0" err="1"/>
              <a:t>сміття</a:t>
            </a:r>
            <a:r>
              <a:rPr lang="ru-RU" sz="1600" b="1" i="1" dirty="0"/>
              <a:t>, а </a:t>
            </a:r>
            <a:r>
              <a:rPr lang="ru-RU" sz="1600" b="1" i="1" dirty="0" err="1"/>
              <a:t>зберігається</a:t>
            </a:r>
            <a:r>
              <a:rPr lang="ru-RU" sz="1600" b="1" i="1" dirty="0"/>
              <a:t> - </a:t>
            </a:r>
            <a:r>
              <a:rPr lang="ru-RU" sz="1600" b="1" i="1" dirty="0" err="1"/>
              <a:t>це</a:t>
            </a:r>
            <a:r>
              <a:rPr lang="ru-RU" sz="1600" b="1" i="1" dirty="0"/>
              <a:t> і є </a:t>
            </a:r>
            <a:r>
              <a:rPr lang="en-US" sz="1600" b="1" i="1" dirty="0">
                <a:solidFill>
                  <a:srgbClr val="0070C0"/>
                </a:solidFill>
              </a:rPr>
              <a:t>closure</a:t>
            </a:r>
          </a:p>
        </p:txBody>
      </p:sp>
      <p:cxnSp>
        <p:nvCxnSpPr>
          <p:cNvPr id="4" name="Прямая со стрелкой 3"/>
          <p:cNvCxnSpPr>
            <a:cxnSpLocks/>
            <a:stCxn id="2" idx="0"/>
          </p:cNvCxnSpPr>
          <p:nvPr/>
        </p:nvCxnSpPr>
        <p:spPr>
          <a:xfrm flipH="1" flipV="1">
            <a:off x="2339752" y="2492896"/>
            <a:ext cx="2736304" cy="1656184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9866" y="278092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f();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581" y="280424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 Hello Bill</a:t>
            </a:r>
          </a:p>
        </p:txBody>
      </p:sp>
    </p:spTree>
    <p:extLst>
      <p:ext uri="{BB962C8B-B14F-4D97-AF65-F5344CB8AC3E}">
        <p14:creationId xmlns:p14="http://schemas.microsoft.com/office/powerpoint/2010/main" val="269614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13654" y="21509"/>
            <a:ext cx="4509617" cy="2862322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/>
              <a:t>function outer(){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const</a:t>
            </a:r>
            <a:r>
              <a:rPr lang="en-US" sz="2000" dirty="0"/>
              <a:t> x = 5;     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    return function(){</a:t>
            </a:r>
          </a:p>
          <a:p>
            <a:r>
              <a:rPr lang="en-US" sz="2000" dirty="0"/>
              <a:t>        return x;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</a:t>
            </a:r>
            <a:endParaRPr lang="ru-RU" sz="2000" dirty="0"/>
          </a:p>
          <a:p>
            <a:r>
              <a:rPr lang="en-US" sz="2000" dirty="0"/>
              <a:t>const f = outer();</a:t>
            </a:r>
          </a:p>
          <a:p>
            <a:r>
              <a:rPr lang="en-US" sz="2000" dirty="0"/>
              <a:t>f(); 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4788024" y="2780928"/>
            <a:ext cx="4176464" cy="2268252"/>
            <a:chOff x="4788024" y="2780928"/>
            <a:chExt cx="4176464" cy="2268252"/>
          </a:xfrm>
        </p:grpSpPr>
        <p:sp>
          <p:nvSpPr>
            <p:cNvPr id="24" name="Прямоугольник 23"/>
            <p:cNvSpPr/>
            <p:nvPr/>
          </p:nvSpPr>
          <p:spPr>
            <a:xfrm>
              <a:off x="4788024" y="2780928"/>
              <a:ext cx="4176464" cy="2268252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outer()</a:t>
              </a: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4860032" y="4437112"/>
              <a:ext cx="3960440" cy="50744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function(){return x;}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Прямоугольник 19"/>
          <p:cNvSpPr/>
          <p:nvPr/>
        </p:nvSpPr>
        <p:spPr>
          <a:xfrm>
            <a:off x="4860032" y="5200746"/>
            <a:ext cx="4176464" cy="13966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Global </a:t>
            </a:r>
            <a:r>
              <a:rPr lang="en-US" sz="2400" b="1" dirty="0" err="1">
                <a:solidFill>
                  <a:srgbClr val="0070C0"/>
                </a:solidFill>
              </a:rPr>
              <a:t>ExContext</a:t>
            </a:r>
            <a:endParaRPr lang="ru-RU" sz="2400" b="1" dirty="0">
              <a:solidFill>
                <a:srgbClr val="0070C0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093877" y="5733256"/>
            <a:ext cx="3726595" cy="73820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function outer(){}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const f 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6840" y="2475585"/>
            <a:ext cx="1136407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32780" y="2146347"/>
            <a:ext cx="2811028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8" name="Группа 7"/>
          <p:cNvGrpSpPr/>
          <p:nvPr/>
        </p:nvGrpSpPr>
        <p:grpSpPr>
          <a:xfrm>
            <a:off x="4644008" y="2132856"/>
            <a:ext cx="4392488" cy="2952328"/>
            <a:chOff x="4716016" y="1628800"/>
            <a:chExt cx="4392488" cy="3766193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4716016" y="1916832"/>
              <a:ext cx="4392488" cy="347816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28184" y="1628800"/>
              <a:ext cx="147508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Closure</a:t>
              </a:r>
              <a:endParaRPr lang="ru-RU" b="1" dirty="0"/>
            </a:p>
          </p:txBody>
        </p:sp>
      </p:grpSp>
      <p:sp>
        <p:nvSpPr>
          <p:cNvPr id="18" name="Прямоугольник 17"/>
          <p:cNvSpPr/>
          <p:nvPr/>
        </p:nvSpPr>
        <p:spPr>
          <a:xfrm>
            <a:off x="7004786" y="3270052"/>
            <a:ext cx="1728192" cy="50744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x = 5;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084966" y="5715135"/>
            <a:ext cx="3726595" cy="73820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function outer(){}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 = function inner(){}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820184" y="3969786"/>
            <a:ext cx="4144304" cy="10433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rgbClr val="0070C0"/>
                </a:solidFill>
              </a:rPr>
              <a:t>f() 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</a:rPr>
              <a:t>return x;</a:t>
            </a:r>
          </a:p>
        </p:txBody>
      </p:sp>
      <p:cxnSp>
        <p:nvCxnSpPr>
          <p:cNvPr id="12" name="Прямая со стрелкой 11"/>
          <p:cNvCxnSpPr>
            <a:cxnSpLocks/>
          </p:cNvCxnSpPr>
          <p:nvPr/>
        </p:nvCxnSpPr>
        <p:spPr>
          <a:xfrm flipV="1">
            <a:off x="7380312" y="3683614"/>
            <a:ext cx="216024" cy="70482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54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5" grpId="0" animBg="1"/>
      <p:bldP spid="19" grpId="0" animBg="1"/>
      <p:bldP spid="19" grpId="1" animBg="1"/>
      <p:bldP spid="18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547664" y="30103"/>
            <a:ext cx="6552728" cy="3046988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function greet(</a:t>
            </a:r>
            <a:r>
              <a:rPr lang="en-US" sz="2400" dirty="0">
                <a:solidFill>
                  <a:schemeClr val="accent2"/>
                </a:solidFill>
              </a:rPr>
              <a:t>say</a:t>
            </a:r>
            <a:r>
              <a:rPr lang="en-US" sz="2400" dirty="0"/>
              <a:t>){</a:t>
            </a:r>
          </a:p>
          <a:p>
            <a:r>
              <a:rPr lang="en-US" sz="2400" dirty="0"/>
              <a:t>     return function(</a:t>
            </a:r>
            <a:r>
              <a:rPr lang="en-US" sz="2400" dirty="0">
                <a:solidFill>
                  <a:srgbClr val="0070C0"/>
                </a:solidFill>
              </a:rPr>
              <a:t>name</a:t>
            </a:r>
            <a:r>
              <a:rPr lang="en-US" sz="2400" dirty="0"/>
              <a:t>){</a:t>
            </a:r>
          </a:p>
          <a:p>
            <a:r>
              <a:rPr lang="en-US" sz="2400" dirty="0"/>
              <a:t>        print(</a:t>
            </a:r>
            <a:r>
              <a:rPr lang="en-US" sz="2400" dirty="0">
                <a:solidFill>
                  <a:schemeClr val="accent2"/>
                </a:solidFill>
              </a:rPr>
              <a:t>say</a:t>
            </a:r>
            <a:r>
              <a:rPr lang="en-US" sz="2400" dirty="0"/>
              <a:t> + " " + </a:t>
            </a:r>
            <a:r>
              <a:rPr lang="en-US" sz="2400" dirty="0">
                <a:solidFill>
                  <a:srgbClr val="0070C0"/>
                </a:solidFill>
              </a:rPr>
              <a:t>name</a:t>
            </a:r>
            <a:r>
              <a:rPr lang="en-US" sz="2400" dirty="0"/>
              <a:t>);</a:t>
            </a:r>
          </a:p>
          <a:p>
            <a:r>
              <a:rPr lang="en-US" sz="2400" dirty="0"/>
              <a:t>     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sayHi</a:t>
            </a:r>
            <a:r>
              <a:rPr lang="en-US" sz="2400" dirty="0"/>
              <a:t> = greet(</a:t>
            </a:r>
            <a:r>
              <a:rPr lang="en-US" sz="2400" dirty="0">
                <a:solidFill>
                  <a:schemeClr val="accent2"/>
                </a:solidFill>
              </a:rPr>
              <a:t>'Hi'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sayHi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'</a:t>
            </a:r>
            <a:r>
              <a:rPr lang="en-US" sz="2400" dirty="0" err="1">
                <a:solidFill>
                  <a:srgbClr val="0070C0"/>
                </a:solidFill>
              </a:rPr>
              <a:t>Tomy</a:t>
            </a:r>
            <a:r>
              <a:rPr lang="en-US" sz="2400" dirty="0">
                <a:solidFill>
                  <a:srgbClr val="0070C0"/>
                </a:solidFill>
              </a:rPr>
              <a:t>'</a:t>
            </a:r>
            <a:r>
              <a:rPr lang="en-US" sz="2400" dirty="0"/>
              <a:t>);</a:t>
            </a:r>
            <a:endParaRPr lang="ru-R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72008" y="3429000"/>
            <a:ext cx="8964488" cy="2923877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sz="2000" dirty="0"/>
              <a:t>У </a:t>
            </a:r>
            <a:r>
              <a:rPr lang="ru-RU" sz="2000" dirty="0" err="1"/>
              <a:t>цьому</a:t>
            </a:r>
            <a:r>
              <a:rPr lang="ru-RU" sz="2000" dirty="0"/>
              <a:t> </a:t>
            </a:r>
            <a:r>
              <a:rPr lang="ru-RU" sz="2000" dirty="0" err="1"/>
              <a:t>місці</a:t>
            </a:r>
            <a:r>
              <a:rPr lang="ru-RU" sz="2000" dirty="0"/>
              <a:t> </a:t>
            </a:r>
            <a:r>
              <a:rPr lang="ru-RU" sz="2000" dirty="0" err="1"/>
              <a:t>програми</a:t>
            </a:r>
            <a:r>
              <a:rPr lang="ru-RU" sz="2000" dirty="0"/>
              <a:t> </a:t>
            </a:r>
            <a:r>
              <a:rPr lang="ru-RU" sz="2000" dirty="0" err="1"/>
              <a:t>функція</a:t>
            </a:r>
            <a:r>
              <a:rPr lang="ru-RU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greet()</a:t>
            </a:r>
            <a:r>
              <a:rPr lang="en-US" sz="2000" dirty="0"/>
              <a:t> </a:t>
            </a:r>
            <a:r>
              <a:rPr lang="ru-RU" sz="2000" dirty="0" err="1"/>
              <a:t>вже</a:t>
            </a:r>
            <a:r>
              <a:rPr lang="ru-RU" sz="2000" dirty="0"/>
              <a:t> </a:t>
            </a:r>
            <a:r>
              <a:rPr lang="ru-RU" sz="2000" dirty="0" err="1"/>
              <a:t>відпрацювала</a:t>
            </a:r>
            <a:r>
              <a:rPr lang="ru-RU" sz="2000" dirty="0"/>
              <a:t>, і </a:t>
            </a:r>
            <a:r>
              <a:rPr lang="ru-RU" sz="2000" dirty="0" err="1"/>
              <a:t>її</a:t>
            </a:r>
            <a:r>
              <a:rPr lang="ru-RU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Execution Context</a:t>
            </a:r>
            <a:r>
              <a:rPr lang="en-US" sz="2000" dirty="0"/>
              <a:t> </a:t>
            </a:r>
            <a:r>
              <a:rPr lang="ru-RU" sz="2000" dirty="0" err="1"/>
              <a:t>має</a:t>
            </a:r>
            <a:r>
              <a:rPr lang="ru-RU" sz="2000" dirty="0"/>
              <a:t> бути </a:t>
            </a:r>
            <a:r>
              <a:rPr lang="ru-RU" sz="2000" dirty="0" err="1"/>
              <a:t>вже</a:t>
            </a:r>
            <a:r>
              <a:rPr lang="ru-RU" sz="2000" dirty="0"/>
              <a:t> </a:t>
            </a:r>
            <a:r>
              <a:rPr lang="ru-RU" sz="2000" dirty="0" err="1"/>
              <a:t>знищено</a:t>
            </a:r>
            <a:r>
              <a:rPr lang="ru-RU" sz="2000" dirty="0"/>
              <a:t>, </a:t>
            </a:r>
            <a:r>
              <a:rPr lang="ru-RU" sz="2000" dirty="0" err="1"/>
              <a:t>включаючи</a:t>
            </a:r>
            <a:r>
              <a:rPr lang="ru-RU" sz="2000" dirty="0"/>
              <a:t> </a:t>
            </a:r>
            <a:r>
              <a:rPr lang="ru-RU" sz="2000" dirty="0" err="1"/>
              <a:t>переданий</a:t>
            </a:r>
            <a:r>
              <a:rPr lang="ru-RU" sz="2000" dirty="0"/>
              <a:t> </a:t>
            </a:r>
            <a:r>
              <a:rPr lang="ru-RU" sz="2000" dirty="0" err="1"/>
              <a:t>їй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час </a:t>
            </a:r>
            <a:r>
              <a:rPr lang="ru-RU" sz="2000" dirty="0" err="1"/>
              <a:t>виклику</a:t>
            </a:r>
            <a:r>
              <a:rPr lang="ru-RU" sz="2000" dirty="0"/>
              <a:t> аргумент </a:t>
            </a:r>
            <a:r>
              <a:rPr lang="en-US" sz="2400" dirty="0">
                <a:solidFill>
                  <a:schemeClr val="accent2"/>
                </a:solidFill>
              </a:rPr>
              <a:t>say</a:t>
            </a:r>
            <a:r>
              <a:rPr lang="en-US" sz="2000" dirty="0"/>
              <a:t> </a:t>
            </a:r>
            <a:r>
              <a:rPr lang="ru-RU" sz="2000" dirty="0"/>
              <a:t>– строку </a:t>
            </a:r>
            <a:r>
              <a:rPr lang="en-US" sz="2400" dirty="0">
                <a:solidFill>
                  <a:schemeClr val="accent2"/>
                </a:solidFill>
              </a:rPr>
              <a:t>'Hi'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І в </a:t>
            </a:r>
            <a:r>
              <a:rPr lang="ru-RU" sz="2000" dirty="0" err="1"/>
              <a:t>точці</a:t>
            </a:r>
            <a:r>
              <a:rPr lang="ru-RU" sz="2000" dirty="0"/>
              <a:t> </a:t>
            </a:r>
            <a:r>
              <a:rPr lang="ru-RU" sz="2000" dirty="0" err="1"/>
              <a:t>виклику</a:t>
            </a:r>
            <a:r>
              <a:rPr lang="ru-RU" sz="2000" dirty="0"/>
              <a:t> </a:t>
            </a:r>
            <a:r>
              <a:rPr lang="ru-RU" sz="2000" dirty="0" err="1"/>
              <a:t>функції</a:t>
            </a:r>
            <a:r>
              <a:rPr lang="ru-RU" sz="2000" dirty="0"/>
              <a:t> </a:t>
            </a:r>
            <a:r>
              <a:rPr lang="en-US" sz="2000" dirty="0" err="1">
                <a:solidFill>
                  <a:srgbClr val="C00000"/>
                </a:solidFill>
              </a:rPr>
              <a:t>sayHi</a:t>
            </a:r>
            <a:r>
              <a:rPr lang="en-US" sz="2000" dirty="0">
                <a:solidFill>
                  <a:srgbClr val="C00000"/>
                </a:solidFill>
              </a:rPr>
              <a:t>()</a:t>
            </a:r>
            <a:r>
              <a:rPr lang="en-US" sz="2000" dirty="0"/>
              <a:t> </a:t>
            </a:r>
            <a:r>
              <a:rPr lang="ru-RU" sz="2000" dirty="0" err="1"/>
              <a:t>цієї</a:t>
            </a:r>
            <a:r>
              <a:rPr lang="ru-RU" sz="2000" dirty="0"/>
              <a:t> </a:t>
            </a:r>
            <a:r>
              <a:rPr lang="ru-RU" sz="2000" dirty="0" err="1"/>
              <a:t>змінної</a:t>
            </a:r>
            <a:r>
              <a:rPr lang="ru-RU" sz="2000" dirty="0"/>
              <a:t> бути не повинно, але вона </a:t>
            </a:r>
            <a:r>
              <a:rPr lang="ru-RU" sz="2000" dirty="0" err="1"/>
              <a:t>була</a:t>
            </a:r>
            <a:r>
              <a:rPr lang="ru-RU" sz="2000" dirty="0"/>
              <a:t> </a:t>
            </a:r>
            <a:r>
              <a:rPr lang="ru-RU" sz="2000" dirty="0" err="1"/>
              <a:t>знищена</a:t>
            </a:r>
            <a:r>
              <a:rPr lang="ru-RU" sz="2000" dirty="0"/>
              <a:t> і доступна в </a:t>
            </a:r>
            <a:r>
              <a:rPr lang="ru-RU" sz="2000" dirty="0" err="1"/>
              <a:t>функції</a:t>
            </a:r>
            <a:r>
              <a:rPr lang="ru-RU" sz="2000" dirty="0"/>
              <a:t> </a:t>
            </a:r>
            <a:r>
              <a:rPr lang="en-US" sz="2000" dirty="0" err="1">
                <a:solidFill>
                  <a:srgbClr val="C00000"/>
                </a:solidFill>
              </a:rPr>
              <a:t>sayHi</a:t>
            </a:r>
            <a:r>
              <a:rPr lang="en-US" sz="2000" dirty="0">
                <a:solidFill>
                  <a:srgbClr val="C00000"/>
                </a:solidFill>
              </a:rPr>
              <a:t>()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/>
              <a:t>сталося</a:t>
            </a:r>
            <a:r>
              <a:rPr lang="ru-RU" sz="2000" dirty="0"/>
              <a:t> </a:t>
            </a:r>
            <a:r>
              <a:rPr lang="ru-RU" sz="2000" dirty="0" err="1"/>
              <a:t>завдяки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closure</a:t>
            </a:r>
            <a:r>
              <a:rPr lang="en-US" sz="2000" dirty="0"/>
              <a:t>.</a:t>
            </a:r>
            <a:r>
              <a:rPr lang="ru-RU" sz="2000" dirty="0"/>
              <a:t>  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3563888" y="2492896"/>
            <a:ext cx="2664296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678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4860032" y="3789039"/>
            <a:ext cx="4176464" cy="11161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greet("Hi")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3" y="3356991"/>
            <a:ext cx="4509617" cy="2554545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/>
              <a:t>function greet(say){</a:t>
            </a:r>
          </a:p>
          <a:p>
            <a:r>
              <a:rPr lang="en-US" sz="2000" dirty="0"/>
              <a:t>  return function(name){</a:t>
            </a:r>
          </a:p>
          <a:p>
            <a:r>
              <a:rPr lang="en-US" sz="2000" dirty="0"/>
              <a:t>    print(say + " " + name);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const </a:t>
            </a:r>
            <a:r>
              <a:rPr lang="en-US" sz="2000" dirty="0" err="1"/>
              <a:t>sayHi</a:t>
            </a:r>
            <a:r>
              <a:rPr lang="en-US" sz="2000" dirty="0"/>
              <a:t> = greet('Hi');</a:t>
            </a:r>
          </a:p>
          <a:p>
            <a:r>
              <a:rPr lang="en-US" sz="2000" dirty="0" err="1"/>
              <a:t>sayHi</a:t>
            </a:r>
            <a:r>
              <a:rPr lang="en-US" sz="2000" dirty="0"/>
              <a:t>('</a:t>
            </a:r>
            <a:r>
              <a:rPr lang="en-US" sz="2000" dirty="0" err="1"/>
              <a:t>Tomy</a:t>
            </a:r>
            <a:r>
              <a:rPr lang="en-US" sz="2000" dirty="0"/>
              <a:t>');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7370" y="5151378"/>
            <a:ext cx="4092581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893715" y="2699759"/>
            <a:ext cx="4144304" cy="1008112"/>
          </a:xfrm>
          <a:prstGeom prst="rect">
            <a:avLst/>
          </a:prstGeom>
          <a:solidFill>
            <a:srgbClr val="ABDFEB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sayHi</a:t>
            </a:r>
            <a:r>
              <a:rPr lang="en-US" sz="2000" b="1" dirty="0">
                <a:solidFill>
                  <a:schemeClr val="tx1"/>
                </a:solidFill>
              </a:rPr>
              <a:t>('</a:t>
            </a:r>
            <a:r>
              <a:rPr lang="en-US" sz="2000" b="1" dirty="0" err="1">
                <a:solidFill>
                  <a:schemeClr val="tx1"/>
                </a:solidFill>
              </a:rPr>
              <a:t>Tomy</a:t>
            </a:r>
            <a:r>
              <a:rPr lang="en-US" sz="2000" b="1" dirty="0">
                <a:solidFill>
                  <a:schemeClr val="tx1"/>
                </a:solidFill>
              </a:rPr>
              <a:t>')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6844097" y="4346231"/>
            <a:ext cx="2160240" cy="4534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say = 'Hi'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860032" y="5151378"/>
            <a:ext cx="4176464" cy="15899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Global </a:t>
            </a:r>
            <a:r>
              <a:rPr lang="en-US" sz="2400" b="1" dirty="0" err="1">
                <a:solidFill>
                  <a:schemeClr val="tx1"/>
                </a:solidFill>
              </a:rPr>
              <a:t>ExContext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004048" y="5517233"/>
            <a:ext cx="3856274" cy="11521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function greet(){}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sayHi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07504" y="5541740"/>
            <a:ext cx="2376264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5796136" y="3147261"/>
            <a:ext cx="2776153" cy="4534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name = '</a:t>
            </a:r>
            <a:r>
              <a:rPr lang="en-US" b="1" dirty="0" err="1">
                <a:solidFill>
                  <a:schemeClr val="tx1"/>
                </a:solidFill>
              </a:rPr>
              <a:t>Tomy</a:t>
            </a:r>
            <a:r>
              <a:rPr lang="en-US" b="1" dirty="0">
                <a:solidFill>
                  <a:schemeClr val="tx1"/>
                </a:solidFill>
              </a:rPr>
              <a:t>'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39552" y="3976610"/>
            <a:ext cx="3960440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0910" y="44624"/>
            <a:ext cx="845616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/>
              <a:t>Коли </a:t>
            </a:r>
            <a:r>
              <a:rPr lang="ru-RU" b="1" dirty="0" err="1"/>
              <a:t>виконується</a:t>
            </a:r>
            <a:r>
              <a:rPr lang="ru-RU" b="1" dirty="0"/>
              <a:t> </a:t>
            </a:r>
            <a:r>
              <a:rPr lang="uk-UA" b="1" dirty="0" err="1"/>
              <a:t>строка</a:t>
            </a:r>
            <a:r>
              <a:rPr lang="ru-RU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print(say + " " + name)</a:t>
            </a:r>
            <a:r>
              <a:rPr lang="en-US" b="1" dirty="0"/>
              <a:t> </a:t>
            </a:r>
            <a:r>
              <a:rPr lang="ru-RU" b="1" dirty="0" err="1"/>
              <a:t>інтепретатор</a:t>
            </a:r>
            <a:endParaRPr lang="ru-RU" b="1" dirty="0"/>
          </a:p>
          <a:p>
            <a:r>
              <a:rPr lang="ru-RU" b="1" dirty="0" err="1"/>
              <a:t>починає</a:t>
            </a:r>
            <a:r>
              <a:rPr lang="ru-RU" b="1" dirty="0"/>
              <a:t> </a:t>
            </a:r>
            <a:r>
              <a:rPr lang="ru-RU" b="1" dirty="0" err="1"/>
              <a:t>шукати</a:t>
            </a:r>
            <a:r>
              <a:rPr lang="ru-RU" b="1" dirty="0"/>
              <a:t> </a:t>
            </a:r>
            <a:r>
              <a:rPr lang="ru-RU" b="1" dirty="0" err="1"/>
              <a:t>змінну</a:t>
            </a:r>
            <a:r>
              <a:rPr lang="ru-RU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say</a:t>
            </a:r>
            <a:r>
              <a:rPr lang="ru-RU" b="1" dirty="0"/>
              <a:t>  - по шляху </a:t>
            </a:r>
            <a:r>
              <a:rPr lang="en-US" b="1" dirty="0" err="1">
                <a:solidFill>
                  <a:srgbClr val="0070C0"/>
                </a:solidFill>
              </a:rPr>
              <a:t>LexicalEnviroment</a:t>
            </a:r>
            <a:r>
              <a:rPr lang="ru-RU" b="1" dirty="0"/>
              <a:t>,</a:t>
            </a:r>
            <a:endParaRPr lang="en-US" b="1" dirty="0"/>
          </a:p>
          <a:p>
            <a:r>
              <a:rPr lang="ru-RU" b="1" dirty="0" err="1"/>
              <a:t>тобто</a:t>
            </a:r>
            <a:r>
              <a:rPr lang="ru-RU" b="1" dirty="0"/>
              <a:t> в </a:t>
            </a:r>
            <a:r>
              <a:rPr lang="en-US" b="1" dirty="0"/>
              <a:t>parent </a:t>
            </a:r>
            <a:r>
              <a:rPr lang="ru-RU" b="1" dirty="0" err="1"/>
              <a:t>області</a:t>
            </a:r>
            <a:r>
              <a:rPr lang="ru-RU" b="1" dirty="0"/>
              <a:t>. Та </a:t>
            </a:r>
            <a:r>
              <a:rPr lang="ru-RU" b="1" dirty="0" err="1"/>
              <a:t>завдяки</a:t>
            </a:r>
            <a:r>
              <a:rPr lang="ru-RU" b="1" dirty="0"/>
              <a:t> </a:t>
            </a:r>
            <a:r>
              <a:rPr lang="en-US" b="1" i="1" dirty="0">
                <a:solidFill>
                  <a:schemeClr val="accent2"/>
                </a:solidFill>
              </a:rPr>
              <a:t>closure</a:t>
            </a:r>
            <a:r>
              <a:rPr lang="ru-RU" b="1" dirty="0"/>
              <a:t> </a:t>
            </a:r>
            <a:r>
              <a:rPr lang="ru-RU" b="1" dirty="0" err="1"/>
              <a:t>змінна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say</a:t>
            </a:r>
            <a:r>
              <a:rPr lang="en-US" b="1" dirty="0"/>
              <a:t> </a:t>
            </a:r>
            <a:endParaRPr lang="uk-UA" b="1" dirty="0"/>
          </a:p>
          <a:p>
            <a:r>
              <a:rPr lang="ru-RU" b="1" i="1" dirty="0">
                <a:solidFill>
                  <a:schemeClr val="accent2"/>
                </a:solidFill>
              </a:rPr>
              <a:t>не </a:t>
            </a:r>
            <a:r>
              <a:rPr lang="ru-RU" b="1" i="1" dirty="0" err="1">
                <a:solidFill>
                  <a:schemeClr val="accent2"/>
                </a:solidFill>
              </a:rPr>
              <a:t>була</a:t>
            </a:r>
            <a:r>
              <a:rPr lang="ru-RU" b="1" i="1" dirty="0">
                <a:solidFill>
                  <a:schemeClr val="accent2"/>
                </a:solidFill>
              </a:rPr>
              <a:t> </a:t>
            </a:r>
            <a:r>
              <a:rPr lang="ru-RU" b="1" i="1" dirty="0" err="1">
                <a:solidFill>
                  <a:schemeClr val="accent2"/>
                </a:solidFill>
              </a:rPr>
              <a:t>знищенна</a:t>
            </a:r>
            <a:r>
              <a:rPr lang="ru-RU" b="1" dirty="0"/>
              <a:t>.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4211960" y="1244953"/>
            <a:ext cx="0" cy="273165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/>
          <p:cNvGrpSpPr/>
          <p:nvPr/>
        </p:nvGrpSpPr>
        <p:grpSpPr>
          <a:xfrm>
            <a:off x="4704141" y="2132856"/>
            <a:ext cx="4392488" cy="2880320"/>
            <a:chOff x="4716016" y="1628800"/>
            <a:chExt cx="4392488" cy="3766193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4716016" y="1916832"/>
              <a:ext cx="4392488" cy="3478161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28184" y="1628800"/>
              <a:ext cx="147508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Closure</a:t>
              </a:r>
              <a:endParaRPr lang="ru-RU" b="1" dirty="0"/>
            </a:p>
          </p:txBody>
        </p:sp>
      </p:grpSp>
      <p:sp>
        <p:nvSpPr>
          <p:cNvPr id="18" name="Прямоугольник 17"/>
          <p:cNvSpPr/>
          <p:nvPr/>
        </p:nvSpPr>
        <p:spPr>
          <a:xfrm>
            <a:off x="5004048" y="5516047"/>
            <a:ext cx="3856273" cy="115331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function greet(){}</a:t>
            </a:r>
          </a:p>
          <a:p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b="1" dirty="0" err="1">
                <a:solidFill>
                  <a:schemeClr val="tx1"/>
                </a:solidFill>
              </a:rPr>
              <a:t>sayHi</a:t>
            </a:r>
            <a:r>
              <a:rPr lang="en-US" b="1" dirty="0">
                <a:solidFill>
                  <a:schemeClr val="tx1"/>
                </a:solidFill>
              </a:rPr>
              <a:t> = function(name){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 print(say + " " + name)</a:t>
            </a:r>
          </a:p>
          <a:p>
            <a:r>
              <a:rPr lang="en-US" b="1" dirty="0">
                <a:solidFill>
                  <a:schemeClr val="tx1"/>
                </a:solidFill>
              </a:rPr>
              <a:t>  }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37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5" grpId="0" animBg="1"/>
      <p:bldP spid="5" grpId="1" animBg="1"/>
      <p:bldP spid="14" grpId="0" animBg="1"/>
      <p:bldP spid="17" grpId="0" animBg="1"/>
      <p:bldP spid="15" grpId="0" animBg="1"/>
      <p:bldP spid="16" grpId="0" animBg="1"/>
      <p:bldP spid="19" grpId="0" animBg="1"/>
      <p:bldP spid="2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4716017" y="3429000"/>
            <a:ext cx="4176464" cy="165618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buildFunc</a:t>
            </a:r>
            <a:r>
              <a:rPr lang="en-US" sz="2400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25" y="442407"/>
            <a:ext cx="4283451" cy="5016758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/>
              <a:t>function </a:t>
            </a:r>
            <a:r>
              <a:rPr lang="en-US" sz="2000" dirty="0" err="1"/>
              <a:t>buildFunc</a:t>
            </a:r>
            <a:r>
              <a:rPr lang="en-US" sz="2000" dirty="0"/>
              <a:t>(){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const</a:t>
            </a:r>
            <a:r>
              <a:rPr lang="en-US" sz="2000" dirty="0"/>
              <a:t> </a:t>
            </a:r>
            <a:r>
              <a:rPr lang="en-US" sz="2000" dirty="0" err="1"/>
              <a:t>arr</a:t>
            </a:r>
            <a:r>
              <a:rPr lang="en-US" sz="2000" dirty="0"/>
              <a:t> = [];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r>
              <a:rPr lang="en-US" sz="2000" dirty="0"/>
              <a:t>  </a:t>
            </a:r>
            <a:r>
              <a:rPr lang="en-US" sz="2000" dirty="0">
                <a:solidFill>
                  <a:srgbClr val="0070C0"/>
                </a:solidFill>
              </a:rPr>
              <a:t>for(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>
                <a:solidFill>
                  <a:srgbClr val="0070C0"/>
                </a:solidFill>
              </a:rPr>
              <a:t>=0;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>
                <a:solidFill>
                  <a:srgbClr val="0070C0"/>
                </a:solidFill>
              </a:rPr>
              <a:t> &lt; 3;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>
                <a:solidFill>
                  <a:srgbClr val="0070C0"/>
                </a:solidFill>
              </a:rPr>
              <a:t>++) 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arr.push</a:t>
            </a:r>
            <a:r>
              <a:rPr lang="en-US" sz="2000" dirty="0"/>
              <a:t>(function (){</a:t>
            </a:r>
          </a:p>
          <a:p>
            <a:r>
              <a:rPr lang="en-US" sz="2000" dirty="0"/>
              <a:t>         print(</a:t>
            </a:r>
            <a:r>
              <a:rPr lang="en-US" sz="2000" dirty="0" err="1"/>
              <a:t>i</a:t>
            </a:r>
            <a:r>
              <a:rPr lang="en-US" sz="2000" dirty="0"/>
              <a:t>);</a:t>
            </a:r>
          </a:p>
          <a:p>
            <a:r>
              <a:rPr lang="en-US" sz="2000" dirty="0"/>
              <a:t>      });</a:t>
            </a:r>
          </a:p>
          <a:p>
            <a:r>
              <a:rPr lang="en-US" sz="2000" dirty="0"/>
              <a:t>  </a:t>
            </a:r>
            <a:r>
              <a:rPr lang="en-US" sz="2000" dirty="0">
                <a:solidFill>
                  <a:srgbClr val="0070C0"/>
                </a:solidFill>
              </a:rPr>
              <a:t>}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return </a:t>
            </a:r>
            <a:r>
              <a:rPr lang="en-US" sz="2000" dirty="0" err="1"/>
              <a:t>arr</a:t>
            </a:r>
            <a:r>
              <a:rPr lang="en-US" sz="2000" dirty="0"/>
              <a:t>;	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let fs = </a:t>
            </a:r>
            <a:r>
              <a:rPr lang="en-US" sz="2000" dirty="0" err="1"/>
              <a:t>buildFunc</a:t>
            </a:r>
            <a:r>
              <a:rPr lang="en-US" sz="2000" dirty="0"/>
              <a:t>();</a:t>
            </a:r>
          </a:p>
          <a:p>
            <a:endParaRPr lang="en-US" sz="2000" dirty="0"/>
          </a:p>
          <a:p>
            <a:r>
              <a:rPr lang="en-US" sz="2000" dirty="0"/>
              <a:t>fs[0]();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// 3</a:t>
            </a:r>
          </a:p>
          <a:p>
            <a:r>
              <a:rPr lang="en-US" sz="2000" dirty="0"/>
              <a:t>fs[1]();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// 3</a:t>
            </a:r>
            <a:endParaRPr lang="en-US" sz="2000" dirty="0"/>
          </a:p>
          <a:p>
            <a:r>
              <a:rPr lang="en-US" sz="2000" dirty="0"/>
              <a:t>fs[2]();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// 3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4016" y="3477221"/>
            <a:ext cx="3491880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7020272" y="4271703"/>
            <a:ext cx="1872208" cy="59745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arr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[f0,f1,f2]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716016" y="5157192"/>
            <a:ext cx="4176464" cy="1152128"/>
          </a:xfrm>
          <a:prstGeom prst="rect">
            <a:avLst/>
          </a:prstGeom>
          <a:solidFill>
            <a:srgbClr val="FF2F2F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Global </a:t>
            </a:r>
            <a:r>
              <a:rPr lang="en-US" sz="2400" b="1" dirty="0" err="1">
                <a:solidFill>
                  <a:schemeClr val="bg1"/>
                </a:solidFill>
              </a:rPr>
              <a:t>ExContext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338921" y="5589240"/>
            <a:ext cx="3280209" cy="6480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function </a:t>
            </a:r>
            <a:r>
              <a:rPr lang="en-US" b="1" dirty="0" err="1">
                <a:solidFill>
                  <a:schemeClr val="tx1"/>
                </a:solidFill>
              </a:rPr>
              <a:t>buildFunc</a:t>
            </a:r>
            <a:r>
              <a:rPr lang="en-US" b="1" dirty="0">
                <a:solidFill>
                  <a:schemeClr val="tx1"/>
                </a:solidFill>
              </a:rPr>
              <a:t>(){}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5652120" y="4271703"/>
            <a:ext cx="1080120" cy="59745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i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55737" y="4113081"/>
            <a:ext cx="1319919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4716017" y="1700808"/>
            <a:ext cx="4144304" cy="1584175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Execution Context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652120" y="2204864"/>
            <a:ext cx="2592288" cy="394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fs[0</a:t>
            </a:r>
            <a:r>
              <a:rPr lang="en-US" sz="2800" b="1" dirty="0">
                <a:solidFill>
                  <a:schemeClr val="bg1"/>
                </a:solidFill>
              </a:rPr>
              <a:t>]()</a:t>
            </a:r>
            <a:endParaRPr lang="ru-RU" sz="28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652120" y="2204864"/>
            <a:ext cx="2592288" cy="394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fs[1</a:t>
            </a:r>
            <a:r>
              <a:rPr lang="en-US" sz="2800" b="1" dirty="0">
                <a:solidFill>
                  <a:schemeClr val="bg1"/>
                </a:solidFill>
              </a:rPr>
              <a:t>]()</a:t>
            </a:r>
            <a:endParaRPr lang="ru-RU" sz="2800" dirty="0"/>
          </a:p>
        </p:txBody>
      </p:sp>
      <p:grpSp>
        <p:nvGrpSpPr>
          <p:cNvPr id="10" name="Группа 9"/>
          <p:cNvGrpSpPr/>
          <p:nvPr/>
        </p:nvGrpSpPr>
        <p:grpSpPr>
          <a:xfrm>
            <a:off x="841072" y="1700808"/>
            <a:ext cx="3154864" cy="986334"/>
            <a:chOff x="841072" y="1700808"/>
            <a:chExt cx="3154864" cy="986334"/>
          </a:xfrm>
        </p:grpSpPr>
        <p:sp>
          <p:nvSpPr>
            <p:cNvPr id="19" name="Прямоугольник 18"/>
            <p:cNvSpPr/>
            <p:nvPr/>
          </p:nvSpPr>
          <p:spPr>
            <a:xfrm>
              <a:off x="2214250" y="1700808"/>
              <a:ext cx="1781686" cy="388494"/>
            </a:xfrm>
            <a:prstGeom prst="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841073" y="2032394"/>
              <a:ext cx="3154863" cy="369622"/>
            </a:xfrm>
            <a:prstGeom prst="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841072" y="2298648"/>
              <a:ext cx="418559" cy="388494"/>
            </a:xfrm>
            <a:prstGeom prst="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8" name="Прямоугольник 27"/>
          <p:cNvSpPr/>
          <p:nvPr/>
        </p:nvSpPr>
        <p:spPr>
          <a:xfrm>
            <a:off x="202303" y="4696690"/>
            <a:ext cx="1215065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144016" y="4376184"/>
            <a:ext cx="1331640" cy="388494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5652120" y="2204864"/>
            <a:ext cx="2592288" cy="394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fs[2</a:t>
            </a:r>
            <a:r>
              <a:rPr lang="en-US" sz="2800" b="1" dirty="0">
                <a:solidFill>
                  <a:schemeClr val="bg1"/>
                </a:solidFill>
              </a:rPr>
              <a:t>]()</a:t>
            </a:r>
            <a:endParaRPr lang="ru-RU" sz="2800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5324239" y="5580851"/>
            <a:ext cx="3280209" cy="6480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function </a:t>
            </a:r>
            <a:r>
              <a:rPr lang="en-US" b="1" dirty="0" err="1">
                <a:solidFill>
                  <a:schemeClr val="tx1"/>
                </a:solidFill>
              </a:rPr>
              <a:t>buildFunc</a:t>
            </a:r>
            <a:r>
              <a:rPr lang="en-US" b="1" dirty="0">
                <a:solidFill>
                  <a:schemeClr val="tx1"/>
                </a:solidFill>
              </a:rPr>
              <a:t>(){}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5308159" y="5566702"/>
            <a:ext cx="3280209" cy="6480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fs=function(){}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function </a:t>
            </a:r>
            <a:r>
              <a:rPr lang="en-US" b="1" dirty="0" err="1">
                <a:solidFill>
                  <a:schemeClr val="tx1"/>
                </a:solidFill>
              </a:rPr>
              <a:t>buildFunc</a:t>
            </a:r>
            <a:r>
              <a:rPr lang="en-US" b="1" dirty="0">
                <a:solidFill>
                  <a:schemeClr val="tx1"/>
                </a:solidFill>
              </a:rPr>
              <a:t>(){}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7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5" grpId="0" animBg="1"/>
      <p:bldP spid="5" grpId="1" animBg="1"/>
      <p:bldP spid="17" grpId="0" animBg="1"/>
      <p:bldP spid="18" grpId="0" animBg="1"/>
      <p:bldP spid="21" grpId="0" animBg="1"/>
      <p:bldP spid="21" grpId="1" animBg="1"/>
      <p:bldP spid="22" grpId="0" animBg="1"/>
      <p:bldP spid="3" grpId="0"/>
      <p:bldP spid="3" grpId="1"/>
      <p:bldP spid="23" grpId="0"/>
      <p:bldP spid="23" grpId="1"/>
      <p:bldP spid="28" grpId="0" animBg="1"/>
      <p:bldP spid="29" grpId="0" animBg="1"/>
      <p:bldP spid="29" grpId="1" animBg="1"/>
      <p:bldP spid="30" grpId="0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6" y="44624"/>
            <a:ext cx="9001000" cy="1477328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en-US" dirty="0">
                <a:solidFill>
                  <a:srgbClr val="FF0000"/>
                </a:solidFill>
              </a:rPr>
              <a:t> closure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включаються</a:t>
            </a:r>
            <a:r>
              <a:rPr lang="ru-RU" dirty="0">
                <a:solidFill>
                  <a:srgbClr val="FF0000"/>
                </a:solidFill>
              </a:rPr>
              <a:t> </a:t>
            </a:r>
          </a:p>
          <a:p>
            <a:r>
              <a:rPr lang="ru-RU" dirty="0"/>
              <a:t> - </a:t>
            </a:r>
            <a:r>
              <a:rPr lang="ru-RU" dirty="0" err="1"/>
              <a:t>параметри</a:t>
            </a:r>
            <a:r>
              <a:rPr lang="ru-RU" dirty="0"/>
              <a:t> </a:t>
            </a:r>
            <a:r>
              <a:rPr lang="ru-RU" dirty="0" err="1"/>
              <a:t>самої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;</a:t>
            </a:r>
          </a:p>
          <a:p>
            <a:r>
              <a:rPr lang="ru-RU" dirty="0"/>
              <a:t> -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 </a:t>
            </a:r>
            <a:r>
              <a:rPr lang="ru-RU" dirty="0" err="1"/>
              <a:t>зовнішньої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r>
              <a:rPr lang="ru-RU" dirty="0"/>
              <a:t> </a:t>
            </a:r>
            <a:r>
              <a:rPr lang="ru-RU" dirty="0" err="1"/>
              <a:t>видимості</a:t>
            </a:r>
            <a:r>
              <a:rPr lang="ru-RU" dirty="0"/>
              <a:t>,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які</a:t>
            </a:r>
            <a:endParaRPr lang="ru-RU" dirty="0"/>
          </a:p>
          <a:p>
            <a:r>
              <a:rPr lang="ru-RU" dirty="0"/>
              <a:t>   </a:t>
            </a:r>
            <a:r>
              <a:rPr lang="ru-RU" dirty="0" err="1"/>
              <a:t>були</a:t>
            </a:r>
            <a:r>
              <a:rPr lang="ru-RU" dirty="0"/>
              <a:t> </a:t>
            </a:r>
            <a:r>
              <a:rPr lang="ru-RU" dirty="0" err="1"/>
              <a:t>декларовані</a:t>
            </a:r>
            <a:r>
              <a:rPr lang="ru-RU" dirty="0"/>
              <a:t> </a:t>
            </a:r>
            <a:r>
              <a:rPr lang="ru-RU" dirty="0" err="1"/>
              <a:t>пізніше</a:t>
            </a:r>
            <a:r>
              <a:rPr lang="ru-RU" dirty="0"/>
              <a:t>;</a:t>
            </a:r>
          </a:p>
          <a:p>
            <a:r>
              <a:rPr lang="ru-RU" dirty="0"/>
              <a:t> -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визначені</a:t>
            </a:r>
            <a:r>
              <a:rPr lang="ru-RU" dirty="0"/>
              <a:t> в </a:t>
            </a:r>
            <a:r>
              <a:rPr lang="ru-RU" dirty="0" err="1"/>
              <a:t>області</a:t>
            </a:r>
            <a:r>
              <a:rPr lang="ru-RU" dirty="0"/>
              <a:t> </a:t>
            </a:r>
            <a:r>
              <a:rPr lang="ru-RU" dirty="0" err="1"/>
              <a:t>видимості</a:t>
            </a:r>
            <a:r>
              <a:rPr lang="ru-RU" dirty="0"/>
              <a:t> </a:t>
            </a:r>
            <a:r>
              <a:rPr lang="ru-RU" dirty="0" err="1"/>
              <a:t>самої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1988840"/>
            <a:ext cx="9001000" cy="4801314"/>
          </a:xfrm>
          <a:prstGeom prst="rect">
            <a:avLst/>
          </a:prstGeom>
          <a:solidFill>
            <a:srgbClr val="FFFF0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outerValue</a:t>
            </a:r>
            <a:r>
              <a:rPr lang="en-US" dirty="0">
                <a:solidFill>
                  <a:schemeClr val="accent2"/>
                </a:solidFill>
              </a:rPr>
              <a:t> = "</a:t>
            </a:r>
            <a:r>
              <a:rPr lang="en-US" dirty="0" err="1">
                <a:solidFill>
                  <a:schemeClr val="accent2"/>
                </a:solidFill>
              </a:rPr>
              <a:t>outerVal</a:t>
            </a:r>
            <a:r>
              <a:rPr lang="en-US" dirty="0">
                <a:solidFill>
                  <a:schemeClr val="accent2"/>
                </a:solidFill>
              </a:rPr>
              <a:t>"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later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outerFunction</a:t>
            </a:r>
            <a:r>
              <a:rPr lang="en-US" dirty="0"/>
              <a:t>(){</a:t>
            </a:r>
          </a:p>
          <a:p>
            <a:r>
              <a:rPr lang="en-US" dirty="0"/>
              <a:t>	</a:t>
            </a:r>
            <a:endParaRPr lang="ru-RU" dirty="0"/>
          </a:p>
          <a:p>
            <a:r>
              <a:rPr lang="ru-RU" dirty="0"/>
              <a:t>	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innerValue</a:t>
            </a:r>
            <a:r>
              <a:rPr lang="en-US" dirty="0">
                <a:solidFill>
                  <a:srgbClr val="0070C0"/>
                </a:solidFill>
              </a:rPr>
              <a:t> = "</a:t>
            </a:r>
            <a:r>
              <a:rPr lang="en-US" dirty="0" err="1">
                <a:solidFill>
                  <a:srgbClr val="0070C0"/>
                </a:solidFill>
              </a:rPr>
              <a:t>innerVal</a:t>
            </a:r>
            <a:r>
              <a:rPr lang="en-US" dirty="0">
                <a:solidFill>
                  <a:srgbClr val="0070C0"/>
                </a:solidFill>
              </a:rPr>
              <a:t>";</a:t>
            </a:r>
            <a:endParaRPr lang="ru-RU" dirty="0">
              <a:solidFill>
                <a:srgbClr val="0070C0"/>
              </a:solidFill>
            </a:endParaRPr>
          </a:p>
          <a:p>
            <a:endParaRPr lang="en-US" dirty="0"/>
          </a:p>
          <a:p>
            <a:r>
              <a:rPr lang="en-US" dirty="0"/>
              <a:t>	function </a:t>
            </a:r>
            <a:r>
              <a:rPr lang="en-US" dirty="0" err="1"/>
              <a:t>innerFunction</a:t>
            </a:r>
            <a:r>
              <a:rPr lang="en-US" dirty="0"/>
              <a:t>(</a:t>
            </a:r>
            <a:r>
              <a:rPr lang="en-US" dirty="0" err="1"/>
              <a:t>param</a:t>
            </a:r>
            <a:r>
              <a:rPr lang="en-US" dirty="0"/>
              <a:t>){</a:t>
            </a:r>
          </a:p>
          <a:p>
            <a:r>
              <a:rPr lang="en-US" dirty="0"/>
              <a:t>		</a:t>
            </a:r>
            <a:r>
              <a:rPr lang="en-US" dirty="0" err="1"/>
              <a:t>const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num</a:t>
            </a:r>
            <a:r>
              <a:rPr lang="en-US" dirty="0">
                <a:solidFill>
                  <a:srgbClr val="7030A0"/>
                </a:solidFill>
              </a:rPr>
              <a:t> = 25;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	assert(</a:t>
            </a:r>
            <a:r>
              <a:rPr lang="en-US" dirty="0" err="1">
                <a:solidFill>
                  <a:schemeClr val="accent2"/>
                </a:solidFill>
              </a:rPr>
              <a:t>outerValue</a:t>
            </a:r>
            <a:r>
              <a:rPr lang="en-US" dirty="0"/>
              <a:t>, "I can see </a:t>
            </a:r>
            <a:r>
              <a:rPr lang="en-US" dirty="0" err="1"/>
              <a:t>outerValue</a:t>
            </a:r>
            <a:r>
              <a:rPr lang="en-US" dirty="0"/>
              <a:t>");</a:t>
            </a:r>
          </a:p>
          <a:p>
            <a:r>
              <a:rPr lang="en-US" dirty="0"/>
              <a:t>		assert(</a:t>
            </a:r>
            <a:r>
              <a:rPr lang="en-US" dirty="0" err="1">
                <a:solidFill>
                  <a:srgbClr val="0070C0"/>
                </a:solidFill>
              </a:rPr>
              <a:t>innerValue</a:t>
            </a:r>
            <a:r>
              <a:rPr lang="en-US" dirty="0"/>
              <a:t>, "I can see </a:t>
            </a:r>
            <a:r>
              <a:rPr lang="en-US" dirty="0" err="1"/>
              <a:t>innerValue</a:t>
            </a:r>
            <a:r>
              <a:rPr lang="en-US" dirty="0"/>
              <a:t>");</a:t>
            </a:r>
          </a:p>
          <a:p>
            <a:r>
              <a:rPr lang="en-US" dirty="0"/>
              <a:t>		assert(</a:t>
            </a:r>
            <a:r>
              <a:rPr lang="en-US" dirty="0" err="1"/>
              <a:t>param</a:t>
            </a:r>
            <a:r>
              <a:rPr lang="en-US" dirty="0"/>
              <a:t>, "I can see </a:t>
            </a:r>
            <a:r>
              <a:rPr lang="en-US" dirty="0" err="1"/>
              <a:t>param</a:t>
            </a:r>
            <a:r>
              <a:rPr lang="en-US" dirty="0"/>
              <a:t>");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later</a:t>
            </a:r>
            <a:r>
              <a:rPr lang="en-US" dirty="0"/>
              <a:t> = </a:t>
            </a:r>
            <a:r>
              <a:rPr lang="en-US" dirty="0" err="1"/>
              <a:t>innerFunction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851920" y="476672"/>
            <a:ext cx="576064" cy="3744416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cxnSpLocks/>
          </p:cNvCxnSpPr>
          <p:nvPr/>
        </p:nvCxnSpPr>
        <p:spPr>
          <a:xfrm>
            <a:off x="1475656" y="908720"/>
            <a:ext cx="986846" cy="2869687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cxnSpLocks/>
          </p:cNvCxnSpPr>
          <p:nvPr/>
        </p:nvCxnSpPr>
        <p:spPr>
          <a:xfrm>
            <a:off x="1403648" y="908720"/>
            <a:ext cx="252028" cy="5297685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1763688" y="1412776"/>
            <a:ext cx="864096" cy="3096344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68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041" y="51589"/>
            <a:ext cx="8983463" cy="3970318"/>
          </a:xfrm>
          <a:prstGeom prst="rect">
            <a:avLst/>
          </a:prstGeom>
          <a:solidFill>
            <a:srgbClr val="FFFF0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function </a:t>
            </a:r>
            <a:r>
              <a:rPr lang="en-US" dirty="0" err="1"/>
              <a:t>makeUser</a:t>
            </a:r>
            <a:r>
              <a:rPr lang="en-US" dirty="0"/>
              <a:t>(name) {  </a:t>
            </a:r>
            <a:r>
              <a:rPr lang="en-US" sz="1600" dirty="0">
                <a:solidFill>
                  <a:srgbClr val="00B050"/>
                </a:solidFill>
              </a:rPr>
              <a:t>// </a:t>
            </a:r>
            <a:r>
              <a:rPr lang="en-US" sz="1600" dirty="0" err="1">
                <a:solidFill>
                  <a:srgbClr val="00B050"/>
                </a:solidFill>
              </a:rPr>
              <a:t>makeUserLE</a:t>
            </a:r>
            <a:r>
              <a:rPr lang="en-US" sz="1600" dirty="0">
                <a:solidFill>
                  <a:srgbClr val="00B050"/>
                </a:solidFill>
              </a:rPr>
              <a:t> 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     let </a:t>
            </a:r>
            <a:r>
              <a:rPr lang="en-US" dirty="0" err="1"/>
              <a:t>newName</a:t>
            </a:r>
            <a:r>
              <a:rPr lang="en-US" dirty="0"/>
              <a:t> = </a:t>
            </a:r>
            <a:r>
              <a:rPr lang="en-US" dirty="0" err="1"/>
              <a:t>name.toUpperCase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					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7030A0"/>
                </a:solidFill>
              </a:rPr>
              <a:t>return function(){ </a:t>
            </a:r>
          </a:p>
          <a:p>
            <a:r>
              <a:rPr lang="en-US" dirty="0">
                <a:solidFill>
                  <a:srgbClr val="7030A0"/>
                </a:solidFill>
              </a:rPr>
              <a:t>	   </a:t>
            </a:r>
            <a:r>
              <a:rPr lang="en-US" dirty="0" err="1">
                <a:solidFill>
                  <a:srgbClr val="7030A0"/>
                </a:solidFill>
              </a:rPr>
              <a:t>newName</a:t>
            </a:r>
            <a:r>
              <a:rPr lang="en-US" dirty="0">
                <a:solidFill>
                  <a:srgbClr val="7030A0"/>
                </a:solidFill>
              </a:rPr>
              <a:t> += "!"; 		</a:t>
            </a:r>
          </a:p>
          <a:p>
            <a:r>
              <a:rPr lang="en-US" dirty="0">
                <a:solidFill>
                  <a:srgbClr val="7030A0"/>
                </a:solidFill>
              </a:rPr>
              <a:t>	   console.log(</a:t>
            </a:r>
            <a:r>
              <a:rPr lang="en-US" dirty="0" err="1">
                <a:solidFill>
                  <a:srgbClr val="7030A0"/>
                </a:solidFill>
              </a:rPr>
              <a:t>newName</a:t>
            </a:r>
            <a:r>
              <a:rPr lang="en-US" dirty="0">
                <a:solidFill>
                  <a:srgbClr val="7030A0"/>
                </a:solidFill>
              </a:rPr>
              <a:t>);</a:t>
            </a:r>
          </a:p>
          <a:p>
            <a:r>
              <a:rPr lang="en-US" dirty="0">
                <a:solidFill>
                  <a:srgbClr val="7030A0"/>
                </a:solidFill>
              </a:rPr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user = </a:t>
            </a:r>
            <a:r>
              <a:rPr lang="en-US" dirty="0" err="1"/>
              <a:t>makeUser</a:t>
            </a:r>
            <a:r>
              <a:rPr lang="en-US" dirty="0"/>
              <a:t>("Thomas ");</a:t>
            </a:r>
          </a:p>
          <a:p>
            <a:r>
              <a:rPr lang="en-US" dirty="0"/>
              <a:t>user(); </a:t>
            </a:r>
          </a:p>
          <a:p>
            <a:r>
              <a:rPr lang="en-US" dirty="0"/>
              <a:t>user(); </a:t>
            </a:r>
          </a:p>
          <a:p>
            <a:r>
              <a:rPr lang="en-US" dirty="0"/>
              <a:t>user();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4" y="4462588"/>
            <a:ext cx="8975383" cy="123110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accent2"/>
                </a:solidFill>
              </a:rPr>
              <a:t>Висновок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dirty="0"/>
              <a:t>– в </a:t>
            </a:r>
            <a:r>
              <a:rPr lang="ru-RU" b="1" dirty="0" err="1"/>
              <a:t>об'єкті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C00000"/>
                </a:solidFill>
              </a:rPr>
              <a:t>FExContext</a:t>
            </a:r>
            <a:r>
              <a:rPr lang="ru-RU" b="1" dirty="0"/>
              <a:t> </a:t>
            </a:r>
            <a:r>
              <a:rPr lang="ru-RU" b="1" dirty="0" err="1"/>
              <a:t>знаходяться</a:t>
            </a:r>
            <a:r>
              <a:rPr lang="ru-RU" b="1" dirty="0"/>
              <a:t> не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зовнішніх</a:t>
            </a:r>
            <a:r>
              <a:rPr lang="ru-RU" b="1" dirty="0"/>
              <a:t> </a:t>
            </a:r>
            <a:r>
              <a:rPr lang="ru-RU" b="1" dirty="0" err="1"/>
              <a:t>змінних</a:t>
            </a:r>
            <a:r>
              <a:rPr lang="ru-RU" b="1" dirty="0"/>
              <a:t>, а </a:t>
            </a:r>
            <a:r>
              <a:rPr lang="ru-RU" b="1" dirty="0" err="1"/>
              <a:t>посилання</a:t>
            </a:r>
            <a:r>
              <a:rPr lang="ru-RU" b="1" dirty="0"/>
              <a:t> на них, тому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цих</a:t>
            </a:r>
            <a:r>
              <a:rPr lang="ru-RU" b="1" dirty="0"/>
              <a:t> </a:t>
            </a:r>
            <a:r>
              <a:rPr lang="ru-RU" b="1" dirty="0" err="1"/>
              <a:t>зовнішніх</a:t>
            </a:r>
            <a:r>
              <a:rPr lang="ru-RU" b="1" dirty="0"/>
              <a:t> </a:t>
            </a:r>
            <a:r>
              <a:rPr lang="ru-RU" b="1" dirty="0" err="1"/>
              <a:t>змінних</a:t>
            </a:r>
            <a:r>
              <a:rPr lang="ru-RU" b="1" dirty="0"/>
              <a:t> </a:t>
            </a:r>
            <a:r>
              <a:rPr lang="ru-RU" b="1" dirty="0" err="1"/>
              <a:t>можуть</a:t>
            </a:r>
            <a:r>
              <a:rPr lang="ru-RU" b="1" dirty="0"/>
              <a:t> </a:t>
            </a:r>
            <a:r>
              <a:rPr lang="ru-RU" b="1" dirty="0" err="1"/>
              <a:t>змінюватися</a:t>
            </a:r>
            <a:r>
              <a:rPr lang="ru-RU" b="1" dirty="0"/>
              <a:t> в </a:t>
            </a:r>
            <a:r>
              <a:rPr lang="ru-RU" b="1" dirty="0" err="1"/>
              <a:t>процесі</a:t>
            </a:r>
            <a:r>
              <a:rPr lang="ru-RU" b="1" dirty="0"/>
              <a:t> скрипту </a:t>
            </a:r>
            <a:r>
              <a:rPr lang="ru-RU" b="1" dirty="0" err="1"/>
              <a:t>незалежно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en-US" b="1" dirty="0"/>
              <a:t>closure</a:t>
            </a:r>
            <a:r>
              <a:rPr lang="ru-RU" b="1" dirty="0"/>
              <a:t>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616" y="308410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// Thomas !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3768" y="3383630"/>
            <a:ext cx="207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// Thomas !!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616" y="3635732"/>
            <a:ext cx="207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// Thomas !!!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027" y="709975"/>
            <a:ext cx="8496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rgbClr val="3756F2"/>
                </a:solidFill>
              </a:rPr>
              <a:t>FExContext</a:t>
            </a:r>
            <a:r>
              <a:rPr lang="en-US" sz="1600" b="1" i="1" dirty="0">
                <a:solidFill>
                  <a:srgbClr val="3756F2"/>
                </a:solidFill>
              </a:rPr>
              <a:t> = {name: Thomas,  </a:t>
            </a:r>
            <a:r>
              <a:rPr lang="en-US" sz="1600" b="1" i="1" dirty="0" err="1">
                <a:solidFill>
                  <a:srgbClr val="3756F2"/>
                </a:solidFill>
              </a:rPr>
              <a:t>newName</a:t>
            </a:r>
            <a:r>
              <a:rPr lang="en-US" sz="1600" b="1" i="1" dirty="0">
                <a:solidFill>
                  <a:srgbClr val="3756F2"/>
                </a:solidFill>
              </a:rPr>
              <a:t>: THOMAS,  </a:t>
            </a:r>
            <a:r>
              <a:rPr lang="en-US" sz="1600" b="1" i="1" dirty="0">
                <a:solidFill>
                  <a:schemeClr val="accent3"/>
                </a:solidFill>
              </a:rPr>
              <a:t>OE</a:t>
            </a:r>
            <a:r>
              <a:rPr lang="en-US" sz="1600" b="1" i="1" dirty="0">
                <a:solidFill>
                  <a:srgbClr val="3756F2"/>
                </a:solidFill>
              </a:rPr>
              <a:t>: window}</a:t>
            </a:r>
            <a:endParaRPr lang="ru-RU" sz="1600" b="1" i="1" dirty="0">
              <a:solidFill>
                <a:srgbClr val="3756F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91880" y="1149350"/>
            <a:ext cx="5472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accent1"/>
                </a:solidFill>
              </a:rPr>
              <a:t> // </a:t>
            </a:r>
            <a:r>
              <a:rPr lang="en-US" sz="1600" b="1" i="1" dirty="0" err="1">
                <a:solidFill>
                  <a:schemeClr val="accent1"/>
                </a:solidFill>
              </a:rPr>
              <a:t>FExContext</a:t>
            </a:r>
            <a:r>
              <a:rPr lang="en-US" sz="1600" b="1" i="1" dirty="0">
                <a:solidFill>
                  <a:schemeClr val="accent1"/>
                </a:solidFill>
              </a:rPr>
              <a:t> = {OE: </a:t>
            </a:r>
            <a:r>
              <a:rPr lang="en-US" sz="1600" b="1" dirty="0" err="1">
                <a:solidFill>
                  <a:srgbClr val="00B050"/>
                </a:solidFill>
              </a:rPr>
              <a:t>makeUserLE</a:t>
            </a:r>
            <a:r>
              <a:rPr lang="en-US" sz="1600" dirty="0">
                <a:solidFill>
                  <a:srgbClr val="00B050"/>
                </a:solidFill>
              </a:rPr>
              <a:t> </a:t>
            </a:r>
            <a:r>
              <a:rPr lang="en-US" sz="1600" b="1" i="1" dirty="0">
                <a:solidFill>
                  <a:schemeClr val="accent1"/>
                </a:solidFill>
              </a:rPr>
              <a:t>}</a:t>
            </a:r>
            <a:endParaRPr lang="ru-RU" sz="16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5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/>
      <p:bldP spid="12" grpId="0"/>
      <p:bldP spid="13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3530039"/>
            <a:ext cx="432048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const</a:t>
            </a:r>
            <a:r>
              <a:rPr lang="en-US" b="1" dirty="0"/>
              <a:t> </a:t>
            </a:r>
            <a:r>
              <a:rPr lang="en-US" b="1" dirty="0" err="1"/>
              <a:t>greetEn</a:t>
            </a:r>
            <a:r>
              <a:rPr lang="en-US" b="1" dirty="0"/>
              <a:t> = greet("</a:t>
            </a:r>
            <a:r>
              <a:rPr lang="en-US" b="1" dirty="0" err="1"/>
              <a:t>en</a:t>
            </a:r>
            <a:r>
              <a:rPr lang="en-US" b="1" dirty="0"/>
              <a:t>");</a:t>
            </a:r>
          </a:p>
          <a:p>
            <a:endParaRPr lang="en-US" b="1" dirty="0"/>
          </a:p>
          <a:p>
            <a:r>
              <a:rPr lang="en-US" b="1" dirty="0" err="1"/>
              <a:t>const</a:t>
            </a:r>
            <a:r>
              <a:rPr lang="en-US" b="1" dirty="0"/>
              <a:t> </a:t>
            </a:r>
            <a:r>
              <a:rPr lang="en-US" b="1" dirty="0" err="1"/>
              <a:t>greetSp</a:t>
            </a:r>
            <a:r>
              <a:rPr lang="en-US" b="1" dirty="0"/>
              <a:t> = greet("</a:t>
            </a:r>
            <a:r>
              <a:rPr lang="en-US" b="1" dirty="0" err="1"/>
              <a:t>es</a:t>
            </a:r>
            <a:r>
              <a:rPr lang="en-US" b="1" dirty="0"/>
              <a:t>");</a:t>
            </a:r>
          </a:p>
          <a:p>
            <a:endParaRPr lang="en-US" b="1" dirty="0"/>
          </a:p>
          <a:p>
            <a:r>
              <a:rPr lang="en-US" b="1" dirty="0" err="1"/>
              <a:t>greetEn</a:t>
            </a:r>
            <a:r>
              <a:rPr lang="en-US" b="1" dirty="0"/>
              <a:t>("John");</a:t>
            </a:r>
          </a:p>
          <a:p>
            <a:endParaRPr lang="en-US" b="1" dirty="0"/>
          </a:p>
          <a:p>
            <a:r>
              <a:rPr lang="en-US" b="1" dirty="0" err="1"/>
              <a:t>greetSp</a:t>
            </a:r>
            <a:r>
              <a:rPr lang="en-US" b="1" dirty="0"/>
              <a:t>("John");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979712" y="3573016"/>
            <a:ext cx="1872208" cy="28803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7504" y="260648"/>
            <a:ext cx="432048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function greet(</a:t>
            </a:r>
            <a:r>
              <a:rPr lang="en-US" b="1" dirty="0" err="1"/>
              <a:t>lang</a:t>
            </a:r>
            <a:r>
              <a:rPr lang="en-US" b="1" dirty="0"/>
              <a:t>) {</a:t>
            </a:r>
          </a:p>
          <a:p>
            <a:r>
              <a:rPr lang="en-US" b="1" dirty="0"/>
              <a:t>   return function(name) {</a:t>
            </a:r>
          </a:p>
          <a:p>
            <a:r>
              <a:rPr lang="en-US" b="1" dirty="0"/>
              <a:t>     if(</a:t>
            </a:r>
            <a:r>
              <a:rPr lang="en-US" b="1" dirty="0" err="1"/>
              <a:t>lang</a:t>
            </a:r>
            <a:r>
              <a:rPr lang="en-US" b="1" dirty="0"/>
              <a:t> == "</a:t>
            </a:r>
            <a:r>
              <a:rPr lang="en-US" b="1" dirty="0" err="1"/>
              <a:t>en</a:t>
            </a:r>
            <a:r>
              <a:rPr lang="en-US" b="1" dirty="0"/>
              <a:t>") {</a:t>
            </a:r>
          </a:p>
          <a:p>
            <a:r>
              <a:rPr lang="en-US" b="1" dirty="0"/>
              <a:t>        return "Hello" + name;</a:t>
            </a:r>
          </a:p>
          <a:p>
            <a:r>
              <a:rPr lang="en-US" b="1" dirty="0"/>
              <a:t>     }</a:t>
            </a:r>
          </a:p>
          <a:p>
            <a:r>
              <a:rPr lang="en-US" b="1" dirty="0"/>
              <a:t>     </a:t>
            </a:r>
          </a:p>
          <a:p>
            <a:r>
              <a:rPr lang="en-US" b="1" dirty="0"/>
              <a:t>     if(</a:t>
            </a:r>
            <a:r>
              <a:rPr lang="en-US" b="1" dirty="0" err="1"/>
              <a:t>lang</a:t>
            </a:r>
            <a:r>
              <a:rPr lang="en-US" b="1" dirty="0"/>
              <a:t> == </a:t>
            </a:r>
            <a:r>
              <a:rPr lang="en-US" b="1" dirty="0" err="1"/>
              <a:t>es</a:t>
            </a:r>
            <a:r>
              <a:rPr lang="en-US" b="1" dirty="0"/>
              <a:t>) {</a:t>
            </a:r>
          </a:p>
          <a:p>
            <a:r>
              <a:rPr lang="en-US" b="1" dirty="0"/>
              <a:t>        return "</a:t>
            </a:r>
            <a:r>
              <a:rPr lang="en-US" b="1" dirty="0" err="1"/>
              <a:t>Hola</a:t>
            </a:r>
            <a:r>
              <a:rPr lang="en-US" b="1" dirty="0"/>
              <a:t>" + name;</a:t>
            </a:r>
          </a:p>
          <a:p>
            <a:r>
              <a:rPr lang="en-US" b="1" dirty="0"/>
              <a:t>     }</a:t>
            </a:r>
          </a:p>
          <a:p>
            <a:r>
              <a:rPr lang="en-US" b="1" dirty="0"/>
              <a:t>   }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4572000" y="5445224"/>
            <a:ext cx="4464496" cy="1152128"/>
            <a:chOff x="4860032" y="5445224"/>
            <a:chExt cx="4176464" cy="115212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4860032" y="5445224"/>
              <a:ext cx="4176464" cy="1152128"/>
            </a:xfrm>
            <a:prstGeom prst="rect">
              <a:avLst/>
            </a:prstGeom>
            <a:solidFill>
              <a:srgbClr val="FF2F2F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Global </a:t>
              </a:r>
              <a:r>
                <a:rPr lang="en-US" sz="2400" b="1" dirty="0" err="1">
                  <a:solidFill>
                    <a:schemeClr val="bg1"/>
                  </a:solidFill>
                </a:rPr>
                <a:t>ExContext</a:t>
              </a:r>
              <a:endParaRPr lang="ru-RU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76056" y="6093296"/>
              <a:ext cx="37444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greet, </a:t>
              </a:r>
              <a:r>
                <a:rPr lang="en-US" b="1" dirty="0" err="1"/>
                <a:t>greetEn</a:t>
              </a:r>
              <a:r>
                <a:rPr lang="en-US" b="1" dirty="0"/>
                <a:t>, </a:t>
              </a:r>
              <a:r>
                <a:rPr lang="en-US" b="1" dirty="0" err="1"/>
                <a:t>greetSp</a:t>
              </a:r>
              <a:endParaRPr lang="ru-RU" b="1" dirty="0"/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4608004" y="4437113"/>
            <a:ext cx="4428492" cy="88761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greet()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852029"/>
            <a:ext cx="1656184" cy="3600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lang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en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638836" y="1893314"/>
            <a:ext cx="4428492" cy="887614"/>
          </a:xfrm>
          <a:prstGeom prst="rect">
            <a:avLst/>
          </a:prstGeom>
          <a:solidFill>
            <a:srgbClr val="C00000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greet()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267128" y="2308230"/>
            <a:ext cx="1656184" cy="36004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lang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es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979712" y="4102067"/>
            <a:ext cx="1872208" cy="335046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79512" y="4653136"/>
            <a:ext cx="2304256" cy="335046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6" name="Группа 25"/>
          <p:cNvGrpSpPr/>
          <p:nvPr/>
        </p:nvGrpSpPr>
        <p:grpSpPr>
          <a:xfrm>
            <a:off x="4638836" y="3316342"/>
            <a:ext cx="4428492" cy="948451"/>
            <a:chOff x="4638836" y="3316342"/>
            <a:chExt cx="4428492" cy="948451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4638836" y="3316342"/>
              <a:ext cx="4428492" cy="948451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greetEn</a:t>
              </a:r>
              <a:r>
                <a:rPr lang="en-US" sz="2400" b="1" dirty="0">
                  <a:solidFill>
                    <a:schemeClr val="bg1"/>
                  </a:solidFill>
                </a:rPr>
                <a:t>()</a:t>
              </a: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4710576" y="3789041"/>
              <a:ext cx="2021663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name = John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Прямая со стрелкой 20"/>
          <p:cNvCxnSpPr>
            <a:endCxn id="9" idx="0"/>
          </p:cNvCxnSpPr>
          <p:nvPr/>
        </p:nvCxnSpPr>
        <p:spPr>
          <a:xfrm>
            <a:off x="8028384" y="3933056"/>
            <a:ext cx="36004" cy="91897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608004" y="3212976"/>
            <a:ext cx="4535996" cy="2111751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4545732" y="585411"/>
            <a:ext cx="4535996" cy="2262879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9" name="Группа 28"/>
          <p:cNvGrpSpPr/>
          <p:nvPr/>
        </p:nvGrpSpPr>
        <p:grpSpPr>
          <a:xfrm>
            <a:off x="4644008" y="620688"/>
            <a:ext cx="4428492" cy="948451"/>
            <a:chOff x="4638836" y="3316342"/>
            <a:chExt cx="4428492" cy="948451"/>
          </a:xfrm>
        </p:grpSpPr>
        <p:sp>
          <p:nvSpPr>
            <p:cNvPr id="30" name="Прямоугольник 29"/>
            <p:cNvSpPr/>
            <p:nvPr/>
          </p:nvSpPr>
          <p:spPr>
            <a:xfrm>
              <a:off x="4638836" y="3316342"/>
              <a:ext cx="4428492" cy="948451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greetSp</a:t>
              </a:r>
              <a:r>
                <a:rPr lang="en-US" sz="2400" b="1" dirty="0">
                  <a:solidFill>
                    <a:schemeClr val="bg1"/>
                  </a:solidFill>
                </a:rPr>
                <a:t>()</a:t>
              </a:r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4710576" y="3789041"/>
              <a:ext cx="2021663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name = John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Прямоугольник 31"/>
          <p:cNvSpPr/>
          <p:nvPr/>
        </p:nvSpPr>
        <p:spPr>
          <a:xfrm>
            <a:off x="179512" y="5189311"/>
            <a:ext cx="2304256" cy="335046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7848364" y="1285891"/>
            <a:ext cx="36004" cy="91897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01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4" grpId="0" animBg="1"/>
      <p:bldP spid="14" grpId="1" animBg="1"/>
      <p:bldP spid="15" grpId="0" animBg="1"/>
      <p:bldP spid="16" grpId="0" animBg="1"/>
      <p:bldP spid="16" grpId="2" animBg="1"/>
      <p:bldP spid="17" grpId="0" animBg="1"/>
      <p:bldP spid="17" grpId="1" animBg="1"/>
      <p:bldP spid="27" grpId="0" animBg="1"/>
      <p:bldP spid="28" grpId="0" animBg="1"/>
      <p:bldP spid="32" grpId="0" animBg="1"/>
      <p:bldP spid="3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041" y="51589"/>
            <a:ext cx="8983463" cy="1754326"/>
          </a:xfrm>
          <a:prstGeom prst="rect">
            <a:avLst/>
          </a:prstGeom>
          <a:solidFill>
            <a:srgbClr val="FFFF0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function </a:t>
            </a:r>
            <a:r>
              <a:rPr lang="en-US" dirty="0" err="1">
                <a:solidFill>
                  <a:schemeClr val="accent2"/>
                </a:solidFill>
              </a:rPr>
              <a:t>makeCounter</a:t>
            </a:r>
            <a:r>
              <a:rPr lang="en-US" dirty="0">
                <a:solidFill>
                  <a:schemeClr val="accent2"/>
                </a:solidFill>
              </a:rPr>
              <a:t>() </a:t>
            </a:r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count = 0;</a:t>
            </a:r>
          </a:p>
          <a:p>
            <a:r>
              <a:rPr lang="en-US" dirty="0"/>
              <a:t>    return function() {</a:t>
            </a:r>
          </a:p>
          <a:p>
            <a:r>
              <a:rPr lang="en-US" dirty="0"/>
              <a:t>       return ++count;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6016" y="1819688"/>
            <a:ext cx="424847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функція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повертається</a:t>
            </a:r>
            <a:r>
              <a:rPr lang="ru-RU" dirty="0"/>
              <a:t> </a:t>
            </a:r>
            <a:r>
              <a:rPr lang="en-US" dirty="0" err="1">
                <a:solidFill>
                  <a:srgbClr val="C00000"/>
                </a:solidFill>
              </a:rPr>
              <a:t>makeCounter</a:t>
            </a:r>
            <a:r>
              <a:rPr lang="en-US" dirty="0"/>
              <a:t>,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ru-RU" dirty="0" err="1"/>
              <a:t>змінну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count</a:t>
            </a:r>
            <a:r>
              <a:rPr lang="en-US" dirty="0"/>
              <a:t>, </a:t>
            </a:r>
            <a:r>
              <a:rPr lang="ru-RU" dirty="0"/>
              <a:t>яка </a:t>
            </a:r>
            <a:r>
              <a:rPr lang="ru-RU" dirty="0" err="1"/>
              <a:t>зберігає</a:t>
            </a:r>
            <a:r>
              <a:rPr lang="ru-RU" dirty="0"/>
              <a:t> </a:t>
            </a:r>
            <a:r>
              <a:rPr lang="ru-RU" dirty="0" err="1"/>
              <a:t>потрібне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викликами</a:t>
            </a:r>
            <a:r>
              <a:rPr lang="ru-RU" dirty="0"/>
              <a:t>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25041" y="1808728"/>
            <a:ext cx="4491731" cy="3139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const</a:t>
            </a:r>
            <a:r>
              <a:rPr lang="en-US" b="1" dirty="0"/>
              <a:t> c1 = </a:t>
            </a:r>
            <a:r>
              <a:rPr lang="en-US" b="1" dirty="0" err="1"/>
              <a:t>makeCounter</a:t>
            </a:r>
            <a:r>
              <a:rPr lang="en-US" b="1" dirty="0"/>
              <a:t>();</a:t>
            </a:r>
          </a:p>
          <a:p>
            <a:r>
              <a:rPr lang="en-US" b="1" dirty="0" err="1"/>
              <a:t>const</a:t>
            </a:r>
            <a:r>
              <a:rPr lang="en-US" b="1" dirty="0"/>
              <a:t> c2 = </a:t>
            </a:r>
            <a:r>
              <a:rPr lang="en-US" b="1" dirty="0" err="1"/>
              <a:t>makeCounter</a:t>
            </a:r>
            <a:r>
              <a:rPr lang="en-US" b="1" dirty="0"/>
              <a:t>();</a:t>
            </a:r>
          </a:p>
          <a:p>
            <a:endParaRPr lang="en-US" b="1" dirty="0"/>
          </a:p>
          <a:p>
            <a:r>
              <a:rPr lang="en-US" b="1" dirty="0"/>
              <a:t>c1(); </a:t>
            </a:r>
          </a:p>
          <a:p>
            <a:r>
              <a:rPr lang="en-US" b="1" dirty="0"/>
              <a:t>c1(); </a:t>
            </a:r>
          </a:p>
          <a:p>
            <a:r>
              <a:rPr lang="en-US" b="1" dirty="0"/>
              <a:t>alert(c1()); // </a:t>
            </a:r>
            <a:r>
              <a:rPr lang="ru-RU" b="1" dirty="0"/>
              <a:t>выводится </a:t>
            </a:r>
            <a:r>
              <a:rPr lang="en-US" b="1" dirty="0"/>
              <a:t> 2 </a:t>
            </a:r>
          </a:p>
          <a:p>
            <a:endParaRPr lang="en-US" b="1" dirty="0"/>
          </a:p>
          <a:p>
            <a:r>
              <a:rPr lang="en-US" b="1" dirty="0"/>
              <a:t>c2();</a:t>
            </a:r>
          </a:p>
          <a:p>
            <a:r>
              <a:rPr lang="en-US" b="1" dirty="0"/>
              <a:t>c2();</a:t>
            </a:r>
          </a:p>
          <a:p>
            <a:r>
              <a:rPr lang="en-US" b="1" dirty="0"/>
              <a:t>c2(); </a:t>
            </a:r>
          </a:p>
          <a:p>
            <a:r>
              <a:rPr lang="en-US" b="1" dirty="0"/>
              <a:t>alert(c2()); // </a:t>
            </a:r>
            <a:r>
              <a:rPr lang="ru-RU" b="1" dirty="0"/>
              <a:t>выводится </a:t>
            </a:r>
            <a:r>
              <a:rPr lang="en-US" b="1" dirty="0"/>
              <a:t> 4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5048016"/>
            <a:ext cx="8920912" cy="1200329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FF0000"/>
                </a:solidFill>
              </a:rPr>
              <a:t>Важливо</a:t>
            </a:r>
            <a:r>
              <a:rPr lang="ru-RU" dirty="0">
                <a:solidFill>
                  <a:srgbClr val="FF0000"/>
                </a:solidFill>
              </a:rPr>
              <a:t>!</a:t>
            </a:r>
          </a:p>
          <a:p>
            <a:r>
              <a:rPr lang="ru-RU" dirty="0" err="1"/>
              <a:t>Лічильники</a:t>
            </a:r>
            <a:r>
              <a:rPr lang="ru-RU" dirty="0"/>
              <a:t> - </a:t>
            </a:r>
            <a:r>
              <a:rPr lang="ru-RU" dirty="0" err="1"/>
              <a:t>незалежні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одного, </a:t>
            </a:r>
            <a:r>
              <a:rPr lang="ru-RU" dirty="0" err="1"/>
              <a:t>тобто</a:t>
            </a:r>
            <a:r>
              <a:rPr lang="ru-RU" dirty="0"/>
              <a:t> для кожного з них при запуску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створюється</a:t>
            </a:r>
            <a:r>
              <a:rPr lang="ru-RU" dirty="0"/>
              <a:t> </a:t>
            </a:r>
            <a:r>
              <a:rPr lang="ru-RU" dirty="0" err="1"/>
              <a:t>своє</a:t>
            </a:r>
            <a:r>
              <a:rPr lang="ru-RU" dirty="0"/>
              <a:t> </a:t>
            </a:r>
            <a:r>
              <a:rPr lang="ru-RU" dirty="0" err="1"/>
              <a:t>замикання</a:t>
            </a:r>
            <a:r>
              <a:rPr lang="ru-RU" dirty="0"/>
              <a:t> - </a:t>
            </a:r>
            <a:r>
              <a:rPr lang="ru-RU" dirty="0" err="1"/>
              <a:t>тобто</a:t>
            </a:r>
            <a:r>
              <a:rPr lang="ru-RU" dirty="0"/>
              <a:t> своя область </a:t>
            </a:r>
            <a:r>
              <a:rPr lang="ru-RU" dirty="0" err="1"/>
              <a:t>пам'яті</a:t>
            </a:r>
            <a:r>
              <a:rPr lang="ru-RU" dirty="0"/>
              <a:t>, в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зберігаються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змінних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6134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339" y="116632"/>
            <a:ext cx="8863322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accent2"/>
                </a:solidFill>
              </a:rPr>
              <a:t>Завдання</a:t>
            </a:r>
            <a:r>
              <a:rPr lang="ru-RU" b="1" dirty="0">
                <a:solidFill>
                  <a:schemeClr val="accent2"/>
                </a:solidFill>
              </a:rPr>
              <a:t>:</a:t>
            </a:r>
          </a:p>
          <a:p>
            <a:r>
              <a:rPr lang="en-US" b="1" dirty="0"/>
              <a:t>1. </a:t>
            </a:r>
            <a:r>
              <a:rPr lang="ru-RU" b="1" dirty="0" err="1"/>
              <a:t>Використовуючи</a:t>
            </a:r>
            <a:r>
              <a:rPr lang="ru-RU" b="1" dirty="0"/>
              <a:t> код </a:t>
            </a:r>
            <a:r>
              <a:rPr lang="ru-RU" b="1" dirty="0" err="1"/>
              <a:t>лічильника</a:t>
            </a:r>
            <a:r>
              <a:rPr lang="ru-RU" b="1" dirty="0"/>
              <a:t>, </a:t>
            </a:r>
            <a:r>
              <a:rPr lang="ru-RU" b="1" dirty="0" err="1"/>
              <a:t>написати</a:t>
            </a:r>
            <a:r>
              <a:rPr lang="ru-RU" b="1" dirty="0"/>
              <a:t> </a:t>
            </a:r>
            <a:r>
              <a:rPr lang="ru-RU" b="1" dirty="0" err="1"/>
              <a:t>функцію</a:t>
            </a:r>
            <a:r>
              <a:rPr lang="ru-RU" b="1" dirty="0"/>
              <a:t>, яка б </a:t>
            </a:r>
            <a:r>
              <a:rPr lang="ru-RU" b="1" dirty="0" err="1"/>
              <a:t>повертала</a:t>
            </a:r>
            <a:r>
              <a:rPr lang="ru-RU" b="1" dirty="0"/>
              <a:t> </a:t>
            </a:r>
            <a:r>
              <a:rPr lang="ru-RU" b="1" dirty="0" err="1"/>
              <a:t>об'єкт</a:t>
            </a:r>
            <a:r>
              <a:rPr lang="ru-RU" b="1" dirty="0"/>
              <a:t> для </a:t>
            </a:r>
            <a:r>
              <a:rPr lang="ru-RU" b="1" dirty="0" err="1"/>
              <a:t>роботи</a:t>
            </a:r>
            <a:r>
              <a:rPr lang="ru-RU" b="1" dirty="0"/>
              <a:t> з </a:t>
            </a:r>
            <a:r>
              <a:rPr lang="ru-RU" b="1" dirty="0" err="1"/>
              <a:t>лічильником</a:t>
            </a:r>
            <a:r>
              <a:rPr lang="ru-RU" b="1" dirty="0"/>
              <a:t>, і мала б </a:t>
            </a:r>
            <a:r>
              <a:rPr lang="ru-RU" b="1" dirty="0" err="1"/>
              <a:t>методи</a:t>
            </a:r>
            <a:endParaRPr lang="ru-RU" b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12058"/>
              </p:ext>
            </p:extLst>
          </p:nvPr>
        </p:nvGraphicFramePr>
        <p:xfrm>
          <a:off x="140339" y="1268760"/>
          <a:ext cx="8752141" cy="153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set(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Встановлення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лічильника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на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24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reset()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Скидання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лічильника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в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next()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Збільшення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значення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лічильника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на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get()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Повернення поточного значення лічильника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62024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503" y="3120510"/>
            <a:ext cx="8928993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Використання</a:t>
            </a:r>
            <a:r>
              <a:rPr lang="en-US" b="1" dirty="0"/>
              <a:t>: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</a:rPr>
              <a:t>const</a:t>
            </a:r>
            <a:r>
              <a:rPr lang="en-US" b="1" dirty="0">
                <a:solidFill>
                  <a:srgbClr val="0070C0"/>
                </a:solidFill>
              </a:rPr>
              <a:t> c = </a:t>
            </a:r>
            <a:r>
              <a:rPr lang="en-US" b="1" dirty="0" err="1">
                <a:solidFill>
                  <a:srgbClr val="0070C0"/>
                </a:solidFill>
              </a:rPr>
              <a:t>makeCount</a:t>
            </a:r>
            <a:r>
              <a:rPr lang="en-US" b="1" dirty="0">
                <a:solidFill>
                  <a:srgbClr val="0070C0"/>
                </a:solidFill>
              </a:rPr>
              <a:t>();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</a:rPr>
              <a:t>c.next</a:t>
            </a:r>
            <a:r>
              <a:rPr lang="en-US" b="1" dirty="0">
                <a:solidFill>
                  <a:srgbClr val="0070C0"/>
                </a:solidFill>
              </a:rPr>
              <a:t>();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</a:rPr>
              <a:t>c.reset</a:t>
            </a:r>
            <a:r>
              <a:rPr lang="en-US" b="1" dirty="0">
                <a:solidFill>
                  <a:srgbClr val="0070C0"/>
                </a:solidFill>
              </a:rPr>
              <a:t>();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</a:rPr>
              <a:t>c.set</a:t>
            </a:r>
            <a:r>
              <a:rPr lang="en-US" b="1" dirty="0">
                <a:solidFill>
                  <a:srgbClr val="0070C0"/>
                </a:solidFill>
              </a:rPr>
              <a:t>(5);</a:t>
            </a:r>
            <a:r>
              <a:rPr lang="ru-RU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04" y="4843026"/>
            <a:ext cx="895289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ru-RU" b="1" dirty="0"/>
              <a:t>. </a:t>
            </a:r>
            <a:r>
              <a:rPr lang="ru-RU" b="1" dirty="0" err="1"/>
              <a:t>Змінити</a:t>
            </a:r>
            <a:r>
              <a:rPr lang="ru-RU" b="1" dirty="0"/>
              <a:t> код так,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усунути</a:t>
            </a:r>
            <a:r>
              <a:rPr lang="ru-RU" b="1" dirty="0"/>
              <a:t> метод </a:t>
            </a:r>
            <a:r>
              <a:rPr lang="ru-RU" b="1" dirty="0" err="1">
                <a:solidFill>
                  <a:srgbClr val="C00000"/>
                </a:solidFill>
              </a:rPr>
              <a:t>next</a:t>
            </a:r>
            <a:r>
              <a:rPr lang="ru-RU" b="1" dirty="0">
                <a:solidFill>
                  <a:srgbClr val="C00000"/>
                </a:solidFill>
              </a:rPr>
              <a:t>()</a:t>
            </a:r>
            <a:r>
              <a:rPr lang="ru-RU" b="1" dirty="0"/>
              <a:t>, і</a:t>
            </a:r>
          </a:p>
          <a:p>
            <a:r>
              <a:rPr lang="ru-RU" b="1" dirty="0"/>
              <a:t>   </a:t>
            </a:r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ru-RU" b="1" dirty="0" err="1"/>
              <a:t>було</a:t>
            </a:r>
            <a:r>
              <a:rPr lang="ru-RU" b="1" dirty="0"/>
              <a:t> таким </a:t>
            </a:r>
            <a:r>
              <a:rPr lang="en-US" b="1" dirty="0"/>
              <a:t>:</a:t>
            </a:r>
            <a:r>
              <a:rPr lang="ru-RU" b="1" dirty="0"/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const counter = </a:t>
            </a:r>
            <a:r>
              <a:rPr lang="en-US" b="1" dirty="0" err="1">
                <a:solidFill>
                  <a:srgbClr val="0070C0"/>
                </a:solidFill>
              </a:rPr>
              <a:t>makeCounter</a:t>
            </a:r>
            <a:r>
              <a:rPr lang="en-US" b="1" dirty="0">
                <a:solidFill>
                  <a:srgbClr val="0070C0"/>
                </a:solidFill>
              </a:rPr>
              <a:t>();</a:t>
            </a:r>
          </a:p>
          <a:p>
            <a:r>
              <a:rPr lang="en-US" b="1" dirty="0">
                <a:solidFill>
                  <a:srgbClr val="0070C0"/>
                </a:solidFill>
              </a:rPr>
              <a:t>counter();</a:t>
            </a:r>
            <a:r>
              <a:rPr lang="en-US" b="1" dirty="0"/>
              <a:t>  // </a:t>
            </a:r>
            <a:r>
              <a:rPr lang="uk-UA" b="1" dirty="0"/>
              <a:t>з</a:t>
            </a:r>
            <a:r>
              <a:rPr lang="ru-RU" b="1" dirty="0" err="1">
                <a:solidFill>
                  <a:schemeClr val="tx1"/>
                </a:solidFill>
              </a:rPr>
              <a:t>більшує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значення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лічильника</a:t>
            </a:r>
            <a:r>
              <a:rPr lang="ru-RU" b="1" dirty="0">
                <a:solidFill>
                  <a:schemeClr val="tx1"/>
                </a:solidFill>
              </a:rPr>
              <a:t> на 1</a:t>
            </a:r>
            <a:endParaRPr lang="ru-RU" b="1" dirty="0"/>
          </a:p>
          <a:p>
            <a:r>
              <a:rPr lang="en-US" b="1" dirty="0" err="1">
                <a:solidFill>
                  <a:srgbClr val="0070C0"/>
                </a:solidFill>
              </a:rPr>
              <a:t>counter.reset</a:t>
            </a:r>
            <a:r>
              <a:rPr lang="en-US" b="1" dirty="0">
                <a:solidFill>
                  <a:srgbClr val="0070C0"/>
                </a:solidFill>
              </a:rPr>
              <a:t>(); </a:t>
            </a:r>
            <a:r>
              <a:rPr lang="en-US" b="1" dirty="0"/>
              <a:t>// </a:t>
            </a:r>
            <a:r>
              <a:rPr lang="ru-RU" b="1" dirty="0" err="1"/>
              <a:t>скидає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лічильника</a:t>
            </a:r>
            <a:r>
              <a:rPr lang="ru-RU" b="1" dirty="0"/>
              <a:t> в 0</a:t>
            </a:r>
          </a:p>
          <a:p>
            <a:r>
              <a:rPr lang="ru-RU" b="1" dirty="0">
                <a:solidFill>
                  <a:srgbClr val="0070C0"/>
                </a:solidFill>
              </a:rPr>
              <a:t>с</a:t>
            </a:r>
            <a:r>
              <a:rPr lang="en-US" b="1" dirty="0" err="1">
                <a:solidFill>
                  <a:srgbClr val="0070C0"/>
                </a:solidFill>
              </a:rPr>
              <a:t>ounter.set</a:t>
            </a:r>
            <a:r>
              <a:rPr lang="en-US" b="1" dirty="0">
                <a:solidFill>
                  <a:srgbClr val="0070C0"/>
                </a:solidFill>
              </a:rPr>
              <a:t>(5); </a:t>
            </a:r>
            <a:r>
              <a:rPr lang="en-US" b="1" dirty="0"/>
              <a:t>// </a:t>
            </a:r>
            <a:r>
              <a:rPr lang="uk-UA" b="1" dirty="0"/>
              <a:t>в</a:t>
            </a:r>
            <a:r>
              <a:rPr lang="ru-RU" b="1" dirty="0" err="1"/>
              <a:t>становлює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лічильника</a:t>
            </a:r>
            <a:r>
              <a:rPr lang="ru-RU" b="1" dirty="0"/>
              <a:t> на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en-US" b="1" dirty="0"/>
              <a:t>5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5260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116632"/>
            <a:ext cx="79563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4000" b="1" dirty="0">
                <a:solidFill>
                  <a:srgbClr val="C00000"/>
                </a:solidFill>
              </a:rPr>
              <a:t>Thank you for attention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889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4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198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6190</TotalTime>
  <Words>1705</Words>
  <Application>Microsoft Office PowerPoint</Application>
  <PresentationFormat>Экран (4:3)</PresentationFormat>
  <Paragraphs>370</Paragraphs>
  <Slides>22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Calibri</vt:lpstr>
      <vt:lpstr>Courier New</vt:lpstr>
      <vt:lpstr>Verdana</vt:lpstr>
      <vt:lpstr>Wingdings 2</vt:lpstr>
      <vt:lpstr>Wingdings 3</vt:lpstr>
      <vt:lpstr>Тема1</vt:lpstr>
      <vt:lpstr>  Closures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1160</cp:revision>
  <dcterms:modified xsi:type="dcterms:W3CDTF">2024-09-28T06:41:25Z</dcterms:modified>
</cp:coreProperties>
</file>