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2"/>
  </p:notesMasterIdLst>
  <p:sldIdLst>
    <p:sldId id="256" r:id="rId2"/>
    <p:sldId id="334" r:id="rId3"/>
    <p:sldId id="338" r:id="rId4"/>
    <p:sldId id="341" r:id="rId5"/>
    <p:sldId id="339" r:id="rId6"/>
    <p:sldId id="342" r:id="rId7"/>
    <p:sldId id="344" r:id="rId8"/>
    <p:sldId id="381" r:id="rId9"/>
    <p:sldId id="382" r:id="rId10"/>
    <p:sldId id="383" r:id="rId11"/>
    <p:sldId id="384" r:id="rId12"/>
    <p:sldId id="372" r:id="rId13"/>
    <p:sldId id="415" r:id="rId14"/>
    <p:sldId id="477" r:id="rId15"/>
    <p:sldId id="478" r:id="rId16"/>
    <p:sldId id="458" r:id="rId17"/>
    <p:sldId id="459" r:id="rId18"/>
    <p:sldId id="460" r:id="rId19"/>
    <p:sldId id="340" r:id="rId20"/>
    <p:sldId id="324" r:id="rId2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BDFEB"/>
    <a:srgbClr val="3756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Средний стиль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E9639D4-E3E2-4D34-9284-5A2195B3D0D7}" styleName="Светлый стиль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A107856-5554-42FB-B03E-39F5DBC370BA}" styleName="Средний стиль 4 - акцент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Средний стиль 4 - акцент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D7AC3CCA-C797-4891-BE02-D94E43425B78}" styleName="Средний стиль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0" autoAdjust="0"/>
    <p:restoredTop sz="94514" autoAdjust="0"/>
  </p:normalViewPr>
  <p:slideViewPr>
    <p:cSldViewPr>
      <p:cViewPr varScale="1">
        <p:scale>
          <a:sx n="84" d="100"/>
          <a:sy n="84" d="100"/>
        </p:scale>
        <p:origin x="984" y="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50" d="100"/>
        <a:sy n="50" d="100"/>
      </p:scale>
      <p:origin x="0" y="185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2C942D-D737-411D-A0E8-3545A9B627C6}" type="datetimeFigureOut">
              <a:rPr lang="ru-RU" smtClean="0"/>
              <a:t>19.02.2024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46FDC-1031-4836-92F9-245DF2638E3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603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ctr">
              <a:defRPr sz="4800" b="1" cap="none" spc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19.02.2024</a:t>
            </a:fld>
            <a:endParaRPr lang="ru-RU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rtlCol="0"/>
          <a:lstStyle>
            <a:lvl1pPr algn="ctr"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</a:bodyPr>
          <a:lstStyle>
            <a:lvl1pPr algn="r">
              <a:buNone/>
              <a:defRPr sz="4800" b="1" cap="none" spc="0" baseline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19.02.2024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19.02.2024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19.02.2024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B4C71EC6-210F-42DE-9C53-41977AD35B3D}" type="datetimeFigureOut">
              <a:rPr lang="ru-RU" smtClean="0"/>
              <a:t>19.02.2024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19.02.2024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19.02.2024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B4C71EC6-210F-42DE-9C53-41977AD35B3D}" type="datetimeFigureOut">
              <a:rPr lang="ru-RU" smtClean="0"/>
              <a:t>19.02.2024</a:t>
            </a:fld>
            <a:endParaRPr lang="ru-RU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ru-RU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980728"/>
            <a:ext cx="8784976" cy="3240360"/>
          </a:xfr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algn="ctr"/>
            <a:r>
              <a:rPr lang="en-US" sz="54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Java Script</a:t>
            </a:r>
            <a:br>
              <a:rPr lang="en-US" sz="54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</a:br>
            <a:r>
              <a:rPr lang="en-US" sz="54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(functions)</a:t>
            </a:r>
            <a:endParaRPr lang="ru-RU" sz="13800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134995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/>
        </p:nvSpPr>
        <p:spPr>
          <a:xfrm>
            <a:off x="6804248" y="44624"/>
            <a:ext cx="2160240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functions.html</a:t>
            </a:r>
            <a:endParaRPr lang="ru-RU" b="1" dirty="0"/>
          </a:p>
        </p:txBody>
      </p:sp>
      <p:sp>
        <p:nvSpPr>
          <p:cNvPr id="8" name="TextBox 7"/>
          <p:cNvSpPr txBox="1"/>
          <p:nvPr/>
        </p:nvSpPr>
        <p:spPr>
          <a:xfrm>
            <a:off x="107504" y="548680"/>
            <a:ext cx="8929122" cy="203132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>
                <a:solidFill>
                  <a:srgbClr val="C00000"/>
                </a:solidFill>
              </a:rPr>
              <a:t>Функції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JavaScript </a:t>
            </a:r>
            <a:r>
              <a:rPr lang="ru-RU" dirty="0">
                <a:solidFill>
                  <a:srgbClr val="C00000"/>
                </a:solidFill>
              </a:rPr>
              <a:t>є </a:t>
            </a:r>
            <a:r>
              <a:rPr lang="ru-RU" dirty="0" err="1">
                <a:solidFill>
                  <a:srgbClr val="C00000"/>
                </a:solidFill>
              </a:rPr>
              <a:t>сутностями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ru-RU" dirty="0" err="1">
                <a:solidFill>
                  <a:srgbClr val="C00000"/>
                </a:solidFill>
              </a:rPr>
              <a:t>вищого</a:t>
            </a:r>
            <a:r>
              <a:rPr lang="ru-RU" dirty="0">
                <a:solidFill>
                  <a:srgbClr val="C00000"/>
                </a:solidFill>
              </a:rPr>
              <a:t> порядку</a:t>
            </a:r>
          </a:p>
          <a:p>
            <a:endParaRPr lang="ru-RU" dirty="0">
              <a:solidFill>
                <a:srgbClr val="C00000"/>
              </a:solidFill>
            </a:endParaRPr>
          </a:p>
          <a:p>
            <a:r>
              <a:rPr lang="ru-RU" dirty="0" err="1"/>
              <a:t>Функцію</a:t>
            </a:r>
            <a:r>
              <a:rPr lang="ru-RU" dirty="0"/>
              <a:t> </a:t>
            </a:r>
            <a:r>
              <a:rPr lang="ru-RU" dirty="0" err="1"/>
              <a:t>можна</a:t>
            </a:r>
            <a:endParaRPr lang="ru-RU" dirty="0"/>
          </a:p>
          <a:p>
            <a:r>
              <a:rPr lang="ru-RU" dirty="0" err="1"/>
              <a:t>присвоювати</a:t>
            </a:r>
            <a:r>
              <a:rPr lang="ru-RU" dirty="0"/>
              <a:t> </a:t>
            </a:r>
            <a:r>
              <a:rPr lang="ru-RU" dirty="0" err="1"/>
              <a:t>змінній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зберігати</a:t>
            </a:r>
            <a:r>
              <a:rPr lang="ru-RU" dirty="0"/>
              <a:t> в </a:t>
            </a:r>
            <a:r>
              <a:rPr lang="ru-RU" dirty="0" err="1"/>
              <a:t>об'єкті</a:t>
            </a:r>
            <a:r>
              <a:rPr lang="ru-RU" dirty="0"/>
              <a:t>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масиві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передавати</a:t>
            </a:r>
            <a:r>
              <a:rPr lang="ru-RU" dirty="0"/>
              <a:t> як аргумент на </a:t>
            </a:r>
            <a:r>
              <a:rPr lang="ru-RU" dirty="0" err="1"/>
              <a:t>іншу</a:t>
            </a:r>
            <a:r>
              <a:rPr lang="ru-RU" dirty="0"/>
              <a:t> </a:t>
            </a:r>
            <a:r>
              <a:rPr lang="ru-RU" dirty="0" err="1"/>
              <a:t>функцію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повертати</a:t>
            </a:r>
            <a:r>
              <a:rPr lang="ru-RU" dirty="0"/>
              <a:t> з </a:t>
            </a:r>
            <a:r>
              <a:rPr lang="ru-RU" dirty="0" err="1"/>
              <a:t>функції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85686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67744" y="229290"/>
            <a:ext cx="3600400" cy="2308324"/>
          </a:xfrm>
          <a:prstGeom prst="rect">
            <a:avLst/>
          </a:prstGeom>
          <a:solidFill>
            <a:srgbClr val="FFFF00">
              <a:alpha val="7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endParaRPr lang="ru-RU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function sum(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a, b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) {</a:t>
            </a:r>
          </a:p>
          <a:p>
            <a:r>
              <a:rPr lang="en-US" dirty="0">
                <a:solidFill>
                  <a:srgbClr val="0070C0"/>
                </a:solidFill>
              </a:rPr>
              <a:t>     return a + b;</a:t>
            </a:r>
          </a:p>
          <a:p>
            <a:r>
              <a:rPr lang="en-US" dirty="0">
                <a:solidFill>
                  <a:srgbClr val="0070C0"/>
                </a:solidFill>
              </a:rPr>
              <a:t>}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sum(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4, 5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);</a:t>
            </a:r>
            <a:endParaRPr lang="ru-RU" dirty="0">
              <a:solidFill>
                <a:srgbClr val="0070C0"/>
              </a:solidFill>
            </a:endParaRPr>
          </a:p>
          <a:p>
            <a:endParaRPr lang="en-US" dirty="0">
              <a:solidFill>
                <a:srgbClr val="0070C0"/>
              </a:solidFill>
            </a:endParaRPr>
          </a:p>
        </p:txBody>
      </p:sp>
      <p:grpSp>
        <p:nvGrpSpPr>
          <p:cNvPr id="11" name="Группа 10"/>
          <p:cNvGrpSpPr/>
          <p:nvPr/>
        </p:nvGrpSpPr>
        <p:grpSpPr>
          <a:xfrm>
            <a:off x="215414" y="116632"/>
            <a:ext cx="4572610" cy="472698"/>
            <a:chOff x="215414" y="1372126"/>
            <a:chExt cx="4572610" cy="472698"/>
          </a:xfrm>
        </p:grpSpPr>
        <p:sp>
          <p:nvSpPr>
            <p:cNvPr id="2" name="TextBox 1"/>
            <p:cNvSpPr txBox="1"/>
            <p:nvPr/>
          </p:nvSpPr>
          <p:spPr>
            <a:xfrm>
              <a:off x="215414" y="1372126"/>
              <a:ext cx="1011815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params</a:t>
              </a:r>
            </a:p>
          </p:txBody>
        </p:sp>
        <p:sp>
          <p:nvSpPr>
            <p:cNvPr id="8" name="Левая фигурная скобка 7"/>
            <p:cNvSpPr/>
            <p:nvPr/>
          </p:nvSpPr>
          <p:spPr>
            <a:xfrm rot="5400000">
              <a:off x="4355976" y="1412776"/>
              <a:ext cx="288032" cy="576064"/>
            </a:xfrm>
            <a:prstGeom prst="lef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Прямая соединительная линия 9"/>
            <p:cNvCxnSpPr>
              <a:stCxn id="8" idx="1"/>
              <a:endCxn id="2" idx="3"/>
            </p:cNvCxnSpPr>
            <p:nvPr/>
          </p:nvCxnSpPr>
          <p:spPr>
            <a:xfrm flipH="1">
              <a:off x="1227229" y="1556792"/>
              <a:ext cx="3272763" cy="0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Группа 11"/>
          <p:cNvGrpSpPr/>
          <p:nvPr/>
        </p:nvGrpSpPr>
        <p:grpSpPr>
          <a:xfrm>
            <a:off x="226594" y="2167316"/>
            <a:ext cx="3374342" cy="460796"/>
            <a:chOff x="226594" y="-826077"/>
            <a:chExt cx="3374342" cy="491681"/>
          </a:xfrm>
        </p:grpSpPr>
        <p:sp>
          <p:nvSpPr>
            <p:cNvPr id="13" name="TextBox 12"/>
            <p:cNvSpPr txBox="1"/>
            <p:nvPr/>
          </p:nvSpPr>
          <p:spPr>
            <a:xfrm>
              <a:off x="226594" y="-728483"/>
              <a:ext cx="736099" cy="394087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tx1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b="1" dirty="0" err="1"/>
                <a:t>args</a:t>
              </a:r>
              <a:endParaRPr lang="en-US" b="1" dirty="0"/>
            </a:p>
          </p:txBody>
        </p:sp>
        <p:sp>
          <p:nvSpPr>
            <p:cNvPr id="14" name="Левая фигурная скобка 13"/>
            <p:cNvSpPr/>
            <p:nvPr/>
          </p:nvSpPr>
          <p:spPr>
            <a:xfrm rot="16200000">
              <a:off x="3168889" y="-970094"/>
              <a:ext cx="288030" cy="576064"/>
            </a:xfrm>
            <a:prstGeom prst="lef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Прямая соединительная линия 14"/>
            <p:cNvCxnSpPr>
              <a:stCxn id="14" idx="1"/>
              <a:endCxn id="13" idx="3"/>
            </p:cNvCxnSpPr>
            <p:nvPr/>
          </p:nvCxnSpPr>
          <p:spPr>
            <a:xfrm flipH="1">
              <a:off x="962693" y="-538046"/>
              <a:ext cx="2350211" cy="6607"/>
            </a:xfrm>
            <a:prstGeom prst="lin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>
          <a:xfrm>
            <a:off x="215414" y="3140968"/>
            <a:ext cx="8821082" cy="14773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b="1" dirty="0" err="1"/>
              <a:t>Функція</a:t>
            </a:r>
            <a:r>
              <a:rPr lang="ru-RU" b="1" dirty="0"/>
              <a:t> </a:t>
            </a:r>
            <a:r>
              <a:rPr lang="ru-RU" b="1" dirty="0" err="1"/>
              <a:t>може</a:t>
            </a:r>
            <a:r>
              <a:rPr lang="ru-RU" b="1" dirty="0"/>
              <a:t> </a:t>
            </a:r>
            <a:r>
              <a:rPr lang="ru-RU" b="1" dirty="0" err="1"/>
              <a:t>повертати</a:t>
            </a:r>
            <a:r>
              <a:rPr lang="ru-RU" b="1" dirty="0"/>
              <a:t> </a:t>
            </a:r>
            <a:r>
              <a:rPr lang="ru-RU" b="1" dirty="0" err="1"/>
              <a:t>лише</a:t>
            </a:r>
            <a:r>
              <a:rPr lang="ru-RU" b="1" dirty="0"/>
              <a:t> </a:t>
            </a:r>
            <a:r>
              <a:rPr lang="ru-RU" b="1" dirty="0" err="1"/>
              <a:t>одне</a:t>
            </a:r>
            <a:r>
              <a:rPr lang="ru-RU" b="1" dirty="0"/>
              <a:t> </a:t>
            </a:r>
            <a:r>
              <a:rPr lang="ru-RU" b="1" dirty="0" err="1"/>
              <a:t>значення</a:t>
            </a:r>
            <a:endParaRPr lang="ru-RU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b="1" dirty="0" err="1"/>
              <a:t>Якщо</a:t>
            </a:r>
            <a:r>
              <a:rPr lang="ru-RU" b="1" dirty="0"/>
              <a:t> не </a:t>
            </a:r>
            <a:r>
              <a:rPr lang="ru-RU" b="1" dirty="0" err="1"/>
              <a:t>використовувати</a:t>
            </a:r>
            <a:r>
              <a:rPr lang="ru-RU" b="1" dirty="0"/>
              <a:t> </a:t>
            </a:r>
            <a:r>
              <a:rPr lang="ru-RU" b="1" dirty="0" err="1"/>
              <a:t>return</a:t>
            </a:r>
            <a:r>
              <a:rPr lang="ru-RU" b="1" dirty="0"/>
              <a:t> то </a:t>
            </a:r>
            <a:r>
              <a:rPr lang="ru-RU" b="1" dirty="0" err="1"/>
              <a:t>функція</a:t>
            </a:r>
            <a:r>
              <a:rPr lang="ru-RU" b="1" dirty="0"/>
              <a:t> </a:t>
            </a:r>
            <a:r>
              <a:rPr lang="ru-RU" b="1" dirty="0" err="1"/>
              <a:t>поверне</a:t>
            </a:r>
            <a:r>
              <a:rPr lang="ru-RU" b="1" dirty="0"/>
              <a:t> </a:t>
            </a:r>
            <a:r>
              <a:rPr lang="ru-RU" b="1" dirty="0" err="1"/>
              <a:t>undefined</a:t>
            </a:r>
            <a:endParaRPr lang="ru-RU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b="1" dirty="0" err="1"/>
              <a:t>Якщо</a:t>
            </a:r>
            <a:r>
              <a:rPr lang="ru-RU" b="1" dirty="0"/>
              <a:t> при </a:t>
            </a:r>
            <a:r>
              <a:rPr lang="ru-RU" b="1" dirty="0" err="1"/>
              <a:t>оголошенні</a:t>
            </a:r>
            <a:r>
              <a:rPr lang="ru-RU" b="1" dirty="0"/>
              <a:t> </a:t>
            </a:r>
            <a:r>
              <a:rPr lang="ru-RU" b="1" dirty="0" err="1"/>
              <a:t>функції</a:t>
            </a:r>
            <a:r>
              <a:rPr lang="ru-RU" b="1" dirty="0"/>
              <a:t> </a:t>
            </a:r>
            <a:r>
              <a:rPr lang="ru-RU" b="1" dirty="0" err="1"/>
              <a:t>декларувати</a:t>
            </a:r>
            <a:r>
              <a:rPr lang="ru-RU" b="1" dirty="0"/>
              <a:t> </a:t>
            </a:r>
            <a:r>
              <a:rPr lang="ru-RU" b="1" dirty="0" err="1"/>
              <a:t>параметри</a:t>
            </a:r>
            <a:r>
              <a:rPr lang="ru-RU" b="1" dirty="0"/>
              <a:t>, але при </a:t>
            </a:r>
            <a:r>
              <a:rPr lang="ru-RU" b="1" dirty="0" err="1"/>
              <a:t>виклику</a:t>
            </a:r>
            <a:r>
              <a:rPr lang="ru-RU" b="1" dirty="0"/>
              <a:t> </a:t>
            </a:r>
            <a:r>
              <a:rPr lang="ru-RU" b="1" dirty="0" err="1"/>
              <a:t>функції</a:t>
            </a:r>
            <a:r>
              <a:rPr lang="ru-RU" b="1" dirty="0"/>
              <a:t> не </a:t>
            </a:r>
            <a:r>
              <a:rPr lang="ru-RU" b="1" dirty="0" err="1"/>
              <a:t>передавати</a:t>
            </a:r>
            <a:r>
              <a:rPr lang="ru-RU" b="1" dirty="0"/>
              <a:t> </a:t>
            </a:r>
            <a:r>
              <a:rPr lang="ru-RU" b="1" dirty="0" err="1"/>
              <a:t>аргументи</a:t>
            </a:r>
            <a:r>
              <a:rPr lang="ru-RU" b="1" dirty="0"/>
              <a:t>, </a:t>
            </a:r>
            <a:r>
              <a:rPr lang="ru-RU" b="1" dirty="0" err="1"/>
              <a:t>параметри</a:t>
            </a:r>
            <a:r>
              <a:rPr lang="ru-RU" b="1" dirty="0"/>
              <a:t> </a:t>
            </a:r>
            <a:r>
              <a:rPr lang="ru-RU" b="1" dirty="0" err="1"/>
              <a:t>приймають</a:t>
            </a:r>
            <a:r>
              <a:rPr lang="ru-RU" b="1" dirty="0"/>
              <a:t> </a:t>
            </a:r>
            <a:r>
              <a:rPr lang="ru-RU" b="1" dirty="0" err="1"/>
              <a:t>значення</a:t>
            </a:r>
            <a:r>
              <a:rPr lang="ru-RU" b="1" dirty="0"/>
              <a:t> </a:t>
            </a:r>
            <a:r>
              <a:rPr lang="ru-RU" b="1" dirty="0" err="1"/>
              <a:t>undefined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8855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7504" y="620688"/>
            <a:ext cx="8784976" cy="203132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rgbClr val="0070C0"/>
                </a:solidFill>
              </a:rPr>
              <a:t>function sum(a</a:t>
            </a:r>
            <a:r>
              <a:rPr lang="ru-RU" dirty="0">
                <a:solidFill>
                  <a:srgbClr val="0070C0"/>
                </a:solidFill>
              </a:rPr>
              <a:t> = </a:t>
            </a:r>
            <a:r>
              <a:rPr lang="en-US" dirty="0">
                <a:solidFill>
                  <a:srgbClr val="0070C0"/>
                </a:solidFill>
              </a:rPr>
              <a:t>10, b</a:t>
            </a:r>
            <a:r>
              <a:rPr lang="ru-RU" dirty="0">
                <a:solidFill>
                  <a:srgbClr val="0070C0"/>
                </a:solidFill>
              </a:rPr>
              <a:t> = </a:t>
            </a:r>
            <a:r>
              <a:rPr lang="en-US" dirty="0">
                <a:solidFill>
                  <a:srgbClr val="0070C0"/>
                </a:solidFill>
              </a:rPr>
              <a:t>20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) {</a:t>
            </a:r>
          </a:p>
          <a:p>
            <a:r>
              <a:rPr lang="en-US" dirty="0">
                <a:solidFill>
                  <a:srgbClr val="0070C0"/>
                </a:solidFill>
              </a:rPr>
              <a:t>     return a + b;</a:t>
            </a:r>
          </a:p>
          <a:p>
            <a:r>
              <a:rPr lang="en-US" dirty="0">
                <a:solidFill>
                  <a:srgbClr val="0070C0"/>
                </a:solidFill>
              </a:rPr>
              <a:t>}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sum();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// 30</a:t>
            </a:r>
          </a:p>
          <a:p>
            <a:r>
              <a:rPr lang="en-US" dirty="0">
                <a:solidFill>
                  <a:srgbClr val="0070C0"/>
                </a:solidFill>
              </a:rPr>
              <a:t>sum(20);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// 40</a:t>
            </a:r>
          </a:p>
          <a:p>
            <a:r>
              <a:rPr lang="en-US" dirty="0">
                <a:solidFill>
                  <a:srgbClr val="0070C0"/>
                </a:solidFill>
              </a:rPr>
              <a:t>sum(30, 30);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// 60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7504" y="107340"/>
            <a:ext cx="4392488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 </a:t>
            </a:r>
            <a:r>
              <a:rPr lang="ru-RU" dirty="0" err="1"/>
              <a:t>Параметри</a:t>
            </a:r>
            <a:r>
              <a:rPr lang="ru-RU" dirty="0"/>
              <a:t> за </a:t>
            </a:r>
            <a:r>
              <a:rPr lang="ru-RU" dirty="0" err="1"/>
              <a:t>замовчуванням</a:t>
            </a:r>
            <a:endParaRPr lang="ru-RU" dirty="0"/>
          </a:p>
        </p:txBody>
      </p:sp>
      <p:sp>
        <p:nvSpPr>
          <p:cNvPr id="17" name="TextBox 16"/>
          <p:cNvSpPr txBox="1"/>
          <p:nvPr/>
        </p:nvSpPr>
        <p:spPr>
          <a:xfrm>
            <a:off x="89451" y="2808555"/>
            <a:ext cx="8821082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b="1" dirty="0" err="1"/>
              <a:t>Функція</a:t>
            </a:r>
            <a:r>
              <a:rPr lang="ru-RU" b="1" dirty="0"/>
              <a:t> </a:t>
            </a:r>
            <a:r>
              <a:rPr lang="ru-RU" b="1" dirty="0" err="1"/>
              <a:t>може</a:t>
            </a:r>
            <a:r>
              <a:rPr lang="ru-RU" b="1" dirty="0"/>
              <a:t> </a:t>
            </a:r>
            <a:r>
              <a:rPr lang="ru-RU" b="1" dirty="0" err="1"/>
              <a:t>мати</a:t>
            </a:r>
            <a:r>
              <a:rPr lang="ru-RU" b="1" dirty="0"/>
              <a:t> як </a:t>
            </a:r>
            <a:r>
              <a:rPr lang="ru-RU" b="1" dirty="0" err="1"/>
              <a:t>обов'язкові</a:t>
            </a:r>
            <a:r>
              <a:rPr lang="ru-RU" b="1" dirty="0"/>
              <a:t> </a:t>
            </a:r>
            <a:r>
              <a:rPr lang="ru-RU" b="1" dirty="0" err="1"/>
              <a:t>параметри</a:t>
            </a:r>
            <a:r>
              <a:rPr lang="ru-RU" b="1" dirty="0"/>
              <a:t>, так і за </a:t>
            </a:r>
            <a:r>
              <a:rPr lang="ru-RU" b="1" dirty="0" err="1"/>
              <a:t>замовчуванням</a:t>
            </a:r>
            <a:endParaRPr lang="ru-RU" b="1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b="1" dirty="0" err="1"/>
              <a:t>параметри</a:t>
            </a:r>
            <a:r>
              <a:rPr lang="ru-RU" b="1" dirty="0"/>
              <a:t> за </a:t>
            </a:r>
            <a:r>
              <a:rPr lang="ru-RU" b="1" dirty="0" err="1"/>
              <a:t>промовчанням</a:t>
            </a:r>
            <a:r>
              <a:rPr lang="ru-RU" b="1" dirty="0"/>
              <a:t> </a:t>
            </a:r>
            <a:r>
              <a:rPr lang="ru-RU" b="1" dirty="0" err="1"/>
              <a:t>мають</a:t>
            </a:r>
            <a:r>
              <a:rPr lang="ru-RU" b="1" dirty="0"/>
              <a:t> </a:t>
            </a:r>
            <a:r>
              <a:rPr lang="ru-RU" b="1" dirty="0" err="1"/>
              <a:t>декларуватися</a:t>
            </a:r>
            <a:r>
              <a:rPr lang="ru-RU" b="1" dirty="0"/>
              <a:t> </a:t>
            </a:r>
            <a:r>
              <a:rPr lang="ru-RU" b="1" dirty="0" err="1"/>
              <a:t>після</a:t>
            </a:r>
            <a:r>
              <a:rPr lang="ru-RU" b="1" dirty="0"/>
              <a:t> </a:t>
            </a:r>
            <a:r>
              <a:rPr lang="ru-RU" b="1" dirty="0" err="1"/>
              <a:t>обов'язкових</a:t>
            </a:r>
            <a:r>
              <a:rPr lang="ru-RU" b="1" dirty="0"/>
              <a:t> </a:t>
            </a:r>
            <a:r>
              <a:rPr lang="ru-RU" b="1" dirty="0" err="1"/>
              <a:t>параметрів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79512" y="4437112"/>
            <a:ext cx="8784976" cy="203132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rgbClr val="0070C0"/>
                </a:solidFill>
              </a:rPr>
              <a:t>function sum(a, b</a:t>
            </a:r>
            <a:r>
              <a:rPr lang="ru-RU" dirty="0">
                <a:solidFill>
                  <a:srgbClr val="0070C0"/>
                </a:solidFill>
              </a:rPr>
              <a:t> = </a:t>
            </a:r>
            <a:r>
              <a:rPr lang="en-US" dirty="0">
                <a:solidFill>
                  <a:srgbClr val="0070C0"/>
                </a:solidFill>
              </a:rPr>
              <a:t>20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) {</a:t>
            </a:r>
          </a:p>
          <a:p>
            <a:r>
              <a:rPr lang="en-US" dirty="0">
                <a:solidFill>
                  <a:srgbClr val="0070C0"/>
                </a:solidFill>
              </a:rPr>
              <a:t>     return a + b;</a:t>
            </a:r>
          </a:p>
          <a:p>
            <a:r>
              <a:rPr lang="en-US" dirty="0">
                <a:solidFill>
                  <a:srgbClr val="0070C0"/>
                </a:solidFill>
              </a:rPr>
              <a:t>}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sum();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// -&gt; </a:t>
            </a:r>
            <a:r>
              <a:rPr lang="ru-RU" i="1" dirty="0" err="1">
                <a:solidFill>
                  <a:schemeClr val="bg1">
                    <a:lumMod val="65000"/>
                  </a:schemeClr>
                </a:solidFill>
              </a:rPr>
              <a:t>Що</a:t>
            </a:r>
            <a:r>
              <a:rPr lang="ru-RU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bg1">
                    <a:lumMod val="65000"/>
                  </a:schemeClr>
                </a:solidFill>
              </a:rPr>
              <a:t>поверне</a:t>
            </a:r>
            <a:r>
              <a:rPr lang="ru-RU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bg1">
                    <a:lumMod val="65000"/>
                  </a:schemeClr>
                </a:solidFill>
              </a:rPr>
              <a:t>виклик</a:t>
            </a:r>
            <a:r>
              <a:rPr lang="ru-RU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bg1">
                    <a:lumMod val="65000"/>
                  </a:schemeClr>
                </a:solidFill>
              </a:rPr>
              <a:t>функції</a:t>
            </a:r>
            <a:endParaRPr lang="en-US" i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sum(10);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// -&gt; </a:t>
            </a:r>
            <a:r>
              <a:rPr lang="ru-RU" i="1" dirty="0" err="1">
                <a:solidFill>
                  <a:schemeClr val="bg1">
                    <a:lumMod val="65000"/>
                  </a:schemeClr>
                </a:solidFill>
              </a:rPr>
              <a:t>Що</a:t>
            </a:r>
            <a:r>
              <a:rPr lang="ru-RU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bg1">
                    <a:lumMod val="65000"/>
                  </a:schemeClr>
                </a:solidFill>
              </a:rPr>
              <a:t>поверне</a:t>
            </a:r>
            <a:r>
              <a:rPr lang="ru-RU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bg1">
                    <a:lumMod val="65000"/>
                  </a:schemeClr>
                </a:solidFill>
              </a:rPr>
              <a:t>виклик</a:t>
            </a:r>
            <a:r>
              <a:rPr lang="ru-RU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bg1">
                    <a:lumMod val="65000"/>
                  </a:schemeClr>
                </a:solidFill>
              </a:rPr>
              <a:t>функції</a:t>
            </a:r>
            <a:endParaRPr lang="ru-RU" i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sum(10, 20);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// -&gt; </a:t>
            </a:r>
            <a:r>
              <a:rPr lang="ru-RU" i="1" dirty="0" err="1">
                <a:solidFill>
                  <a:schemeClr val="bg1">
                    <a:lumMod val="65000"/>
                  </a:schemeClr>
                </a:solidFill>
              </a:rPr>
              <a:t>Що</a:t>
            </a:r>
            <a:r>
              <a:rPr lang="ru-RU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bg1">
                    <a:lumMod val="65000"/>
                  </a:schemeClr>
                </a:solidFill>
              </a:rPr>
              <a:t>поверне</a:t>
            </a:r>
            <a:r>
              <a:rPr lang="ru-RU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bg1">
                    <a:lumMod val="65000"/>
                  </a:schemeClr>
                </a:solidFill>
              </a:rPr>
              <a:t>виклик</a:t>
            </a:r>
            <a:r>
              <a:rPr lang="ru-RU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bg1">
                    <a:lumMod val="65000"/>
                  </a:schemeClr>
                </a:solidFill>
              </a:rPr>
              <a:t>функції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920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7504" y="107340"/>
            <a:ext cx="3240360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 </a:t>
            </a:r>
            <a:r>
              <a:rPr lang="ru-RU" dirty="0"/>
              <a:t>Контекст </a:t>
            </a:r>
            <a:r>
              <a:rPr lang="ru-RU" dirty="0" err="1"/>
              <a:t>функц</a:t>
            </a:r>
            <a:r>
              <a:rPr lang="uk-UA" dirty="0" err="1"/>
              <a:t>ії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107504" y="620688"/>
            <a:ext cx="8784976" cy="92333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При </a:t>
            </a:r>
            <a:r>
              <a:rPr lang="ru-RU" dirty="0" err="1"/>
              <a:t>виклик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 </a:t>
            </a:r>
            <a:r>
              <a:rPr lang="ru-RU" dirty="0" err="1"/>
              <a:t>інтерпретатор</a:t>
            </a:r>
            <a:r>
              <a:rPr lang="ru-RU" dirty="0"/>
              <a:t> неявно </a:t>
            </a:r>
            <a:r>
              <a:rPr lang="ru-RU" dirty="0" err="1"/>
              <a:t>створює</a:t>
            </a:r>
            <a:r>
              <a:rPr lang="ru-RU" dirty="0"/>
              <a:t> </a:t>
            </a:r>
            <a:r>
              <a:rPr lang="ru-RU" dirty="0" err="1"/>
              <a:t>всередині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 </a:t>
            </a:r>
            <a:r>
              <a:rPr lang="ru-RU" dirty="0" err="1"/>
              <a:t>змінну</a:t>
            </a:r>
            <a:r>
              <a:rPr lang="ru-RU" dirty="0"/>
              <a:t> </a:t>
            </a:r>
            <a:r>
              <a:rPr lang="en-US" dirty="0">
                <a:solidFill>
                  <a:srgbClr val="C00000"/>
                </a:solidFill>
              </a:rPr>
              <a:t>this</a:t>
            </a:r>
            <a:r>
              <a:rPr lang="en-US" dirty="0"/>
              <a:t> –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називають</a:t>
            </a:r>
            <a:r>
              <a:rPr lang="ru-RU" dirty="0"/>
              <a:t> контекстом </a:t>
            </a:r>
            <a:r>
              <a:rPr lang="ru-RU" dirty="0" err="1"/>
              <a:t>функції</a:t>
            </a:r>
            <a:endParaRPr lang="ru-RU" dirty="0"/>
          </a:p>
          <a:p>
            <a:r>
              <a:rPr lang="ru-RU" dirty="0" err="1"/>
              <a:t>Значення</a:t>
            </a:r>
            <a:r>
              <a:rPr lang="ru-RU" dirty="0"/>
              <a:t> </a:t>
            </a:r>
            <a:r>
              <a:rPr lang="ru-RU" dirty="0" err="1"/>
              <a:t>змінної</a:t>
            </a:r>
            <a:r>
              <a:rPr lang="ru-RU" dirty="0"/>
              <a:t> </a:t>
            </a:r>
            <a:r>
              <a:rPr lang="en-US" dirty="0">
                <a:solidFill>
                  <a:srgbClr val="C00000"/>
                </a:solidFill>
              </a:rPr>
              <a:t>this</a:t>
            </a:r>
            <a:r>
              <a:rPr lang="en-US" dirty="0"/>
              <a:t> </a:t>
            </a:r>
            <a:r>
              <a:rPr lang="ru-RU" dirty="0" err="1"/>
              <a:t>залежить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способу </a:t>
            </a:r>
            <a:r>
              <a:rPr lang="ru-RU" dirty="0" err="1"/>
              <a:t>виклику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07504" y="2492896"/>
            <a:ext cx="8784976" cy="14773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rgbClr val="0070C0"/>
                </a:solidFill>
              </a:rPr>
              <a:t>function </a:t>
            </a:r>
            <a:r>
              <a:rPr lang="en-US" dirty="0" err="1">
                <a:solidFill>
                  <a:srgbClr val="0070C0"/>
                </a:solidFill>
              </a:rPr>
              <a:t>fn</a:t>
            </a:r>
            <a:r>
              <a:rPr lang="en-US" dirty="0">
                <a:solidFill>
                  <a:srgbClr val="0070C0"/>
                </a:solidFill>
              </a:rPr>
              <a:t>() {</a:t>
            </a:r>
          </a:p>
          <a:p>
            <a:r>
              <a:rPr lang="en-US" dirty="0">
                <a:solidFill>
                  <a:srgbClr val="0070C0"/>
                </a:solidFill>
              </a:rPr>
              <a:t>     return this;</a:t>
            </a:r>
          </a:p>
          <a:p>
            <a:r>
              <a:rPr lang="en-US" dirty="0">
                <a:solidFill>
                  <a:srgbClr val="0070C0"/>
                </a:solidFill>
              </a:rPr>
              <a:t>}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 err="1">
                <a:solidFill>
                  <a:srgbClr val="0070C0"/>
                </a:solidFill>
              </a:rPr>
              <a:t>fn</a:t>
            </a:r>
            <a:r>
              <a:rPr lang="en-US" dirty="0">
                <a:solidFill>
                  <a:srgbClr val="0070C0"/>
                </a:solidFill>
              </a:rPr>
              <a:t>();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// Window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7504" y="4233862"/>
            <a:ext cx="8784976" cy="17543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rgbClr val="FF0000"/>
                </a:solidFill>
              </a:rPr>
              <a:t>"use strict";</a:t>
            </a:r>
          </a:p>
          <a:p>
            <a:r>
              <a:rPr lang="en-US" dirty="0">
                <a:solidFill>
                  <a:srgbClr val="0070C0"/>
                </a:solidFill>
              </a:rPr>
              <a:t>function </a:t>
            </a:r>
            <a:r>
              <a:rPr lang="en-US" dirty="0" err="1">
                <a:solidFill>
                  <a:srgbClr val="0070C0"/>
                </a:solidFill>
              </a:rPr>
              <a:t>fn</a:t>
            </a:r>
            <a:r>
              <a:rPr lang="en-US" dirty="0">
                <a:solidFill>
                  <a:srgbClr val="0070C0"/>
                </a:solidFill>
              </a:rPr>
              <a:t>() {</a:t>
            </a:r>
          </a:p>
          <a:p>
            <a:r>
              <a:rPr lang="en-US" dirty="0">
                <a:solidFill>
                  <a:srgbClr val="0070C0"/>
                </a:solidFill>
              </a:rPr>
              <a:t>     return this;</a:t>
            </a:r>
          </a:p>
          <a:p>
            <a:r>
              <a:rPr lang="en-US" dirty="0">
                <a:solidFill>
                  <a:srgbClr val="0070C0"/>
                </a:solidFill>
              </a:rPr>
              <a:t>}</a:t>
            </a:r>
          </a:p>
          <a:p>
            <a:endParaRPr lang="en-US" dirty="0">
              <a:solidFill>
                <a:srgbClr val="0070C0"/>
              </a:solidFill>
            </a:endParaRPr>
          </a:p>
          <a:p>
            <a:r>
              <a:rPr lang="en-US" dirty="0" err="1">
                <a:solidFill>
                  <a:srgbClr val="0070C0"/>
                </a:solidFill>
              </a:rPr>
              <a:t>fn</a:t>
            </a:r>
            <a:r>
              <a:rPr lang="en-US" dirty="0">
                <a:solidFill>
                  <a:srgbClr val="0070C0"/>
                </a:solidFill>
              </a:rPr>
              <a:t>();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// undefined</a:t>
            </a:r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7584" y="2044592"/>
            <a:ext cx="7173604" cy="369332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 </a:t>
            </a:r>
            <a:r>
              <a:rPr lang="ru-RU" dirty="0"/>
              <a:t>При </a:t>
            </a:r>
            <a:r>
              <a:rPr lang="ru-RU" dirty="0" err="1"/>
              <a:t>виклику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 у </a:t>
            </a:r>
            <a:r>
              <a:rPr lang="ru-RU" dirty="0" err="1"/>
              <a:t>глобальній</a:t>
            </a:r>
            <a:r>
              <a:rPr lang="ru-RU" dirty="0"/>
              <a:t> </a:t>
            </a:r>
            <a:r>
              <a:rPr lang="ru-RU" dirty="0" err="1"/>
              <a:t>області</a:t>
            </a:r>
            <a:r>
              <a:rPr lang="ru-RU" dirty="0"/>
              <a:t> </a:t>
            </a:r>
            <a:r>
              <a:rPr lang="ru-RU" dirty="0" err="1"/>
              <a:t>видимості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55662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7504" y="107340"/>
            <a:ext cx="4104456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 Rest </a:t>
            </a:r>
            <a:r>
              <a:rPr lang="ru-RU" dirty="0" err="1"/>
              <a:t>параметри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5292080" y="845096"/>
            <a:ext cx="3096344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 err="1"/>
              <a:t>fn</a:t>
            </a:r>
            <a:r>
              <a:rPr lang="en-US" dirty="0"/>
              <a:t>(1, 2, 3, 4, 5);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520" y="1214428"/>
            <a:ext cx="4752528" cy="175432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function </a:t>
            </a:r>
            <a:r>
              <a:rPr lang="en-US" dirty="0" err="1"/>
              <a:t>fn</a:t>
            </a:r>
            <a:r>
              <a:rPr lang="en-US" dirty="0"/>
              <a:t>(a, b, ...rest) {</a:t>
            </a:r>
          </a:p>
          <a:p>
            <a:endParaRPr lang="en-US" dirty="0"/>
          </a:p>
          <a:p>
            <a:r>
              <a:rPr lang="en-US" b="0" dirty="0"/>
              <a:t>   </a:t>
            </a:r>
            <a:r>
              <a:rPr lang="en-US" dirty="0"/>
              <a:t>console.log(a);</a:t>
            </a:r>
            <a:r>
              <a:rPr lang="en-US" b="0" dirty="0"/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// 1</a:t>
            </a:r>
          </a:p>
          <a:p>
            <a:r>
              <a:rPr lang="en-US" b="0" dirty="0"/>
              <a:t>   </a:t>
            </a:r>
            <a:r>
              <a:rPr lang="en-US" dirty="0"/>
              <a:t>console.log(b);</a:t>
            </a:r>
            <a:r>
              <a:rPr lang="en-US" b="0" dirty="0"/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// 2</a:t>
            </a:r>
          </a:p>
          <a:p>
            <a:r>
              <a:rPr lang="en-US" b="0" dirty="0"/>
              <a:t>   </a:t>
            </a:r>
            <a:r>
              <a:rPr lang="en-US" dirty="0"/>
              <a:t>console.log(rest);</a:t>
            </a:r>
            <a:r>
              <a:rPr lang="en-US" b="0" dirty="0"/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// [3,4,5]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en-US" b="0" dirty="0"/>
              <a:t>}</a:t>
            </a:r>
          </a:p>
        </p:txBody>
      </p:sp>
      <p:cxnSp>
        <p:nvCxnSpPr>
          <p:cNvPr id="3" name="Прямая со стрелкой 2"/>
          <p:cNvCxnSpPr/>
          <p:nvPr/>
        </p:nvCxnSpPr>
        <p:spPr>
          <a:xfrm flipH="1">
            <a:off x="2627784" y="1159840"/>
            <a:ext cx="3168352" cy="684984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Прямая со стрелкой 10"/>
          <p:cNvCxnSpPr/>
          <p:nvPr/>
        </p:nvCxnSpPr>
        <p:spPr>
          <a:xfrm flipH="1">
            <a:off x="2627784" y="1159840"/>
            <a:ext cx="3600400" cy="1045024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Левая фигурная скобка 16"/>
          <p:cNvSpPr/>
          <p:nvPr/>
        </p:nvSpPr>
        <p:spPr>
          <a:xfrm rot="16200000">
            <a:off x="6937949" y="864946"/>
            <a:ext cx="288032" cy="884730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Прямая со стрелкой 17"/>
          <p:cNvCxnSpPr>
            <a:stCxn id="17" idx="1"/>
          </p:cNvCxnSpPr>
          <p:nvPr/>
        </p:nvCxnSpPr>
        <p:spPr>
          <a:xfrm flipH="1">
            <a:off x="2915816" y="1451327"/>
            <a:ext cx="4166149" cy="969561"/>
          </a:xfrm>
          <a:prstGeom prst="straightConnector1">
            <a:avLst/>
          </a:prstGeom>
          <a:ln w="63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6023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7504" y="107340"/>
            <a:ext cx="3240360" cy="369332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en-US" dirty="0"/>
              <a:t> Spread </a:t>
            </a:r>
            <a:r>
              <a:rPr lang="ru-RU" dirty="0"/>
              <a:t>оператор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4908" y="764704"/>
            <a:ext cx="7903475" cy="341632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function </a:t>
            </a:r>
            <a:r>
              <a:rPr lang="en-US" dirty="0" err="1"/>
              <a:t>fn</a:t>
            </a:r>
            <a:r>
              <a:rPr lang="en-US" dirty="0"/>
              <a:t>() {</a:t>
            </a:r>
          </a:p>
          <a:p>
            <a:r>
              <a:rPr lang="en-US" dirty="0"/>
              <a:t>  </a:t>
            </a:r>
            <a:r>
              <a:rPr lang="en-US" dirty="0" err="1"/>
              <a:t>const</a:t>
            </a:r>
            <a:r>
              <a:rPr lang="en-US" dirty="0"/>
              <a:t> </a:t>
            </a:r>
            <a:r>
              <a:rPr lang="en-US" dirty="0" err="1"/>
              <a:t>arr</a:t>
            </a:r>
            <a:r>
              <a:rPr lang="en-US" dirty="0"/>
              <a:t> = [1, 2, 3];</a:t>
            </a:r>
          </a:p>
          <a:p>
            <a:r>
              <a:rPr lang="en-US" dirty="0"/>
              <a:t>  </a:t>
            </a:r>
            <a:r>
              <a:rPr lang="en-US" dirty="0">
                <a:solidFill>
                  <a:srgbClr val="0070C0"/>
                </a:solidFill>
              </a:rPr>
              <a:t>test</a:t>
            </a:r>
            <a:r>
              <a:rPr lang="en-US" dirty="0"/>
              <a:t>(...</a:t>
            </a:r>
            <a:r>
              <a:rPr lang="en-US" dirty="0" err="1"/>
              <a:t>arr</a:t>
            </a:r>
            <a:r>
              <a:rPr lang="en-US" dirty="0"/>
              <a:t>);</a:t>
            </a:r>
          </a:p>
          <a:p>
            <a:r>
              <a:rPr lang="en-US" dirty="0"/>
              <a:t>}</a:t>
            </a:r>
          </a:p>
          <a:p>
            <a:endParaRPr lang="ru-RU" dirty="0"/>
          </a:p>
          <a:p>
            <a:r>
              <a:rPr lang="en-US" dirty="0"/>
              <a:t>function </a:t>
            </a:r>
            <a:r>
              <a:rPr lang="en-US" dirty="0">
                <a:solidFill>
                  <a:srgbClr val="0070C0"/>
                </a:solidFill>
              </a:rPr>
              <a:t>test</a:t>
            </a:r>
            <a:r>
              <a:rPr lang="en-US" dirty="0"/>
              <a:t>(a, b, c) { </a:t>
            </a:r>
          </a:p>
          <a:p>
            <a:r>
              <a:rPr lang="ru-RU" dirty="0"/>
              <a:t>  </a:t>
            </a:r>
            <a:r>
              <a:rPr lang="en-US" dirty="0"/>
              <a:t> console.log(a);</a:t>
            </a:r>
            <a:r>
              <a:rPr lang="ru-RU" dirty="0"/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// 1</a:t>
            </a:r>
          </a:p>
          <a:p>
            <a:r>
              <a:rPr lang="en-US" dirty="0"/>
              <a:t>  </a:t>
            </a:r>
            <a:r>
              <a:rPr lang="ru-RU" dirty="0"/>
              <a:t> </a:t>
            </a:r>
            <a:r>
              <a:rPr lang="en-US" dirty="0"/>
              <a:t>console.log(b);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// 2</a:t>
            </a:r>
          </a:p>
          <a:p>
            <a:r>
              <a:rPr lang="en-US" dirty="0"/>
              <a:t>   console.log(c);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// 3</a:t>
            </a:r>
          </a:p>
          <a:p>
            <a:r>
              <a:rPr lang="en-US" dirty="0"/>
              <a:t>}</a:t>
            </a:r>
          </a:p>
          <a:p>
            <a:br>
              <a:rPr lang="en-US" dirty="0"/>
            </a:br>
            <a:r>
              <a:rPr lang="en-US" dirty="0" err="1"/>
              <a:t>fn</a:t>
            </a:r>
            <a:r>
              <a:rPr lang="en-US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3871827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79512" y="726951"/>
            <a:ext cx="8928992" cy="5078313"/>
          </a:xfrm>
          <a:prstGeom prst="rect">
            <a:avLst/>
          </a:prstGeom>
          <a:solidFill>
            <a:schemeClr val="bg1">
              <a:alpha val="7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                           </a:t>
            </a:r>
          </a:p>
          <a:p>
            <a:r>
              <a:rPr lang="en-US" dirty="0" err="1"/>
              <a:t>var</a:t>
            </a:r>
            <a:r>
              <a:rPr lang="en-US" dirty="0"/>
              <a:t> person = {</a:t>
            </a:r>
          </a:p>
          <a:p>
            <a:r>
              <a:rPr lang="ru-RU" dirty="0"/>
              <a:t>	</a:t>
            </a:r>
            <a:r>
              <a:rPr lang="en-US" dirty="0" err="1"/>
              <a:t>firstName</a:t>
            </a:r>
            <a:r>
              <a:rPr lang="en-US" dirty="0"/>
              <a:t> : 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John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,</a:t>
            </a:r>
          </a:p>
          <a:p>
            <a:r>
              <a:rPr lang="en-US" dirty="0"/>
              <a:t>  </a:t>
            </a:r>
            <a:endParaRPr lang="ru-RU" dirty="0"/>
          </a:p>
          <a:p>
            <a:r>
              <a:rPr lang="ru-RU" dirty="0"/>
              <a:t>  </a:t>
            </a:r>
            <a:r>
              <a:rPr lang="en-US" dirty="0"/>
              <a:t>     </a:t>
            </a:r>
            <a:r>
              <a:rPr lang="en-US" dirty="0" err="1"/>
              <a:t>lastName</a:t>
            </a:r>
            <a:r>
              <a:rPr lang="en-US" dirty="0"/>
              <a:t> : 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Doe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,</a:t>
            </a:r>
          </a:p>
          <a:p>
            <a:endParaRPr lang="ru-RU" dirty="0"/>
          </a:p>
          <a:p>
            <a:r>
              <a:rPr lang="ru-RU" dirty="0"/>
              <a:t>  	</a:t>
            </a:r>
            <a:r>
              <a:rPr lang="en-US" dirty="0"/>
              <a:t>age : 29,</a:t>
            </a:r>
          </a:p>
          <a:p>
            <a:r>
              <a:rPr lang="en-US" dirty="0"/>
              <a:t>  </a:t>
            </a:r>
            <a:endParaRPr lang="ru-RU" dirty="0"/>
          </a:p>
          <a:p>
            <a:r>
              <a:rPr lang="ru-RU" dirty="0"/>
              <a:t>  </a:t>
            </a:r>
            <a:r>
              <a:rPr lang="en-US" dirty="0"/>
              <a:t>     phones: [ </a:t>
            </a:r>
            <a:endParaRPr lang="ru-RU" dirty="0"/>
          </a:p>
          <a:p>
            <a:r>
              <a:rPr lang="ru-RU" dirty="0"/>
              <a:t>           </a:t>
            </a:r>
            <a:r>
              <a:rPr lang="en-US" dirty="0"/>
              <a:t>111222333, </a:t>
            </a:r>
            <a:endParaRPr lang="ru-RU" dirty="0"/>
          </a:p>
          <a:p>
            <a:r>
              <a:rPr lang="ru-RU" dirty="0"/>
              <a:t>           </a:t>
            </a:r>
            <a:r>
              <a:rPr lang="en-US" dirty="0"/>
              <a:t>333444555 </a:t>
            </a:r>
            <a:endParaRPr lang="ru-RU" dirty="0"/>
          </a:p>
          <a:p>
            <a:r>
              <a:rPr lang="ru-RU" dirty="0"/>
              <a:t>        </a:t>
            </a:r>
            <a:r>
              <a:rPr lang="en-US" dirty="0"/>
              <a:t>],       </a:t>
            </a:r>
          </a:p>
          <a:p>
            <a:endParaRPr lang="en-US" dirty="0"/>
          </a:p>
          <a:p>
            <a:r>
              <a:rPr lang="en-US" dirty="0"/>
              <a:t>       </a:t>
            </a:r>
            <a:r>
              <a:rPr lang="en-US" dirty="0" err="1"/>
              <a:t>sayHi</a:t>
            </a:r>
            <a:r>
              <a:rPr lang="en-US" dirty="0"/>
              <a:t> : function(){</a:t>
            </a:r>
          </a:p>
          <a:p>
            <a:r>
              <a:rPr lang="en-US" dirty="0"/>
              <a:t>            return "Hi " + </a:t>
            </a:r>
            <a:r>
              <a:rPr lang="en-US" dirty="0" err="1"/>
              <a:t>this.firstName</a:t>
            </a:r>
            <a:r>
              <a:rPr lang="en-US" dirty="0"/>
              <a:t>;</a:t>
            </a:r>
          </a:p>
          <a:p>
            <a:r>
              <a:rPr lang="en-US" dirty="0"/>
              <a:t>       } </a:t>
            </a:r>
          </a:p>
          <a:p>
            <a:r>
              <a:rPr lang="en-US" dirty="0"/>
              <a:t>};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092280" y="179348"/>
            <a:ext cx="1872208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object.html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131859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107504" y="1628800"/>
            <a:ext cx="8928992" cy="2862322"/>
          </a:xfrm>
          <a:prstGeom prst="rect">
            <a:avLst/>
          </a:prstGeom>
          <a:solidFill>
            <a:schemeClr val="bg1">
              <a:alpha val="7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                           </a:t>
            </a:r>
          </a:p>
          <a:p>
            <a:r>
              <a:rPr lang="en-US" dirty="0" err="1"/>
              <a:t>var</a:t>
            </a:r>
            <a:r>
              <a:rPr lang="en-US" dirty="0"/>
              <a:t> person = {</a:t>
            </a:r>
          </a:p>
          <a:p>
            <a:r>
              <a:rPr lang="ru-RU" dirty="0"/>
              <a:t>	</a:t>
            </a:r>
            <a:r>
              <a:rPr lang="en-US" dirty="0" err="1"/>
              <a:t>firstName</a:t>
            </a:r>
            <a:r>
              <a:rPr lang="en-US" dirty="0"/>
              <a:t> : 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John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,</a:t>
            </a:r>
          </a:p>
          <a:p>
            <a:r>
              <a:rPr lang="en-US" dirty="0"/>
              <a:t>       </a:t>
            </a:r>
            <a:r>
              <a:rPr lang="en-US" dirty="0" err="1"/>
              <a:t>lastName</a:t>
            </a:r>
            <a:r>
              <a:rPr lang="en-US" dirty="0"/>
              <a:t> : 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Doe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,</a:t>
            </a:r>
            <a:endParaRPr lang="ru-RU" dirty="0"/>
          </a:p>
          <a:p>
            <a:r>
              <a:rPr lang="en-US" dirty="0"/>
              <a:t>};</a:t>
            </a:r>
          </a:p>
          <a:p>
            <a:endParaRPr lang="en-US" dirty="0"/>
          </a:p>
          <a:p>
            <a:r>
              <a:rPr lang="en-US" dirty="0"/>
              <a:t>console.log(</a:t>
            </a:r>
            <a:r>
              <a:rPr lang="en-US" dirty="0" err="1"/>
              <a:t>person.</a:t>
            </a:r>
            <a:r>
              <a:rPr lang="en-US" dirty="0" err="1">
                <a:solidFill>
                  <a:srgbClr val="0070C0"/>
                </a:solidFill>
              </a:rPr>
              <a:t>firstName</a:t>
            </a:r>
            <a:r>
              <a:rPr lang="en-US" dirty="0"/>
              <a:t>);</a:t>
            </a:r>
          </a:p>
          <a:p>
            <a:endParaRPr lang="en-US" dirty="0"/>
          </a:p>
          <a:p>
            <a:r>
              <a:rPr lang="en-US" dirty="0"/>
              <a:t>console.log(person</a:t>
            </a:r>
            <a:r>
              <a:rPr lang="en-US" dirty="0">
                <a:solidFill>
                  <a:srgbClr val="0070C0"/>
                </a:solidFill>
              </a:rPr>
              <a:t>["</a:t>
            </a:r>
            <a:r>
              <a:rPr lang="en-US" dirty="0" err="1">
                <a:solidFill>
                  <a:srgbClr val="0070C0"/>
                </a:solidFill>
              </a:rPr>
              <a:t>firstName</a:t>
            </a:r>
            <a:r>
              <a:rPr lang="en-US" dirty="0">
                <a:solidFill>
                  <a:srgbClr val="0070C0"/>
                </a:solidFill>
              </a:rPr>
              <a:t>"]</a:t>
            </a:r>
            <a:r>
              <a:rPr lang="en-US" dirty="0"/>
              <a:t>);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// John</a:t>
            </a: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7504" y="116632"/>
            <a:ext cx="8928992" cy="1200329"/>
          </a:xfrm>
          <a:prstGeom prst="rect">
            <a:avLst/>
          </a:prstGeom>
          <a:solidFill>
            <a:srgbClr val="00B050">
              <a:alpha val="7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Доступ (</a:t>
            </a:r>
            <a:r>
              <a:rPr lang="ru-RU" dirty="0" err="1"/>
              <a:t>access</a:t>
            </a:r>
            <a:r>
              <a:rPr lang="ru-RU" dirty="0"/>
              <a:t>) до </a:t>
            </a:r>
            <a:r>
              <a:rPr lang="ru-RU" dirty="0" err="1"/>
              <a:t>властивостей</a:t>
            </a:r>
            <a:r>
              <a:rPr lang="ru-RU" dirty="0"/>
              <a:t> та </a:t>
            </a:r>
            <a:r>
              <a:rPr lang="ru-RU" dirty="0" err="1"/>
              <a:t>методів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 </a:t>
            </a:r>
            <a:r>
              <a:rPr lang="ru-RU" dirty="0" err="1"/>
              <a:t>здійснюється</a:t>
            </a:r>
            <a:endParaRPr lang="ru-RU" dirty="0"/>
          </a:p>
          <a:p>
            <a:r>
              <a:rPr lang="ru-RU" dirty="0"/>
              <a:t>- через </a:t>
            </a:r>
            <a:r>
              <a:rPr lang="ru-RU" dirty="0" err="1"/>
              <a:t>точену</a:t>
            </a:r>
            <a:r>
              <a:rPr lang="ru-RU" dirty="0"/>
              <a:t> </a:t>
            </a:r>
            <a:r>
              <a:rPr lang="ru-RU" dirty="0" err="1"/>
              <a:t>нотацію</a:t>
            </a:r>
            <a:r>
              <a:rPr lang="ru-RU" dirty="0"/>
              <a:t>;</a:t>
            </a:r>
          </a:p>
          <a:p>
            <a:pPr marL="285750" indent="-285750">
              <a:buFontTx/>
              <a:buChar char="-"/>
            </a:pP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квадратні</a:t>
            </a:r>
            <a:r>
              <a:rPr lang="ru-RU" dirty="0"/>
              <a:t> дужки. </a:t>
            </a:r>
            <a:r>
              <a:rPr lang="ru-RU" dirty="0" err="1"/>
              <a:t>Тоді</a:t>
            </a:r>
            <a:r>
              <a:rPr lang="ru-RU" dirty="0"/>
              <a:t> </a:t>
            </a:r>
            <a:r>
              <a:rPr lang="ru-RU" dirty="0" err="1"/>
              <a:t>ім'я</a:t>
            </a:r>
            <a:r>
              <a:rPr lang="ru-RU" dirty="0"/>
              <a:t> </a:t>
            </a:r>
            <a:r>
              <a:rPr lang="ru-RU" dirty="0" err="1"/>
              <a:t>властивості</a:t>
            </a:r>
            <a:r>
              <a:rPr lang="ru-RU" dirty="0"/>
              <a:t> </a:t>
            </a:r>
            <a:r>
              <a:rPr lang="ru-RU" dirty="0" err="1"/>
              <a:t>вказується</a:t>
            </a:r>
            <a:r>
              <a:rPr lang="ru-RU" dirty="0"/>
              <a:t> у </a:t>
            </a:r>
            <a:endParaRPr lang="en-US" dirty="0"/>
          </a:p>
          <a:p>
            <a:r>
              <a:rPr lang="en-US" dirty="0"/>
              <a:t>  </a:t>
            </a:r>
            <a:r>
              <a:rPr lang="ru-RU" dirty="0" err="1"/>
              <a:t>вигляді</a:t>
            </a:r>
            <a:r>
              <a:rPr lang="ru-RU" dirty="0"/>
              <a:t> рядка</a:t>
            </a:r>
          </a:p>
        </p:txBody>
      </p:sp>
    </p:spTree>
    <p:extLst>
      <p:ext uri="{BB962C8B-B14F-4D97-AF65-F5344CB8AC3E}">
        <p14:creationId xmlns:p14="http://schemas.microsoft.com/office/powerpoint/2010/main" val="8944628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07504" y="188640"/>
            <a:ext cx="8928992" cy="369332"/>
          </a:xfrm>
          <a:prstGeom prst="rect">
            <a:avLst/>
          </a:prstGeom>
          <a:solidFill>
            <a:srgbClr val="00B050">
              <a:alpha val="7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Або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так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504" y="557972"/>
            <a:ext cx="8928992" cy="3139321"/>
          </a:xfrm>
          <a:prstGeom prst="rect">
            <a:avLst/>
          </a:prstGeom>
          <a:solidFill>
            <a:schemeClr val="bg1">
              <a:alpha val="7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const person = {}; </a:t>
            </a:r>
            <a:r>
              <a:rPr lang="ru-RU" dirty="0"/>
              <a:t>   </a:t>
            </a:r>
            <a:r>
              <a:rPr lang="en-US" i="1" dirty="0">
                <a:solidFill>
                  <a:srgbClr val="0070C0"/>
                </a:solidFill>
              </a:rPr>
              <a:t>//</a:t>
            </a:r>
            <a:r>
              <a:rPr lang="ru-RU" i="1" dirty="0">
                <a:solidFill>
                  <a:srgbClr val="0070C0"/>
                </a:solidFill>
              </a:rPr>
              <a:t> </a:t>
            </a:r>
            <a:r>
              <a:rPr lang="ru-RU" i="1" dirty="0" err="1">
                <a:solidFill>
                  <a:srgbClr val="0070C0"/>
                </a:solidFill>
              </a:rPr>
              <a:t>еквівалентно</a:t>
            </a:r>
            <a:r>
              <a:rPr lang="ru-RU" i="1" dirty="0">
                <a:solidFill>
                  <a:srgbClr val="0070C0"/>
                </a:solidFill>
              </a:rPr>
              <a:t>  </a:t>
            </a:r>
            <a:r>
              <a:rPr lang="en-US" i="1" dirty="0">
                <a:solidFill>
                  <a:srgbClr val="0070C0"/>
                </a:solidFill>
              </a:rPr>
              <a:t>new Object()</a:t>
            </a:r>
          </a:p>
          <a:p>
            <a:endParaRPr lang="en-US" dirty="0"/>
          </a:p>
          <a:p>
            <a:r>
              <a:rPr lang="en-US" dirty="0" err="1"/>
              <a:t>person.firstName</a:t>
            </a:r>
            <a:r>
              <a:rPr lang="en-US" dirty="0"/>
              <a:t> = 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John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person["</a:t>
            </a:r>
            <a:r>
              <a:rPr lang="en-US" dirty="0" err="1"/>
              <a:t>lastName</a:t>
            </a:r>
            <a:r>
              <a:rPr lang="en-US" dirty="0"/>
              <a:t>"] = 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Doe</a:t>
            </a:r>
            <a:r>
              <a:rPr lang="en-US" dirty="0">
                <a:cs typeface="Courier New"/>
              </a:rPr>
              <a:t>"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 err="1"/>
              <a:t>person.age</a:t>
            </a:r>
            <a:r>
              <a:rPr lang="en-US" dirty="0"/>
              <a:t> = 29;</a:t>
            </a:r>
          </a:p>
          <a:p>
            <a:endParaRPr lang="en-US" dirty="0"/>
          </a:p>
          <a:p>
            <a:r>
              <a:rPr lang="en-US" dirty="0" err="1"/>
              <a:t>person.fullName</a:t>
            </a:r>
            <a:r>
              <a:rPr lang="en-US" dirty="0"/>
              <a:t> = function(){</a:t>
            </a:r>
          </a:p>
          <a:p>
            <a:r>
              <a:rPr lang="en-US" dirty="0"/>
              <a:t>     return </a:t>
            </a:r>
            <a:r>
              <a:rPr lang="en-US" dirty="0" err="1"/>
              <a:t>this.firstName</a:t>
            </a:r>
            <a:r>
              <a:rPr lang="en-US" dirty="0"/>
              <a:t> + " " + </a:t>
            </a:r>
            <a:r>
              <a:rPr lang="en-US" dirty="0" err="1"/>
              <a:t>this.lastName</a:t>
            </a:r>
            <a:r>
              <a:rPr lang="en-US" dirty="0"/>
              <a:t>;</a:t>
            </a:r>
          </a:p>
          <a:p>
            <a:r>
              <a:rPr lang="en-US" dirty="0"/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393446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30291" y="44624"/>
            <a:ext cx="5544616" cy="369332"/>
          </a:xfrm>
          <a:prstGeom prst="rect">
            <a:avLst/>
          </a:prstGeom>
          <a:solidFill>
            <a:srgbClr val="00B050">
              <a:alpha val="7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Ітерація</a:t>
            </a:r>
            <a:r>
              <a:rPr lang="ru-RU" dirty="0"/>
              <a:t> за </a:t>
            </a:r>
            <a:r>
              <a:rPr lang="ru-RU" dirty="0" err="1"/>
              <a:t>властивостями</a:t>
            </a:r>
            <a:r>
              <a:rPr lang="ru-RU" dirty="0"/>
              <a:t> </a:t>
            </a:r>
            <a:r>
              <a:rPr lang="ru-RU" dirty="0" err="1"/>
              <a:t>об'єкту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107504" y="557972"/>
            <a:ext cx="6408712" cy="3693319"/>
          </a:xfrm>
          <a:prstGeom prst="rect">
            <a:avLst/>
          </a:prstGeom>
          <a:solidFill>
            <a:schemeClr val="bg1">
              <a:alpha val="7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rgbClr val="C00000"/>
                </a:solidFill>
              </a:rPr>
              <a:t>person</a:t>
            </a:r>
            <a:r>
              <a:rPr lang="en-US" dirty="0"/>
              <a:t> = {</a:t>
            </a:r>
          </a:p>
          <a:p>
            <a:r>
              <a:rPr lang="en-US" dirty="0"/>
              <a:t>    name: 'Clark',</a:t>
            </a:r>
          </a:p>
          <a:p>
            <a:r>
              <a:rPr lang="en-US" dirty="0"/>
              <a:t>    surname: '</a:t>
            </a:r>
            <a:r>
              <a:rPr lang="en-US" dirty="0" err="1"/>
              <a:t>Griphits</a:t>
            </a:r>
            <a:r>
              <a:rPr lang="en-US" dirty="0"/>
              <a:t>',</a:t>
            </a:r>
          </a:p>
          <a:p>
            <a:r>
              <a:rPr lang="en-US" dirty="0"/>
              <a:t>    age: 33,</a:t>
            </a:r>
          </a:p>
          <a:p>
            <a:r>
              <a:rPr lang="en-US" dirty="0"/>
              <a:t>    phone: 445566</a:t>
            </a:r>
          </a:p>
          <a:p>
            <a:r>
              <a:rPr lang="en-US" dirty="0"/>
              <a:t>};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let </a:t>
            </a:r>
            <a:r>
              <a:rPr lang="en-US" dirty="0">
                <a:solidFill>
                  <a:srgbClr val="0070C0"/>
                </a:solidFill>
              </a:rPr>
              <a:t>item</a:t>
            </a:r>
            <a:r>
              <a:rPr lang="en-US" dirty="0"/>
              <a:t>;</a:t>
            </a:r>
          </a:p>
          <a:p>
            <a:endParaRPr lang="en-US" dirty="0"/>
          </a:p>
          <a:p>
            <a:r>
              <a:rPr lang="en-US" dirty="0"/>
              <a:t>for(</a:t>
            </a:r>
            <a:r>
              <a:rPr lang="en-US" dirty="0">
                <a:solidFill>
                  <a:srgbClr val="0070C0"/>
                </a:solidFill>
              </a:rPr>
              <a:t>item</a:t>
            </a:r>
            <a:r>
              <a:rPr lang="en-US" dirty="0"/>
              <a:t> in </a:t>
            </a:r>
            <a:r>
              <a:rPr lang="en-US" dirty="0">
                <a:solidFill>
                  <a:srgbClr val="C00000"/>
                </a:solidFill>
              </a:rPr>
              <a:t>person</a:t>
            </a:r>
            <a:r>
              <a:rPr lang="en-US" dirty="0"/>
              <a:t>) {</a:t>
            </a:r>
          </a:p>
          <a:p>
            <a:r>
              <a:rPr lang="en-US" dirty="0"/>
              <a:t>    console.log(</a:t>
            </a:r>
            <a:r>
              <a:rPr lang="en-US" dirty="0">
                <a:solidFill>
                  <a:srgbClr val="0070C0"/>
                </a:solidFill>
              </a:rPr>
              <a:t>item</a:t>
            </a:r>
            <a:r>
              <a:rPr lang="en-US" dirty="0"/>
              <a:t>, " = ", </a:t>
            </a:r>
            <a:r>
              <a:rPr lang="en-US" dirty="0">
                <a:solidFill>
                  <a:srgbClr val="C00000"/>
                </a:solidFill>
              </a:rPr>
              <a:t>person</a:t>
            </a:r>
            <a:r>
              <a:rPr lang="en-US" dirty="0"/>
              <a:t>[</a:t>
            </a:r>
            <a:r>
              <a:rPr lang="en-US" dirty="0">
                <a:solidFill>
                  <a:srgbClr val="0070C0"/>
                </a:solidFill>
              </a:rPr>
              <a:t>item</a:t>
            </a:r>
            <a:r>
              <a:rPr lang="en-US" dirty="0"/>
              <a:t>]);</a:t>
            </a:r>
          </a:p>
          <a:p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36656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A8AD661F-C19E-447E-ADB7-6FFAD630A2D5}"/>
              </a:ext>
            </a:extLst>
          </p:cNvPr>
          <p:cNvSpPr txBox="1">
            <a:spLocks/>
          </p:cNvSpPr>
          <p:nvPr/>
        </p:nvSpPr>
        <p:spPr>
          <a:xfrm>
            <a:off x="179512" y="1988840"/>
            <a:ext cx="8784976" cy="1080120"/>
          </a:xfrm>
          <a:prstGeom prst="rect">
            <a:avLst/>
          </a:prstGeom>
        </p:spPr>
        <p:txBody>
          <a:bodyPr>
            <a:no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sz="4100" b="1" kern="120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  <a:extLst/>
          </a:lstStyle>
          <a:p>
            <a:pPr algn="ctr"/>
            <a:r>
              <a:rPr lang="en-US" sz="8000" spc="50" dirty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</a:rPr>
              <a:t>Reference types</a:t>
            </a:r>
            <a:endParaRPr lang="ru-RU" sz="8000" spc="50" dirty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88063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51520" y="3051602"/>
          <a:ext cx="871296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2161">
                  <a:extLst>
                    <a:ext uri="{9D8B030D-6E8A-4147-A177-3AD203B41FA5}">
                      <a16:colId xmlns:a16="http://schemas.microsoft.com/office/drawing/2014/main" val="1549406448"/>
                    </a:ext>
                  </a:extLst>
                </a:gridCol>
                <a:gridCol w="1452161">
                  <a:extLst>
                    <a:ext uri="{9D8B030D-6E8A-4147-A177-3AD203B41FA5}">
                      <a16:colId xmlns:a16="http://schemas.microsoft.com/office/drawing/2014/main" val="417488402"/>
                    </a:ext>
                  </a:extLst>
                </a:gridCol>
                <a:gridCol w="1452161">
                  <a:extLst>
                    <a:ext uri="{9D8B030D-6E8A-4147-A177-3AD203B41FA5}">
                      <a16:colId xmlns:a16="http://schemas.microsoft.com/office/drawing/2014/main" val="281288882"/>
                    </a:ext>
                  </a:extLst>
                </a:gridCol>
                <a:gridCol w="1452161">
                  <a:extLst>
                    <a:ext uri="{9D8B030D-6E8A-4147-A177-3AD203B41FA5}">
                      <a16:colId xmlns:a16="http://schemas.microsoft.com/office/drawing/2014/main" val="1709889850"/>
                    </a:ext>
                  </a:extLst>
                </a:gridCol>
                <a:gridCol w="1452161">
                  <a:extLst>
                    <a:ext uri="{9D8B030D-6E8A-4147-A177-3AD203B41FA5}">
                      <a16:colId xmlns:a16="http://schemas.microsoft.com/office/drawing/2014/main" val="2748829747"/>
                    </a:ext>
                  </a:extLst>
                </a:gridCol>
                <a:gridCol w="1452161">
                  <a:extLst>
                    <a:ext uri="{9D8B030D-6E8A-4147-A177-3AD203B41FA5}">
                      <a16:colId xmlns:a16="http://schemas.microsoft.com/office/drawing/2014/main" val="28878349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537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0x8197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0x8198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0x8199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0x81A0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0x81A1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0x81A2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47614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51520" y="552922"/>
            <a:ext cx="4608512" cy="203132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19" name="Прямая со стрелкой 18"/>
          <p:cNvCxnSpPr/>
          <p:nvPr/>
        </p:nvCxnSpPr>
        <p:spPr>
          <a:xfrm>
            <a:off x="971600" y="816216"/>
            <a:ext cx="1152128" cy="2401002"/>
          </a:xfrm>
          <a:prstGeom prst="straightConnector1">
            <a:avLst/>
          </a:prstGeom>
          <a:ln w="63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58905" y="968420"/>
            <a:ext cx="14253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let b = a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5083725" y="305311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42</a:t>
            </a:r>
            <a:endParaRPr lang="en-US" b="1" dirty="0"/>
          </a:p>
        </p:txBody>
      </p:sp>
      <p:cxnSp>
        <p:nvCxnSpPr>
          <p:cNvPr id="22" name="Прямая со стрелкой 21"/>
          <p:cNvCxnSpPr/>
          <p:nvPr/>
        </p:nvCxnSpPr>
        <p:spPr>
          <a:xfrm>
            <a:off x="971600" y="1248264"/>
            <a:ext cx="4342316" cy="1752930"/>
          </a:xfrm>
          <a:prstGeom prst="straightConnector1">
            <a:avLst/>
          </a:prstGeom>
          <a:ln w="63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51520" y="548680"/>
            <a:ext cx="1563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let a = 42</a:t>
            </a:r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2123728" y="306391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42</a:t>
            </a:r>
            <a:endParaRPr lang="en-US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215904" y="107340"/>
            <a:ext cx="7686854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chemeClr val="accent2"/>
                </a:solidFill>
              </a:rPr>
              <a:t>простые типы (</a:t>
            </a:r>
            <a:r>
              <a:rPr lang="en-US" b="1" dirty="0">
                <a:solidFill>
                  <a:schemeClr val="accent2"/>
                </a:solidFill>
              </a:rPr>
              <a:t>primitive types</a:t>
            </a:r>
            <a:r>
              <a:rPr lang="ru-RU" b="1" dirty="0">
                <a:solidFill>
                  <a:schemeClr val="accent2"/>
                </a:solidFill>
              </a:rPr>
              <a:t>) копируются</a:t>
            </a:r>
            <a:r>
              <a:rPr lang="en-US" b="1" dirty="0">
                <a:solidFill>
                  <a:schemeClr val="accent2"/>
                </a:solidFill>
              </a:rPr>
              <a:t> </a:t>
            </a:r>
            <a:r>
              <a:rPr lang="ru-RU" b="1" dirty="0">
                <a:solidFill>
                  <a:schemeClr val="accent2"/>
                </a:solidFill>
              </a:rPr>
              <a:t>по значению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5771" y="1387904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 = 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5904" y="1831118"/>
            <a:ext cx="3079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console.log(a)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// 42</a:t>
            </a:r>
          </a:p>
          <a:p>
            <a:r>
              <a:rPr lang="en-US" b="1" dirty="0"/>
              <a:t>console.log(b)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// 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14795" y="3053110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100</a:t>
            </a:r>
            <a:endParaRPr lang="en-US" b="1" dirty="0"/>
          </a:p>
        </p:txBody>
      </p:sp>
      <p:cxnSp>
        <p:nvCxnSpPr>
          <p:cNvPr id="32" name="Прямая со стрелкой 31"/>
          <p:cNvCxnSpPr/>
          <p:nvPr/>
        </p:nvCxnSpPr>
        <p:spPr>
          <a:xfrm>
            <a:off x="539552" y="1668004"/>
            <a:ext cx="4774364" cy="1333190"/>
          </a:xfrm>
          <a:prstGeom prst="straightConnector1">
            <a:avLst/>
          </a:prstGeom>
          <a:ln w="63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3442" y="3898376"/>
            <a:ext cx="8929122" cy="258532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/>
              <a:t>Що відбувається, коли ми копіюємо прості типи   </a:t>
            </a:r>
            <a:r>
              <a:rPr lang="en-US" dirty="0">
                <a:solidFill>
                  <a:srgbClr val="C00000"/>
                </a:solidFill>
              </a:rPr>
              <a:t>let b = a;</a:t>
            </a:r>
          </a:p>
          <a:p>
            <a:r>
              <a:rPr lang="uk-UA" dirty="0">
                <a:solidFill>
                  <a:srgbClr val="0070C0"/>
                </a:solidFill>
              </a:rPr>
              <a:t>Інтерпретатор</a:t>
            </a:r>
          </a:p>
          <a:p>
            <a:r>
              <a:rPr lang="uk-UA" dirty="0"/>
              <a:t>іде за </a:t>
            </a:r>
            <a:r>
              <a:rPr lang="uk-UA" dirty="0" err="1"/>
              <a:t>адресою</a:t>
            </a:r>
            <a:r>
              <a:rPr lang="uk-UA" dirty="0"/>
              <a:t> 0</a:t>
            </a:r>
            <a:r>
              <a:rPr lang="en-US" dirty="0">
                <a:solidFill>
                  <a:srgbClr val="002060"/>
                </a:solidFill>
              </a:rPr>
              <a:t>x8198</a:t>
            </a:r>
            <a:r>
              <a:rPr lang="en-US" dirty="0"/>
              <a:t>,</a:t>
            </a:r>
            <a:r>
              <a:rPr lang="uk-UA" dirty="0"/>
              <a:t> дістає звідти значення </a:t>
            </a:r>
            <a:r>
              <a:rPr lang="uk-UA" dirty="0">
                <a:solidFill>
                  <a:srgbClr val="C00000"/>
                </a:solidFill>
              </a:rPr>
              <a:t>42</a:t>
            </a:r>
            <a:r>
              <a:rPr lang="uk-UA" dirty="0"/>
              <a:t>;</a:t>
            </a:r>
          </a:p>
          <a:p>
            <a:r>
              <a:rPr lang="uk-UA" dirty="0"/>
              <a:t>створює нову </a:t>
            </a:r>
            <a:r>
              <a:rPr lang="uk-UA" dirty="0" err="1"/>
              <a:t>ячейку</a:t>
            </a:r>
            <a:r>
              <a:rPr lang="uk-UA" dirty="0"/>
              <a:t> пам'яті з </a:t>
            </a:r>
            <a:r>
              <a:rPr lang="uk-UA" dirty="0" err="1"/>
              <a:t>алресою</a:t>
            </a:r>
            <a:r>
              <a:rPr lang="uk-UA" dirty="0"/>
              <a:t> 0</a:t>
            </a:r>
            <a:r>
              <a:rPr lang="en-US" dirty="0"/>
              <a:t>x81A0, </a:t>
            </a:r>
            <a:r>
              <a:rPr lang="uk-UA" dirty="0"/>
              <a:t>в яку, записує </a:t>
            </a:r>
            <a:r>
              <a:rPr lang="uk-UA" dirty="0">
                <a:solidFill>
                  <a:srgbClr val="C00000"/>
                </a:solidFill>
              </a:rPr>
              <a:t>42</a:t>
            </a:r>
            <a:r>
              <a:rPr lang="uk-UA" dirty="0"/>
              <a:t>;</a:t>
            </a:r>
          </a:p>
          <a:p>
            <a:r>
              <a:rPr lang="uk-UA" dirty="0"/>
              <a:t>повертає у змінну адресу цієї </a:t>
            </a:r>
            <a:r>
              <a:rPr lang="uk-UA" dirty="0" err="1"/>
              <a:t>ячейки</a:t>
            </a:r>
            <a:r>
              <a:rPr lang="uk-UA" dirty="0"/>
              <a:t>.</a:t>
            </a:r>
          </a:p>
          <a:p>
            <a:endParaRPr lang="uk-UA" dirty="0"/>
          </a:p>
          <a:p>
            <a:r>
              <a:rPr lang="uk-UA" dirty="0"/>
              <a:t>Значення змінних </a:t>
            </a:r>
            <a:r>
              <a:rPr lang="en-US" dirty="0">
                <a:solidFill>
                  <a:srgbClr val="C00000"/>
                </a:solidFill>
              </a:rPr>
              <a:t>a</a:t>
            </a:r>
            <a:r>
              <a:rPr lang="en-US" dirty="0"/>
              <a:t> </a:t>
            </a:r>
            <a:r>
              <a:rPr lang="uk-UA" dirty="0"/>
              <a:t>і </a:t>
            </a:r>
            <a:r>
              <a:rPr lang="en-US" dirty="0">
                <a:solidFill>
                  <a:srgbClr val="C00000"/>
                </a:solidFill>
              </a:rPr>
              <a:t>b</a:t>
            </a:r>
            <a:r>
              <a:rPr lang="en-US" dirty="0"/>
              <a:t> </a:t>
            </a:r>
            <a:r>
              <a:rPr lang="uk-UA" dirty="0"/>
              <a:t>рівні зберігаються в різних </a:t>
            </a:r>
            <a:r>
              <a:rPr lang="uk-UA" dirty="0" err="1"/>
              <a:t>ячейках</a:t>
            </a:r>
            <a:r>
              <a:rPr lang="uk-UA" dirty="0"/>
              <a:t> пам'яті і тому коли ми виконали</a:t>
            </a:r>
            <a:r>
              <a:rPr lang="uk-UA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b = 100</a:t>
            </a:r>
            <a:r>
              <a:rPr lang="en-US" dirty="0"/>
              <a:t>; </a:t>
            </a:r>
            <a:r>
              <a:rPr lang="uk-UA" dirty="0"/>
              <a:t>то значення у змінній </a:t>
            </a:r>
            <a:r>
              <a:rPr lang="en-US" dirty="0">
                <a:solidFill>
                  <a:srgbClr val="C00000"/>
                </a:solidFill>
              </a:rPr>
              <a:t>a</a:t>
            </a:r>
            <a:r>
              <a:rPr lang="en-US" dirty="0"/>
              <a:t> </a:t>
            </a:r>
            <a:r>
              <a:rPr lang="uk-UA" dirty="0"/>
              <a:t>не змінилося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36769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xit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1" grpId="1"/>
      <p:bldP spid="24" grpId="0"/>
      <p:bldP spid="25" grpId="0"/>
      <p:bldP spid="27" grpId="0"/>
      <p:bldP spid="28" grpId="0"/>
      <p:bldP spid="29" grpId="0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2087724" y="44624"/>
            <a:ext cx="4968552" cy="369332"/>
          </a:xfrm>
          <a:prstGeom prst="rect">
            <a:avLst/>
          </a:prstGeom>
          <a:ln w="28575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rgbClr val="FF0000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r>
              <a:rPr lang="ru-RU" dirty="0"/>
              <a:t>Коп</a:t>
            </a:r>
            <a:r>
              <a:rPr lang="uk-UA" dirty="0" err="1"/>
              <a:t>іювання</a:t>
            </a:r>
            <a:r>
              <a:rPr lang="ru-RU" dirty="0"/>
              <a:t> </a:t>
            </a:r>
            <a:r>
              <a:rPr lang="en-US" dirty="0"/>
              <a:t>reference types</a:t>
            </a:r>
            <a:endParaRPr lang="ru-RU" dirty="0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51520" y="4559528"/>
          <a:ext cx="871296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2161">
                  <a:extLst>
                    <a:ext uri="{9D8B030D-6E8A-4147-A177-3AD203B41FA5}">
                      <a16:colId xmlns:a16="http://schemas.microsoft.com/office/drawing/2014/main" val="1549406448"/>
                    </a:ext>
                  </a:extLst>
                </a:gridCol>
                <a:gridCol w="1452161">
                  <a:extLst>
                    <a:ext uri="{9D8B030D-6E8A-4147-A177-3AD203B41FA5}">
                      <a16:colId xmlns:a16="http://schemas.microsoft.com/office/drawing/2014/main" val="417488402"/>
                    </a:ext>
                  </a:extLst>
                </a:gridCol>
                <a:gridCol w="1452161">
                  <a:extLst>
                    <a:ext uri="{9D8B030D-6E8A-4147-A177-3AD203B41FA5}">
                      <a16:colId xmlns:a16="http://schemas.microsoft.com/office/drawing/2014/main" val="281288882"/>
                    </a:ext>
                  </a:extLst>
                </a:gridCol>
                <a:gridCol w="1452161">
                  <a:extLst>
                    <a:ext uri="{9D8B030D-6E8A-4147-A177-3AD203B41FA5}">
                      <a16:colId xmlns:a16="http://schemas.microsoft.com/office/drawing/2014/main" val="1709889850"/>
                    </a:ext>
                  </a:extLst>
                </a:gridCol>
                <a:gridCol w="1452161">
                  <a:extLst>
                    <a:ext uri="{9D8B030D-6E8A-4147-A177-3AD203B41FA5}">
                      <a16:colId xmlns:a16="http://schemas.microsoft.com/office/drawing/2014/main" val="2748829747"/>
                    </a:ext>
                  </a:extLst>
                </a:gridCol>
                <a:gridCol w="1452161">
                  <a:extLst>
                    <a:ext uri="{9D8B030D-6E8A-4147-A177-3AD203B41FA5}">
                      <a16:colId xmlns:a16="http://schemas.microsoft.com/office/drawing/2014/main" val="28878349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537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0x8197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0x8198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0x8199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0x81A0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0x81A1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0x81A2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47614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79512" y="548680"/>
            <a:ext cx="5904656" cy="313932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/>
              <a:t>const</a:t>
            </a:r>
            <a:r>
              <a:rPr lang="en-US" b="1" dirty="0"/>
              <a:t> person = {</a:t>
            </a:r>
          </a:p>
          <a:p>
            <a:r>
              <a:rPr lang="en-US" b="1" dirty="0"/>
              <a:t>    name: "Bill"</a:t>
            </a:r>
          </a:p>
          <a:p>
            <a:r>
              <a:rPr lang="en-US" b="1" dirty="0"/>
              <a:t>}</a:t>
            </a:r>
          </a:p>
          <a:p>
            <a:endParaRPr lang="en-US" b="1" dirty="0"/>
          </a:p>
          <a:p>
            <a:r>
              <a:rPr lang="en-US" b="1" dirty="0"/>
              <a:t>function </a:t>
            </a:r>
            <a:r>
              <a:rPr lang="en-US" b="1" dirty="0" err="1"/>
              <a:t>setName</a:t>
            </a:r>
            <a:r>
              <a:rPr lang="en-US" b="1" dirty="0"/>
              <a:t>(</a:t>
            </a:r>
            <a:r>
              <a:rPr lang="en-US" b="1" dirty="0" err="1"/>
              <a:t>ob</a:t>
            </a:r>
            <a:r>
              <a:rPr lang="en-US" b="1" dirty="0"/>
              <a:t>) {</a:t>
            </a:r>
          </a:p>
          <a:p>
            <a:r>
              <a:rPr lang="en-US" b="1" dirty="0"/>
              <a:t>    ob.name  = "Paul"</a:t>
            </a:r>
          </a:p>
          <a:p>
            <a:r>
              <a:rPr lang="en-US" b="1" dirty="0"/>
              <a:t>}</a:t>
            </a:r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endParaRPr lang="en-US" dirty="0"/>
          </a:p>
        </p:txBody>
      </p:sp>
      <p:cxnSp>
        <p:nvCxnSpPr>
          <p:cNvPr id="19" name="Прямая со стрелкой 18"/>
          <p:cNvCxnSpPr>
            <a:endCxn id="25" idx="0"/>
          </p:cNvCxnSpPr>
          <p:nvPr/>
        </p:nvCxnSpPr>
        <p:spPr>
          <a:xfrm>
            <a:off x="1475656" y="869093"/>
            <a:ext cx="865948" cy="3690435"/>
          </a:xfrm>
          <a:prstGeom prst="straightConnector1">
            <a:avLst/>
          </a:prstGeom>
          <a:ln w="63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1559998" y="836712"/>
            <a:ext cx="1188249" cy="952615"/>
          </a:xfrm>
          <a:prstGeom prst="straightConnector1">
            <a:avLst/>
          </a:prstGeom>
          <a:ln w="28575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835696" y="4559528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person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512" y="2553998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setName</a:t>
            </a:r>
            <a:r>
              <a:rPr lang="en-US" b="1" dirty="0"/>
              <a:t>(person);</a:t>
            </a:r>
          </a:p>
        </p:txBody>
      </p:sp>
      <p:cxnSp>
        <p:nvCxnSpPr>
          <p:cNvPr id="30" name="Прямая со стрелкой 29"/>
          <p:cNvCxnSpPr>
            <a:endCxn id="25" idx="0"/>
          </p:cNvCxnSpPr>
          <p:nvPr/>
        </p:nvCxnSpPr>
        <p:spPr>
          <a:xfrm flipH="1">
            <a:off x="2341604" y="1920160"/>
            <a:ext cx="439562" cy="2639368"/>
          </a:xfrm>
          <a:prstGeom prst="straightConnector1">
            <a:avLst/>
          </a:prstGeom>
          <a:ln w="28575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79512" y="3104900"/>
            <a:ext cx="4968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console.log(person.name); </a:t>
            </a:r>
            <a:r>
              <a:rPr lang="en-US" b="1" dirty="0">
                <a:solidFill>
                  <a:schemeClr val="bg1">
                    <a:lumMod val="75000"/>
                  </a:schemeClr>
                </a:solidFill>
              </a:rPr>
              <a:t>// Paul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439" y="5399701"/>
            <a:ext cx="8929122" cy="1200329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i="1" dirty="0" err="1">
                <a:solidFill>
                  <a:srgbClr val="0070C0"/>
                </a:solidFill>
              </a:rPr>
              <a:t>Що</a:t>
            </a:r>
            <a:r>
              <a:rPr lang="ru-RU" i="1" dirty="0">
                <a:solidFill>
                  <a:srgbClr val="0070C0"/>
                </a:solidFill>
              </a:rPr>
              <a:t> </a:t>
            </a:r>
            <a:r>
              <a:rPr lang="ru-RU" i="1" dirty="0" err="1">
                <a:solidFill>
                  <a:srgbClr val="0070C0"/>
                </a:solidFill>
              </a:rPr>
              <a:t>відбувається</a:t>
            </a:r>
            <a:r>
              <a:rPr lang="ru-RU" i="1" dirty="0">
                <a:solidFill>
                  <a:srgbClr val="0070C0"/>
                </a:solidFill>
              </a:rPr>
              <a:t> коли ми </a:t>
            </a:r>
            <a:r>
              <a:rPr lang="ru-RU" i="1" dirty="0" err="1">
                <a:solidFill>
                  <a:srgbClr val="0070C0"/>
                </a:solidFill>
              </a:rPr>
              <a:t>викликаємо</a:t>
            </a:r>
            <a:r>
              <a:rPr lang="ru-RU" i="1" dirty="0">
                <a:solidFill>
                  <a:srgbClr val="0070C0"/>
                </a:solidFill>
              </a:rPr>
              <a:t> </a:t>
            </a:r>
            <a:r>
              <a:rPr lang="ru-RU" i="1" dirty="0" err="1">
                <a:solidFill>
                  <a:srgbClr val="0070C0"/>
                </a:solidFill>
              </a:rPr>
              <a:t>функцію</a:t>
            </a:r>
            <a:endParaRPr lang="ru-RU" i="1" dirty="0">
              <a:solidFill>
                <a:srgbClr val="0070C0"/>
              </a:solidFill>
            </a:endParaRPr>
          </a:p>
          <a:p>
            <a:r>
              <a:rPr lang="ru-RU" dirty="0" err="1"/>
              <a:t>Інтерпретатор</a:t>
            </a:r>
            <a:r>
              <a:rPr lang="ru-RU" dirty="0"/>
              <a:t> </a:t>
            </a:r>
            <a:r>
              <a:rPr lang="en-US" dirty="0"/>
              <a:t>JS </a:t>
            </a:r>
            <a:r>
              <a:rPr lang="ru-RU" dirty="0"/>
              <a:t>в аргумент </a:t>
            </a:r>
            <a:r>
              <a:rPr lang="en-US" dirty="0" err="1"/>
              <a:t>ob</a:t>
            </a:r>
            <a:r>
              <a:rPr lang="en-US" dirty="0"/>
              <a:t> </a:t>
            </a:r>
            <a:r>
              <a:rPr lang="ru-RU" dirty="0" err="1"/>
              <a:t>скопіював</a:t>
            </a:r>
            <a:r>
              <a:rPr lang="ru-RU" dirty="0"/>
              <a:t> адресу </a:t>
            </a:r>
            <a:r>
              <a:rPr lang="ru-RU" dirty="0" err="1"/>
              <a:t>константи</a:t>
            </a:r>
            <a:r>
              <a:rPr lang="ru-RU" dirty="0"/>
              <a:t> </a:t>
            </a:r>
            <a:r>
              <a:rPr lang="en-US" dirty="0">
                <a:solidFill>
                  <a:srgbClr val="0070C0"/>
                </a:solidFill>
              </a:rPr>
              <a:t>person</a:t>
            </a:r>
            <a:r>
              <a:rPr lang="en-US" dirty="0"/>
              <a:t> </a:t>
            </a:r>
            <a:r>
              <a:rPr lang="ru-RU" dirty="0"/>
              <a:t>і таким чином </a:t>
            </a:r>
            <a:r>
              <a:rPr lang="en-US" dirty="0" err="1">
                <a:solidFill>
                  <a:srgbClr val="C00000"/>
                </a:solidFill>
              </a:rPr>
              <a:t>ob</a:t>
            </a:r>
            <a:r>
              <a:rPr lang="en-US" dirty="0"/>
              <a:t> </a:t>
            </a:r>
            <a:r>
              <a:rPr lang="ru-RU" dirty="0"/>
              <a:t>і </a:t>
            </a:r>
            <a:r>
              <a:rPr lang="en-US" dirty="0"/>
              <a:t>person </a:t>
            </a:r>
            <a:r>
              <a:rPr lang="ru-RU" dirty="0" err="1"/>
              <a:t>вказують</a:t>
            </a:r>
            <a:r>
              <a:rPr lang="ru-RU" dirty="0"/>
              <a:t> на ту саму </a:t>
            </a:r>
            <a:r>
              <a:rPr lang="ru-RU" dirty="0" err="1"/>
              <a:t>ячійку</a:t>
            </a:r>
            <a:r>
              <a:rPr lang="ru-RU" dirty="0"/>
              <a:t> </a:t>
            </a:r>
            <a:r>
              <a:rPr lang="ru-RU" dirty="0" err="1"/>
              <a:t>пам'яті</a:t>
            </a:r>
            <a:r>
              <a:rPr lang="ru-RU" dirty="0"/>
              <a:t>. </a:t>
            </a:r>
            <a:r>
              <a:rPr lang="ru-RU" dirty="0" err="1"/>
              <a:t>Тобто</a:t>
            </a:r>
            <a:r>
              <a:rPr lang="ru-RU" dirty="0"/>
              <a:t> </a:t>
            </a:r>
            <a:r>
              <a:rPr lang="en-US" dirty="0" err="1">
                <a:solidFill>
                  <a:srgbClr val="C00000"/>
                </a:solidFill>
              </a:rPr>
              <a:t>ob</a:t>
            </a:r>
            <a:r>
              <a:rPr lang="en-US" dirty="0"/>
              <a:t>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en-US" dirty="0">
                <a:solidFill>
                  <a:srgbClr val="C00000"/>
                </a:solidFill>
              </a:rPr>
              <a:t>alias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person</a:t>
            </a:r>
          </a:p>
        </p:txBody>
      </p:sp>
    </p:spTree>
    <p:extLst>
      <p:ext uri="{BB962C8B-B14F-4D97-AF65-F5344CB8AC3E}">
        <p14:creationId xmlns:p14="http://schemas.microsoft.com/office/powerpoint/2010/main" val="3923231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5" grpId="0"/>
      <p:bldP spid="31" grpId="0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179512" y="2957067"/>
            <a:ext cx="482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console.log(person.name); </a:t>
            </a:r>
            <a:r>
              <a:rPr lang="en-US" b="1" dirty="0">
                <a:solidFill>
                  <a:schemeClr val="bg1">
                    <a:lumMod val="65000"/>
                  </a:schemeClr>
                </a:solidFill>
              </a:rPr>
              <a:t>// Bill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611560" y="1548459"/>
            <a:ext cx="1080120" cy="287739"/>
          </a:xfrm>
          <a:prstGeom prst="rect">
            <a:avLst/>
          </a:prstGeom>
          <a:solidFill>
            <a:schemeClr val="bg2">
              <a:alpha val="6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" name="Таблица 2"/>
          <p:cNvGraphicFramePr>
            <a:graphicFrameLocks noGrp="1"/>
          </p:cNvGraphicFramePr>
          <p:nvPr/>
        </p:nvGraphicFramePr>
        <p:xfrm>
          <a:off x="251520" y="4127480"/>
          <a:ext cx="8712966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2161">
                  <a:extLst>
                    <a:ext uri="{9D8B030D-6E8A-4147-A177-3AD203B41FA5}">
                      <a16:colId xmlns:a16="http://schemas.microsoft.com/office/drawing/2014/main" val="1549406448"/>
                    </a:ext>
                  </a:extLst>
                </a:gridCol>
                <a:gridCol w="1452161">
                  <a:extLst>
                    <a:ext uri="{9D8B030D-6E8A-4147-A177-3AD203B41FA5}">
                      <a16:colId xmlns:a16="http://schemas.microsoft.com/office/drawing/2014/main" val="417488402"/>
                    </a:ext>
                  </a:extLst>
                </a:gridCol>
                <a:gridCol w="1452161">
                  <a:extLst>
                    <a:ext uri="{9D8B030D-6E8A-4147-A177-3AD203B41FA5}">
                      <a16:colId xmlns:a16="http://schemas.microsoft.com/office/drawing/2014/main" val="281288882"/>
                    </a:ext>
                  </a:extLst>
                </a:gridCol>
                <a:gridCol w="1452161">
                  <a:extLst>
                    <a:ext uri="{9D8B030D-6E8A-4147-A177-3AD203B41FA5}">
                      <a16:colId xmlns:a16="http://schemas.microsoft.com/office/drawing/2014/main" val="1709889850"/>
                    </a:ext>
                  </a:extLst>
                </a:gridCol>
                <a:gridCol w="1452161">
                  <a:extLst>
                    <a:ext uri="{9D8B030D-6E8A-4147-A177-3AD203B41FA5}">
                      <a16:colId xmlns:a16="http://schemas.microsoft.com/office/drawing/2014/main" val="2748829747"/>
                    </a:ext>
                  </a:extLst>
                </a:gridCol>
                <a:gridCol w="1452161">
                  <a:extLst>
                    <a:ext uri="{9D8B030D-6E8A-4147-A177-3AD203B41FA5}">
                      <a16:colId xmlns:a16="http://schemas.microsoft.com/office/drawing/2014/main" val="28878349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solidFill>
                          <a:srgbClr val="0070C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1537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0x8197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0x8198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0x8199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0x81A0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0x81A1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0x81A2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1476142"/>
                  </a:ext>
                </a:extLst>
              </a:tr>
            </a:tbl>
          </a:graphicData>
        </a:graphic>
      </p:graphicFrame>
      <p:cxnSp>
        <p:nvCxnSpPr>
          <p:cNvPr id="19" name="Прямая со стрелкой 18"/>
          <p:cNvCxnSpPr>
            <a:endCxn id="25" idx="0"/>
          </p:cNvCxnSpPr>
          <p:nvPr/>
        </p:nvCxnSpPr>
        <p:spPr>
          <a:xfrm>
            <a:off x="1475656" y="437045"/>
            <a:ext cx="865948" cy="3690435"/>
          </a:xfrm>
          <a:prstGeom prst="straightConnector1">
            <a:avLst/>
          </a:prstGeom>
          <a:ln w="6350"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/>
          <p:cNvCxnSpPr/>
          <p:nvPr/>
        </p:nvCxnSpPr>
        <p:spPr>
          <a:xfrm>
            <a:off x="1559998" y="404664"/>
            <a:ext cx="1188249" cy="952615"/>
          </a:xfrm>
          <a:prstGeom prst="straightConnector1">
            <a:avLst/>
          </a:prstGeom>
          <a:ln w="19050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835696" y="4127480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person</a:t>
            </a:r>
          </a:p>
        </p:txBody>
      </p:sp>
      <p:cxnSp>
        <p:nvCxnSpPr>
          <p:cNvPr id="32" name="Прямая со стрелкой 31"/>
          <p:cNvCxnSpPr/>
          <p:nvPr/>
        </p:nvCxnSpPr>
        <p:spPr>
          <a:xfrm>
            <a:off x="899592" y="1677692"/>
            <a:ext cx="4248472" cy="2558750"/>
          </a:xfrm>
          <a:prstGeom prst="straightConnector1">
            <a:avLst/>
          </a:prstGeom>
          <a:ln w="19050">
            <a:solidFill>
              <a:schemeClr val="accent3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1545" y="2544093"/>
            <a:ext cx="23903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/>
              <a:t>setName</a:t>
            </a:r>
            <a:r>
              <a:rPr lang="en-US" b="1" dirty="0"/>
              <a:t>(person);</a:t>
            </a:r>
          </a:p>
        </p:txBody>
      </p:sp>
      <p:cxnSp>
        <p:nvCxnSpPr>
          <p:cNvPr id="30" name="Прямая со стрелкой 29"/>
          <p:cNvCxnSpPr>
            <a:endCxn id="25" idx="0"/>
          </p:cNvCxnSpPr>
          <p:nvPr/>
        </p:nvCxnSpPr>
        <p:spPr>
          <a:xfrm flipH="1">
            <a:off x="2341604" y="1488112"/>
            <a:ext cx="439562" cy="2639368"/>
          </a:xfrm>
          <a:prstGeom prst="straightConnector1">
            <a:avLst/>
          </a:prstGeom>
          <a:ln w="19050">
            <a:solidFill>
              <a:schemeClr val="accent2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095730" y="4127480"/>
            <a:ext cx="4603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err="1">
                <a:solidFill>
                  <a:srgbClr val="0070C0"/>
                </a:solidFill>
              </a:rPr>
              <a:t>ob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5364" y="5058026"/>
            <a:ext cx="8929122" cy="14773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При </a:t>
            </a:r>
            <a:r>
              <a:rPr lang="ru-RU" dirty="0" err="1"/>
              <a:t>виконанні</a:t>
            </a:r>
            <a:r>
              <a:rPr lang="ru-RU" dirty="0"/>
              <a:t> коду </a:t>
            </a:r>
            <a:r>
              <a:rPr lang="en-US" dirty="0" err="1">
                <a:solidFill>
                  <a:srgbClr val="0070C0"/>
                </a:solidFill>
              </a:rPr>
              <a:t>ob</a:t>
            </a:r>
            <a:r>
              <a:rPr lang="en-US" dirty="0">
                <a:solidFill>
                  <a:srgbClr val="0070C0"/>
                </a:solidFill>
              </a:rPr>
              <a:t> ={} </a:t>
            </a:r>
            <a:r>
              <a:rPr lang="ru-RU" dirty="0" err="1"/>
              <a:t>інтерпретатор</a:t>
            </a:r>
            <a:r>
              <a:rPr lang="ru-RU" dirty="0"/>
              <a:t> </a:t>
            </a:r>
            <a:r>
              <a:rPr lang="en-US" dirty="0"/>
              <a:t>JS </a:t>
            </a:r>
            <a:r>
              <a:rPr lang="ru-RU" dirty="0"/>
              <a:t>створив </a:t>
            </a:r>
            <a:r>
              <a:rPr lang="ru-RU" dirty="0" err="1"/>
              <a:t>об'єкт</a:t>
            </a:r>
            <a:r>
              <a:rPr lang="ru-RU" dirty="0"/>
              <a:t> у </a:t>
            </a:r>
            <a:r>
              <a:rPr lang="ru-RU" dirty="0" err="1"/>
              <a:t>новій</a:t>
            </a:r>
            <a:r>
              <a:rPr lang="ru-RU" dirty="0"/>
              <a:t> </a:t>
            </a:r>
            <a:r>
              <a:rPr lang="ru-RU" dirty="0" err="1"/>
              <a:t>ячейці</a:t>
            </a:r>
            <a:r>
              <a:rPr lang="ru-RU" dirty="0"/>
              <a:t> </a:t>
            </a:r>
            <a:r>
              <a:rPr lang="ru-RU" dirty="0" err="1"/>
              <a:t>пам'яті</a:t>
            </a:r>
            <a:r>
              <a:rPr lang="ru-RU" dirty="0"/>
              <a:t> та </a:t>
            </a:r>
            <a:r>
              <a:rPr lang="ru-RU" dirty="0" err="1"/>
              <a:t>надав</a:t>
            </a:r>
            <a:r>
              <a:rPr lang="ru-RU" dirty="0"/>
              <a:t> </a:t>
            </a:r>
            <a:r>
              <a:rPr lang="ru-RU" dirty="0" err="1"/>
              <a:t>їй</a:t>
            </a:r>
            <a:r>
              <a:rPr lang="ru-RU" dirty="0"/>
              <a:t> адресу </a:t>
            </a:r>
            <a:r>
              <a:rPr lang="ru-RU" dirty="0" err="1"/>
              <a:t>змінній</a:t>
            </a:r>
            <a:r>
              <a:rPr lang="ru-RU" dirty="0"/>
              <a:t> </a:t>
            </a:r>
            <a:r>
              <a:rPr lang="en-US" dirty="0" err="1">
                <a:solidFill>
                  <a:srgbClr val="0070C0"/>
                </a:solidFill>
              </a:rPr>
              <a:t>ob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ru-RU" dirty="0" err="1"/>
              <a:t>Тобто</a:t>
            </a:r>
            <a:r>
              <a:rPr lang="ru-RU" dirty="0"/>
              <a:t> </a:t>
            </a:r>
            <a:r>
              <a:rPr lang="en-US" dirty="0" err="1">
                <a:solidFill>
                  <a:srgbClr val="0070C0"/>
                </a:solidFill>
              </a:rPr>
              <a:t>ob</a:t>
            </a:r>
            <a:r>
              <a:rPr lang="en-US" dirty="0"/>
              <a:t> </a:t>
            </a:r>
            <a:r>
              <a:rPr lang="ru-RU" dirty="0"/>
              <a:t>та </a:t>
            </a:r>
            <a:r>
              <a:rPr lang="en-US" dirty="0"/>
              <a:t>person </a:t>
            </a:r>
            <a:r>
              <a:rPr lang="ru-RU" dirty="0" err="1"/>
              <a:t>вказують</a:t>
            </a:r>
            <a:r>
              <a:rPr lang="ru-RU" dirty="0"/>
              <a:t> на ячейки </a:t>
            </a:r>
            <a:r>
              <a:rPr lang="ru-RU" dirty="0" err="1"/>
              <a:t>осередки</a:t>
            </a:r>
            <a:r>
              <a:rPr lang="ru-RU" dirty="0"/>
              <a:t> </a:t>
            </a:r>
            <a:r>
              <a:rPr lang="ru-RU" dirty="0" err="1"/>
              <a:t>пам'яті</a:t>
            </a:r>
            <a:r>
              <a:rPr lang="ru-RU" dirty="0"/>
              <a:t>.</a:t>
            </a:r>
          </a:p>
          <a:p>
            <a:r>
              <a:rPr lang="ru-RU" dirty="0" err="1"/>
              <a:t>Після</a:t>
            </a:r>
            <a:r>
              <a:rPr lang="ru-RU" dirty="0"/>
              <a:t> </a:t>
            </a:r>
            <a:r>
              <a:rPr lang="ru-RU" dirty="0" err="1"/>
              <a:t>завершення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 </a:t>
            </a:r>
            <a:r>
              <a:rPr lang="ru-RU" dirty="0" err="1"/>
              <a:t>об’єкт</a:t>
            </a:r>
            <a:r>
              <a:rPr lang="ru-RU" dirty="0"/>
              <a:t> </a:t>
            </a:r>
            <a:r>
              <a:rPr lang="en-US" dirty="0" err="1">
                <a:solidFill>
                  <a:srgbClr val="0070C0"/>
                </a:solidFill>
              </a:rPr>
              <a:t>ob</a:t>
            </a:r>
            <a:r>
              <a:rPr lang="en-US" dirty="0"/>
              <a:t> </a:t>
            </a:r>
            <a:r>
              <a:rPr lang="ru-RU" dirty="0"/>
              <a:t>буде </a:t>
            </a:r>
            <a:r>
              <a:rPr lang="ru-RU" dirty="0" err="1"/>
              <a:t>знищений</a:t>
            </a:r>
            <a:r>
              <a:rPr lang="ru-RU" dirty="0"/>
              <a:t> </a:t>
            </a:r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Garbage Collector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9512" y="116632"/>
            <a:ext cx="5832648" cy="341632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err="1"/>
              <a:t>const</a:t>
            </a:r>
            <a:r>
              <a:rPr lang="en-US" b="1" dirty="0"/>
              <a:t> person = {</a:t>
            </a:r>
          </a:p>
          <a:p>
            <a:r>
              <a:rPr lang="en-US" b="1" dirty="0"/>
              <a:t>    name: "Bill"</a:t>
            </a:r>
          </a:p>
          <a:p>
            <a:r>
              <a:rPr lang="en-US" b="1" dirty="0"/>
              <a:t>}</a:t>
            </a:r>
          </a:p>
          <a:p>
            <a:endParaRPr lang="en-US" b="1" dirty="0"/>
          </a:p>
          <a:p>
            <a:r>
              <a:rPr lang="en-US" b="1" dirty="0"/>
              <a:t>function </a:t>
            </a:r>
            <a:r>
              <a:rPr lang="en-US" b="1" dirty="0" err="1"/>
              <a:t>setName</a:t>
            </a:r>
            <a:r>
              <a:rPr lang="en-US" b="1" dirty="0"/>
              <a:t>(</a:t>
            </a:r>
            <a:r>
              <a:rPr lang="en-US" b="1" dirty="0" err="1"/>
              <a:t>ob</a:t>
            </a:r>
            <a:r>
              <a:rPr lang="en-US" b="1" dirty="0"/>
              <a:t>) {</a:t>
            </a:r>
          </a:p>
          <a:p>
            <a:r>
              <a:rPr lang="en-US" b="1" dirty="0"/>
              <a:t>   </a:t>
            </a:r>
            <a:r>
              <a:rPr lang="en-US" b="1" dirty="0" err="1"/>
              <a:t>ob</a:t>
            </a:r>
            <a:r>
              <a:rPr lang="en-US" b="1" dirty="0"/>
              <a:t> = {}</a:t>
            </a:r>
          </a:p>
          <a:p>
            <a:r>
              <a:rPr lang="en-US" b="1" dirty="0"/>
              <a:t>   ob.name  = "Paul"</a:t>
            </a:r>
          </a:p>
          <a:p>
            <a:r>
              <a:rPr lang="en-US" b="1" dirty="0"/>
              <a:t>}</a:t>
            </a:r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endParaRPr lang="ru-RU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06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6" presetClass="emph" presetSubtype="0" repeatCount="3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1" dur="50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52" presetID="26" presetClass="emph" presetSubtype="0" repeatCount="3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10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54" dur="50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3500"/>
                            </p:stCondLst>
                            <p:childTnLst>
                              <p:par>
                                <p:cTn id="56" presetID="22" presetClass="exit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5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4000"/>
                            </p:stCondLst>
                            <p:childTnLst>
                              <p:par>
                                <p:cTn id="60" presetID="22" presetClass="exit" presetSubtype="8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 animBg="1"/>
      <p:bldP spid="25" grpId="0"/>
      <p:bldP spid="5" grpId="0"/>
      <p:bldP spid="8" grpId="0"/>
      <p:bldP spid="8" grpId="1"/>
      <p:bldP spid="8" grpId="2"/>
      <p:bldP spid="1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07503" y="107340"/>
            <a:ext cx="8929057" cy="369332"/>
          </a:xfrm>
          <a:prstGeom prst="rect">
            <a:avLst/>
          </a:prstGeom>
          <a:ln w="1905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>
            <a:defPPr>
              <a:defRPr lang="ru-RU"/>
            </a:defPPr>
            <a:lvl1pPr algn="ctr">
              <a:defRPr b="1">
                <a:solidFill>
                  <a:schemeClr val="dk1"/>
                </a:solidFill>
              </a:defRPr>
            </a:lvl1pPr>
            <a:lvl2pPr>
              <a:defRPr>
                <a:solidFill>
                  <a:schemeClr val="dk1"/>
                </a:solidFill>
              </a:defRPr>
            </a:lvl2pPr>
            <a:lvl3pPr>
              <a:defRPr>
                <a:solidFill>
                  <a:schemeClr val="dk1"/>
                </a:solidFill>
              </a:defRPr>
            </a:lvl3pPr>
            <a:lvl4pPr>
              <a:defRPr>
                <a:solidFill>
                  <a:schemeClr val="dk1"/>
                </a:solidFill>
              </a:defRPr>
            </a:lvl4pPr>
            <a:lvl5pPr>
              <a:defRPr>
                <a:solidFill>
                  <a:schemeClr val="dk1"/>
                </a:solidFill>
              </a:defRPr>
            </a:lvl5pPr>
            <a:lvl6pPr>
              <a:defRPr>
                <a:solidFill>
                  <a:schemeClr val="dk1"/>
                </a:solidFill>
              </a:defRPr>
            </a:lvl6pPr>
            <a:lvl7pPr>
              <a:defRPr>
                <a:solidFill>
                  <a:schemeClr val="dk1"/>
                </a:solidFill>
              </a:defRPr>
            </a:lvl7pPr>
            <a:lvl8pPr>
              <a:defRPr>
                <a:solidFill>
                  <a:schemeClr val="dk1"/>
                </a:solidFill>
              </a:defRPr>
            </a:lvl8pPr>
            <a:lvl9pPr>
              <a:defRPr>
                <a:solidFill>
                  <a:schemeClr val="dk1"/>
                </a:solidFill>
              </a:defRPr>
            </a:lvl9pPr>
          </a:lstStyle>
          <a:p>
            <a:pPr algn="l"/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копіююся</a:t>
            </a:r>
            <a:r>
              <a:rPr lang="ru-RU" dirty="0"/>
              <a:t> за </a:t>
            </a:r>
            <a:r>
              <a:rPr lang="ru-RU" dirty="0" err="1"/>
              <a:t>посиланням</a:t>
            </a:r>
            <a:r>
              <a:rPr lang="ru-RU" dirty="0"/>
              <a:t>, а </a:t>
            </a:r>
            <a:r>
              <a:rPr lang="ru-RU" dirty="0" err="1"/>
              <a:t>масиви</a:t>
            </a:r>
            <a:r>
              <a:rPr lang="ru-RU" dirty="0"/>
              <a:t> –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endParaRPr lang="ru-RU" dirty="0"/>
          </a:p>
        </p:txBody>
      </p:sp>
      <p:sp>
        <p:nvSpPr>
          <p:cNvPr id="8" name="TextBox 7"/>
          <p:cNvSpPr txBox="1"/>
          <p:nvPr/>
        </p:nvSpPr>
        <p:spPr>
          <a:xfrm>
            <a:off x="99422" y="692696"/>
            <a:ext cx="8929122" cy="23083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arr</a:t>
            </a:r>
            <a:r>
              <a:rPr lang="en-US" dirty="0"/>
              <a:t> = ["Bill", "Tom", "John"];</a:t>
            </a:r>
            <a:endParaRPr lang="ru-RU" dirty="0"/>
          </a:p>
          <a:p>
            <a:endParaRPr lang="ru-RU" dirty="0"/>
          </a:p>
          <a:p>
            <a:r>
              <a:rPr lang="en-US" dirty="0" err="1"/>
              <a:t>const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newArr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=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arr</a:t>
            </a:r>
            <a:r>
              <a:rPr lang="en-US" dirty="0">
                <a:solidFill>
                  <a:srgbClr val="FF0000"/>
                </a:solidFill>
              </a:rPr>
              <a:t>;</a:t>
            </a:r>
            <a:endParaRPr lang="ru-RU" dirty="0">
              <a:solidFill>
                <a:srgbClr val="FF0000"/>
              </a:solidFill>
            </a:endParaRPr>
          </a:p>
          <a:p>
            <a:endParaRPr lang="ru-RU" dirty="0"/>
          </a:p>
          <a:p>
            <a:r>
              <a:rPr lang="en-US" dirty="0" err="1"/>
              <a:t>newArr</a:t>
            </a:r>
            <a:r>
              <a:rPr lang="en-US" dirty="0"/>
              <a:t>[1] = </a:t>
            </a:r>
            <a:r>
              <a:rPr lang="en-US" dirty="0">
                <a:solidFill>
                  <a:srgbClr val="00B050"/>
                </a:solidFill>
              </a:rPr>
              <a:t>"Greg";</a:t>
            </a:r>
            <a:endParaRPr lang="ru-RU" dirty="0">
              <a:solidFill>
                <a:srgbClr val="00B050"/>
              </a:solidFill>
            </a:endParaRPr>
          </a:p>
          <a:p>
            <a:endParaRPr lang="ru-RU" dirty="0"/>
          </a:p>
          <a:p>
            <a:r>
              <a:rPr lang="en-US" dirty="0"/>
              <a:t>console.log(</a:t>
            </a:r>
            <a:r>
              <a:rPr lang="en-US" dirty="0" err="1">
                <a:solidFill>
                  <a:srgbClr val="FF0000"/>
                </a:solidFill>
              </a:rPr>
              <a:t>newArr</a:t>
            </a:r>
            <a:r>
              <a:rPr lang="en-US" dirty="0"/>
              <a:t>);</a:t>
            </a:r>
            <a:r>
              <a:rPr lang="ru-RU" dirty="0"/>
              <a:t>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// ["Bill", </a:t>
            </a:r>
            <a:r>
              <a:rPr lang="en-US" dirty="0">
                <a:solidFill>
                  <a:srgbClr val="00B050"/>
                </a:solidFill>
              </a:rPr>
              <a:t>"Greg"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, "John"]</a:t>
            </a:r>
            <a:endParaRPr lang="ru-RU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/>
              <a:t>console.log(</a:t>
            </a:r>
            <a:r>
              <a:rPr lang="en-US" dirty="0" err="1">
                <a:solidFill>
                  <a:srgbClr val="0070C0"/>
                </a:solidFill>
              </a:rPr>
              <a:t>arr</a:t>
            </a:r>
            <a:r>
              <a:rPr lang="en-US" dirty="0"/>
              <a:t>);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// ["Bill", </a:t>
            </a:r>
            <a:r>
              <a:rPr lang="en-US" dirty="0">
                <a:solidFill>
                  <a:srgbClr val="00B050"/>
                </a:solidFill>
              </a:rPr>
              <a:t>"Greg"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, "John"]</a:t>
            </a:r>
            <a:endParaRPr lang="ru-RU" dirty="0"/>
          </a:p>
        </p:txBody>
      </p:sp>
      <p:sp>
        <p:nvSpPr>
          <p:cNvPr id="6" name="TextBox 5"/>
          <p:cNvSpPr txBox="1"/>
          <p:nvPr/>
        </p:nvSpPr>
        <p:spPr>
          <a:xfrm>
            <a:off x="107504" y="3068960"/>
            <a:ext cx="8929122" cy="14773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/>
              <a:t>Що відбувається коли ми копіюємо типи посилань</a:t>
            </a:r>
          </a:p>
          <a:p>
            <a:endParaRPr lang="uk-UA" dirty="0"/>
          </a:p>
          <a:p>
            <a:r>
              <a:rPr lang="en-US" dirty="0"/>
              <a:t>JavaScript </a:t>
            </a:r>
            <a:r>
              <a:rPr lang="uk-UA" dirty="0"/>
              <a:t>в змінну </a:t>
            </a:r>
            <a:r>
              <a:rPr lang="en-US" dirty="0" err="1"/>
              <a:t>newArr</a:t>
            </a:r>
            <a:r>
              <a:rPr lang="en-US" dirty="0"/>
              <a:t> </a:t>
            </a:r>
            <a:r>
              <a:rPr lang="uk-UA" dirty="0"/>
              <a:t>скопіював адресу змінної </a:t>
            </a:r>
            <a:r>
              <a:rPr lang="en-US" dirty="0" err="1"/>
              <a:t>arr</a:t>
            </a:r>
            <a:r>
              <a:rPr lang="en-US" dirty="0"/>
              <a:t> </a:t>
            </a:r>
            <a:r>
              <a:rPr lang="uk-UA" dirty="0"/>
              <a:t>і таким обидві змінні зараз вказують на одну і ту ж комірку пам'яті</a:t>
            </a:r>
          </a:p>
          <a:p>
            <a:r>
              <a:rPr lang="uk-UA" dirty="0"/>
              <a:t>То це один і той самий осередок але під різними іменами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7641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39" y="116632"/>
            <a:ext cx="892912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скопіювати</a:t>
            </a:r>
            <a:r>
              <a:rPr lang="ru-RU" dirty="0"/>
              <a:t> </a:t>
            </a:r>
            <a:r>
              <a:rPr lang="ru-RU" dirty="0" err="1"/>
              <a:t>масив</a:t>
            </a:r>
            <a:r>
              <a:rPr lang="ru-RU" dirty="0"/>
              <a:t> за </a:t>
            </a:r>
            <a:r>
              <a:rPr lang="ru-RU" dirty="0" err="1"/>
              <a:t>посиланням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зробити</a:t>
            </a:r>
            <a:r>
              <a:rPr lang="ru-RU" dirty="0"/>
              <a:t> так: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422" y="692696"/>
            <a:ext cx="8929122" cy="230832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 err="1"/>
              <a:t>const</a:t>
            </a:r>
            <a:r>
              <a:rPr lang="en-US" dirty="0"/>
              <a:t> </a:t>
            </a:r>
            <a:r>
              <a:rPr lang="en-US" dirty="0" err="1">
                <a:solidFill>
                  <a:srgbClr val="0070C0"/>
                </a:solidFill>
              </a:rPr>
              <a:t>arr</a:t>
            </a:r>
            <a:r>
              <a:rPr lang="en-US" dirty="0"/>
              <a:t> = ["Bill", "Tom", "John"];</a:t>
            </a:r>
            <a:endParaRPr lang="ru-RU" dirty="0"/>
          </a:p>
          <a:p>
            <a:endParaRPr lang="ru-RU" dirty="0"/>
          </a:p>
          <a:p>
            <a:r>
              <a:rPr lang="en-US" dirty="0" err="1"/>
              <a:t>const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newArr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=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arr.slice</a:t>
            </a:r>
            <a:r>
              <a:rPr lang="en-US" dirty="0">
                <a:solidFill>
                  <a:srgbClr val="FF0000"/>
                </a:solidFill>
              </a:rPr>
              <a:t>();</a:t>
            </a:r>
            <a:endParaRPr lang="ru-RU" dirty="0">
              <a:solidFill>
                <a:srgbClr val="FF0000"/>
              </a:solidFill>
            </a:endParaRPr>
          </a:p>
          <a:p>
            <a:endParaRPr lang="ru-RU" dirty="0"/>
          </a:p>
          <a:p>
            <a:r>
              <a:rPr lang="en-US" dirty="0" err="1"/>
              <a:t>newArr</a:t>
            </a:r>
            <a:r>
              <a:rPr lang="en-US" dirty="0"/>
              <a:t>[1] = </a:t>
            </a:r>
            <a:r>
              <a:rPr lang="en-US" dirty="0">
                <a:solidFill>
                  <a:srgbClr val="00B050"/>
                </a:solidFill>
              </a:rPr>
              <a:t>"Greg";</a:t>
            </a:r>
            <a:endParaRPr lang="ru-RU" dirty="0">
              <a:solidFill>
                <a:srgbClr val="00B050"/>
              </a:solidFill>
            </a:endParaRPr>
          </a:p>
          <a:p>
            <a:endParaRPr lang="ru-RU" dirty="0"/>
          </a:p>
          <a:p>
            <a:r>
              <a:rPr lang="en-US" dirty="0"/>
              <a:t>console.log(</a:t>
            </a:r>
            <a:r>
              <a:rPr lang="en-US" dirty="0" err="1">
                <a:solidFill>
                  <a:srgbClr val="FF0000"/>
                </a:solidFill>
              </a:rPr>
              <a:t>newArr</a:t>
            </a:r>
            <a:r>
              <a:rPr lang="en-US" dirty="0"/>
              <a:t>);</a:t>
            </a:r>
            <a:r>
              <a:rPr lang="ru-RU" dirty="0"/>
              <a:t>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// ["Bill", </a:t>
            </a:r>
            <a:r>
              <a:rPr lang="en-US" dirty="0">
                <a:solidFill>
                  <a:srgbClr val="00B050"/>
                </a:solidFill>
              </a:rPr>
              <a:t>"Greg"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, "John"]</a:t>
            </a:r>
            <a:endParaRPr lang="ru-RU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/>
              <a:t>console.log(</a:t>
            </a:r>
            <a:r>
              <a:rPr lang="en-US" dirty="0" err="1">
                <a:solidFill>
                  <a:srgbClr val="0070C0"/>
                </a:solidFill>
              </a:rPr>
              <a:t>arr</a:t>
            </a:r>
            <a:r>
              <a:rPr lang="en-US" dirty="0"/>
              <a:t>); 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// ["Bill",</a:t>
            </a:r>
            <a:r>
              <a:rPr lang="en-US" dirty="0"/>
              <a:t> "Tom"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, "John"]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0955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7439" y="116632"/>
            <a:ext cx="8929122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Приклад </a:t>
            </a:r>
            <a:r>
              <a:rPr lang="ru-RU" dirty="0" err="1"/>
              <a:t>роботи</a:t>
            </a:r>
            <a:r>
              <a:rPr lang="ru-RU" dirty="0"/>
              <a:t> з </a:t>
            </a:r>
            <a:r>
              <a:rPr lang="ru-RU" dirty="0" err="1"/>
              <a:t>об'єктом</a:t>
            </a:r>
            <a:r>
              <a:rPr lang="ru-RU" dirty="0"/>
              <a:t> за </a:t>
            </a:r>
            <a:r>
              <a:rPr lang="ru-RU" dirty="0" err="1"/>
              <a:t>посиланням</a:t>
            </a:r>
            <a:endParaRPr lang="ru-RU" dirty="0"/>
          </a:p>
        </p:txBody>
      </p:sp>
      <p:sp>
        <p:nvSpPr>
          <p:cNvPr id="5" name="TextBox 4"/>
          <p:cNvSpPr txBox="1"/>
          <p:nvPr/>
        </p:nvSpPr>
        <p:spPr>
          <a:xfrm>
            <a:off x="99422" y="692696"/>
            <a:ext cx="8929122" cy="286232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 err="1"/>
              <a:t>const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ob</a:t>
            </a:r>
            <a:r>
              <a:rPr lang="en-US" dirty="0">
                <a:solidFill>
                  <a:srgbClr val="0070C0"/>
                </a:solidFill>
              </a:rPr>
              <a:t> = {	</a:t>
            </a:r>
            <a:endParaRPr lang="ru-RU" dirty="0">
              <a:solidFill>
                <a:srgbClr val="0070C0"/>
              </a:solidFill>
            </a:endParaRPr>
          </a:p>
          <a:p>
            <a:r>
              <a:rPr lang="ru-RU" dirty="0">
                <a:solidFill>
                  <a:srgbClr val="0070C0"/>
                </a:solidFill>
              </a:rPr>
              <a:t>   </a:t>
            </a:r>
            <a:r>
              <a:rPr lang="en-US" dirty="0">
                <a:solidFill>
                  <a:srgbClr val="0070C0"/>
                </a:solidFill>
              </a:rPr>
              <a:t>name: "Bill"</a:t>
            </a:r>
            <a:endParaRPr lang="ru-RU" dirty="0">
              <a:solidFill>
                <a:srgbClr val="0070C0"/>
              </a:solidFill>
            </a:endParaRPr>
          </a:p>
          <a:p>
            <a:r>
              <a:rPr lang="en-US" dirty="0">
                <a:solidFill>
                  <a:srgbClr val="0070C0"/>
                </a:solidFill>
              </a:rPr>
              <a:t>}</a:t>
            </a:r>
            <a:endParaRPr lang="ru-RU" dirty="0">
              <a:solidFill>
                <a:srgbClr val="0070C0"/>
              </a:solidFill>
            </a:endParaRPr>
          </a:p>
          <a:p>
            <a:endParaRPr lang="ru-RU" dirty="0"/>
          </a:p>
          <a:p>
            <a:r>
              <a:rPr lang="en-US" dirty="0">
                <a:solidFill>
                  <a:srgbClr val="002060"/>
                </a:solidFill>
              </a:rPr>
              <a:t>function test(</a:t>
            </a:r>
            <a:r>
              <a:rPr lang="en-US" dirty="0">
                <a:solidFill>
                  <a:srgbClr val="00B050"/>
                </a:solidFill>
              </a:rPr>
              <a:t>o</a:t>
            </a:r>
            <a:r>
              <a:rPr lang="en-US" dirty="0">
                <a:solidFill>
                  <a:srgbClr val="002060"/>
                </a:solidFill>
              </a:rPr>
              <a:t>) { </a:t>
            </a:r>
            <a:endParaRPr lang="ru-RU" dirty="0">
              <a:solidFill>
                <a:srgbClr val="002060"/>
              </a:solidFill>
            </a:endParaRPr>
          </a:p>
          <a:p>
            <a:r>
              <a:rPr lang="ru-RU" dirty="0">
                <a:solidFill>
                  <a:srgbClr val="002060"/>
                </a:solidFill>
              </a:rPr>
              <a:t>    </a:t>
            </a:r>
            <a:r>
              <a:rPr lang="en-US" dirty="0">
                <a:solidFill>
                  <a:srgbClr val="00B050"/>
                </a:solidFill>
              </a:rPr>
              <a:t>o</a:t>
            </a:r>
            <a:r>
              <a:rPr lang="en-US" dirty="0">
                <a:solidFill>
                  <a:srgbClr val="002060"/>
                </a:solidFill>
              </a:rPr>
              <a:t>.name = 'New Name';</a:t>
            </a:r>
            <a:endParaRPr lang="ru-RU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rgbClr val="002060"/>
                </a:solidFill>
              </a:rPr>
              <a:t>}</a:t>
            </a:r>
            <a:endParaRPr lang="ru-RU" dirty="0">
              <a:solidFill>
                <a:srgbClr val="002060"/>
              </a:solidFill>
            </a:endParaRPr>
          </a:p>
          <a:p>
            <a:endParaRPr lang="ru-RU" dirty="0"/>
          </a:p>
          <a:p>
            <a:r>
              <a:rPr lang="en-US" dirty="0">
                <a:solidFill>
                  <a:srgbClr val="C00000"/>
                </a:solidFill>
              </a:rPr>
              <a:t>test(</a:t>
            </a:r>
            <a:r>
              <a:rPr lang="en-US" dirty="0" err="1">
                <a:solidFill>
                  <a:srgbClr val="C00000"/>
                </a:solidFill>
              </a:rPr>
              <a:t>ob</a:t>
            </a:r>
            <a:r>
              <a:rPr lang="en-US" dirty="0">
                <a:solidFill>
                  <a:srgbClr val="C00000"/>
                </a:solidFill>
              </a:rPr>
              <a:t>);</a:t>
            </a:r>
            <a:r>
              <a:rPr lang="uk-UA" dirty="0">
                <a:solidFill>
                  <a:srgbClr val="C00000"/>
                </a:solidFill>
              </a:rPr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// </a:t>
            </a:r>
            <a:r>
              <a:rPr lang="ru-RU" i="1" dirty="0">
                <a:solidFill>
                  <a:schemeClr val="bg1">
                    <a:lumMod val="65000"/>
                  </a:schemeClr>
                </a:solidFill>
              </a:rPr>
              <a:t>в аргумент </a:t>
            </a:r>
            <a:r>
              <a:rPr lang="ru-RU" i="1" dirty="0" err="1">
                <a:solidFill>
                  <a:schemeClr val="bg1">
                    <a:lumMod val="65000"/>
                  </a:schemeClr>
                </a:solidFill>
              </a:rPr>
              <a:t>функції</a:t>
            </a:r>
            <a:r>
              <a:rPr lang="ru-RU" i="1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ru-RU" i="1" dirty="0" err="1">
                <a:solidFill>
                  <a:schemeClr val="bg1">
                    <a:lumMod val="65000"/>
                  </a:schemeClr>
                </a:solidFill>
              </a:rPr>
              <a:t>копіюється</a:t>
            </a:r>
            <a:r>
              <a:rPr lang="ru-RU" i="1" dirty="0">
                <a:solidFill>
                  <a:schemeClr val="bg1">
                    <a:lumMod val="65000"/>
                  </a:schemeClr>
                </a:solidFill>
              </a:rPr>
              <a:t> адреса </a:t>
            </a:r>
            <a:r>
              <a:rPr lang="ru-RU" i="1" dirty="0" err="1">
                <a:solidFill>
                  <a:schemeClr val="bg1">
                    <a:lumMod val="65000"/>
                  </a:schemeClr>
                </a:solidFill>
              </a:rPr>
              <a:t>об'єкта</a:t>
            </a:r>
            <a:endParaRPr lang="ru-RU" i="1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dirty="0"/>
              <a:t>console.log(</a:t>
            </a:r>
            <a:r>
              <a:rPr lang="en-US" dirty="0" err="1">
                <a:solidFill>
                  <a:srgbClr val="0070C0"/>
                </a:solidFill>
              </a:rPr>
              <a:t>ob</a:t>
            </a:r>
            <a:r>
              <a:rPr lang="en-US" dirty="0"/>
              <a:t>);</a:t>
            </a:r>
            <a:r>
              <a:rPr lang="ru-RU" dirty="0"/>
              <a:t> </a:t>
            </a:r>
            <a:r>
              <a:rPr lang="en-US" i="1" dirty="0">
                <a:solidFill>
                  <a:schemeClr val="bg1">
                    <a:lumMod val="65000"/>
                  </a:schemeClr>
                </a:solidFill>
              </a:rPr>
              <a:t>// {name: "New Name", age: 25}</a:t>
            </a:r>
            <a:endParaRPr lang="ru-RU" i="1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9422" y="3718773"/>
            <a:ext cx="8929122" cy="1477328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 err="1"/>
              <a:t>Під</a:t>
            </a:r>
            <a:r>
              <a:rPr lang="ru-RU" dirty="0"/>
              <a:t> час </a:t>
            </a:r>
            <a:r>
              <a:rPr lang="ru-RU" dirty="0" err="1"/>
              <a:t>виконання</a:t>
            </a:r>
            <a:r>
              <a:rPr lang="ru-RU" dirty="0"/>
              <a:t> коду </a:t>
            </a:r>
            <a:r>
              <a:rPr lang="ru-RU" dirty="0" err="1"/>
              <a:t>функції</a:t>
            </a:r>
            <a:endParaRPr lang="ru-RU" dirty="0"/>
          </a:p>
          <a:p>
            <a:r>
              <a:rPr lang="en-US" dirty="0"/>
              <a:t>JavaScript </a:t>
            </a:r>
            <a:r>
              <a:rPr lang="ru-RU" dirty="0"/>
              <a:t>створив для аргументу </a:t>
            </a:r>
            <a:r>
              <a:rPr lang="ru-RU" dirty="0" err="1"/>
              <a:t>функції</a:t>
            </a:r>
            <a:r>
              <a:rPr lang="ru-RU" dirty="0"/>
              <a:t> </a:t>
            </a:r>
            <a:r>
              <a:rPr lang="en-US" dirty="0"/>
              <a:t>o </a:t>
            </a:r>
            <a:r>
              <a:rPr lang="ru-RU" dirty="0" err="1"/>
              <a:t>нову</a:t>
            </a:r>
            <a:r>
              <a:rPr lang="ru-RU" dirty="0"/>
              <a:t> </a:t>
            </a:r>
            <a:r>
              <a:rPr lang="ru-RU" dirty="0" err="1"/>
              <a:t>комірку</a:t>
            </a:r>
            <a:r>
              <a:rPr lang="ru-RU" dirty="0"/>
              <a:t> </a:t>
            </a:r>
            <a:r>
              <a:rPr lang="ru-RU" dirty="0" err="1"/>
              <a:t>пам'яті</a:t>
            </a:r>
            <a:r>
              <a:rPr lang="ru-RU" dirty="0"/>
              <a:t> та </a:t>
            </a:r>
            <a:r>
              <a:rPr lang="ru-RU" dirty="0" err="1"/>
              <a:t>скопіював</a:t>
            </a:r>
            <a:r>
              <a:rPr lang="ru-RU" dirty="0"/>
              <a:t> </a:t>
            </a:r>
            <a:r>
              <a:rPr lang="ru-RU" dirty="0" err="1"/>
              <a:t>туди</a:t>
            </a:r>
            <a:r>
              <a:rPr lang="ru-RU" dirty="0"/>
              <a:t> адресу </a:t>
            </a:r>
            <a:r>
              <a:rPr lang="ru-RU" dirty="0" err="1"/>
              <a:t>комірки</a:t>
            </a:r>
            <a:r>
              <a:rPr lang="ru-RU" dirty="0"/>
              <a:t> </a:t>
            </a:r>
            <a:r>
              <a:rPr lang="ru-RU" dirty="0" err="1"/>
              <a:t>пам'яті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 </a:t>
            </a:r>
            <a:r>
              <a:rPr lang="en-US" dirty="0">
                <a:solidFill>
                  <a:srgbClr val="0070C0"/>
                </a:solidFill>
              </a:rPr>
              <a:t>ob</a:t>
            </a:r>
            <a:r>
              <a:rPr lang="en-US" dirty="0"/>
              <a:t>.</a:t>
            </a:r>
          </a:p>
          <a:p>
            <a:r>
              <a:rPr lang="ru-RU" dirty="0"/>
              <a:t>Таким чином </a:t>
            </a:r>
            <a:r>
              <a:rPr lang="en-US" dirty="0" err="1">
                <a:solidFill>
                  <a:srgbClr val="0070C0"/>
                </a:solidFill>
              </a:rPr>
              <a:t>ob</a:t>
            </a:r>
            <a:r>
              <a:rPr lang="en-US" dirty="0"/>
              <a:t> </a:t>
            </a:r>
            <a:r>
              <a:rPr lang="ru-RU" dirty="0"/>
              <a:t>і </a:t>
            </a:r>
            <a:r>
              <a:rPr lang="en-US" dirty="0"/>
              <a:t>o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дві</a:t>
            </a:r>
            <a:r>
              <a:rPr lang="ru-RU" dirty="0"/>
              <a:t>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змінні</a:t>
            </a:r>
            <a:r>
              <a:rPr lang="ru-RU" dirty="0"/>
              <a:t>, але в них </a:t>
            </a:r>
            <a:r>
              <a:rPr lang="ru-RU" dirty="0" err="1"/>
              <a:t>зберігається</a:t>
            </a:r>
            <a:r>
              <a:rPr lang="ru-RU" dirty="0"/>
              <a:t> те </a:t>
            </a:r>
            <a:r>
              <a:rPr lang="ru-RU" dirty="0" err="1"/>
              <a:t>саме</a:t>
            </a:r>
            <a:r>
              <a:rPr lang="ru-RU" dirty="0"/>
              <a:t> </a:t>
            </a:r>
            <a:r>
              <a:rPr lang="ru-RU" dirty="0" err="1"/>
              <a:t>значення</a:t>
            </a:r>
            <a:r>
              <a:rPr lang="ru-RU" dirty="0"/>
              <a:t> – а </a:t>
            </a:r>
            <a:r>
              <a:rPr lang="ru-RU" dirty="0" err="1"/>
              <a:t>саме</a:t>
            </a:r>
            <a:r>
              <a:rPr lang="ru-RU" dirty="0"/>
              <a:t> адреса </a:t>
            </a:r>
            <a:r>
              <a:rPr lang="ru-RU" dirty="0" err="1"/>
              <a:t>об'єкта</a:t>
            </a:r>
            <a:r>
              <a:rPr lang="ru-RU" dirty="0"/>
              <a:t> </a:t>
            </a:r>
            <a:r>
              <a:rPr lang="en-US" dirty="0" err="1">
                <a:solidFill>
                  <a:srgbClr val="0070C0"/>
                </a:solidFill>
              </a:rPr>
              <a:t>ob</a:t>
            </a:r>
            <a:r>
              <a:rPr lang="ru-RU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3754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9793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827226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Тема1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u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Тема1</Template>
  <TotalTime>5379</TotalTime>
  <Words>1198</Words>
  <Application>Microsoft Office PowerPoint</Application>
  <PresentationFormat>Экран (4:3)</PresentationFormat>
  <Paragraphs>239</Paragraphs>
  <Slides>20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20</vt:i4>
      </vt:variant>
    </vt:vector>
  </HeadingPairs>
  <TitlesOfParts>
    <vt:vector size="28" baseType="lpstr">
      <vt:lpstr>Arial</vt:lpstr>
      <vt:lpstr>Calibri</vt:lpstr>
      <vt:lpstr>Courier New</vt:lpstr>
      <vt:lpstr>Verdana</vt:lpstr>
      <vt:lpstr>Wingdings</vt:lpstr>
      <vt:lpstr>Wingdings 2</vt:lpstr>
      <vt:lpstr>Wingdings 3</vt:lpstr>
      <vt:lpstr>Тема1</vt:lpstr>
      <vt:lpstr>Java Script (functions)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Каскадные таблицы стилей  CSS</dc:title>
  <cp:lastModifiedBy>Роман Никифоров</cp:lastModifiedBy>
  <cp:revision>965</cp:revision>
  <dcterms:modified xsi:type="dcterms:W3CDTF">2024-02-19T14:06:54Z</dcterms:modified>
</cp:coreProperties>
</file>