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7"/>
  </p:notesMasterIdLst>
  <p:sldIdLst>
    <p:sldId id="256" r:id="rId2"/>
    <p:sldId id="426" r:id="rId3"/>
    <p:sldId id="427" r:id="rId4"/>
    <p:sldId id="390" r:id="rId5"/>
    <p:sldId id="402" r:id="rId6"/>
    <p:sldId id="420" r:id="rId7"/>
    <p:sldId id="419" r:id="rId8"/>
    <p:sldId id="391" r:id="rId9"/>
    <p:sldId id="428" r:id="rId10"/>
    <p:sldId id="429" r:id="rId11"/>
    <p:sldId id="430" r:id="rId12"/>
    <p:sldId id="431" r:id="rId13"/>
    <p:sldId id="432" r:id="rId14"/>
    <p:sldId id="436" r:id="rId15"/>
    <p:sldId id="346" r:id="rId16"/>
    <p:sldId id="424" r:id="rId17"/>
    <p:sldId id="433" r:id="rId18"/>
    <p:sldId id="425" r:id="rId19"/>
    <p:sldId id="356" r:id="rId20"/>
    <p:sldId id="355" r:id="rId21"/>
    <p:sldId id="434" r:id="rId22"/>
    <p:sldId id="357" r:id="rId23"/>
    <p:sldId id="348" r:id="rId24"/>
    <p:sldId id="349" r:id="rId25"/>
    <p:sldId id="410" r:id="rId26"/>
    <p:sldId id="418" r:id="rId27"/>
    <p:sldId id="353" r:id="rId28"/>
    <p:sldId id="435" r:id="rId29"/>
    <p:sldId id="358" r:id="rId30"/>
    <p:sldId id="345" r:id="rId31"/>
    <p:sldId id="360" r:id="rId32"/>
    <p:sldId id="364" r:id="rId33"/>
    <p:sldId id="347" r:id="rId34"/>
    <p:sldId id="342" r:id="rId35"/>
    <p:sldId id="341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6F2"/>
    <a:srgbClr val="FFFFCC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2" autoAdjust="0"/>
    <p:restoredTop sz="95256" autoAdjust="0"/>
  </p:normalViewPr>
  <p:slideViewPr>
    <p:cSldViewPr>
      <p:cViewPr varScale="1">
        <p:scale>
          <a:sx n="84" d="100"/>
          <a:sy n="84" d="100"/>
        </p:scale>
        <p:origin x="109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82" d="100"/>
          <a:sy n="82" d="100"/>
        </p:scale>
        <p:origin x="203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08.10.2024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blog/2019/02/06/react-v16.8.0.html" TargetMode="External"/><Relationship Id="rId2" Type="http://schemas.openxmlformats.org/officeDocument/2006/relationships/hyperlink" Target="https://reactjs.org/docs/hooks-intro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eactjs.org/docs/hooks-faq.html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44824"/>
            <a:ext cx="8578716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016" y="188640"/>
            <a:ext cx="8893496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b="1" dirty="0">
                <a:solidFill>
                  <a:srgbClr val="C00000"/>
                </a:solidFill>
              </a:rPr>
              <a:t>React</a:t>
            </a:r>
            <a:r>
              <a:rPr lang="en-US" b="1" dirty="0"/>
              <a:t> –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бібліотека</a:t>
            </a:r>
            <a:r>
              <a:rPr lang="ru-RU" b="1" dirty="0"/>
              <a:t> для </a:t>
            </a:r>
            <a:r>
              <a:rPr lang="ru-RU" b="1" dirty="0" err="1"/>
              <a:t>створення</a:t>
            </a:r>
            <a:r>
              <a:rPr lang="ru-RU" b="1" dirty="0"/>
              <a:t> </a:t>
            </a:r>
            <a:r>
              <a:rPr lang="ru-RU" b="1" dirty="0" err="1"/>
              <a:t>інтерфейсів</a:t>
            </a:r>
            <a:endParaRPr lang="ru-RU" b="1" dirty="0"/>
          </a:p>
          <a:p>
            <a:pPr fontAlgn="base"/>
            <a:r>
              <a:rPr lang="ru-RU" b="1" dirty="0"/>
              <a:t>Створено </a:t>
            </a:r>
            <a:r>
              <a:rPr lang="uk-UA" b="1" dirty="0"/>
              <a:t>програмістом з </a:t>
            </a:r>
            <a:r>
              <a:rPr lang="en-US" b="1" dirty="0" err="1"/>
              <a:t>facebook</a:t>
            </a:r>
            <a:r>
              <a:rPr lang="en-US" b="1" dirty="0"/>
              <a:t> Jordan </a:t>
            </a:r>
            <a:r>
              <a:rPr lang="en-US" b="1" dirty="0" err="1"/>
              <a:t>Walke</a:t>
            </a:r>
            <a:endParaRPr lang="en-US" b="1" dirty="0"/>
          </a:p>
          <a:p>
            <a:pPr fontAlgn="base"/>
            <a:r>
              <a:rPr lang="ru-RU" b="1" dirty="0"/>
              <a:t>На </a:t>
            </a:r>
            <a:r>
              <a:rPr lang="ru-RU" b="1" dirty="0" err="1"/>
              <a:t>нього</a:t>
            </a:r>
            <a:r>
              <a:rPr lang="ru-RU" b="1" dirty="0"/>
              <a:t> </a:t>
            </a:r>
            <a:r>
              <a:rPr lang="ru-RU" b="1" dirty="0" err="1"/>
              <a:t>вплинула</a:t>
            </a:r>
            <a:r>
              <a:rPr lang="ru-RU" b="1" dirty="0"/>
              <a:t> </a:t>
            </a:r>
            <a:r>
              <a:rPr lang="ru-RU" b="1" dirty="0" err="1"/>
              <a:t>бібліотека</a:t>
            </a:r>
            <a:r>
              <a:rPr lang="ru-RU" b="1" dirty="0"/>
              <a:t> </a:t>
            </a:r>
            <a:r>
              <a:rPr lang="ru-RU" b="1" dirty="0" err="1"/>
              <a:t>компонентів</a:t>
            </a:r>
            <a:r>
              <a:rPr lang="ru-RU" b="1" dirty="0"/>
              <a:t> </a:t>
            </a:r>
            <a:r>
              <a:rPr lang="en-US" b="1" dirty="0"/>
              <a:t>HTML </a:t>
            </a:r>
            <a:r>
              <a:rPr lang="ru-RU" b="1" dirty="0"/>
              <a:t>для </a:t>
            </a:r>
            <a:r>
              <a:rPr lang="en-US" b="1" dirty="0"/>
              <a:t>PHP XHP.</a:t>
            </a:r>
          </a:p>
          <a:p>
            <a:pPr fontAlgn="base"/>
            <a:r>
              <a:rPr lang="ru-RU" b="1" dirty="0" err="1"/>
              <a:t>Вперше</a:t>
            </a:r>
            <a:r>
              <a:rPr lang="ru-RU" b="1" dirty="0"/>
              <a:t> </a:t>
            </a:r>
            <a:r>
              <a:rPr lang="ru-RU" b="1" dirty="0" err="1"/>
              <a:t>він</a:t>
            </a:r>
            <a:r>
              <a:rPr lang="ru-RU" b="1" dirty="0"/>
              <a:t> </a:t>
            </a:r>
            <a:r>
              <a:rPr lang="ru-RU" b="1" dirty="0" err="1"/>
              <a:t>був</a:t>
            </a:r>
            <a:r>
              <a:rPr lang="ru-RU" b="1" dirty="0"/>
              <a:t> </a:t>
            </a:r>
            <a:r>
              <a:rPr lang="ru-RU" b="1" dirty="0" err="1"/>
              <a:t>розміщений</a:t>
            </a:r>
            <a:r>
              <a:rPr lang="ru-RU" b="1" dirty="0"/>
              <a:t> у </a:t>
            </a:r>
            <a:r>
              <a:rPr lang="ru-RU" b="1" dirty="0" err="1"/>
              <a:t>стрічці</a:t>
            </a:r>
            <a:r>
              <a:rPr lang="ru-RU" b="1" dirty="0"/>
              <a:t> новин </a:t>
            </a:r>
            <a:r>
              <a:rPr lang="en-US" b="1" dirty="0"/>
              <a:t>Facebook </a:t>
            </a:r>
            <a:r>
              <a:rPr lang="ru-RU" b="1" dirty="0"/>
              <a:t>у 2011 </a:t>
            </a:r>
            <a:r>
              <a:rPr lang="ru-RU" b="1" dirty="0" err="1"/>
              <a:t>році</a:t>
            </a:r>
            <a:r>
              <a:rPr lang="ru-RU" b="1" dirty="0"/>
              <a:t>,</a:t>
            </a:r>
          </a:p>
          <a:p>
            <a:pPr fontAlgn="base"/>
            <a:r>
              <a:rPr lang="ru-RU" b="1" dirty="0"/>
              <a:t>а </a:t>
            </a:r>
            <a:r>
              <a:rPr lang="ru-RU" b="1" dirty="0" err="1"/>
              <a:t>потім</a:t>
            </a:r>
            <a:r>
              <a:rPr lang="ru-RU" b="1" dirty="0"/>
              <a:t> у </a:t>
            </a:r>
            <a:r>
              <a:rPr lang="en-US" b="1" dirty="0"/>
              <a:t>Instagram </a:t>
            </a:r>
            <a:r>
              <a:rPr lang="ru-RU" b="1" dirty="0"/>
              <a:t>у 2012 </a:t>
            </a:r>
            <a:r>
              <a:rPr lang="ru-RU" b="1" dirty="0" err="1"/>
              <a:t>році</a:t>
            </a:r>
            <a:r>
              <a:rPr lang="ru-RU" b="1" dirty="0"/>
              <a:t>.</a:t>
            </a:r>
          </a:p>
          <a:p>
            <a:pPr fontAlgn="base"/>
            <a:endParaRPr lang="en-US" b="1" dirty="0"/>
          </a:p>
          <a:p>
            <a:pPr fontAlgn="base"/>
            <a:r>
              <a:rPr lang="ru-RU" b="1" dirty="0"/>
              <a:t>У </a:t>
            </a:r>
            <a:r>
              <a:rPr lang="ru-RU" b="1" dirty="0" err="1"/>
              <a:t>травні</a:t>
            </a:r>
            <a:r>
              <a:rPr lang="ru-RU" b="1" dirty="0"/>
              <a:t> 2013 року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вихідний</a:t>
            </a:r>
            <a:r>
              <a:rPr lang="ru-RU" b="1" dirty="0"/>
              <a:t> код </a:t>
            </a:r>
            <a:r>
              <a:rPr lang="ru-RU" b="1" dirty="0" err="1"/>
              <a:t>було</a:t>
            </a:r>
            <a:r>
              <a:rPr lang="ru-RU" b="1" dirty="0"/>
              <a:t> </a:t>
            </a:r>
            <a:r>
              <a:rPr lang="ru-RU" b="1" dirty="0" err="1"/>
              <a:t>відкрито</a:t>
            </a:r>
            <a:r>
              <a:rPr lang="ru-RU" b="1" dirty="0"/>
              <a:t> в </a:t>
            </a:r>
            <a:r>
              <a:rPr lang="en-US" b="1" dirty="0" err="1"/>
              <a:t>JSConf</a:t>
            </a:r>
            <a:r>
              <a:rPr lang="en-US" b="1" dirty="0"/>
              <a:t> US. </a:t>
            </a:r>
          </a:p>
          <a:p>
            <a:pPr fontAlgn="base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845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Why React ? 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9016" y="3645024"/>
            <a:ext cx="889349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Вирішує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проблему стандарт </a:t>
            </a:r>
            <a:r>
              <a:rPr lang="en-US" b="1" dirty="0">
                <a:solidFill>
                  <a:schemeClr val="accent2"/>
                </a:solidFill>
              </a:rPr>
              <a:t>Shadow DOM </a:t>
            </a:r>
            <a:r>
              <a:rPr lang="uk-UA" b="1" dirty="0"/>
              <a:t>або</a:t>
            </a:r>
            <a:r>
              <a:rPr lang="uk-UA" b="1" dirty="0">
                <a:solidFill>
                  <a:schemeClr val="accent2"/>
                </a:solidFill>
              </a:rPr>
              <a:t> </a:t>
            </a:r>
            <a:r>
              <a:rPr lang="ru-RU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Virtual DOM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248" y="476672"/>
            <a:ext cx="8893496" cy="28623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ru-RU" b="1" dirty="0">
                <a:solidFill>
                  <a:schemeClr val="accent2"/>
                </a:solidFill>
              </a:rPr>
              <a:t>Проблема </a:t>
            </a:r>
            <a:r>
              <a:rPr lang="en-US" b="1" dirty="0">
                <a:solidFill>
                  <a:schemeClr val="accent2"/>
                </a:solidFill>
              </a:rPr>
              <a:t>DOM </a:t>
            </a:r>
            <a:r>
              <a:rPr lang="en-US" b="1" dirty="0"/>
              <a:t>- </a:t>
            </a:r>
            <a:r>
              <a:rPr lang="ru-RU" b="1" dirty="0" err="1"/>
              <a:t>він</a:t>
            </a:r>
            <a:r>
              <a:rPr lang="ru-RU" b="1" dirty="0"/>
              <a:t> </a:t>
            </a:r>
            <a:r>
              <a:rPr lang="ru-RU" b="1" dirty="0" err="1"/>
              <a:t>ніколи</a:t>
            </a:r>
            <a:r>
              <a:rPr lang="ru-RU" b="1" dirty="0"/>
              <a:t> не </a:t>
            </a:r>
            <a:r>
              <a:rPr lang="ru-RU" b="1" dirty="0" err="1"/>
              <a:t>був</a:t>
            </a:r>
            <a:r>
              <a:rPr lang="ru-RU" b="1" dirty="0"/>
              <a:t> </a:t>
            </a:r>
            <a:r>
              <a:rPr lang="ru-RU" b="1" dirty="0" err="1"/>
              <a:t>розрахований</a:t>
            </a:r>
            <a:r>
              <a:rPr lang="ru-RU" b="1" dirty="0"/>
              <a:t> для </a:t>
            </a:r>
            <a:r>
              <a:rPr lang="ru-RU" b="1" dirty="0" err="1"/>
              <a:t>створення</a:t>
            </a:r>
            <a:r>
              <a:rPr lang="ru-RU" b="1" dirty="0"/>
              <a:t> </a:t>
            </a:r>
            <a:r>
              <a:rPr lang="ru-RU" b="1" dirty="0" err="1"/>
              <a:t>динамічного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r>
              <a:rPr lang="ru-RU" b="1" dirty="0"/>
              <a:t> </a:t>
            </a:r>
            <a:r>
              <a:rPr lang="ru-RU" b="1" dirty="0" err="1"/>
              <a:t>користувача</a:t>
            </a:r>
            <a:r>
              <a:rPr lang="ru-RU" b="1" dirty="0"/>
              <a:t> (</a:t>
            </a:r>
            <a:r>
              <a:rPr lang="en-US" b="1" dirty="0"/>
              <a:t>UI).</a:t>
            </a:r>
          </a:p>
          <a:p>
            <a:pPr fontAlgn="base"/>
            <a:endParaRPr lang="en-US" b="1" dirty="0"/>
          </a:p>
          <a:p>
            <a:pPr fontAlgn="base"/>
            <a:r>
              <a:rPr lang="ru-RU" b="1" dirty="0"/>
              <a:t>Ми </a:t>
            </a:r>
            <a:r>
              <a:rPr lang="ru-RU" b="1" dirty="0" err="1"/>
              <a:t>можемо</a:t>
            </a:r>
            <a:r>
              <a:rPr lang="ru-RU" b="1" dirty="0"/>
              <a:t> </a:t>
            </a:r>
            <a:r>
              <a:rPr lang="ru-RU" b="1" dirty="0" err="1"/>
              <a:t>працювати</a:t>
            </a:r>
            <a:r>
              <a:rPr lang="ru-RU" b="1" dirty="0"/>
              <a:t> з ним, </a:t>
            </a:r>
            <a:r>
              <a:rPr lang="ru-RU" b="1" dirty="0" err="1"/>
              <a:t>використовуючи</a:t>
            </a:r>
            <a:r>
              <a:rPr lang="ru-RU" b="1" dirty="0"/>
              <a:t> </a:t>
            </a:r>
            <a:r>
              <a:rPr lang="en-US" b="1" dirty="0"/>
              <a:t>JavaScript </a:t>
            </a:r>
            <a:r>
              <a:rPr lang="ru-RU" b="1" dirty="0"/>
              <a:t>та </a:t>
            </a:r>
            <a:r>
              <a:rPr lang="ru-RU" b="1" dirty="0" err="1"/>
              <a:t>бібліотеки</a:t>
            </a:r>
            <a:r>
              <a:rPr lang="ru-RU" b="1" dirty="0"/>
              <a:t> типу </a:t>
            </a:r>
            <a:r>
              <a:rPr lang="en-US" b="1" dirty="0"/>
              <a:t>jQuery, </a:t>
            </a:r>
            <a:r>
              <a:rPr lang="ru-RU" b="1" dirty="0"/>
              <a:t>але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 не </a:t>
            </a:r>
            <a:r>
              <a:rPr lang="ru-RU" b="1" dirty="0" err="1"/>
              <a:t>вирішує</a:t>
            </a:r>
            <a:r>
              <a:rPr lang="ru-RU" b="1" dirty="0"/>
              <a:t> проблем </a:t>
            </a:r>
            <a:r>
              <a:rPr lang="ru-RU" b="1" dirty="0" err="1"/>
              <a:t>із</a:t>
            </a:r>
            <a:r>
              <a:rPr lang="ru-RU" b="1" dirty="0"/>
              <a:t> </a:t>
            </a:r>
            <a:r>
              <a:rPr lang="ru-RU" b="1" dirty="0" err="1"/>
              <a:t>продуктивністю</a:t>
            </a:r>
            <a:r>
              <a:rPr lang="ru-RU" b="1" dirty="0"/>
              <a:t>.</a:t>
            </a:r>
          </a:p>
          <a:p>
            <a:pPr fontAlgn="base"/>
            <a:endParaRPr lang="ru-RU" b="1" dirty="0"/>
          </a:p>
          <a:p>
            <a:pPr fontAlgn="base"/>
            <a:r>
              <a:rPr lang="ru-RU" b="1" dirty="0" err="1"/>
              <a:t>Наприклад</a:t>
            </a:r>
            <a:r>
              <a:rPr lang="ru-RU" b="1" dirty="0"/>
              <a:t>,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перемістити</a:t>
            </a:r>
            <a:r>
              <a:rPr lang="ru-RU" b="1" dirty="0"/>
              <a:t> 1000 </a:t>
            </a:r>
            <a:r>
              <a:rPr lang="en-US" b="1" dirty="0"/>
              <a:t>div-</a:t>
            </a:r>
            <a:r>
              <a:rPr lang="ru-RU" b="1" dirty="0" err="1"/>
              <a:t>блоків</a:t>
            </a:r>
            <a:r>
              <a:rPr lang="ru-RU" b="1" dirty="0"/>
              <a:t> на 5 </a:t>
            </a:r>
            <a:r>
              <a:rPr lang="ru-RU" b="1" dirty="0" err="1"/>
              <a:t>пікселів</a:t>
            </a:r>
            <a:r>
              <a:rPr lang="ru-RU" b="1" dirty="0"/>
              <a:t> </a:t>
            </a:r>
            <a:r>
              <a:rPr lang="ru-RU" b="1" dirty="0" err="1"/>
              <a:t>вліво</a:t>
            </a:r>
            <a:r>
              <a:rPr lang="ru-RU" b="1" dirty="0"/>
              <a:t>. </a:t>
            </a:r>
            <a:r>
              <a:rPr lang="ru-RU" b="1" dirty="0" err="1"/>
              <a:t>Це</a:t>
            </a:r>
            <a:r>
              <a:rPr lang="ru-RU" b="1" dirty="0"/>
              <a:t> займе </a:t>
            </a:r>
            <a:r>
              <a:rPr lang="ru-RU" b="1" dirty="0" err="1"/>
              <a:t>більше</a:t>
            </a:r>
            <a:r>
              <a:rPr lang="ru-RU" b="1" dirty="0"/>
              <a:t> </a:t>
            </a:r>
            <a:r>
              <a:rPr lang="ru-RU" b="1" dirty="0" err="1"/>
              <a:t>секунди</a:t>
            </a:r>
            <a:r>
              <a:rPr lang="ru-RU" b="1" dirty="0"/>
              <a:t> –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дуже</a:t>
            </a:r>
            <a:r>
              <a:rPr lang="ru-RU" b="1" dirty="0"/>
              <a:t> </a:t>
            </a:r>
            <a:r>
              <a:rPr lang="ru-RU" b="1" dirty="0" err="1"/>
              <a:t>багато</a:t>
            </a:r>
            <a:r>
              <a:rPr lang="ru-RU" b="1" dirty="0"/>
              <a:t> для </a:t>
            </a:r>
            <a:r>
              <a:rPr lang="ru-RU" b="1" dirty="0" err="1"/>
              <a:t>сучасного</a:t>
            </a:r>
            <a:r>
              <a:rPr lang="ru-RU" b="1" dirty="0"/>
              <a:t> </a:t>
            </a:r>
            <a:r>
              <a:rPr lang="ru-RU" b="1" dirty="0" err="1"/>
              <a:t>інтернету</a:t>
            </a:r>
            <a:r>
              <a:rPr lang="ru-RU" b="1" dirty="0"/>
              <a:t>.   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002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Why React ? 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472604"/>
            <a:ext cx="8893496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ru-RU" b="1" dirty="0" err="1">
                <a:solidFill>
                  <a:schemeClr val="accent2"/>
                </a:solidFill>
              </a:rPr>
              <a:t>Virtual</a:t>
            </a:r>
            <a:r>
              <a:rPr lang="ru-RU" b="1" dirty="0">
                <a:solidFill>
                  <a:schemeClr val="accent2"/>
                </a:solidFill>
              </a:rPr>
              <a:t> DOM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ru-RU" b="1" dirty="0" err="1"/>
              <a:t>Ідея</a:t>
            </a:r>
            <a:r>
              <a:rPr lang="ru-RU" b="1" dirty="0"/>
              <a:t> є модель </a:t>
            </a:r>
            <a:r>
              <a:rPr lang="ru-RU" b="1" dirty="0" err="1"/>
              <a:t>даних</a:t>
            </a:r>
            <a:r>
              <a:rPr lang="ru-RU" b="1" dirty="0"/>
              <a:t> і вона </a:t>
            </a:r>
            <a:r>
              <a:rPr lang="ru-RU" b="1" dirty="0" err="1"/>
              <a:t>перетворюється</a:t>
            </a:r>
            <a:r>
              <a:rPr lang="ru-RU" b="1" dirty="0"/>
              <a:t> на </a:t>
            </a:r>
            <a:r>
              <a:rPr lang="en-US" b="1" dirty="0"/>
              <a:t>DOM.</a:t>
            </a:r>
          </a:p>
          <a:p>
            <a:endParaRPr lang="en-US" b="1" dirty="0"/>
          </a:p>
          <a:p>
            <a:r>
              <a:rPr lang="ru-RU" b="1" dirty="0"/>
              <a:t>Але </a:t>
            </a:r>
            <a:r>
              <a:rPr lang="ru-RU" b="1" dirty="0" err="1"/>
              <a:t>замість</a:t>
            </a:r>
            <a:r>
              <a:rPr lang="ru-RU" b="1" dirty="0"/>
              <a:t> того,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взаємодіяти</a:t>
            </a:r>
            <a:r>
              <a:rPr lang="ru-RU" b="1" dirty="0"/>
              <a:t> з </a:t>
            </a:r>
            <a:r>
              <a:rPr lang="en-US" b="1" dirty="0"/>
              <a:t>DOM </a:t>
            </a:r>
            <a:r>
              <a:rPr lang="ru-RU" b="1" dirty="0" err="1"/>
              <a:t>безпосередньо</a:t>
            </a:r>
            <a:r>
              <a:rPr lang="ru-RU" b="1" dirty="0"/>
              <a:t>, ми </a:t>
            </a:r>
            <a:r>
              <a:rPr lang="ru-RU" b="1" dirty="0" err="1"/>
              <a:t>працюємо</a:t>
            </a:r>
            <a:r>
              <a:rPr lang="ru-RU" b="1" dirty="0"/>
              <a:t> з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легковажною</a:t>
            </a:r>
            <a:r>
              <a:rPr lang="ru-RU" b="1" dirty="0"/>
              <a:t> </a:t>
            </a:r>
            <a:r>
              <a:rPr lang="ru-RU" b="1" dirty="0" err="1"/>
              <a:t>копією</a:t>
            </a:r>
            <a:r>
              <a:rPr lang="ru-RU" b="1" dirty="0"/>
              <a:t> – </a:t>
            </a:r>
            <a:r>
              <a:rPr lang="en-US" b="1" dirty="0">
                <a:solidFill>
                  <a:srgbClr val="0070C0"/>
                </a:solidFill>
              </a:rPr>
              <a:t>Virtual DOM</a:t>
            </a:r>
            <a:r>
              <a:rPr lang="ru-RU" b="1" dirty="0"/>
              <a:t>. </a:t>
            </a:r>
          </a:p>
          <a:p>
            <a:endParaRPr lang="uk-UA" b="1" dirty="0"/>
          </a:p>
          <a:p>
            <a:r>
              <a:rPr lang="ru-RU" b="1" dirty="0"/>
              <a:t>На </a:t>
            </a:r>
            <a:r>
              <a:rPr lang="ru-RU" b="1" dirty="0" err="1"/>
              <a:t>основі</a:t>
            </a:r>
            <a:r>
              <a:rPr lang="ru-RU" b="1" dirty="0"/>
              <a:t> </a:t>
            </a:r>
            <a:r>
              <a:rPr lang="ru-RU" b="1" dirty="0" err="1"/>
              <a:t>моделі</a:t>
            </a:r>
            <a:r>
              <a:rPr lang="ru-RU" b="1" dirty="0"/>
              <a:t> </a:t>
            </a:r>
            <a:r>
              <a:rPr lang="ru-RU" b="1" dirty="0" err="1"/>
              <a:t>створюється</a:t>
            </a:r>
            <a:r>
              <a:rPr lang="ru-RU" b="1" dirty="0"/>
              <a:t> </a:t>
            </a:r>
            <a:r>
              <a:rPr lang="ru-RU" b="1" dirty="0" err="1"/>
              <a:t>подібність</a:t>
            </a:r>
            <a:r>
              <a:rPr lang="ru-RU" b="1" dirty="0"/>
              <a:t> до </a:t>
            </a:r>
            <a:r>
              <a:rPr lang="ru-RU" b="1" dirty="0" err="1"/>
              <a:t>звичайного</a:t>
            </a:r>
            <a:r>
              <a:rPr lang="ru-RU" b="1" dirty="0"/>
              <a:t> реального </a:t>
            </a:r>
            <a:r>
              <a:rPr lang="en-US" b="1" dirty="0"/>
              <a:t>DOM,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складається</a:t>
            </a:r>
            <a:r>
              <a:rPr lang="ru-RU" b="1" dirty="0"/>
              <a:t> з </a:t>
            </a:r>
            <a:r>
              <a:rPr lang="ru-RU" b="1" dirty="0" err="1"/>
              <a:t>композиції</a:t>
            </a:r>
            <a:r>
              <a:rPr lang="ru-RU" b="1" dirty="0"/>
              <a:t> </a:t>
            </a:r>
            <a:r>
              <a:rPr lang="ru-RU" b="1" dirty="0" err="1"/>
              <a:t>звичайних</a:t>
            </a:r>
            <a:r>
              <a:rPr lang="ru-RU" b="1" dirty="0"/>
              <a:t> </a:t>
            </a:r>
            <a:r>
              <a:rPr lang="en-US" b="1" dirty="0"/>
              <a:t>JS </a:t>
            </a:r>
            <a:r>
              <a:rPr lang="ru-RU" b="1" dirty="0" err="1"/>
              <a:t>об'єктів</a:t>
            </a:r>
            <a:r>
              <a:rPr lang="ru-RU" b="1" dirty="0"/>
              <a:t>. </a:t>
            </a:r>
          </a:p>
          <a:p>
            <a:endParaRPr lang="ru-RU" b="1" dirty="0"/>
          </a:p>
          <a:p>
            <a:r>
              <a:rPr lang="ru-RU" b="1" dirty="0">
                <a:solidFill>
                  <a:srgbClr val="0070C0"/>
                </a:solidFill>
              </a:rPr>
              <a:t>Virtual DOM</a:t>
            </a:r>
            <a:r>
              <a:rPr lang="ru-RU" b="1" dirty="0"/>
              <a:t> </a:t>
            </a:r>
            <a:r>
              <a:rPr lang="ru-RU" b="1" dirty="0" err="1"/>
              <a:t>рендерується</a:t>
            </a:r>
            <a:r>
              <a:rPr lang="ru-RU" b="1" dirty="0"/>
              <a:t> в </a:t>
            </a:r>
            <a:r>
              <a:rPr lang="ru-RU" b="1" dirty="0" err="1"/>
              <a:t>реальний</a:t>
            </a:r>
            <a:r>
              <a:rPr lang="ru-RU" b="1" dirty="0"/>
              <a:t> </a:t>
            </a:r>
            <a:r>
              <a:rPr lang="en-US" b="1" dirty="0"/>
              <a:t>DOM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 err="1"/>
              <a:t>Якщо</a:t>
            </a:r>
            <a:r>
              <a:rPr lang="ru-RU" b="1" dirty="0"/>
              <a:t> </a:t>
            </a:r>
            <a:r>
              <a:rPr lang="ru-RU" b="1" dirty="0" err="1"/>
              <a:t>змінюється</a:t>
            </a:r>
            <a:r>
              <a:rPr lang="ru-RU" b="1" dirty="0"/>
              <a:t> модель, </a:t>
            </a:r>
            <a:r>
              <a:rPr lang="en-US" b="1" dirty="0"/>
              <a:t>React </a:t>
            </a:r>
            <a:r>
              <a:rPr lang="ru-RU" b="1" dirty="0" err="1"/>
              <a:t>створює</a:t>
            </a:r>
            <a:r>
              <a:rPr lang="ru-RU" b="1" dirty="0"/>
              <a:t> </a:t>
            </a:r>
            <a:r>
              <a:rPr lang="ru-RU" b="1" dirty="0" err="1"/>
              <a:t>копію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ru-RU" b="1" dirty="0" err="1">
                <a:solidFill>
                  <a:srgbClr val="0070C0"/>
                </a:solidFill>
              </a:rPr>
              <a:t>irtual</a:t>
            </a:r>
            <a:r>
              <a:rPr lang="ru-RU" b="1" dirty="0">
                <a:solidFill>
                  <a:srgbClr val="0070C0"/>
                </a:solidFill>
              </a:rPr>
              <a:t> DOM</a:t>
            </a:r>
            <a:r>
              <a:rPr lang="ru-RU" b="1" dirty="0"/>
              <a:t>, вносить до </a:t>
            </a:r>
            <a:r>
              <a:rPr lang="ru-RU" b="1" dirty="0" err="1"/>
              <a:t>неї</a:t>
            </a:r>
            <a:r>
              <a:rPr lang="ru-RU" b="1" dirty="0"/>
              <a:t> </a:t>
            </a:r>
            <a:r>
              <a:rPr lang="ru-RU" b="1" dirty="0" err="1"/>
              <a:t>ці</a:t>
            </a:r>
            <a:r>
              <a:rPr lang="ru-RU" b="1" dirty="0"/>
              <a:t> </a:t>
            </a:r>
            <a:r>
              <a:rPr lang="ru-RU" b="1" dirty="0" err="1"/>
              <a:t>зміни</a:t>
            </a:r>
            <a:r>
              <a:rPr lang="ru-RU" b="1" dirty="0"/>
              <a:t> та </a:t>
            </a:r>
            <a:r>
              <a:rPr lang="ru-RU" b="1" dirty="0" err="1"/>
              <a:t>порівнює</a:t>
            </a:r>
            <a:r>
              <a:rPr lang="ru-RU" b="1" dirty="0"/>
              <a:t> 2 </a:t>
            </a:r>
            <a:r>
              <a:rPr lang="ru-RU" b="1" dirty="0" err="1"/>
              <a:t>копії</a:t>
            </a:r>
            <a:r>
              <a:rPr lang="ru-RU" b="1" dirty="0"/>
              <a:t>. </a:t>
            </a:r>
            <a:r>
              <a:rPr lang="ru-RU" b="1" dirty="0" err="1"/>
              <a:t>Після</a:t>
            </a:r>
            <a:r>
              <a:rPr lang="ru-RU" b="1" dirty="0"/>
              <a:t> </a:t>
            </a:r>
            <a:r>
              <a:rPr lang="ru-RU" b="1" dirty="0" err="1"/>
              <a:t>порівняння</a:t>
            </a:r>
            <a:r>
              <a:rPr lang="ru-RU" b="1" dirty="0"/>
              <a:t> </a:t>
            </a:r>
            <a:r>
              <a:rPr lang="ru-RU" b="1" dirty="0" err="1"/>
              <a:t>він</a:t>
            </a:r>
            <a:r>
              <a:rPr lang="ru-RU" b="1" dirty="0"/>
              <a:t> </a:t>
            </a:r>
            <a:r>
              <a:rPr lang="ru-RU" b="1" dirty="0" err="1"/>
              <a:t>з'ясовує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елементи</a:t>
            </a:r>
            <a:r>
              <a:rPr lang="ru-RU" b="1" dirty="0"/>
              <a:t> </a:t>
            </a:r>
            <a:r>
              <a:rPr lang="ru-RU" b="1" dirty="0" err="1"/>
              <a:t>потребують</a:t>
            </a:r>
            <a:r>
              <a:rPr lang="ru-RU" b="1" dirty="0"/>
              <a:t> </a:t>
            </a:r>
            <a:r>
              <a:rPr lang="ru-RU" b="1" dirty="0" err="1"/>
              <a:t>зміни</a:t>
            </a:r>
            <a:r>
              <a:rPr lang="ru-RU" b="1" dirty="0"/>
              <a:t>, і в реальному </a:t>
            </a:r>
            <a:r>
              <a:rPr lang="en-US" b="1" dirty="0"/>
              <a:t>DOM </a:t>
            </a:r>
            <a:r>
              <a:rPr lang="ru-RU" b="1" dirty="0" err="1"/>
              <a:t>змінює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</a:t>
            </a:r>
            <a:r>
              <a:rPr lang="ru-RU" b="1" dirty="0" err="1"/>
              <a:t>ті</a:t>
            </a:r>
            <a:r>
              <a:rPr lang="ru-RU" b="1" dirty="0"/>
              <a:t> </a:t>
            </a:r>
            <a:r>
              <a:rPr lang="ru-RU" b="1" dirty="0" err="1"/>
              <a:t>елементи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змінити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809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2564777" y="132078"/>
            <a:ext cx="3726414" cy="360040"/>
          </a:xfrm>
          <a:prstGeom prst="rect">
            <a:avLst/>
          </a:prstGeom>
          <a:solidFill>
            <a:schemeClr val="bg1">
              <a:alpha val="37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Reconsilation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2E38B-4585-B3C1-1362-1219D3AA1728}"/>
              </a:ext>
            </a:extLst>
          </p:cNvPr>
          <p:cNvSpPr txBox="1"/>
          <p:nvPr/>
        </p:nvSpPr>
        <p:spPr>
          <a:xfrm>
            <a:off x="107504" y="620688"/>
            <a:ext cx="8640960" cy="2585323"/>
          </a:xfrm>
          <a:prstGeom prst="rect">
            <a:avLst/>
          </a:prstGeom>
          <a:noFill/>
          <a:ln>
            <a:solidFill>
              <a:srgbClr val="3756F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Це</a:t>
            </a:r>
            <a:r>
              <a:rPr lang="ru-RU" dirty="0"/>
              <a:t> алгоритм, </a:t>
            </a:r>
            <a:r>
              <a:rPr lang="ru-RU" dirty="0" err="1"/>
              <a:t>який</a:t>
            </a:r>
            <a:r>
              <a:rPr lang="ru-RU" dirty="0"/>
              <a:t> ми </a:t>
            </a:r>
            <a:r>
              <a:rPr lang="ru-RU" dirty="0" err="1"/>
              <a:t>називаємо</a:t>
            </a:r>
            <a:r>
              <a:rPr lang="ru-RU" dirty="0"/>
              <a:t> </a:t>
            </a:r>
            <a:r>
              <a:rPr lang="en-US" dirty="0"/>
              <a:t>Virtual DOM</a:t>
            </a:r>
          </a:p>
          <a:p>
            <a:endParaRPr lang="en-US" dirty="0"/>
          </a:p>
          <a:p>
            <a:r>
              <a:rPr lang="ru-RU" dirty="0"/>
              <a:t>Коли ми </a:t>
            </a:r>
            <a:r>
              <a:rPr lang="ru-RU" dirty="0" err="1"/>
              <a:t>повертаємо</a:t>
            </a:r>
            <a:r>
              <a:rPr lang="ru-RU" dirty="0"/>
              <a:t> </a:t>
            </a:r>
            <a:r>
              <a:rPr lang="en-US" dirty="0"/>
              <a:t>JSX </a:t>
            </a:r>
            <a:r>
              <a:rPr lang="ru-RU" dirty="0"/>
              <a:t>з </a:t>
            </a:r>
            <a:r>
              <a:rPr lang="ru-RU" dirty="0" err="1"/>
              <a:t>компонентів</a:t>
            </a:r>
            <a:r>
              <a:rPr lang="ru-RU" dirty="0"/>
              <a:t>, </a:t>
            </a:r>
            <a:r>
              <a:rPr lang="ru-RU" dirty="0" err="1"/>
              <a:t>виконуючи</a:t>
            </a:r>
            <a:r>
              <a:rPr lang="ru-RU" dirty="0"/>
              <a:t> </a:t>
            </a:r>
            <a:r>
              <a:rPr lang="en-US" dirty="0"/>
              <a:t>return </a:t>
            </a:r>
            <a:r>
              <a:rPr lang="ru-RU" dirty="0"/>
              <a:t>з </a:t>
            </a:r>
            <a:r>
              <a:rPr lang="ru-RU" dirty="0" err="1"/>
              <a:t>функціонального</a:t>
            </a:r>
            <a:r>
              <a:rPr lang="ru-RU" dirty="0"/>
              <a:t> компонента </a:t>
            </a:r>
            <a:r>
              <a:rPr lang="ru-RU" dirty="0" err="1"/>
              <a:t>або</a:t>
            </a:r>
            <a:r>
              <a:rPr lang="ru-RU" dirty="0"/>
              <a:t> метод </a:t>
            </a:r>
            <a:r>
              <a:rPr lang="en-US" dirty="0"/>
              <a:t>render() </a:t>
            </a:r>
            <a:r>
              <a:rPr lang="ru-RU" dirty="0"/>
              <a:t>з </a:t>
            </a:r>
            <a:r>
              <a:rPr lang="ru-RU" dirty="0" err="1"/>
              <a:t>класового</a:t>
            </a:r>
            <a:r>
              <a:rPr lang="ru-RU" dirty="0"/>
              <a:t> компонента </a:t>
            </a:r>
            <a:r>
              <a:rPr lang="en-US" dirty="0"/>
              <a:t>React </a:t>
            </a:r>
            <a:r>
              <a:rPr lang="ru-RU" dirty="0"/>
              <a:t>за </a:t>
            </a:r>
            <a:r>
              <a:rPr lang="ru-RU" dirty="0" err="1"/>
              <a:t>сукупністю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en-US" dirty="0"/>
              <a:t>JSX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ноди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збирає</a:t>
            </a:r>
            <a:r>
              <a:rPr lang="ru-RU" dirty="0"/>
              <a:t> в дерево</a:t>
            </a:r>
          </a:p>
          <a:p>
            <a:endParaRPr lang="ru-RU" dirty="0"/>
          </a:p>
          <a:p>
            <a:r>
              <a:rPr lang="ru-RU" dirty="0"/>
              <a:t>Дерево </a:t>
            </a:r>
            <a:r>
              <a:rPr lang="ru-RU" dirty="0" err="1"/>
              <a:t>називається</a:t>
            </a:r>
            <a:r>
              <a:rPr lang="ru-RU" dirty="0"/>
              <a:t> </a:t>
            </a:r>
            <a:r>
              <a:rPr lang="en-US" dirty="0"/>
              <a:t>current tree </a:t>
            </a:r>
            <a:r>
              <a:rPr lang="ru-RU" dirty="0"/>
              <a:t>і </a:t>
            </a:r>
            <a:r>
              <a:rPr lang="ru-RU" dirty="0" err="1"/>
              <a:t>воно</a:t>
            </a:r>
            <a:r>
              <a:rPr lang="ru-RU" dirty="0"/>
              <a:t> </a:t>
            </a:r>
            <a:r>
              <a:rPr lang="ru-RU" dirty="0" err="1"/>
              <a:t>описує</a:t>
            </a:r>
            <a:r>
              <a:rPr lang="ru-RU" dirty="0"/>
              <a:t> стан </a:t>
            </a:r>
            <a:r>
              <a:rPr lang="ru-RU" dirty="0" err="1"/>
              <a:t>всієї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, і </a:t>
            </a:r>
            <a:r>
              <a:rPr lang="ru-RU" dirty="0" err="1"/>
              <a:t>зберігається</a:t>
            </a:r>
            <a:r>
              <a:rPr lang="ru-RU" dirty="0"/>
              <a:t> в </a:t>
            </a:r>
            <a:r>
              <a:rPr lang="ru-RU" dirty="0" err="1"/>
              <a:t>пам'яті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28B6FD-EB4A-E8BE-E9AB-85070F325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6" y="4221088"/>
            <a:ext cx="2737161" cy="2232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F22084-85F0-A451-FD7D-118A90C0CFAF}"/>
              </a:ext>
            </a:extLst>
          </p:cNvPr>
          <p:cNvSpPr txBox="1"/>
          <p:nvPr/>
        </p:nvSpPr>
        <p:spPr>
          <a:xfrm>
            <a:off x="158966" y="3685756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Current tree</a:t>
            </a:r>
            <a:endParaRPr lang="ru-UA" sz="2400" b="1" dirty="0"/>
          </a:p>
        </p:txBody>
      </p:sp>
    </p:spTree>
    <p:extLst>
      <p:ext uri="{BB962C8B-B14F-4D97-AF65-F5344CB8AC3E}">
        <p14:creationId xmlns:p14="http://schemas.microsoft.com/office/powerpoint/2010/main" val="61127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28B6FD-EB4A-E8BE-E9AB-85070F325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6" y="2564904"/>
            <a:ext cx="2737161" cy="2232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F22084-85F0-A451-FD7D-118A90C0CFAF}"/>
              </a:ext>
            </a:extLst>
          </p:cNvPr>
          <p:cNvSpPr txBox="1"/>
          <p:nvPr/>
        </p:nvSpPr>
        <p:spPr>
          <a:xfrm>
            <a:off x="281961" y="1916832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Current tree</a:t>
            </a:r>
            <a:endParaRPr lang="ru-UA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209A7-CE3C-E523-0E44-44BC6D58DACA}"/>
              </a:ext>
            </a:extLst>
          </p:cNvPr>
          <p:cNvSpPr txBox="1"/>
          <p:nvPr/>
        </p:nvSpPr>
        <p:spPr>
          <a:xfrm>
            <a:off x="108380" y="65863"/>
            <a:ext cx="8928116" cy="1477328"/>
          </a:xfrm>
          <a:prstGeom prst="rect">
            <a:avLst/>
          </a:prstGeom>
          <a:noFill/>
          <a:ln>
            <a:solidFill>
              <a:srgbClr val="3756F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Далі</a:t>
            </a:r>
            <a:r>
              <a:rPr lang="ru-RU" dirty="0"/>
              <a:t> </a:t>
            </a:r>
            <a:r>
              <a:rPr lang="en-US" dirty="0"/>
              <a:t>current tree </a:t>
            </a:r>
            <a:r>
              <a:rPr lang="ru-RU" dirty="0" err="1"/>
              <a:t>потрапляє</a:t>
            </a:r>
            <a:r>
              <a:rPr lang="ru-RU" dirty="0"/>
              <a:t> у </a:t>
            </a:r>
            <a:r>
              <a:rPr lang="ru-RU" dirty="0" err="1"/>
              <a:t>середовище</a:t>
            </a:r>
            <a:r>
              <a:rPr lang="ru-RU" dirty="0"/>
              <a:t> рендерингу, яке у </a:t>
            </a:r>
            <a:r>
              <a:rPr lang="ru-RU" dirty="0" err="1"/>
              <a:t>разі</a:t>
            </a:r>
            <a:r>
              <a:rPr lang="ru-RU" dirty="0"/>
              <a:t> </a:t>
            </a:r>
            <a:r>
              <a:rPr lang="en-US" dirty="0"/>
              <a:t>WEB </a:t>
            </a:r>
            <a:r>
              <a:rPr lang="ru-RU" dirty="0" err="1"/>
              <a:t>переведе</a:t>
            </a:r>
            <a:r>
              <a:rPr lang="ru-RU" dirty="0"/>
              <a:t> дерево до набору </a:t>
            </a:r>
            <a:r>
              <a:rPr lang="en-US" dirty="0"/>
              <a:t>DOM </a:t>
            </a:r>
            <a:r>
              <a:rPr lang="ru-RU" dirty="0" err="1"/>
              <a:t>операцій</a:t>
            </a:r>
            <a:r>
              <a:rPr lang="ru-RU" dirty="0"/>
              <a:t>,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відсортує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за </a:t>
            </a:r>
            <a:r>
              <a:rPr lang="ru-RU" dirty="0" err="1"/>
              <a:t>пріоритетом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При </a:t>
            </a:r>
            <a:r>
              <a:rPr lang="ru-RU" dirty="0" err="1"/>
              <a:t>монтуванні</a:t>
            </a:r>
            <a:r>
              <a:rPr lang="ru-RU" dirty="0"/>
              <a:t> </a:t>
            </a:r>
            <a:r>
              <a:rPr lang="en-US" dirty="0"/>
              <a:t>current tree </a:t>
            </a:r>
            <a:r>
              <a:rPr lang="ru-RU" dirty="0" err="1"/>
              <a:t>відображається</a:t>
            </a:r>
            <a:r>
              <a:rPr lang="ru-RU" dirty="0"/>
              <a:t> </a:t>
            </a:r>
            <a:r>
              <a:rPr lang="ru-RU" dirty="0" err="1"/>
              <a:t>повністю</a:t>
            </a:r>
            <a:endParaRPr lang="ru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5553C9-A753-E8D5-DC25-F74D6C68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239" y="2564904"/>
            <a:ext cx="2737161" cy="22322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4DCDD2-50D9-AACC-6238-AF9304AC8117}"/>
              </a:ext>
            </a:extLst>
          </p:cNvPr>
          <p:cNvSpPr txBox="1"/>
          <p:nvPr/>
        </p:nvSpPr>
        <p:spPr>
          <a:xfrm>
            <a:off x="5605414" y="1916832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Browser DOM</a:t>
            </a:r>
            <a:endParaRPr lang="ru-UA" sz="2400" b="1" dirty="0"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AADF61B3-91E5-700F-D149-260B3ECF5D9D}"/>
              </a:ext>
            </a:extLst>
          </p:cNvPr>
          <p:cNvSpPr/>
          <p:nvPr/>
        </p:nvSpPr>
        <p:spPr>
          <a:xfrm>
            <a:off x="3275856" y="3212976"/>
            <a:ext cx="1944216" cy="1008112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3832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72E38B-4585-B3C1-1362-1219D3AA1728}"/>
              </a:ext>
            </a:extLst>
          </p:cNvPr>
          <p:cNvSpPr txBox="1"/>
          <p:nvPr/>
        </p:nvSpPr>
        <p:spPr>
          <a:xfrm>
            <a:off x="35496" y="51589"/>
            <a:ext cx="8928992" cy="1754326"/>
          </a:xfrm>
          <a:prstGeom prst="rect">
            <a:avLst/>
          </a:prstGeom>
          <a:noFill/>
          <a:ln>
            <a:solidFill>
              <a:srgbClr val="3756F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 </a:t>
            </a:r>
            <a:r>
              <a:rPr lang="ru-RU" dirty="0" err="1"/>
              <a:t>внесенні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 до </a:t>
            </a:r>
            <a:r>
              <a:rPr lang="en-US" dirty="0"/>
              <a:t>JSX React </a:t>
            </a:r>
            <a:r>
              <a:rPr lang="ru-RU" dirty="0" err="1"/>
              <a:t>формує</a:t>
            </a:r>
            <a:r>
              <a:rPr lang="ru-RU" dirty="0"/>
              <a:t> </a:t>
            </a:r>
            <a:r>
              <a:rPr lang="ru-RU" dirty="0" err="1"/>
              <a:t>нове</a:t>
            </a:r>
            <a:r>
              <a:rPr lang="ru-RU" dirty="0"/>
              <a:t> дерево</a:t>
            </a:r>
            <a:endParaRPr lang="en-US" dirty="0"/>
          </a:p>
          <a:p>
            <a:r>
              <a:rPr lang="ru-RU" dirty="0"/>
              <a:t>Дерева </a:t>
            </a:r>
            <a:r>
              <a:rPr lang="ru-RU" dirty="0" err="1"/>
              <a:t>порівнюються</a:t>
            </a:r>
            <a:r>
              <a:rPr lang="ru-RU" dirty="0"/>
              <a:t>, </a:t>
            </a:r>
            <a:r>
              <a:rPr lang="ru-RU" dirty="0" err="1"/>
              <a:t>обчислюється</a:t>
            </a:r>
            <a:r>
              <a:rPr lang="ru-RU" dirty="0"/>
              <a:t> </a:t>
            </a:r>
            <a:r>
              <a:rPr lang="ru-RU" dirty="0" err="1"/>
              <a:t>різниця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ними, яка </a:t>
            </a:r>
            <a:r>
              <a:rPr lang="ru-RU" dirty="0" err="1"/>
              <a:t>віддається</a:t>
            </a:r>
            <a:r>
              <a:rPr lang="ru-RU" dirty="0"/>
              <a:t> у середу рендерингу</a:t>
            </a:r>
          </a:p>
          <a:p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різниця</a:t>
            </a:r>
            <a:r>
              <a:rPr lang="ru-RU" dirty="0"/>
              <a:t> </a:t>
            </a:r>
            <a:r>
              <a:rPr lang="ru-RU" dirty="0" err="1"/>
              <a:t>перетворюється</a:t>
            </a:r>
            <a:r>
              <a:rPr lang="ru-RU" dirty="0"/>
              <a:t> на </a:t>
            </a:r>
            <a:r>
              <a:rPr lang="en-US" dirty="0"/>
              <a:t>DOM </a:t>
            </a:r>
            <a:r>
              <a:rPr lang="ru-RU" dirty="0" err="1"/>
              <a:t>операції</a:t>
            </a:r>
            <a:r>
              <a:rPr lang="ru-RU" dirty="0"/>
              <a:t>,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пріоритезація</a:t>
            </a:r>
            <a:r>
              <a:rPr lang="ru-RU" dirty="0"/>
              <a:t> </a:t>
            </a:r>
            <a:r>
              <a:rPr lang="en-US" dirty="0"/>
              <a:t>DOM </a:t>
            </a:r>
            <a:r>
              <a:rPr lang="ru-RU" dirty="0"/>
              <a:t>дерево браузера </a:t>
            </a:r>
            <a:r>
              <a:rPr lang="ru-RU" dirty="0" err="1"/>
              <a:t>оновлюється</a:t>
            </a:r>
            <a:endParaRPr lang="ru-RU" dirty="0"/>
          </a:p>
          <a:p>
            <a:r>
              <a:rPr lang="en-US" dirty="0"/>
              <a:t>Work-in-progress tree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en-US" dirty="0"/>
              <a:t>Current Tree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28B6FD-EB4A-E8BE-E9AB-85070F325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175" y="3284984"/>
            <a:ext cx="2737161" cy="2232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F22084-85F0-A451-FD7D-118A90C0CFAF}"/>
              </a:ext>
            </a:extLst>
          </p:cNvPr>
          <p:cNvSpPr txBox="1"/>
          <p:nvPr/>
        </p:nvSpPr>
        <p:spPr>
          <a:xfrm>
            <a:off x="5170134" y="2348880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Current tree</a:t>
            </a:r>
            <a:endParaRPr lang="ru-UA" sz="2400" b="1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2EA7D18-1AC2-A18E-4A42-555EC3789409}"/>
              </a:ext>
            </a:extLst>
          </p:cNvPr>
          <p:cNvGrpSpPr/>
          <p:nvPr/>
        </p:nvGrpSpPr>
        <p:grpSpPr>
          <a:xfrm>
            <a:off x="-2351" y="2348880"/>
            <a:ext cx="3134191" cy="2751903"/>
            <a:chOff x="-2351" y="2928518"/>
            <a:chExt cx="3134191" cy="2751903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DF267257-B3B9-F17F-BB1C-DEDFA8198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44" y="3759515"/>
              <a:ext cx="2343505" cy="192090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9C1E75-69CB-ABFC-178E-08619E3BE054}"/>
                </a:ext>
              </a:extLst>
            </p:cNvPr>
            <p:cNvSpPr txBox="1"/>
            <p:nvPr/>
          </p:nvSpPr>
          <p:spPr>
            <a:xfrm>
              <a:off x="-2351" y="2928518"/>
              <a:ext cx="313419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/>
                <a:t>work-in-progress</a:t>
              </a:r>
            </a:p>
            <a:p>
              <a:pPr algn="ctr"/>
              <a:r>
                <a:rPr lang="en-US" sz="2400" b="1" dirty="0"/>
                <a:t>tree</a:t>
              </a:r>
              <a:endParaRPr lang="ru-UA" sz="2400" b="1" dirty="0"/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7BC745-9C8C-2F2B-BD4B-9E8509167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236803"/>
            <a:ext cx="2990971" cy="6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4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3 </a:t>
            </a:r>
            <a:r>
              <a:rPr lang="ru-RU" b="1" dirty="0" err="1"/>
              <a:t>принципи</a:t>
            </a:r>
            <a:r>
              <a:rPr lang="uk-UA" b="1" dirty="0"/>
              <a:t>и</a:t>
            </a:r>
            <a:r>
              <a:rPr lang="ru-RU" b="1" dirty="0"/>
              <a:t> </a:t>
            </a:r>
            <a:r>
              <a:rPr lang="en-US" b="1" dirty="0"/>
              <a:t>React 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472604"/>
            <a:ext cx="8893496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fontAlgn="base">
              <a:buAutoNum type="arabicPeriod"/>
            </a:pPr>
            <a:r>
              <a:rPr lang="ru-RU" b="1" dirty="0" err="1"/>
              <a:t>Декларативний</a:t>
            </a:r>
            <a:r>
              <a:rPr lang="ru-RU" b="1" dirty="0"/>
              <a:t> </a:t>
            </a:r>
            <a:r>
              <a:rPr lang="ru-RU" b="1" dirty="0" err="1"/>
              <a:t>підхід</a:t>
            </a:r>
            <a:r>
              <a:rPr lang="ru-RU" b="1" dirty="0"/>
              <a:t>.</a:t>
            </a:r>
          </a:p>
          <a:p>
            <a:pPr marL="342900" indent="-342900" fontAlgn="base">
              <a:buAutoNum type="arabicPeriod"/>
            </a:pPr>
            <a:r>
              <a:rPr lang="ru-RU" b="1" dirty="0"/>
              <a:t>Компонентно-</a:t>
            </a:r>
            <a:r>
              <a:rPr lang="ru-RU" b="1" dirty="0" err="1"/>
              <a:t>орієнтований</a:t>
            </a:r>
            <a:r>
              <a:rPr lang="ru-RU" b="1" dirty="0"/>
              <a:t> </a:t>
            </a:r>
            <a:r>
              <a:rPr lang="ru-RU" b="1" dirty="0" err="1"/>
              <a:t>підхід</a:t>
            </a:r>
            <a:r>
              <a:rPr lang="ru-RU" b="1" dirty="0"/>
              <a:t> - </a:t>
            </a:r>
            <a:r>
              <a:rPr lang="ru-RU" b="1" dirty="0" err="1"/>
              <a:t>створити</a:t>
            </a:r>
            <a:r>
              <a:rPr lang="ru-RU" b="1" dirty="0"/>
              <a:t> компонент один раз і </a:t>
            </a:r>
            <a:r>
              <a:rPr lang="ru-RU" b="1" dirty="0" err="1"/>
              <a:t>використовувати</a:t>
            </a:r>
            <a:r>
              <a:rPr lang="ru-RU" b="1" dirty="0"/>
              <a:t> </a:t>
            </a:r>
            <a:r>
              <a:rPr lang="ru-RU" b="1" dirty="0" err="1"/>
              <a:t>його</a:t>
            </a:r>
            <a:r>
              <a:rPr lang="ru-RU" b="1" dirty="0"/>
              <a:t> в будь-</a:t>
            </a:r>
            <a:r>
              <a:rPr lang="ru-RU" b="1" dirty="0" err="1"/>
              <a:t>яких</a:t>
            </a:r>
            <a:r>
              <a:rPr lang="ru-RU" b="1" dirty="0"/>
              <a:t> проектах.</a:t>
            </a:r>
          </a:p>
          <a:p>
            <a:pPr marL="342900" indent="-342900" fontAlgn="base">
              <a:buAutoNum type="arabicPeriod"/>
            </a:pPr>
            <a:r>
              <a:rPr lang="ru-RU" b="1" dirty="0" err="1"/>
              <a:t>Односпрямований</a:t>
            </a:r>
            <a:r>
              <a:rPr lang="ru-RU" b="1" dirty="0"/>
              <a:t> </a:t>
            </a:r>
            <a:r>
              <a:rPr lang="ru-RU" b="1" dirty="0" err="1"/>
              <a:t>потік</a:t>
            </a:r>
            <a:r>
              <a:rPr lang="ru-RU" b="1" dirty="0"/>
              <a:t> </a:t>
            </a:r>
            <a:r>
              <a:rPr lang="ru-RU" b="1" dirty="0" err="1"/>
              <a:t>даних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475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Pure components </a:t>
            </a:r>
            <a:endParaRPr lang="ru-RU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E0CB7-C391-96B5-9BF2-49833D65F04D}"/>
              </a:ext>
            </a:extLst>
          </p:cNvPr>
          <p:cNvSpPr txBox="1"/>
          <p:nvPr/>
        </p:nvSpPr>
        <p:spPr>
          <a:xfrm>
            <a:off x="109016" y="476672"/>
            <a:ext cx="8893496" cy="2031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b="1" dirty="0">
                <a:solidFill>
                  <a:srgbClr val="C00000"/>
                </a:solidFill>
              </a:rPr>
              <a:t>1. Minds its own business.</a:t>
            </a:r>
          </a:p>
          <a:p>
            <a:pPr fontAlgn="base"/>
            <a:r>
              <a:rPr lang="ru-RU" b="1" dirty="0" err="1"/>
              <a:t>Він</a:t>
            </a:r>
            <a:r>
              <a:rPr lang="ru-RU" b="1" dirty="0"/>
              <a:t> не </a:t>
            </a:r>
            <a:r>
              <a:rPr lang="ru-RU" b="1" dirty="0" err="1"/>
              <a:t>змінює</a:t>
            </a:r>
            <a:r>
              <a:rPr lang="ru-RU" b="1" dirty="0"/>
              <a:t> будь-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змінні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існували</a:t>
            </a:r>
            <a:r>
              <a:rPr lang="ru-RU" b="1" dirty="0"/>
              <a:t> до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виклику</a:t>
            </a:r>
            <a:r>
              <a:rPr lang="ru-RU" b="1" dirty="0"/>
              <a:t>.</a:t>
            </a:r>
          </a:p>
          <a:p>
            <a:pPr fontAlgn="base"/>
            <a:endParaRPr lang="ru-RU" b="1" dirty="0"/>
          </a:p>
          <a:p>
            <a:pPr fontAlgn="base"/>
            <a:r>
              <a:rPr lang="ru-RU" b="1" dirty="0">
                <a:solidFill>
                  <a:srgbClr val="C00000"/>
                </a:solidFill>
              </a:rPr>
              <a:t>2. </a:t>
            </a:r>
            <a:r>
              <a:rPr lang="en-US" b="1" dirty="0">
                <a:solidFill>
                  <a:srgbClr val="C00000"/>
                </a:solidFill>
              </a:rPr>
              <a:t>Same inputs, same output</a:t>
            </a:r>
            <a:r>
              <a:rPr lang="en-US" b="1" dirty="0"/>
              <a:t>. </a:t>
            </a:r>
          </a:p>
          <a:p>
            <a:pPr fontAlgn="base"/>
            <a:r>
              <a:rPr lang="ru-RU" b="1" dirty="0"/>
              <a:t>При тих самих </a:t>
            </a:r>
            <a:r>
              <a:rPr lang="ru-RU" b="1" dirty="0" err="1"/>
              <a:t>вхідних</a:t>
            </a:r>
            <a:r>
              <a:rPr lang="ru-RU" b="1" dirty="0"/>
              <a:t> </a:t>
            </a:r>
            <a:r>
              <a:rPr lang="ru-RU" b="1" dirty="0" err="1"/>
              <a:t>даних</a:t>
            </a:r>
            <a:r>
              <a:rPr lang="ru-RU" b="1" dirty="0"/>
              <a:t> </a:t>
            </a:r>
            <a:r>
              <a:rPr lang="en-US" b="1" dirty="0"/>
              <a:t>pure function </a:t>
            </a:r>
            <a:r>
              <a:rPr lang="ru-RU" b="1" dirty="0" err="1"/>
              <a:t>завжди</a:t>
            </a:r>
            <a:r>
              <a:rPr lang="ru-RU" b="1" dirty="0"/>
              <a:t> </a:t>
            </a:r>
            <a:r>
              <a:rPr lang="ru-RU" b="1" dirty="0" err="1"/>
              <a:t>винна</a:t>
            </a:r>
            <a:endParaRPr lang="ru-RU" b="1" dirty="0"/>
          </a:p>
          <a:p>
            <a:pPr fontAlgn="base"/>
            <a:r>
              <a:rPr lang="ru-RU" b="1" dirty="0" err="1"/>
              <a:t>повертати</a:t>
            </a:r>
            <a:r>
              <a:rPr lang="ru-RU" b="1" dirty="0"/>
              <a:t> той </a:t>
            </a:r>
            <a:r>
              <a:rPr lang="ru-RU" b="1" dirty="0" err="1"/>
              <a:t>самий</a:t>
            </a:r>
            <a:r>
              <a:rPr lang="ru-RU" b="1" dirty="0"/>
              <a:t> результат.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A60BF-4D17-E3D1-AD39-0A82DD2BA93C}"/>
              </a:ext>
            </a:extLst>
          </p:cNvPr>
          <p:cNvSpPr txBox="1"/>
          <p:nvPr/>
        </p:nvSpPr>
        <p:spPr>
          <a:xfrm>
            <a:off x="129637" y="2690336"/>
            <a:ext cx="8893496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b="1" dirty="0" err="1"/>
              <a:t>Наприклад</a:t>
            </a:r>
            <a:r>
              <a:rPr lang="en-US" b="1" dirty="0"/>
              <a:t> </a:t>
            </a:r>
            <a:r>
              <a:rPr lang="en-US" b="1" dirty="0" err="1"/>
              <a:t>формула</a:t>
            </a:r>
            <a:r>
              <a:rPr lang="en-US" b="1" dirty="0"/>
              <a:t>: y = 2x.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If x = 2 then y = 4. </a:t>
            </a:r>
            <a:r>
              <a:rPr lang="en-US" b="1" dirty="0">
                <a:solidFill>
                  <a:srgbClr val="C00000"/>
                </a:solidFill>
              </a:rPr>
              <a:t>Always</a:t>
            </a:r>
            <a:r>
              <a:rPr lang="en-US" b="1" dirty="0"/>
              <a:t>. </a:t>
            </a:r>
          </a:p>
          <a:p>
            <a:pPr fontAlgn="base"/>
            <a:r>
              <a:rPr lang="en-US" b="1" dirty="0"/>
              <a:t>If x = 3 then y = 6. </a:t>
            </a:r>
            <a:r>
              <a:rPr lang="en-US" b="1" dirty="0">
                <a:solidFill>
                  <a:srgbClr val="C00000"/>
                </a:solidFill>
              </a:rPr>
              <a:t>Always</a:t>
            </a:r>
            <a:r>
              <a:rPr lang="en-US" b="1" dirty="0"/>
              <a:t>. </a:t>
            </a:r>
          </a:p>
          <a:p>
            <a:pPr fontAlgn="base"/>
            <a:r>
              <a:rPr lang="en-US" b="1" dirty="0"/>
              <a:t>If x = 3, then y = 9. </a:t>
            </a:r>
            <a:r>
              <a:rPr lang="en-US" b="1" dirty="0">
                <a:solidFill>
                  <a:srgbClr val="C00000"/>
                </a:solidFill>
              </a:rPr>
              <a:t>Always</a:t>
            </a:r>
            <a:r>
              <a:rPr lang="en-US" b="1" dirty="0"/>
              <a:t>. </a:t>
            </a:r>
            <a:r>
              <a:rPr lang="en-US" b="1" dirty="0">
                <a:solidFill>
                  <a:srgbClr val="C00000"/>
                </a:solidFill>
              </a:rPr>
              <a:t>І </a:t>
            </a:r>
            <a:r>
              <a:rPr lang="en-US" b="1" dirty="0" err="1">
                <a:solidFill>
                  <a:srgbClr val="C00000"/>
                </a:solidFill>
              </a:rPr>
              <a:t>не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змінюєть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за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часом</a:t>
            </a:r>
            <a:r>
              <a:rPr lang="en-US" b="1" dirty="0">
                <a:solidFill>
                  <a:srgbClr val="C00000"/>
                </a:solidFill>
              </a:rPr>
              <a:t> !!!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A3D5B-9F93-F3EB-46FC-5DEFEBA9E898}"/>
              </a:ext>
            </a:extLst>
          </p:cNvPr>
          <p:cNvSpPr txBox="1"/>
          <p:nvPr/>
        </p:nvSpPr>
        <p:spPr>
          <a:xfrm>
            <a:off x="139751" y="4293096"/>
            <a:ext cx="8893496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ru-RU" b="1" dirty="0"/>
              <a:t>Як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записати</a:t>
            </a:r>
            <a:r>
              <a:rPr lang="ru-RU" b="1" dirty="0"/>
              <a:t> в </a:t>
            </a:r>
            <a:r>
              <a:rPr lang="en-US" b="1" dirty="0"/>
              <a:t>JS function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>
                <a:solidFill>
                  <a:srgbClr val="0070C0"/>
                </a:solidFill>
              </a:rPr>
              <a:t>function double(number) {</a:t>
            </a:r>
          </a:p>
          <a:p>
            <a:pPr fontAlgn="base"/>
            <a:r>
              <a:rPr lang="en-US" b="1" dirty="0">
                <a:solidFill>
                  <a:srgbClr val="0070C0"/>
                </a:solidFill>
              </a:rPr>
              <a:t>  return 2 * number;</a:t>
            </a:r>
          </a:p>
          <a:p>
            <a:pPr fontAlgn="base"/>
            <a:r>
              <a:rPr lang="en-US" b="1" dirty="0">
                <a:solidFill>
                  <a:srgbClr val="0070C0"/>
                </a:solidFill>
              </a:rPr>
              <a:t>}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>
                <a:solidFill>
                  <a:srgbClr val="C00000"/>
                </a:solidFill>
              </a:rPr>
              <a:t>double</a:t>
            </a:r>
            <a:r>
              <a:rPr lang="en-US" b="1" dirty="0"/>
              <a:t> </a:t>
            </a:r>
            <a:r>
              <a:rPr lang="ru-RU" b="1" dirty="0" err="1"/>
              <a:t>це</a:t>
            </a:r>
            <a:r>
              <a:rPr lang="ru-RU" b="1" dirty="0"/>
              <a:t>  </a:t>
            </a:r>
            <a:r>
              <a:rPr lang="en-US" b="1" dirty="0"/>
              <a:t>pure function. </a:t>
            </a:r>
          </a:p>
          <a:p>
            <a:pPr fontAlgn="base"/>
            <a:r>
              <a:rPr lang="ru-RU" b="1" dirty="0" err="1"/>
              <a:t>Якщо</a:t>
            </a:r>
            <a:r>
              <a:rPr lang="ru-RU" b="1" dirty="0"/>
              <a:t> </a:t>
            </a:r>
            <a:r>
              <a:rPr lang="ru-RU" b="1" dirty="0" err="1"/>
              <a:t>передати</a:t>
            </a:r>
            <a:r>
              <a:rPr lang="ru-RU" b="1" dirty="0"/>
              <a:t> 3, </a:t>
            </a:r>
            <a:r>
              <a:rPr lang="ru-RU" b="1" dirty="0" err="1"/>
              <a:t>повертається</a:t>
            </a:r>
            <a:r>
              <a:rPr lang="ru-RU" b="1" dirty="0"/>
              <a:t> 6. </a:t>
            </a:r>
            <a:r>
              <a:rPr lang="en-US" b="1" dirty="0">
                <a:solidFill>
                  <a:srgbClr val="C00000"/>
                </a:solidFill>
              </a:rPr>
              <a:t>Always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11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CA3D5B-9F93-F3EB-46FC-5DEFEBA9E898}"/>
              </a:ext>
            </a:extLst>
          </p:cNvPr>
          <p:cNvSpPr txBox="1"/>
          <p:nvPr/>
        </p:nvSpPr>
        <p:spPr>
          <a:xfrm>
            <a:off x="125252" y="188640"/>
            <a:ext cx="8893496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React </a:t>
            </a:r>
            <a:r>
              <a:rPr lang="ru-RU" b="1" dirty="0" err="1"/>
              <a:t>розроблено</a:t>
            </a:r>
            <a:r>
              <a:rPr lang="ru-RU" b="1" dirty="0"/>
              <a:t> </a:t>
            </a:r>
            <a:r>
              <a:rPr lang="ru-RU" b="1" dirty="0" err="1"/>
              <a:t>навколо</a:t>
            </a:r>
            <a:r>
              <a:rPr lang="ru-RU" b="1" dirty="0"/>
              <a:t> </a:t>
            </a:r>
            <a:r>
              <a:rPr lang="ru-RU" b="1" dirty="0" err="1"/>
              <a:t>цієї</a:t>
            </a:r>
            <a:r>
              <a:rPr lang="ru-RU" b="1" dirty="0"/>
              <a:t> </a:t>
            </a:r>
            <a:r>
              <a:rPr lang="ru-RU" b="1" dirty="0" err="1"/>
              <a:t>концепції</a:t>
            </a:r>
            <a:r>
              <a:rPr lang="ru-RU" b="1" dirty="0"/>
              <a:t>.</a:t>
            </a:r>
          </a:p>
          <a:p>
            <a:pPr fontAlgn="base"/>
            <a:r>
              <a:rPr lang="en-US" b="1" dirty="0"/>
              <a:t>React </a:t>
            </a:r>
            <a:r>
              <a:rPr lang="ru-RU" b="1" dirty="0" err="1"/>
              <a:t>припускає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кожний</a:t>
            </a:r>
            <a:r>
              <a:rPr lang="ru-RU" b="1" dirty="0"/>
              <a:t> написаний компонент є чистою </a:t>
            </a:r>
            <a:r>
              <a:rPr lang="ru-RU" b="1" dirty="0" err="1"/>
              <a:t>функцією</a:t>
            </a:r>
            <a:r>
              <a:rPr lang="ru-RU" b="1" dirty="0"/>
              <a:t>.</a:t>
            </a:r>
          </a:p>
          <a:p>
            <a:pPr fontAlgn="base"/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означає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компоненти</a:t>
            </a:r>
            <a:r>
              <a:rPr lang="ru-RU" b="1" dirty="0"/>
              <a:t> </a:t>
            </a:r>
            <a:r>
              <a:rPr lang="en-US" b="1" dirty="0"/>
              <a:t>React,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ви</a:t>
            </a:r>
            <a:r>
              <a:rPr lang="ru-RU" b="1" dirty="0"/>
              <a:t> пишете, </a:t>
            </a:r>
            <a:r>
              <a:rPr lang="ru-RU" b="1" dirty="0" err="1"/>
              <a:t>завжди</a:t>
            </a:r>
            <a:r>
              <a:rPr lang="ru-RU" b="1" dirty="0"/>
              <a:t> </a:t>
            </a:r>
            <a:r>
              <a:rPr lang="ru-RU" b="1" dirty="0" err="1"/>
              <a:t>повинні</a:t>
            </a:r>
            <a:endParaRPr lang="ru-RU" b="1" dirty="0"/>
          </a:p>
          <a:p>
            <a:pPr fontAlgn="base"/>
            <a:r>
              <a:rPr lang="ru-RU" b="1" dirty="0" err="1"/>
              <a:t>повернути</a:t>
            </a:r>
            <a:r>
              <a:rPr lang="ru-RU" b="1" dirty="0"/>
              <a:t> той же </a:t>
            </a:r>
            <a:r>
              <a:rPr lang="en-US" b="1" dirty="0"/>
              <a:t>JSX </a:t>
            </a:r>
            <a:r>
              <a:rPr lang="ru-RU" b="1" dirty="0"/>
              <a:t>з </a:t>
            </a:r>
            <a:r>
              <a:rPr lang="ru-RU" b="1" dirty="0" err="1"/>
              <a:t>тими</a:t>
            </a:r>
            <a:r>
              <a:rPr lang="ru-RU" b="1" dirty="0"/>
              <a:t> ж </a:t>
            </a:r>
            <a:r>
              <a:rPr lang="ru-RU" b="1" dirty="0" err="1"/>
              <a:t>вхідними</a:t>
            </a:r>
            <a:r>
              <a:rPr lang="ru-RU" b="1" dirty="0"/>
              <a:t> </a:t>
            </a:r>
            <a:r>
              <a:rPr lang="ru-RU" b="1" dirty="0" err="1"/>
              <a:t>даними</a:t>
            </a:r>
            <a:r>
              <a:rPr lang="ru-RU" b="1" dirty="0"/>
              <a:t>: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67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CA3D5B-9F93-F3EB-46FC-5DEFEBA9E898}"/>
              </a:ext>
            </a:extLst>
          </p:cNvPr>
          <p:cNvSpPr txBox="1"/>
          <p:nvPr/>
        </p:nvSpPr>
        <p:spPr>
          <a:xfrm>
            <a:off x="179512" y="620688"/>
            <a:ext cx="8893496" cy="25853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ru-RU" b="1" dirty="0" err="1"/>
              <a:t>Наприклад</a:t>
            </a:r>
            <a:r>
              <a:rPr lang="ru-RU" b="1" dirty="0"/>
              <a:t>, нам </a:t>
            </a:r>
            <a:r>
              <a:rPr lang="ru-RU" b="1" dirty="0" err="1"/>
              <a:t>потрібно</a:t>
            </a:r>
            <a:r>
              <a:rPr lang="ru-RU" b="1" dirty="0"/>
              <a:t> при </a:t>
            </a:r>
            <a:r>
              <a:rPr lang="en-US" b="1" dirty="0"/>
              <a:t>click </a:t>
            </a:r>
            <a:r>
              <a:rPr lang="ru-RU" b="1" dirty="0"/>
              <a:t>на </a:t>
            </a:r>
            <a:r>
              <a:rPr lang="ru-RU" b="1" dirty="0" err="1"/>
              <a:t>кнопці</a:t>
            </a:r>
            <a:r>
              <a:rPr lang="ru-RU" b="1" dirty="0"/>
              <a:t> </a:t>
            </a:r>
            <a:r>
              <a:rPr lang="ru-RU" b="1" dirty="0" err="1"/>
              <a:t>вивести</a:t>
            </a:r>
            <a:r>
              <a:rPr lang="ru-RU" b="1" dirty="0"/>
              <a:t> </a:t>
            </a:r>
            <a:r>
              <a:rPr lang="en-US" b="1" dirty="0"/>
              <a:t>alert.</a:t>
            </a:r>
          </a:p>
          <a:p>
            <a:pPr fontAlgn="base"/>
            <a:r>
              <a:rPr lang="ru-RU" b="1" dirty="0"/>
              <a:t>Для </a:t>
            </a:r>
            <a:r>
              <a:rPr lang="ru-RU" b="1" dirty="0" err="1"/>
              <a:t>цього</a:t>
            </a:r>
            <a:r>
              <a:rPr lang="ru-RU" b="1" dirty="0"/>
              <a:t> треба </a:t>
            </a:r>
            <a:r>
              <a:rPr lang="ru-RU" b="1" dirty="0" err="1"/>
              <a:t>зробити</a:t>
            </a:r>
            <a:r>
              <a:rPr lang="ru-RU" b="1" dirty="0"/>
              <a:t> 3 кроки</a:t>
            </a:r>
            <a:endParaRPr lang="en-US" b="1" dirty="0"/>
          </a:p>
          <a:p>
            <a:pPr fontAlgn="base"/>
            <a:endParaRPr lang="ru-RU" b="1" dirty="0"/>
          </a:p>
          <a:p>
            <a:pPr marL="342900" indent="-342900" fontAlgn="base">
              <a:buAutoNum type="arabicPeriod"/>
            </a:pPr>
            <a:r>
              <a:rPr lang="ru-RU" b="1" dirty="0" err="1"/>
              <a:t>Визначити</a:t>
            </a:r>
            <a:r>
              <a:rPr lang="ru-RU" b="1" dirty="0"/>
              <a:t> </a:t>
            </a:r>
            <a:r>
              <a:rPr lang="ru-RU" b="1" dirty="0" err="1"/>
              <a:t>функцію</a:t>
            </a:r>
            <a:r>
              <a:rPr lang="ru-RU" b="1" dirty="0"/>
              <a:t> (</a:t>
            </a:r>
            <a:r>
              <a:rPr lang="ru-RU" b="1" dirty="0" err="1"/>
              <a:t>наприклад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handleClick</a:t>
            </a:r>
            <a:r>
              <a:rPr lang="en-US" b="1" dirty="0"/>
              <a:t>) </a:t>
            </a:r>
            <a:r>
              <a:rPr lang="ru-RU" b="1" dirty="0" err="1"/>
              <a:t>всередині</a:t>
            </a:r>
            <a:r>
              <a:rPr lang="ru-RU" b="1" dirty="0"/>
              <a:t> </a:t>
            </a:r>
            <a:endParaRPr lang="en-US" b="1" dirty="0"/>
          </a:p>
          <a:p>
            <a:pPr fontAlgn="base"/>
            <a:r>
              <a:rPr lang="en-US" b="1" dirty="0"/>
              <a:t>  Button component.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2. </a:t>
            </a:r>
            <a:r>
              <a:rPr lang="ru-RU" b="1" dirty="0" err="1"/>
              <a:t>Імплементувати</a:t>
            </a:r>
            <a:r>
              <a:rPr lang="ru-RU" b="1" dirty="0"/>
              <a:t> </a:t>
            </a:r>
            <a:r>
              <a:rPr lang="ru-RU" b="1" dirty="0" err="1"/>
              <a:t>логіку</a:t>
            </a:r>
            <a:r>
              <a:rPr lang="ru-RU" b="1" dirty="0"/>
              <a:t> </a:t>
            </a:r>
            <a:r>
              <a:rPr lang="ru-RU" b="1" dirty="0" err="1"/>
              <a:t>всередині</a:t>
            </a:r>
            <a:r>
              <a:rPr lang="ru-RU" b="1" dirty="0"/>
              <a:t> </a:t>
            </a:r>
            <a:r>
              <a:rPr lang="ru-RU" b="1" dirty="0" err="1"/>
              <a:t>цієї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endParaRPr lang="ru-RU" b="1" dirty="0"/>
          </a:p>
          <a:p>
            <a:pPr fontAlgn="base"/>
            <a:endParaRPr lang="en-US" b="1" dirty="0"/>
          </a:p>
          <a:p>
            <a:pPr fontAlgn="base"/>
            <a:r>
              <a:rPr lang="ru-RU" b="1" dirty="0"/>
              <a:t>3. </a:t>
            </a:r>
            <a:r>
              <a:rPr lang="ru-RU" b="1" dirty="0" err="1"/>
              <a:t>додати</a:t>
            </a:r>
            <a:r>
              <a:rPr lang="ru-RU" b="1" dirty="0"/>
              <a:t> </a:t>
            </a:r>
            <a:r>
              <a:rPr lang="en-US" b="1" dirty="0"/>
              <a:t>prop </a:t>
            </a:r>
            <a:r>
              <a:rPr lang="en-US" b="1" dirty="0" err="1">
                <a:solidFill>
                  <a:srgbClr val="0070C0"/>
                </a:solidFill>
              </a:rPr>
              <a:t>onClick</a:t>
            </a:r>
            <a:r>
              <a:rPr lang="en-US" b="1" dirty="0">
                <a:solidFill>
                  <a:srgbClr val="0070C0"/>
                </a:solidFill>
              </a:rPr>
              <a:t>={</a:t>
            </a:r>
            <a:r>
              <a:rPr lang="en-US" b="1" dirty="0" err="1">
                <a:solidFill>
                  <a:srgbClr val="0070C0"/>
                </a:solidFill>
              </a:rPr>
              <a:t>handleClick</a:t>
            </a:r>
            <a:r>
              <a:rPr lang="en-US" b="1" dirty="0">
                <a:solidFill>
                  <a:srgbClr val="0070C0"/>
                </a:solidFill>
              </a:rPr>
              <a:t>}</a:t>
            </a:r>
            <a:r>
              <a:rPr lang="en-US" b="1" dirty="0"/>
              <a:t> </a:t>
            </a:r>
            <a:r>
              <a:rPr lang="ru-RU" b="1" dirty="0"/>
              <a:t>до &lt;</a:t>
            </a:r>
            <a:r>
              <a:rPr lang="en-US" b="1" dirty="0">
                <a:solidFill>
                  <a:srgbClr val="0070C0"/>
                </a:solidFill>
              </a:rPr>
              <a:t>button</a:t>
            </a:r>
            <a:r>
              <a:rPr lang="en-US" b="1" dirty="0"/>
              <a:t>&gt; JSX.</a:t>
            </a: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9CC5FE-1FA9-0D4A-366D-B3921D36881F}"/>
              </a:ext>
            </a:extLst>
          </p:cNvPr>
          <p:cNvSpPr/>
          <p:nvPr/>
        </p:nvSpPr>
        <p:spPr>
          <a:xfrm>
            <a:off x="2699792" y="72244"/>
            <a:ext cx="360040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Events</a:t>
            </a:r>
            <a:r>
              <a:rPr lang="ru-RU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01399-1B3F-16CF-0873-815A7E9B36E4}"/>
              </a:ext>
            </a:extLst>
          </p:cNvPr>
          <p:cNvSpPr txBox="1"/>
          <p:nvPr/>
        </p:nvSpPr>
        <p:spPr>
          <a:xfrm>
            <a:off x="179512" y="3435965"/>
            <a:ext cx="8893496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Handler </a:t>
            </a:r>
            <a:r>
              <a:rPr lang="ru-RU" b="1" dirty="0" err="1"/>
              <a:t>функції</a:t>
            </a:r>
            <a:r>
              <a:rPr lang="ru-RU" b="1" dirty="0"/>
              <a:t>:</a:t>
            </a:r>
          </a:p>
          <a:p>
            <a:pPr fontAlgn="base"/>
            <a:r>
              <a:rPr lang="ru-RU" b="1" dirty="0"/>
              <a:t>- </a:t>
            </a:r>
            <a:r>
              <a:rPr lang="ru-RU" b="1" dirty="0" err="1"/>
              <a:t>зазвичай</a:t>
            </a:r>
            <a:r>
              <a:rPr lang="ru-RU" b="1" dirty="0"/>
              <a:t> </a:t>
            </a:r>
            <a:r>
              <a:rPr lang="ru-RU" b="1" dirty="0" err="1"/>
              <a:t>визначаються</a:t>
            </a:r>
            <a:r>
              <a:rPr lang="ru-RU" b="1" dirty="0"/>
              <a:t> </a:t>
            </a:r>
            <a:r>
              <a:rPr lang="ru-RU" b="1" dirty="0" err="1"/>
              <a:t>всередині</a:t>
            </a:r>
            <a:r>
              <a:rPr lang="ru-RU" b="1" dirty="0"/>
              <a:t> </a:t>
            </a:r>
            <a:r>
              <a:rPr lang="ru-RU" b="1" dirty="0" err="1"/>
              <a:t>компонентів</a:t>
            </a:r>
            <a:endParaRPr lang="ru-RU" b="1" dirty="0"/>
          </a:p>
          <a:p>
            <a:pPr fontAlgn="base"/>
            <a:r>
              <a:rPr lang="ru-RU" b="1" dirty="0"/>
              <a:t>- </a:t>
            </a:r>
            <a:r>
              <a:rPr lang="ru-RU" b="1" dirty="0" err="1"/>
              <a:t>мають</a:t>
            </a:r>
            <a:r>
              <a:rPr lang="ru-RU" b="1" dirty="0"/>
              <a:t> </a:t>
            </a:r>
            <a:r>
              <a:rPr lang="ru-RU" b="1" dirty="0" err="1"/>
              <a:t>імена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починаються</a:t>
            </a:r>
            <a:r>
              <a:rPr lang="ru-RU" b="1" dirty="0"/>
              <a:t> </a:t>
            </a:r>
            <a:r>
              <a:rPr lang="ru-RU" b="1" dirty="0" err="1"/>
              <a:t>зі</a:t>
            </a:r>
            <a:r>
              <a:rPr lang="ru-RU" b="1" dirty="0"/>
              <a:t> слова </a:t>
            </a:r>
            <a:r>
              <a:rPr lang="en-US" b="1" dirty="0"/>
              <a:t>handle, </a:t>
            </a:r>
            <a:r>
              <a:rPr lang="ru-RU" b="1" dirty="0"/>
              <a:t>а </a:t>
            </a:r>
            <a:r>
              <a:rPr lang="ru-RU" b="1" dirty="0" err="1"/>
              <a:t>далі</a:t>
            </a:r>
            <a:r>
              <a:rPr lang="ru-RU" b="1" dirty="0"/>
              <a:t> </a:t>
            </a:r>
            <a:r>
              <a:rPr lang="ru-RU" b="1" dirty="0" err="1"/>
              <a:t>ім’я</a:t>
            </a:r>
            <a:r>
              <a:rPr lang="ru-RU" b="1" dirty="0"/>
              <a:t> </a:t>
            </a:r>
            <a:endParaRPr lang="en-US" b="1" dirty="0"/>
          </a:p>
          <a:p>
            <a:pPr fontAlgn="base"/>
            <a:r>
              <a:rPr lang="en-US" b="1" dirty="0"/>
              <a:t>  event.</a:t>
            </a:r>
          </a:p>
          <a:p>
            <a:pPr fontAlgn="base"/>
            <a:endParaRPr lang="en-US" b="1" dirty="0"/>
          </a:p>
          <a:p>
            <a:pPr fontAlgn="base"/>
            <a:r>
              <a:rPr lang="ru-RU" b="1" dirty="0" err="1"/>
              <a:t>Наприклад</a:t>
            </a:r>
            <a:r>
              <a:rPr lang="ru-RU" b="1" dirty="0"/>
              <a:t>, </a:t>
            </a:r>
            <a:endParaRPr lang="en-US" b="1" dirty="0"/>
          </a:p>
          <a:p>
            <a:pPr fontAlgn="base"/>
            <a:r>
              <a:rPr lang="en-US" b="1" dirty="0"/>
              <a:t>   </a:t>
            </a:r>
            <a:r>
              <a:rPr lang="en-US" b="1" dirty="0" err="1">
                <a:solidFill>
                  <a:srgbClr val="0070C0"/>
                </a:solidFill>
              </a:rPr>
              <a:t>onClick</a:t>
            </a:r>
            <a:r>
              <a:rPr lang="en-US" b="1" dirty="0">
                <a:solidFill>
                  <a:srgbClr val="0070C0"/>
                </a:solidFill>
              </a:rPr>
              <a:t>={</a:t>
            </a:r>
            <a:r>
              <a:rPr lang="en-US" b="1" dirty="0" err="1">
                <a:solidFill>
                  <a:srgbClr val="0070C0"/>
                </a:solidFill>
              </a:rPr>
              <a:t>handleClick</a:t>
            </a:r>
            <a:r>
              <a:rPr lang="en-US" b="1" dirty="0">
                <a:solidFill>
                  <a:srgbClr val="0070C0"/>
                </a:solidFill>
              </a:rPr>
              <a:t>}</a:t>
            </a:r>
          </a:p>
          <a:p>
            <a:pPr fontAlgn="base"/>
            <a:r>
              <a:rPr lang="en-US" b="1" dirty="0">
                <a:solidFill>
                  <a:srgbClr val="0070C0"/>
                </a:solidFill>
              </a:rPr>
              <a:t>  </a:t>
            </a:r>
            <a:r>
              <a:rPr lang="en-US" b="1" dirty="0" err="1">
                <a:solidFill>
                  <a:srgbClr val="0070C0"/>
                </a:solidFill>
              </a:rPr>
              <a:t>onMouseEnter</a:t>
            </a:r>
            <a:r>
              <a:rPr lang="en-US" b="1" dirty="0">
                <a:solidFill>
                  <a:srgbClr val="0070C0"/>
                </a:solidFill>
              </a:rPr>
              <a:t>={</a:t>
            </a:r>
            <a:r>
              <a:rPr lang="en-US" b="1" dirty="0" err="1">
                <a:solidFill>
                  <a:srgbClr val="0070C0"/>
                </a:solidFill>
              </a:rPr>
              <a:t>handleMouseEnter</a:t>
            </a:r>
            <a:r>
              <a:rPr lang="en-US" b="1" dirty="0">
                <a:solidFill>
                  <a:srgbClr val="0070C0"/>
                </a:solidFill>
              </a:rPr>
              <a:t>}</a:t>
            </a:r>
            <a:r>
              <a:rPr lang="en-US" b="1" dirty="0"/>
              <a:t>, etc.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4167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CA3D5B-9F93-F3EB-46FC-5DEFEBA9E898}"/>
              </a:ext>
            </a:extLst>
          </p:cNvPr>
          <p:cNvSpPr txBox="1"/>
          <p:nvPr/>
        </p:nvSpPr>
        <p:spPr>
          <a:xfrm>
            <a:off x="125252" y="332656"/>
            <a:ext cx="8893496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!!! </a:t>
            </a:r>
            <a:r>
              <a:rPr lang="ru-RU" b="1" dirty="0" err="1"/>
              <a:t>Функції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передаються</a:t>
            </a:r>
            <a:r>
              <a:rPr lang="ru-RU" b="1" dirty="0"/>
              <a:t> в </a:t>
            </a:r>
            <a:r>
              <a:rPr lang="ru-RU" b="1" dirty="0" err="1"/>
              <a:t>event</a:t>
            </a:r>
            <a:r>
              <a:rPr lang="ru-RU" b="1" dirty="0"/>
              <a:t>, не </a:t>
            </a:r>
            <a:r>
              <a:rPr lang="ru-RU" b="1" dirty="0" err="1"/>
              <a:t>повинні</a:t>
            </a:r>
            <a:r>
              <a:rPr lang="ru-RU" b="1" dirty="0"/>
              <a:t> </a:t>
            </a:r>
            <a:r>
              <a:rPr lang="ru-RU" b="1" dirty="0" err="1"/>
              <a:t>викликатися</a:t>
            </a:r>
            <a:r>
              <a:rPr lang="ru-RU" b="1" dirty="0"/>
              <a:t> </a:t>
            </a: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2F3DF69F-1072-3446-6B86-9F88AE320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87132"/>
              </p:ext>
            </p:extLst>
          </p:nvPr>
        </p:nvGraphicFramePr>
        <p:xfrm>
          <a:off x="125252" y="980728"/>
          <a:ext cx="8839236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18">
                  <a:extLst>
                    <a:ext uri="{9D8B030D-6E8A-4147-A177-3AD203B41FA5}">
                      <a16:colId xmlns:a16="http://schemas.microsoft.com/office/drawing/2014/main" val="2281403237"/>
                    </a:ext>
                  </a:extLst>
                </a:gridCol>
                <a:gridCol w="4419618">
                  <a:extLst>
                    <a:ext uri="{9D8B030D-6E8A-4147-A177-3AD203B41FA5}">
                      <a16:colId xmlns:a16="http://schemas.microsoft.com/office/drawing/2014/main" val="2112488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correct</a:t>
                      </a:r>
                      <a:endParaRPr lang="ru-UA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incorrect</a:t>
                      </a:r>
                      <a:endParaRPr lang="ru-UA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532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&lt;button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onClick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={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handleClick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}&gt;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&lt;button   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onClick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={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handleClick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()}&gt;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00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&lt;button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onClick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={() =&gt; alert('...')}&gt;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&lt;button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onClick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={alert('...')}&gt;</a:t>
                      </a:r>
                      <a:endParaRPr lang="ru-U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72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242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548680"/>
            <a:ext cx="892899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Компоненту треба часто </a:t>
            </a:r>
            <a:r>
              <a:rPr lang="ru-RU" b="1" dirty="0" err="1"/>
              <a:t>змінювати</a:t>
            </a:r>
            <a:r>
              <a:rPr lang="ru-RU" b="1" dirty="0"/>
              <a:t> </a:t>
            </a:r>
            <a:r>
              <a:rPr lang="ru-RU" b="1" dirty="0" err="1"/>
              <a:t>вміст</a:t>
            </a:r>
            <a:r>
              <a:rPr lang="ru-RU" b="1" dirty="0"/>
              <a:t> </a:t>
            </a:r>
            <a:r>
              <a:rPr lang="ru-RU" b="1" dirty="0" err="1"/>
              <a:t>екрану</a:t>
            </a:r>
            <a:r>
              <a:rPr lang="ru-RU" b="1" dirty="0"/>
              <a:t> як результат </a:t>
            </a:r>
            <a:r>
              <a:rPr lang="ru-RU" b="1" dirty="0" err="1"/>
              <a:t>взаємодії</a:t>
            </a:r>
            <a:endParaRPr lang="en-US" b="1" dirty="0"/>
          </a:p>
          <a:p>
            <a:endParaRPr lang="ru-RU" b="1" dirty="0"/>
          </a:p>
          <a:p>
            <a:r>
              <a:rPr lang="ru-RU" b="1" dirty="0" err="1"/>
              <a:t>Наприклад</a:t>
            </a:r>
            <a:r>
              <a:rPr lang="ru-RU" b="1" dirty="0"/>
              <a:t> </a:t>
            </a:r>
            <a:r>
              <a:rPr lang="da-DK" b="1" dirty="0"/>
              <a:t>user </a:t>
            </a:r>
            <a:r>
              <a:rPr lang="ru-RU" b="1" dirty="0" err="1"/>
              <a:t>щось</a:t>
            </a:r>
            <a:r>
              <a:rPr lang="ru-RU" b="1" dirty="0"/>
              <a:t> </a:t>
            </a:r>
            <a:r>
              <a:rPr lang="ru-RU" b="1" dirty="0" err="1"/>
              <a:t>набирає</a:t>
            </a:r>
            <a:r>
              <a:rPr lang="ru-RU" b="1" dirty="0"/>
              <a:t> в </a:t>
            </a:r>
            <a:r>
              <a:rPr lang="ru-RU" b="1" dirty="0" err="1"/>
              <a:t>полі</a:t>
            </a:r>
            <a:r>
              <a:rPr lang="ru-RU" b="1" dirty="0"/>
              <a:t> і те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він</a:t>
            </a:r>
            <a:r>
              <a:rPr lang="ru-RU" b="1" dirty="0"/>
              <a:t> набрав треба </a:t>
            </a:r>
            <a:r>
              <a:rPr lang="ru-RU" b="1" dirty="0" err="1"/>
              <a:t>запам'ятати</a:t>
            </a:r>
            <a:endParaRPr lang="ru-RU" b="1" dirty="0"/>
          </a:p>
          <a:p>
            <a:endParaRPr lang="en-US" b="1" dirty="0"/>
          </a:p>
          <a:p>
            <a:r>
              <a:rPr lang="ru-RU" b="1" dirty="0"/>
              <a:t>Або </a:t>
            </a:r>
            <a:r>
              <a:rPr lang="ru-RU" b="1" dirty="0" err="1"/>
              <a:t>щось</a:t>
            </a:r>
            <a:r>
              <a:rPr lang="ru-RU" b="1" dirty="0"/>
              <a:t> </a:t>
            </a:r>
            <a:r>
              <a:rPr lang="ru-RU" b="1" dirty="0" err="1"/>
              <a:t>довабити</a:t>
            </a:r>
            <a:r>
              <a:rPr lang="ru-RU" b="1" dirty="0"/>
              <a:t> в </a:t>
            </a:r>
            <a:r>
              <a:rPr lang="ru-RU" b="1" dirty="0" err="1"/>
              <a:t>кошик</a:t>
            </a:r>
            <a:r>
              <a:rPr lang="ru-RU" b="1" dirty="0"/>
              <a:t>, і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також</a:t>
            </a:r>
            <a:r>
              <a:rPr lang="ru-RU" b="1" dirty="0"/>
              <a:t> треба </a:t>
            </a:r>
            <a:r>
              <a:rPr lang="ru-RU" b="1" dirty="0" err="1"/>
              <a:t>пам'ятати</a:t>
            </a:r>
            <a:endParaRPr lang="ru-RU" b="1" dirty="0"/>
          </a:p>
          <a:p>
            <a:r>
              <a:rPr lang="ru-RU" b="1" dirty="0" err="1"/>
              <a:t>Тобто</a:t>
            </a:r>
            <a:r>
              <a:rPr lang="ru-RU" b="1" dirty="0"/>
              <a:t> компоненту </a:t>
            </a:r>
            <a:r>
              <a:rPr lang="ru-RU" b="1" dirty="0" err="1"/>
              <a:t>слід</a:t>
            </a:r>
            <a:r>
              <a:rPr lang="ru-RU" b="1" dirty="0"/>
              <a:t> </a:t>
            </a:r>
            <a:r>
              <a:rPr lang="ru-RU" b="1" dirty="0" err="1"/>
              <a:t>пам'ятати</a:t>
            </a:r>
            <a:r>
              <a:rPr lang="ru-RU" b="1" dirty="0"/>
              <a:t> </a:t>
            </a:r>
            <a:r>
              <a:rPr lang="ru-RU" b="1" dirty="0" err="1"/>
              <a:t>подібні</a:t>
            </a:r>
            <a:r>
              <a:rPr lang="ru-RU" b="1" dirty="0"/>
              <a:t> </a:t>
            </a:r>
            <a:r>
              <a:rPr lang="ru-RU" b="1" dirty="0" err="1"/>
              <a:t>сутності</a:t>
            </a:r>
            <a:endParaRPr lang="ru-RU" b="1" dirty="0"/>
          </a:p>
          <a:p>
            <a:r>
              <a:rPr lang="ru-RU" b="1" dirty="0"/>
              <a:t>І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пам'ять</a:t>
            </a:r>
            <a:r>
              <a:rPr lang="ru-RU" b="1" dirty="0"/>
              <a:t> компонента </a:t>
            </a:r>
            <a:r>
              <a:rPr lang="ru-RU" b="1" dirty="0" err="1"/>
              <a:t>називається</a:t>
            </a:r>
            <a:r>
              <a:rPr lang="ru-RU" b="1" dirty="0"/>
              <a:t> </a:t>
            </a:r>
            <a:r>
              <a:rPr lang="da-DK" b="1" dirty="0"/>
              <a:t>state.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FB7F10-4569-4E62-6C49-D4AD253BEADB}"/>
              </a:ext>
            </a:extLst>
          </p:cNvPr>
          <p:cNvSpPr/>
          <p:nvPr/>
        </p:nvSpPr>
        <p:spPr>
          <a:xfrm>
            <a:off x="2699792" y="72244"/>
            <a:ext cx="360040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State</a:t>
            </a:r>
            <a:r>
              <a:rPr lang="ru-RU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70CF1-F9DA-3F80-B861-561967B6B457}"/>
              </a:ext>
            </a:extLst>
          </p:cNvPr>
          <p:cNvSpPr txBox="1"/>
          <p:nvPr/>
        </p:nvSpPr>
        <p:spPr>
          <a:xfrm>
            <a:off x="107504" y="3363957"/>
            <a:ext cx="892899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solidFill>
                  <a:srgbClr val="C00000"/>
                </a:solidFill>
              </a:rPr>
              <a:t>Філософія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React</a:t>
            </a:r>
          </a:p>
          <a:p>
            <a:r>
              <a:rPr lang="en-US" b="1" dirty="0"/>
              <a:t>- </a:t>
            </a:r>
            <a:r>
              <a:rPr lang="ru-RU" b="1" dirty="0" err="1"/>
              <a:t>компоненти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перевикористовуються</a:t>
            </a:r>
            <a:r>
              <a:rPr lang="ru-RU" b="1" dirty="0"/>
              <a:t>,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композиція</a:t>
            </a:r>
            <a:endParaRPr lang="ru-RU" b="1" dirty="0"/>
          </a:p>
          <a:p>
            <a:r>
              <a:rPr lang="ru-RU" b="1" dirty="0"/>
              <a:t>- </a:t>
            </a:r>
            <a:r>
              <a:rPr lang="en-US" b="1" dirty="0"/>
              <a:t>DOM </a:t>
            </a:r>
            <a:r>
              <a:rPr lang="ru-RU" b="1" dirty="0" err="1"/>
              <a:t>змінюємо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через </a:t>
            </a:r>
            <a:r>
              <a:rPr lang="en-US" b="1" dirty="0"/>
              <a:t>state</a:t>
            </a:r>
          </a:p>
          <a:p>
            <a:r>
              <a:rPr lang="en-US" b="1" dirty="0"/>
              <a:t>  </a:t>
            </a:r>
            <a:r>
              <a:rPr lang="ru-RU" b="1" dirty="0"/>
              <a:t>Приклад </a:t>
            </a:r>
            <a:r>
              <a:rPr lang="ru-RU" b="1" dirty="0" err="1"/>
              <a:t>кондиціонера</a:t>
            </a:r>
            <a:r>
              <a:rPr lang="ru-RU" b="1" dirty="0"/>
              <a:t> – </a:t>
            </a:r>
            <a:r>
              <a:rPr lang="ru-RU" b="1" dirty="0" err="1"/>
              <a:t>вказуємо</a:t>
            </a:r>
            <a:r>
              <a:rPr lang="ru-RU" b="1" dirty="0"/>
              <a:t> на </a:t>
            </a:r>
            <a:r>
              <a:rPr lang="ru-RU" b="1" dirty="0" err="1"/>
              <a:t>пульті</a:t>
            </a:r>
            <a:r>
              <a:rPr lang="ru-RU" b="1" dirty="0"/>
              <a:t> температуру, </a:t>
            </a:r>
            <a:endParaRPr lang="en-US" b="1" dirty="0"/>
          </a:p>
          <a:p>
            <a:r>
              <a:rPr lang="en-US" b="1" dirty="0"/>
              <a:t>  </a:t>
            </a:r>
            <a:r>
              <a:rPr lang="ru-RU" b="1" dirty="0"/>
              <a:t>і </a:t>
            </a:r>
            <a:r>
              <a:rPr lang="ru-RU" b="1" dirty="0" err="1"/>
              <a:t>він</a:t>
            </a:r>
            <a:r>
              <a:rPr lang="ru-RU" b="1" dirty="0"/>
              <a:t> сам</a:t>
            </a:r>
            <a:r>
              <a:rPr lang="en-US" b="1" dirty="0"/>
              <a:t> </a:t>
            </a:r>
            <a:r>
              <a:rPr lang="ru-RU" b="1" dirty="0" err="1"/>
              <a:t>забезпечить</a:t>
            </a:r>
            <a:r>
              <a:rPr lang="ru-RU" b="1" dirty="0"/>
              <a:t> </a:t>
            </a:r>
            <a:r>
              <a:rPr lang="ru-RU" b="1" dirty="0" err="1"/>
              <a:t>зміну</a:t>
            </a:r>
            <a:r>
              <a:rPr lang="ru-RU" b="1" dirty="0"/>
              <a:t> </a:t>
            </a:r>
            <a:r>
              <a:rPr lang="ru-RU" b="1" dirty="0" err="1"/>
              <a:t>оборотів</a:t>
            </a:r>
            <a:r>
              <a:rPr lang="ru-RU" b="1" dirty="0"/>
              <a:t>, </a:t>
            </a:r>
            <a:r>
              <a:rPr lang="ru-RU" b="1" dirty="0" err="1"/>
              <a:t>відкриття</a:t>
            </a:r>
            <a:r>
              <a:rPr lang="ru-RU" b="1" dirty="0"/>
              <a:t> </a:t>
            </a:r>
            <a:r>
              <a:rPr lang="ru-RU" b="1" dirty="0" err="1"/>
              <a:t>закрилок</a:t>
            </a:r>
            <a:r>
              <a:rPr lang="ru-RU" b="1" dirty="0"/>
              <a:t> </a:t>
            </a:r>
            <a:r>
              <a:rPr lang="ru-RU" b="1" dirty="0" err="1"/>
              <a:t>тощо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en-US" b="1" dirty="0"/>
              <a:t>State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визначати</a:t>
            </a:r>
            <a:endParaRPr lang="ru-RU" b="1" dirty="0"/>
          </a:p>
          <a:p>
            <a:r>
              <a:rPr lang="ru-RU" b="1" dirty="0"/>
              <a:t>- </a:t>
            </a:r>
            <a:r>
              <a:rPr lang="ru-RU" b="1" dirty="0">
                <a:solidFill>
                  <a:srgbClr val="C00000"/>
                </a:solidFill>
              </a:rPr>
              <a:t>до </a:t>
            </a:r>
            <a:r>
              <a:rPr lang="en-US" b="1" dirty="0">
                <a:solidFill>
                  <a:srgbClr val="C00000"/>
                </a:solidFill>
              </a:rPr>
              <a:t>React 16.8</a:t>
            </a:r>
            <a:r>
              <a:rPr lang="en-US" b="1" dirty="0"/>
              <a:t> - </a:t>
            </a:r>
            <a:r>
              <a:rPr lang="ru-RU" b="1" dirty="0" err="1"/>
              <a:t>тільки</a:t>
            </a:r>
            <a:r>
              <a:rPr lang="ru-RU" b="1" dirty="0"/>
              <a:t> у </a:t>
            </a:r>
            <a:r>
              <a:rPr lang="en-US" b="1" dirty="0"/>
              <a:t>class </a:t>
            </a:r>
            <a:r>
              <a:rPr lang="en-US" b="1" dirty="0" err="1"/>
              <a:t>compoents</a:t>
            </a:r>
            <a:endParaRPr lang="en-US" b="1" dirty="0"/>
          </a:p>
          <a:p>
            <a:r>
              <a:rPr lang="en-US" b="1" dirty="0"/>
              <a:t>- </a:t>
            </a:r>
            <a:r>
              <a:rPr lang="ru-RU" b="1" dirty="0" err="1"/>
              <a:t>починаючи</a:t>
            </a:r>
            <a:r>
              <a:rPr lang="ru-RU" b="1" dirty="0"/>
              <a:t> </a:t>
            </a:r>
            <a:r>
              <a:rPr lang="ru-RU" b="1" dirty="0">
                <a:solidFill>
                  <a:srgbClr val="C00000"/>
                </a:solidFill>
              </a:rPr>
              <a:t>з </a:t>
            </a:r>
            <a:r>
              <a:rPr lang="ru-RU" b="1" dirty="0" err="1">
                <a:solidFill>
                  <a:srgbClr val="C00000"/>
                </a:solidFill>
              </a:rPr>
              <a:t>версії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React 16.8 </a:t>
            </a:r>
            <a:r>
              <a:rPr lang="ru-RU" b="1" dirty="0"/>
              <a:t>як у </a:t>
            </a:r>
            <a:r>
              <a:rPr lang="en-US" b="1" dirty="0"/>
              <a:t>class </a:t>
            </a:r>
            <a:r>
              <a:rPr lang="en-US" b="1" dirty="0" err="1"/>
              <a:t>compoents</a:t>
            </a:r>
            <a:r>
              <a:rPr lang="en-US" b="1" dirty="0"/>
              <a:t> </a:t>
            </a:r>
            <a:r>
              <a:rPr lang="ru-RU" b="1" dirty="0"/>
              <a:t>так</a:t>
            </a:r>
          </a:p>
          <a:p>
            <a:r>
              <a:rPr lang="ru-RU" b="1" dirty="0"/>
              <a:t>   і у </a:t>
            </a:r>
            <a:r>
              <a:rPr lang="ru-RU" b="1" dirty="0" err="1"/>
              <a:t>функціональних</a:t>
            </a:r>
            <a:r>
              <a:rPr lang="ru-RU" b="1" dirty="0"/>
              <a:t> </a:t>
            </a:r>
            <a:r>
              <a:rPr lang="ru-RU" b="1" dirty="0" err="1"/>
              <a:t>компонентів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157714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FB7F10-4569-4E62-6C49-D4AD253BEADB}"/>
              </a:ext>
            </a:extLst>
          </p:cNvPr>
          <p:cNvSpPr/>
          <p:nvPr/>
        </p:nvSpPr>
        <p:spPr>
          <a:xfrm>
            <a:off x="3138534" y="1286103"/>
            <a:ext cx="2448272" cy="36004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initial render</a:t>
            </a:r>
            <a:endParaRPr lang="ru-RU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133B50-11B5-4A82-AED1-2D4D7B008525}"/>
              </a:ext>
            </a:extLst>
          </p:cNvPr>
          <p:cNvSpPr/>
          <p:nvPr/>
        </p:nvSpPr>
        <p:spPr>
          <a:xfrm>
            <a:off x="3138534" y="2060848"/>
            <a:ext cx="2448272" cy="36004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create DOM</a:t>
            </a:r>
            <a:endParaRPr lang="ru-RU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71C07B8-E145-4101-BCF0-1F2CD75D8181}"/>
              </a:ext>
            </a:extLst>
          </p:cNvPr>
          <p:cNvSpPr/>
          <p:nvPr/>
        </p:nvSpPr>
        <p:spPr>
          <a:xfrm>
            <a:off x="3173473" y="3212976"/>
            <a:ext cx="2448272" cy="36004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user interacts</a:t>
            </a:r>
            <a:endParaRPr lang="ru-RU" b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176CD2-4B28-4139-B324-7C57581F5FE2}"/>
              </a:ext>
            </a:extLst>
          </p:cNvPr>
          <p:cNvSpPr/>
          <p:nvPr/>
        </p:nvSpPr>
        <p:spPr>
          <a:xfrm>
            <a:off x="5633662" y="4209171"/>
            <a:ext cx="2448272" cy="360040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state changes</a:t>
            </a:r>
            <a:endParaRPr lang="ru-RU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492522-3104-4481-A216-C015FFE5AF3A}"/>
              </a:ext>
            </a:extLst>
          </p:cNvPr>
          <p:cNvSpPr/>
          <p:nvPr/>
        </p:nvSpPr>
        <p:spPr>
          <a:xfrm>
            <a:off x="3185390" y="5445224"/>
            <a:ext cx="2448272" cy="36004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re-render</a:t>
            </a:r>
            <a:endParaRPr lang="ru-RU" b="1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994396-E6A8-4A87-B50E-3AADCB197585}"/>
              </a:ext>
            </a:extLst>
          </p:cNvPr>
          <p:cNvSpPr/>
          <p:nvPr/>
        </p:nvSpPr>
        <p:spPr>
          <a:xfrm>
            <a:off x="683568" y="4222406"/>
            <a:ext cx="2448272" cy="36004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update DOM</a:t>
            </a:r>
            <a:endParaRPr lang="ru-RU" b="1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A796D0B-5216-4BFA-8C8B-571BD3E2FBA5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5621745" y="3392996"/>
            <a:ext cx="1236053" cy="816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8434B68-AAAB-4B10-BCCB-250B9201DD96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 flipH="1">
            <a:off x="5633662" y="4569211"/>
            <a:ext cx="1224136" cy="10560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0083FB97-7398-488F-95F9-5B0B3F2D2ABB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1907704" y="4582446"/>
            <a:ext cx="1230830" cy="1042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E04FC1D-A43A-470E-B348-A80A72EC6650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770382" y="3392996"/>
            <a:ext cx="1403091" cy="8294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2E82BD7-3A51-4606-BA88-C8981CB929ED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4362670" y="1646143"/>
            <a:ext cx="0" cy="4147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9D291EC-17EE-4E13-A263-A51E0D508546}"/>
              </a:ext>
            </a:extLst>
          </p:cNvPr>
          <p:cNvCxnSpPr>
            <a:cxnSpLocks/>
          </p:cNvCxnSpPr>
          <p:nvPr/>
        </p:nvCxnSpPr>
        <p:spPr>
          <a:xfrm>
            <a:off x="4362670" y="2420888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99792" y="72244"/>
            <a:ext cx="360040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Hooks</a:t>
            </a:r>
            <a:r>
              <a:rPr lang="ru-RU" b="1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476672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На </a:t>
            </a:r>
            <a:r>
              <a:rPr lang="ru-RU" b="1" dirty="0" err="1"/>
              <a:t>React</a:t>
            </a:r>
            <a:r>
              <a:rPr lang="ru-RU" b="1" dirty="0"/>
              <a:t> </a:t>
            </a:r>
            <a:r>
              <a:rPr lang="ru-RU" b="1" dirty="0" err="1"/>
              <a:t>Conf</a:t>
            </a:r>
            <a:r>
              <a:rPr lang="ru-RU" b="1" dirty="0"/>
              <a:t> 2018 команда </a:t>
            </a:r>
            <a:r>
              <a:rPr lang="ru-RU" b="1" dirty="0" err="1"/>
              <a:t>React</a:t>
            </a:r>
            <a:r>
              <a:rPr lang="ru-RU" b="1" dirty="0"/>
              <a:t> </a:t>
            </a:r>
            <a:r>
              <a:rPr lang="ru-RU" b="1" dirty="0" err="1"/>
              <a:t>виділила</a:t>
            </a:r>
            <a:r>
              <a:rPr lang="ru-RU" b="1" dirty="0"/>
              <a:t> 3 ​​</a:t>
            </a:r>
            <a:r>
              <a:rPr lang="ru-RU" b="1" dirty="0" err="1"/>
              <a:t>проблеми</a:t>
            </a:r>
            <a:r>
              <a:rPr lang="ru-RU" b="1" dirty="0"/>
              <a:t> при </a:t>
            </a:r>
            <a:r>
              <a:rPr lang="ru-RU" b="1" dirty="0" err="1"/>
              <a:t>розробці</a:t>
            </a:r>
            <a:r>
              <a:rPr lang="ru-RU" b="1" dirty="0"/>
              <a:t> </a:t>
            </a:r>
            <a:r>
              <a:rPr lang="ru-RU" b="1" dirty="0" err="1"/>
              <a:t>проектів</a:t>
            </a:r>
            <a:endParaRPr lang="ru-RU" b="1" dirty="0"/>
          </a:p>
          <a:p>
            <a:endParaRPr lang="ru-RU" b="1" dirty="0"/>
          </a:p>
          <a:p>
            <a:r>
              <a:rPr lang="ru-RU" b="1" dirty="0"/>
              <a:t>- </a:t>
            </a:r>
            <a:r>
              <a:rPr lang="da-DK" b="1" dirty="0"/>
              <a:t>wrapper hell </a:t>
            </a:r>
          </a:p>
          <a:p>
            <a:r>
              <a:rPr lang="da-DK" b="1" dirty="0"/>
              <a:t>- huge components</a:t>
            </a:r>
          </a:p>
          <a:p>
            <a:r>
              <a:rPr lang="da-DK" b="1" dirty="0"/>
              <a:t>- confusing classes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2348880"/>
            <a:ext cx="892899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1. </a:t>
            </a:r>
            <a:r>
              <a:rPr lang="ru-RU" b="1" dirty="0" err="1"/>
              <a:t>Компоненти</a:t>
            </a:r>
            <a:r>
              <a:rPr lang="ru-RU" b="1" dirty="0"/>
              <a:t>, </a:t>
            </a:r>
            <a:r>
              <a:rPr lang="ru-RU" b="1" dirty="0" err="1"/>
              <a:t>створені</a:t>
            </a:r>
            <a:r>
              <a:rPr lang="ru-RU" b="1" dirty="0"/>
              <a:t> з </a:t>
            </a:r>
            <a:r>
              <a:rPr lang="ru-RU" b="1" dirty="0" err="1"/>
              <a:t>використанням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, </a:t>
            </a:r>
            <a:r>
              <a:rPr lang="ru-RU" b="1" dirty="0" err="1"/>
              <a:t>мають</a:t>
            </a:r>
            <a:r>
              <a:rPr lang="ru-RU" b="1" dirty="0"/>
              <a:t> метод </a:t>
            </a:r>
            <a:r>
              <a:rPr lang="en-US" b="1" dirty="0"/>
              <a:t>render, </a:t>
            </a:r>
            <a:r>
              <a:rPr lang="ru-RU" b="1" dirty="0" err="1"/>
              <a:t>що</a:t>
            </a:r>
            <a:r>
              <a:rPr lang="ru-RU" b="1" dirty="0"/>
              <a:t> робить </a:t>
            </a:r>
            <a:r>
              <a:rPr lang="ru-RU" b="1" dirty="0" err="1"/>
              <a:t>незручним</a:t>
            </a:r>
            <a:r>
              <a:rPr lang="ru-RU" b="1" dirty="0"/>
              <a:t> для </a:t>
            </a:r>
            <a:r>
              <a:rPr lang="ru-RU" b="1" dirty="0" err="1"/>
              <a:t>розшарування</a:t>
            </a:r>
            <a:r>
              <a:rPr lang="ru-RU" b="1" dirty="0"/>
              <a:t> </a:t>
            </a:r>
            <a:r>
              <a:rPr lang="ru-RU" b="1" dirty="0" err="1"/>
              <a:t>між</a:t>
            </a:r>
            <a:r>
              <a:rPr lang="ru-RU" b="1" dirty="0"/>
              <a:t> компонентами </a:t>
            </a:r>
            <a:r>
              <a:rPr lang="en-US" b="1" dirty="0"/>
              <a:t>non-visual </a:t>
            </a:r>
            <a:r>
              <a:rPr lang="ru-RU" b="1" dirty="0" err="1"/>
              <a:t>логіки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зробити</a:t>
            </a:r>
            <a:r>
              <a:rPr lang="ru-RU" b="1" dirty="0"/>
              <a:t> за </a:t>
            </a:r>
            <a:r>
              <a:rPr lang="ru-RU" b="1" dirty="0" err="1"/>
              <a:t>допомогою</a:t>
            </a:r>
            <a:r>
              <a:rPr lang="ru-RU" b="1" dirty="0"/>
              <a:t> </a:t>
            </a:r>
            <a:r>
              <a:rPr lang="en-US" b="1" dirty="0"/>
              <a:t>render props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en-US" b="1" dirty="0"/>
              <a:t>HOC</a:t>
            </a:r>
          </a:p>
          <a:p>
            <a:endParaRPr lang="en-US" b="1" dirty="0"/>
          </a:p>
          <a:p>
            <a:r>
              <a:rPr lang="ru-RU" b="1" dirty="0" err="1"/>
              <a:t>Звичайно</a:t>
            </a:r>
            <a:r>
              <a:rPr lang="ru-RU" b="1" dirty="0"/>
              <a:t>, </a:t>
            </a:r>
            <a:r>
              <a:rPr lang="ru-RU" b="1" dirty="0" err="1"/>
              <a:t>застосування</a:t>
            </a:r>
            <a:r>
              <a:rPr lang="ru-RU" b="1" dirty="0"/>
              <a:t> </a:t>
            </a:r>
            <a:r>
              <a:rPr lang="ru-RU" b="1" dirty="0" err="1"/>
              <a:t>декількох</a:t>
            </a:r>
            <a:r>
              <a:rPr lang="ru-RU" b="1" dirty="0"/>
              <a:t> </a:t>
            </a:r>
            <a:r>
              <a:rPr lang="ru-RU" b="1" dirty="0" err="1"/>
              <a:t>обгорток</a:t>
            </a:r>
            <a:r>
              <a:rPr lang="ru-RU" b="1" dirty="0"/>
              <a:t> </a:t>
            </a:r>
            <a:r>
              <a:rPr lang="en-US" b="1" dirty="0"/>
              <a:t>HOC </a:t>
            </a:r>
            <a:r>
              <a:rPr lang="ru-RU" b="1" dirty="0"/>
              <a:t>над компонентом </a:t>
            </a:r>
            <a:r>
              <a:rPr lang="ru-RU" b="1" dirty="0" err="1"/>
              <a:t>означає</a:t>
            </a:r>
            <a:r>
              <a:rPr lang="ru-RU" b="1" dirty="0"/>
              <a:t> те, </a:t>
            </a:r>
            <a:r>
              <a:rPr lang="ru-RU" b="1" dirty="0" err="1"/>
              <a:t>що</a:t>
            </a:r>
            <a:r>
              <a:rPr lang="ru-RU" b="1" dirty="0"/>
              <a:t> ми </a:t>
            </a:r>
            <a:r>
              <a:rPr lang="ru-RU" b="1" dirty="0" err="1"/>
              <a:t>застосовуємо</a:t>
            </a:r>
            <a:r>
              <a:rPr lang="ru-RU" b="1" dirty="0"/>
              <a:t> </a:t>
            </a:r>
            <a:r>
              <a:rPr lang="ru-RU" b="1" dirty="0" err="1"/>
              <a:t>композицію</a:t>
            </a:r>
            <a:r>
              <a:rPr lang="ru-RU" b="1" dirty="0"/>
              <a:t> </a:t>
            </a:r>
            <a:r>
              <a:rPr lang="ru-RU" b="1" dirty="0" err="1"/>
              <a:t>компонентів</a:t>
            </a:r>
            <a:r>
              <a:rPr lang="ru-RU" b="1" dirty="0"/>
              <a:t>, </a:t>
            </a:r>
            <a:r>
              <a:rPr lang="ru-RU" b="1" dirty="0" err="1"/>
              <a:t>кожен</a:t>
            </a:r>
            <a:r>
              <a:rPr lang="ru-RU" b="1" dirty="0"/>
              <a:t> з </a:t>
            </a:r>
            <a:r>
              <a:rPr lang="ru-RU" b="1" dirty="0" err="1"/>
              <a:t>яких</a:t>
            </a:r>
            <a:r>
              <a:rPr lang="ru-RU" b="1" dirty="0"/>
              <a:t>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одну </a:t>
            </a:r>
            <a:r>
              <a:rPr lang="ru-RU" b="1" dirty="0" err="1"/>
              <a:t>функцію</a:t>
            </a:r>
            <a:r>
              <a:rPr lang="ru-RU" b="1" dirty="0"/>
              <a:t> (</a:t>
            </a:r>
            <a:r>
              <a:rPr lang="en-US" b="1" dirty="0"/>
              <a:t>single responsibility),</a:t>
            </a:r>
          </a:p>
          <a:p>
            <a:r>
              <a:rPr lang="ru-RU" b="1" dirty="0"/>
              <a:t>вони </a:t>
            </a:r>
            <a:r>
              <a:rPr lang="ru-RU" b="1" dirty="0" err="1"/>
              <a:t>стають</a:t>
            </a:r>
            <a:r>
              <a:rPr lang="ru-RU" b="1" dirty="0"/>
              <a:t> </a:t>
            </a:r>
            <a:r>
              <a:rPr lang="ru-RU" b="1" dirty="0" err="1"/>
              <a:t>зрозумілими</a:t>
            </a:r>
            <a:r>
              <a:rPr lang="ru-RU" b="1" dirty="0"/>
              <a:t>, </a:t>
            </a:r>
            <a:r>
              <a:rPr lang="ru-RU" b="1" dirty="0" err="1"/>
              <a:t>їх</a:t>
            </a:r>
            <a:r>
              <a:rPr lang="ru-RU" b="1" dirty="0"/>
              <a:t> легко </a:t>
            </a:r>
            <a:r>
              <a:rPr lang="ru-RU" b="1" dirty="0" err="1"/>
              <a:t>підтримувати</a:t>
            </a:r>
            <a:r>
              <a:rPr lang="ru-RU" b="1" dirty="0"/>
              <a:t> та </a:t>
            </a:r>
            <a:r>
              <a:rPr lang="ru-RU" b="1" dirty="0" err="1"/>
              <a:t>тестувати</a:t>
            </a:r>
            <a:endParaRPr lang="ru-RU" b="1" dirty="0"/>
          </a:p>
          <a:p>
            <a:endParaRPr lang="ru-RU" b="1" dirty="0"/>
          </a:p>
          <a:p>
            <a:r>
              <a:rPr lang="ru-RU" b="1" dirty="0"/>
              <a:t>Але тут ми </a:t>
            </a:r>
            <a:r>
              <a:rPr lang="ru-RU" b="1" dirty="0" err="1"/>
              <a:t>отримуємо</a:t>
            </a:r>
            <a:r>
              <a:rPr lang="ru-RU" b="1" dirty="0"/>
              <a:t> проблему </a:t>
            </a:r>
            <a:r>
              <a:rPr lang="ru-RU" b="1" dirty="0" err="1">
                <a:solidFill>
                  <a:srgbClr val="FF0000"/>
                </a:solidFill>
              </a:rPr>
              <a:t>wrapper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hell</a:t>
            </a:r>
            <a:endParaRPr lang="da-DK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837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2. При </a:t>
            </a:r>
            <a:r>
              <a:rPr lang="ru-RU" b="1" dirty="0" err="1"/>
              <a:t>створенні</a:t>
            </a:r>
            <a:r>
              <a:rPr lang="ru-RU" b="1" dirty="0"/>
              <a:t> компонента з </a:t>
            </a:r>
            <a:r>
              <a:rPr lang="ru-RU" b="1" dirty="0" err="1"/>
              <a:t>використанням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 ми </a:t>
            </a:r>
            <a:r>
              <a:rPr lang="ru-RU" b="1" dirty="0" err="1"/>
              <a:t>успадковуємося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b="1" dirty="0"/>
              <a:t> </a:t>
            </a:r>
            <a:r>
              <a:rPr lang="en-US" b="1" dirty="0"/>
              <a:t>Component </a:t>
            </a:r>
            <a:r>
              <a:rPr lang="ru-RU" b="1" dirty="0"/>
              <a:t>і </a:t>
            </a:r>
            <a:r>
              <a:rPr lang="ru-RU" b="1" dirty="0" err="1"/>
              <a:t>отримуємо</a:t>
            </a:r>
            <a:r>
              <a:rPr lang="ru-RU" b="1" dirty="0"/>
              <a:t> </a:t>
            </a:r>
            <a:r>
              <a:rPr lang="ru-RU" b="1" dirty="0" err="1"/>
              <a:t>всі</a:t>
            </a:r>
            <a:r>
              <a:rPr lang="ru-RU" b="1" dirty="0"/>
              <a:t>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методи</a:t>
            </a:r>
            <a:r>
              <a:rPr lang="ru-RU" b="1" dirty="0"/>
              <a:t> (</a:t>
            </a:r>
            <a:r>
              <a:rPr lang="en-US" b="1" dirty="0" err="1"/>
              <a:t>setState</a:t>
            </a:r>
            <a:r>
              <a:rPr lang="en-US" b="1" dirty="0"/>
              <a:t>(), </a:t>
            </a:r>
            <a:r>
              <a:rPr lang="en-US" b="1" dirty="0" err="1"/>
              <a:t>componentDidMount</a:t>
            </a:r>
            <a:r>
              <a:rPr lang="en-US" b="1" dirty="0"/>
              <a:t>() </a:t>
            </a:r>
            <a:r>
              <a:rPr lang="ru-RU" b="1" dirty="0"/>
              <a:t>і т.д.), </a:t>
            </a:r>
            <a:r>
              <a:rPr lang="ru-RU" b="1" dirty="0" err="1"/>
              <a:t>хоча</a:t>
            </a:r>
            <a:r>
              <a:rPr lang="ru-RU" b="1" dirty="0"/>
              <a:t> реально нам </a:t>
            </a:r>
            <a:r>
              <a:rPr lang="ru-RU" b="1" dirty="0" err="1"/>
              <a:t>потрібен</a:t>
            </a:r>
            <a:r>
              <a:rPr lang="ru-RU" b="1" dirty="0"/>
              <a:t> </a:t>
            </a:r>
            <a:r>
              <a:rPr lang="ru-RU" b="1" dirty="0" err="1"/>
              <a:t>був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один - два </a:t>
            </a:r>
            <a:r>
              <a:rPr lang="ru-RU" b="1" dirty="0" err="1"/>
              <a:t>методи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 err="1"/>
              <a:t>Отримуємо</a:t>
            </a:r>
            <a:r>
              <a:rPr lang="ru-RU" b="1" dirty="0"/>
              <a:t> проблему </a:t>
            </a:r>
            <a:r>
              <a:rPr lang="ru-RU" b="1" dirty="0" err="1">
                <a:solidFill>
                  <a:srgbClr val="FF0000"/>
                </a:solidFill>
              </a:rPr>
              <a:t>huge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components</a:t>
            </a:r>
            <a:r>
              <a:rPr lang="ru-RU" b="1" dirty="0"/>
              <a:t> </a:t>
            </a:r>
            <a:endParaRPr lang="da-DK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1988840"/>
            <a:ext cx="89289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3. </a:t>
            </a:r>
            <a:r>
              <a:rPr lang="ru-RU" b="1" dirty="0" err="1"/>
              <a:t>Класи</a:t>
            </a:r>
            <a:r>
              <a:rPr lang="ru-RU" b="1" dirty="0"/>
              <a:t> </a:t>
            </a:r>
            <a:r>
              <a:rPr lang="ru-RU" b="1" dirty="0" err="1"/>
              <a:t>вимагають</a:t>
            </a:r>
            <a:r>
              <a:rPr lang="ru-RU" b="1" dirty="0"/>
              <a:t> </a:t>
            </a:r>
            <a:r>
              <a:rPr lang="ru-RU" b="1" dirty="0" err="1"/>
              <a:t>більше</a:t>
            </a:r>
            <a:r>
              <a:rPr lang="ru-RU" b="1" dirty="0"/>
              <a:t> </a:t>
            </a:r>
            <a:r>
              <a:rPr lang="ru-RU" b="1" dirty="0" err="1"/>
              <a:t>ресурсів</a:t>
            </a:r>
            <a:r>
              <a:rPr lang="ru-RU" b="1" dirty="0"/>
              <a:t> у </a:t>
            </a:r>
            <a:r>
              <a:rPr lang="ru-RU" b="1" dirty="0" err="1"/>
              <a:t>порівнянні</a:t>
            </a:r>
            <a:r>
              <a:rPr lang="ru-RU" b="1" dirty="0"/>
              <a:t> з </a:t>
            </a:r>
            <a:r>
              <a:rPr lang="ru-RU" b="1" dirty="0" err="1"/>
              <a:t>функціями</a:t>
            </a:r>
            <a:endParaRPr lang="ru-RU" b="1" dirty="0"/>
          </a:p>
          <a:p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confusing classes 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3070701"/>
            <a:ext cx="892899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Тобто</a:t>
            </a:r>
            <a:r>
              <a:rPr lang="ru-RU" b="1" dirty="0"/>
              <a:t> нам </a:t>
            </a:r>
            <a:r>
              <a:rPr lang="ru-RU" b="1" dirty="0" err="1"/>
              <a:t>бажано</a:t>
            </a:r>
            <a:r>
              <a:rPr lang="ru-RU" b="1" dirty="0"/>
              <a:t> </a:t>
            </a:r>
            <a:r>
              <a:rPr lang="ru-RU" b="1" dirty="0" err="1"/>
              <a:t>працювати</a:t>
            </a:r>
            <a:r>
              <a:rPr lang="ru-RU" b="1" dirty="0"/>
              <a:t> з </a:t>
            </a:r>
            <a:r>
              <a:rPr lang="ru-RU" b="1" dirty="0" err="1"/>
              <a:t>функціями</a:t>
            </a:r>
            <a:r>
              <a:rPr lang="ru-RU" b="1" dirty="0"/>
              <a:t>, тому </a:t>
            </a:r>
            <a:r>
              <a:rPr lang="ru-RU" b="1" dirty="0" err="1"/>
              <a:t>що</a:t>
            </a:r>
            <a:r>
              <a:rPr lang="ru-RU" b="1" dirty="0"/>
              <a:t> браузер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відпрацьовує</a:t>
            </a:r>
            <a:r>
              <a:rPr lang="ru-RU" b="1" dirty="0"/>
              <a:t> </a:t>
            </a:r>
            <a:r>
              <a:rPr lang="ru-RU" b="1" dirty="0" err="1"/>
              <a:t>швидше</a:t>
            </a:r>
            <a:r>
              <a:rPr lang="ru-RU" b="1" dirty="0"/>
              <a:t> за </a:t>
            </a:r>
            <a:r>
              <a:rPr lang="ru-RU" b="1" dirty="0" err="1"/>
              <a:t>класи</a:t>
            </a:r>
            <a:r>
              <a:rPr lang="ru-RU" b="1" dirty="0"/>
              <a:t>, і </a:t>
            </a:r>
            <a:r>
              <a:rPr lang="ru-RU" b="1" dirty="0" err="1"/>
              <a:t>розшарування</a:t>
            </a:r>
            <a:r>
              <a:rPr lang="ru-RU" b="1" dirty="0"/>
              <a:t> </a:t>
            </a:r>
            <a:r>
              <a:rPr lang="ru-RU" b="1" dirty="0" err="1"/>
              <a:t>логіки</a:t>
            </a:r>
            <a:r>
              <a:rPr lang="ru-RU" b="1" dirty="0"/>
              <a:t> </a:t>
            </a:r>
            <a:r>
              <a:rPr lang="ru-RU" b="1" dirty="0" err="1"/>
              <a:t>між</a:t>
            </a:r>
            <a:r>
              <a:rPr lang="ru-RU" b="1" dirty="0"/>
              <a:t> </a:t>
            </a:r>
            <a:r>
              <a:rPr lang="ru-RU" b="1" dirty="0" err="1"/>
              <a:t>функціями</a:t>
            </a:r>
            <a:r>
              <a:rPr lang="ru-RU" b="1" dirty="0"/>
              <a:t> </a:t>
            </a:r>
            <a:r>
              <a:rPr lang="ru-RU" b="1" dirty="0" err="1"/>
              <a:t>вимагає</a:t>
            </a:r>
            <a:r>
              <a:rPr lang="ru-RU" b="1" dirty="0"/>
              <a:t> для </a:t>
            </a:r>
            <a:r>
              <a:rPr lang="ru-RU" b="1" dirty="0" err="1"/>
              <a:t>програміста</a:t>
            </a:r>
            <a:r>
              <a:rPr lang="ru-RU" b="1" dirty="0"/>
              <a:t> </a:t>
            </a:r>
            <a:r>
              <a:rPr lang="ru-RU" b="1" dirty="0" err="1"/>
              <a:t>менше</a:t>
            </a:r>
            <a:r>
              <a:rPr lang="ru-RU" b="1" dirty="0"/>
              <a:t> </a:t>
            </a:r>
            <a:r>
              <a:rPr lang="ru-RU" b="1" dirty="0" err="1"/>
              <a:t>зусиль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/>
              <a:t>Але у них до </a:t>
            </a:r>
            <a:r>
              <a:rPr lang="en-US" b="1" dirty="0"/>
              <a:t>React 16.8 </a:t>
            </a:r>
            <a:r>
              <a:rPr lang="ru-RU" b="1" dirty="0"/>
              <a:t>не </a:t>
            </a:r>
            <a:r>
              <a:rPr lang="ru-RU" b="1" dirty="0" err="1"/>
              <a:t>існує</a:t>
            </a:r>
            <a:r>
              <a:rPr lang="ru-RU" b="1" dirty="0"/>
              <a:t> </a:t>
            </a:r>
            <a:r>
              <a:rPr lang="ru-RU" b="1" dirty="0" err="1"/>
              <a:t>ні</a:t>
            </a:r>
            <a:r>
              <a:rPr lang="ru-RU" b="1" dirty="0"/>
              <a:t> стану, </a:t>
            </a:r>
            <a:r>
              <a:rPr lang="ru-RU" b="1" dirty="0" err="1"/>
              <a:t>ні</a:t>
            </a:r>
            <a:r>
              <a:rPr lang="ru-RU" b="1" dirty="0"/>
              <a:t> </a:t>
            </a:r>
            <a:r>
              <a:rPr lang="ru-RU" b="1" dirty="0" err="1"/>
              <a:t>методів</a:t>
            </a:r>
            <a:r>
              <a:rPr lang="ru-RU" b="1" dirty="0"/>
              <a:t> </a:t>
            </a:r>
            <a:r>
              <a:rPr lang="ru-RU" b="1" dirty="0" err="1"/>
              <a:t>життєвого</a:t>
            </a:r>
            <a:r>
              <a:rPr lang="ru-RU" b="1" dirty="0"/>
              <a:t> циклу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r>
              <a:rPr lang="ru-RU" b="1" dirty="0" err="1">
                <a:solidFill>
                  <a:srgbClr val="C00000"/>
                </a:solidFill>
              </a:rPr>
              <a:t>Hooks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вирішують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цю</a:t>
            </a:r>
            <a:r>
              <a:rPr lang="ru-RU" b="1" dirty="0">
                <a:solidFill>
                  <a:srgbClr val="C00000"/>
                </a:solidFill>
              </a:rPr>
              <a:t> проблему</a:t>
            </a:r>
          </a:p>
          <a:p>
            <a:r>
              <a:rPr lang="ru-RU" b="1" dirty="0"/>
              <a:t> 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443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548680"/>
            <a:ext cx="89289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/>
              <a:t>Для чого саме </a:t>
            </a:r>
            <a:r>
              <a:rPr lang="da-DK" b="1" dirty="0"/>
              <a:t>hooks:</a:t>
            </a:r>
            <a:endParaRPr lang="uk-UA" b="1" dirty="0"/>
          </a:p>
          <a:p>
            <a:r>
              <a:rPr lang="da-DK" b="1" dirty="0"/>
              <a:t> </a:t>
            </a:r>
          </a:p>
          <a:p>
            <a:r>
              <a:rPr lang="da-DK" b="1" dirty="0"/>
              <a:t>– </a:t>
            </a:r>
            <a:r>
              <a:rPr lang="ru-RU" b="1" dirty="0" err="1"/>
              <a:t>перевикористання</a:t>
            </a:r>
            <a:r>
              <a:rPr lang="ru-RU" b="1" dirty="0"/>
              <a:t> </a:t>
            </a:r>
            <a:r>
              <a:rPr lang="ru-RU" b="1" dirty="0" err="1"/>
              <a:t>бізнес-логіки</a:t>
            </a:r>
            <a:r>
              <a:rPr lang="ru-RU" b="1" dirty="0"/>
              <a:t>.</a:t>
            </a:r>
          </a:p>
          <a:p>
            <a:r>
              <a:rPr lang="ru-RU" b="1" dirty="0"/>
              <a:t>– </a:t>
            </a:r>
            <a:r>
              <a:rPr lang="ru-RU" b="1" dirty="0" err="1"/>
              <a:t>відокремлення</a:t>
            </a:r>
            <a:r>
              <a:rPr lang="ru-RU" b="1" dirty="0"/>
              <a:t> </a:t>
            </a:r>
            <a:r>
              <a:rPr lang="ru-RU" b="1" dirty="0" err="1"/>
              <a:t>бізнес-логіки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da-DK" b="1" dirty="0"/>
              <a:t>view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14E569D-5CEC-A5B4-6E40-93D291E0DD7B}"/>
              </a:ext>
            </a:extLst>
          </p:cNvPr>
          <p:cNvSpPr/>
          <p:nvPr/>
        </p:nvSpPr>
        <p:spPr>
          <a:xfrm>
            <a:off x="2699792" y="72244"/>
            <a:ext cx="360040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b="1" dirty="0"/>
              <a:t>Загальні висновки</a:t>
            </a:r>
            <a:r>
              <a:rPr lang="ru-RU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DB1FD-B3E1-55E0-30AB-84806D729FEA}"/>
              </a:ext>
            </a:extLst>
          </p:cNvPr>
          <p:cNvSpPr txBox="1"/>
          <p:nvPr/>
        </p:nvSpPr>
        <p:spPr>
          <a:xfrm>
            <a:off x="101429" y="1899915"/>
            <a:ext cx="892899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/>
              <a:t>На прикладі </a:t>
            </a:r>
            <a:r>
              <a:rPr lang="uk-UA" b="1" dirty="0">
                <a:solidFill>
                  <a:srgbClr val="C00000"/>
                </a:solidFill>
              </a:rPr>
              <a:t>08_</a:t>
            </a:r>
            <a:r>
              <a:rPr lang="en-US" b="1" dirty="0">
                <a:solidFill>
                  <a:srgbClr val="C00000"/>
                </a:solidFill>
              </a:rPr>
              <a:t>state/useState.html</a:t>
            </a:r>
          </a:p>
          <a:p>
            <a:endParaRPr lang="uk-UA" b="1" dirty="0"/>
          </a:p>
          <a:p>
            <a:r>
              <a:rPr lang="en-US" b="1" dirty="0"/>
              <a:t>count </a:t>
            </a:r>
            <a:r>
              <a:rPr lang="uk-UA" b="1" dirty="0"/>
              <a:t>у </a:t>
            </a:r>
            <a:r>
              <a:rPr lang="en-US" b="1" dirty="0"/>
              <a:t>JSX </a:t>
            </a:r>
            <a:r>
              <a:rPr lang="uk-UA" b="1" dirty="0"/>
              <a:t>не змінюється. А в консолі змінюється.</a:t>
            </a:r>
          </a:p>
          <a:p>
            <a:r>
              <a:rPr lang="uk-UA" b="1" dirty="0"/>
              <a:t>Чому?</a:t>
            </a:r>
          </a:p>
          <a:p>
            <a:endParaRPr lang="uk-UA" b="1" dirty="0"/>
          </a:p>
          <a:p>
            <a:r>
              <a:rPr lang="uk-UA" b="1" dirty="0"/>
              <a:t>1. Локальні змінні не запам'ятовуються між </a:t>
            </a:r>
            <a:r>
              <a:rPr lang="en-US" b="1" dirty="0"/>
              <a:t>renders.</a:t>
            </a:r>
          </a:p>
          <a:p>
            <a:r>
              <a:rPr lang="en-US" b="1" dirty="0"/>
              <a:t>2. </a:t>
            </a:r>
            <a:r>
              <a:rPr lang="uk-UA" b="1" dirty="0"/>
              <a:t>Якщо </a:t>
            </a:r>
            <a:r>
              <a:rPr lang="en-US" b="1" dirty="0"/>
              <a:t>React renders </a:t>
            </a:r>
            <a:r>
              <a:rPr lang="uk-UA" b="1" dirty="0"/>
              <a:t>компонент то змінна </a:t>
            </a:r>
            <a:r>
              <a:rPr lang="en-US" b="1" dirty="0"/>
              <a:t>count </a:t>
            </a:r>
            <a:r>
              <a:rPr lang="uk-UA" b="1" dirty="0"/>
              <a:t>буде скинута в 0</a:t>
            </a:r>
          </a:p>
          <a:p>
            <a:r>
              <a:rPr lang="uk-UA" b="1" dirty="0"/>
              <a:t>3. Зміна локальних змінних не викликає </a:t>
            </a:r>
            <a:r>
              <a:rPr lang="en-US" b="1" dirty="0"/>
              <a:t>renders.</a:t>
            </a:r>
          </a:p>
          <a:p>
            <a:endParaRPr lang="en-US" b="1" dirty="0"/>
          </a:p>
          <a:p>
            <a:r>
              <a:rPr lang="uk-UA" b="1" dirty="0"/>
              <a:t>Щоб оновити компонент з новими даними, нам потрібно, щоб трапилися 2 речі:</a:t>
            </a:r>
          </a:p>
          <a:p>
            <a:r>
              <a:rPr lang="uk-UA" b="1" dirty="0"/>
              <a:t>1. дані мають утримуватись  між </a:t>
            </a:r>
            <a:r>
              <a:rPr lang="en-US" b="1" dirty="0"/>
              <a:t>re-renders.</a:t>
            </a:r>
          </a:p>
          <a:p>
            <a:r>
              <a:rPr lang="en-US" b="1" dirty="0"/>
              <a:t>2. </a:t>
            </a:r>
            <a:r>
              <a:rPr lang="uk-UA" b="1" dirty="0"/>
              <a:t>Змусити </a:t>
            </a:r>
            <a:r>
              <a:rPr lang="en-US" b="1" dirty="0"/>
              <a:t>React re-render </a:t>
            </a:r>
            <a:r>
              <a:rPr lang="uk-UA" b="1" dirty="0"/>
              <a:t>компонент із новими даними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69677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44624"/>
            <a:ext cx="892899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function Counter(){</a:t>
            </a:r>
          </a:p>
          <a:p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ru-RU" b="1" dirty="0" err="1">
                <a:solidFill>
                  <a:srgbClr val="0070C0"/>
                </a:solidFill>
              </a:rPr>
              <a:t>const</a:t>
            </a:r>
            <a:r>
              <a:rPr lang="ru-RU" b="1" dirty="0">
                <a:solidFill>
                  <a:srgbClr val="0070C0"/>
                </a:solidFill>
              </a:rPr>
              <a:t> [</a:t>
            </a:r>
            <a:r>
              <a:rPr lang="ru-RU" b="1" dirty="0" err="1">
                <a:solidFill>
                  <a:srgbClr val="0070C0"/>
                </a:solidFill>
              </a:rPr>
              <a:t>count</a:t>
            </a:r>
            <a:r>
              <a:rPr lang="ru-RU" b="1" dirty="0">
                <a:solidFill>
                  <a:srgbClr val="0070C0"/>
                </a:solidFill>
              </a:rPr>
              <a:t>, </a:t>
            </a:r>
            <a:r>
              <a:rPr lang="ru-RU" b="1" dirty="0" err="1">
                <a:solidFill>
                  <a:srgbClr val="0070C0"/>
                </a:solidFill>
              </a:rPr>
              <a:t>setCount</a:t>
            </a:r>
            <a:r>
              <a:rPr lang="ru-RU" b="1" dirty="0">
                <a:solidFill>
                  <a:srgbClr val="0070C0"/>
                </a:solidFill>
              </a:rPr>
              <a:t>] = </a:t>
            </a:r>
            <a:r>
              <a:rPr lang="ru-RU" b="1" dirty="0" err="1">
                <a:solidFill>
                  <a:srgbClr val="0070C0"/>
                </a:solidFill>
              </a:rPr>
              <a:t>useState</a:t>
            </a:r>
            <a:r>
              <a:rPr lang="ru-RU" b="1" dirty="0">
                <a:solidFill>
                  <a:srgbClr val="0070C0"/>
                </a:solidFill>
              </a:rPr>
              <a:t>(0);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>
                <a:solidFill>
                  <a:srgbClr val="7030A0"/>
                </a:solidFill>
              </a:rPr>
              <a:t>const handle = () =&gt; </a:t>
            </a:r>
            <a:r>
              <a:rPr lang="en-US" b="1" dirty="0" err="1">
                <a:solidFill>
                  <a:srgbClr val="7030A0"/>
                </a:solidFill>
              </a:rPr>
              <a:t>setCount</a:t>
            </a:r>
            <a:r>
              <a:rPr lang="en-US" b="1" dirty="0">
                <a:solidFill>
                  <a:srgbClr val="7030A0"/>
                </a:solidFill>
              </a:rPr>
              <a:t>(count + 1)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 return &lt;&gt;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&lt;p&gt;You clicked </a:t>
            </a:r>
            <a:r>
              <a:rPr lang="en-US" b="1" dirty="0">
                <a:solidFill>
                  <a:srgbClr val="C00000"/>
                </a:solidFill>
              </a:rPr>
              <a:t>{count}</a:t>
            </a:r>
            <a:r>
              <a:rPr lang="en-US" b="1" dirty="0">
                <a:solidFill>
                  <a:srgbClr val="0070C0"/>
                </a:solidFill>
              </a:rPr>
              <a:t> times&lt;/p&gt;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&lt;button </a:t>
            </a:r>
            <a:r>
              <a:rPr lang="en-US" b="1" dirty="0" err="1">
                <a:solidFill>
                  <a:srgbClr val="0070C0"/>
                </a:solidFill>
              </a:rPr>
              <a:t>onClick</a:t>
            </a:r>
            <a:r>
              <a:rPr lang="en-US" b="1" dirty="0">
                <a:solidFill>
                  <a:srgbClr val="0070C0"/>
                </a:solidFill>
              </a:rPr>
              <a:t>={</a:t>
            </a:r>
            <a:r>
              <a:rPr lang="en-US" b="1" dirty="0">
                <a:solidFill>
                  <a:srgbClr val="7030A0"/>
                </a:solidFill>
              </a:rPr>
              <a:t>handle</a:t>
            </a:r>
            <a:r>
              <a:rPr lang="en-US" b="1" dirty="0">
                <a:solidFill>
                  <a:srgbClr val="0070C0"/>
                </a:solidFill>
              </a:rPr>
              <a:t>}&gt;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  Click me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&lt;/button&gt;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&lt;/&gt;	</a:t>
            </a:r>
          </a:p>
          <a:p>
            <a:r>
              <a:rPr lang="en-US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E503F11-9CDC-4384-B3FC-5694DE0721E8}"/>
              </a:ext>
            </a:extLst>
          </p:cNvPr>
          <p:cNvSpPr/>
          <p:nvPr/>
        </p:nvSpPr>
        <p:spPr>
          <a:xfrm>
            <a:off x="7447399" y="67548"/>
            <a:ext cx="1584176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Counter 1</a:t>
            </a:r>
            <a:endParaRPr lang="ru-RU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070A7-A76F-465D-8546-0441E9628EFE}"/>
              </a:ext>
            </a:extLst>
          </p:cNvPr>
          <p:cNvSpPr txBox="1"/>
          <p:nvPr/>
        </p:nvSpPr>
        <p:spPr>
          <a:xfrm>
            <a:off x="107504" y="3645024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означає</a:t>
            </a:r>
            <a:r>
              <a:rPr lang="ru-RU" b="1" dirty="0"/>
              <a:t> строка  </a:t>
            </a:r>
            <a:r>
              <a:rPr lang="ru-RU" b="1" dirty="0">
                <a:solidFill>
                  <a:srgbClr val="0070C0"/>
                </a:solidFill>
              </a:rPr>
              <a:t>&lt;p&gt;You </a:t>
            </a:r>
            <a:r>
              <a:rPr lang="ru-RU" b="1" dirty="0" err="1">
                <a:solidFill>
                  <a:srgbClr val="0070C0"/>
                </a:solidFill>
              </a:rPr>
              <a:t>clicked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>
                <a:solidFill>
                  <a:srgbClr val="C00000"/>
                </a:solidFill>
              </a:rPr>
              <a:t>{</a:t>
            </a:r>
            <a:r>
              <a:rPr lang="ru-RU" b="1" dirty="0" err="1">
                <a:solidFill>
                  <a:srgbClr val="C00000"/>
                </a:solidFill>
              </a:rPr>
              <a:t>count</a:t>
            </a:r>
            <a:r>
              <a:rPr lang="ru-RU" b="1" dirty="0">
                <a:solidFill>
                  <a:srgbClr val="C00000"/>
                </a:solidFill>
              </a:rPr>
              <a:t>} </a:t>
            </a:r>
            <a:r>
              <a:rPr lang="ru-RU" b="1" dirty="0" err="1">
                <a:solidFill>
                  <a:srgbClr val="0070C0"/>
                </a:solidFill>
              </a:rPr>
              <a:t>times</a:t>
            </a:r>
            <a:r>
              <a:rPr lang="ru-RU" b="1" dirty="0">
                <a:solidFill>
                  <a:srgbClr val="0070C0"/>
                </a:solidFill>
              </a:rPr>
              <a:t>&lt;/p&gt;</a:t>
            </a:r>
            <a:r>
              <a:rPr lang="en-US" b="1" dirty="0">
                <a:solidFill>
                  <a:srgbClr val="0070C0"/>
                </a:solidFill>
              </a:rPr>
              <a:t>  </a:t>
            </a:r>
            <a:r>
              <a:rPr lang="en-US" b="1" dirty="0"/>
              <a:t>?</a:t>
            </a:r>
            <a:r>
              <a:rPr lang="ru-RU" b="1" dirty="0"/>
              <a:t> </a:t>
            </a:r>
          </a:p>
          <a:p>
            <a:endParaRPr lang="ru-RU" b="1" dirty="0"/>
          </a:p>
          <a:p>
            <a:r>
              <a:rPr lang="ru-RU" b="1" dirty="0" err="1"/>
              <a:t>Чи</a:t>
            </a:r>
            <a:r>
              <a:rPr lang="ru-RU" b="1" dirty="0"/>
              <a:t> </a:t>
            </a:r>
            <a:r>
              <a:rPr lang="ru-RU" b="1" dirty="0" err="1"/>
              <a:t>спостерігає</a:t>
            </a:r>
            <a:r>
              <a:rPr lang="ru-RU" b="1" dirty="0"/>
              <a:t> </a:t>
            </a:r>
            <a:r>
              <a:rPr lang="ru-RU" b="1" dirty="0" err="1"/>
              <a:t>якимось</a:t>
            </a:r>
            <a:r>
              <a:rPr lang="ru-RU" b="1" dirty="0"/>
              <a:t> чином константа </a:t>
            </a:r>
            <a:r>
              <a:rPr lang="ru-RU" b="1" dirty="0" err="1">
                <a:solidFill>
                  <a:srgbClr val="C00000"/>
                </a:solidFill>
              </a:rPr>
              <a:t>count</a:t>
            </a:r>
            <a:r>
              <a:rPr lang="ru-RU" b="1" dirty="0"/>
              <a:t> за </a:t>
            </a:r>
            <a:r>
              <a:rPr lang="ru-RU" b="1" dirty="0" err="1"/>
              <a:t>змінами</a:t>
            </a:r>
            <a:r>
              <a:rPr lang="ru-RU" b="1" dirty="0"/>
              <a:t> в </a:t>
            </a:r>
            <a:r>
              <a:rPr lang="ru-RU" b="1" dirty="0" err="1"/>
              <a:t>стані</a:t>
            </a:r>
            <a:r>
              <a:rPr lang="ru-RU" b="1" dirty="0"/>
              <a:t> і </a:t>
            </a:r>
            <a:r>
              <a:rPr lang="ru-RU" b="1" dirty="0" err="1"/>
              <a:t>чи</a:t>
            </a:r>
            <a:r>
              <a:rPr lang="ru-RU" b="1" dirty="0"/>
              <a:t> </a:t>
            </a:r>
            <a:r>
              <a:rPr lang="ru-RU" b="1" dirty="0" err="1"/>
              <a:t>оновлюється</a:t>
            </a:r>
            <a:r>
              <a:rPr lang="ru-RU" b="1" dirty="0"/>
              <a:t> вона автоматично?</a:t>
            </a:r>
          </a:p>
          <a:p>
            <a:endParaRPr lang="ru-RU" b="1" dirty="0"/>
          </a:p>
          <a:p>
            <a:r>
              <a:rPr lang="ru-RU" b="1" dirty="0"/>
              <a:t>У </a:t>
            </a:r>
            <a:r>
              <a:rPr lang="ru-RU" b="1" dirty="0" err="1"/>
              <a:t>нашому</a:t>
            </a:r>
            <a:r>
              <a:rPr lang="ru-RU" b="1" dirty="0"/>
              <a:t> </a:t>
            </a:r>
            <a:r>
              <a:rPr lang="ru-RU" b="1" dirty="0" err="1"/>
              <a:t>прикладі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C00000"/>
                </a:solidFill>
              </a:rPr>
              <a:t>count</a:t>
            </a:r>
            <a:r>
              <a:rPr lang="ru-RU" b="1" dirty="0"/>
              <a:t> </a:t>
            </a:r>
            <a:r>
              <a:rPr lang="ru-RU" b="1" dirty="0" err="1"/>
              <a:t>це</a:t>
            </a:r>
            <a:r>
              <a:rPr lang="ru-RU" b="1" dirty="0"/>
              <a:t> просто число.</a:t>
            </a:r>
          </a:p>
        </p:txBody>
      </p:sp>
    </p:spTree>
    <p:extLst>
      <p:ext uri="{BB962C8B-B14F-4D97-AF65-F5344CB8AC3E}">
        <p14:creationId xmlns:p14="http://schemas.microsoft.com/office/powerpoint/2010/main" val="3572585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01531"/>
            <a:ext cx="892899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// 1 rendering</a:t>
            </a:r>
            <a:endParaRPr lang="ru-RU" b="1" i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function Counter() 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en-US" b="1" dirty="0">
                <a:solidFill>
                  <a:srgbClr val="00B050"/>
                </a:solidFill>
              </a:rPr>
              <a:t>const count = 0</a:t>
            </a:r>
            <a:r>
              <a:rPr lang="en-US" b="1" dirty="0">
                <a:solidFill>
                  <a:srgbClr val="0070C0"/>
                </a:solidFill>
              </a:rPr>
              <a:t>; </a:t>
            </a:r>
            <a:r>
              <a:rPr lang="ru-RU" b="1" dirty="0">
                <a:solidFill>
                  <a:srgbClr val="0070C0"/>
                </a:solidFill>
              </a:rPr>
              <a:t> 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b="1" i="1" dirty="0" err="1">
                <a:solidFill>
                  <a:schemeClr val="bg1">
                    <a:lumMod val="50000"/>
                  </a:schemeClr>
                </a:solidFill>
              </a:rPr>
              <a:t>Возвращено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bg1">
                    <a:lumMod val="50000"/>
                  </a:schemeClr>
                </a:solidFill>
              </a:rPr>
              <a:t>useState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()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...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&lt;p&gt;You clicked </a:t>
            </a:r>
            <a:r>
              <a:rPr lang="en-US" b="1" dirty="0">
                <a:solidFill>
                  <a:srgbClr val="C00000"/>
                </a:solidFill>
              </a:rPr>
              <a:t>0</a:t>
            </a:r>
            <a:r>
              <a:rPr lang="en-US" b="1" dirty="0">
                <a:solidFill>
                  <a:srgbClr val="0070C0"/>
                </a:solidFill>
              </a:rPr>
              <a:t> times&lt;/p&gt;</a:t>
            </a:r>
          </a:p>
          <a:p>
            <a:r>
              <a:rPr lang="ru-RU" b="1" dirty="0">
                <a:solidFill>
                  <a:srgbClr val="0070C0"/>
                </a:solidFill>
              </a:rPr>
              <a:t>       </a:t>
            </a:r>
            <a:r>
              <a:rPr lang="en-US" b="1" dirty="0">
                <a:solidFill>
                  <a:srgbClr val="0070C0"/>
                </a:solidFill>
              </a:rPr>
              <a:t>...</a:t>
            </a:r>
          </a:p>
          <a:p>
            <a:r>
              <a:rPr lang="en-US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8441C1-6630-44AC-8748-C8EBB4DB1A4E}"/>
              </a:ext>
            </a:extLst>
          </p:cNvPr>
          <p:cNvSpPr txBox="1"/>
          <p:nvPr/>
        </p:nvSpPr>
        <p:spPr>
          <a:xfrm>
            <a:off x="107504" y="2272804"/>
            <a:ext cx="892899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// 2 rendering</a:t>
            </a:r>
            <a:endParaRPr lang="ru-RU" b="1" i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function Counter() 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en-US" b="1" dirty="0">
                <a:solidFill>
                  <a:srgbClr val="00B050"/>
                </a:solidFill>
              </a:rPr>
              <a:t>const count = 1</a:t>
            </a:r>
            <a:r>
              <a:rPr lang="en-US" b="1" dirty="0">
                <a:solidFill>
                  <a:srgbClr val="0070C0"/>
                </a:solidFill>
              </a:rPr>
              <a:t>; </a:t>
            </a:r>
            <a:r>
              <a:rPr lang="ru-RU" b="1" dirty="0">
                <a:solidFill>
                  <a:srgbClr val="0070C0"/>
                </a:solidFill>
              </a:rPr>
              <a:t>  </a:t>
            </a:r>
            <a:endParaRPr lang="en-US" b="1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...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&lt;p&gt;You clicked </a:t>
            </a:r>
            <a:r>
              <a:rPr lang="en-US" b="1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0070C0"/>
                </a:solidFill>
              </a:rPr>
              <a:t> times&lt;/p&gt;</a:t>
            </a:r>
          </a:p>
          <a:p>
            <a:r>
              <a:rPr lang="ru-RU" b="1" dirty="0">
                <a:solidFill>
                  <a:srgbClr val="0070C0"/>
                </a:solidFill>
              </a:rPr>
              <a:t>       </a:t>
            </a:r>
            <a:r>
              <a:rPr lang="en-US" b="1" dirty="0">
                <a:solidFill>
                  <a:srgbClr val="0070C0"/>
                </a:solidFill>
              </a:rPr>
              <a:t>...</a:t>
            </a:r>
          </a:p>
          <a:p>
            <a:r>
              <a:rPr lang="en-US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48489A-C572-4B10-B1E8-1553D3612573}"/>
              </a:ext>
            </a:extLst>
          </p:cNvPr>
          <p:cNvSpPr txBox="1"/>
          <p:nvPr/>
        </p:nvSpPr>
        <p:spPr>
          <a:xfrm>
            <a:off x="107504" y="4422011"/>
            <a:ext cx="892899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// 3 rendering</a:t>
            </a:r>
            <a:endParaRPr lang="ru-RU" b="1" i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function Counter() 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en-US" b="1" dirty="0">
                <a:solidFill>
                  <a:srgbClr val="00B050"/>
                </a:solidFill>
              </a:rPr>
              <a:t>const count = 2</a:t>
            </a:r>
            <a:r>
              <a:rPr lang="en-US" b="1" dirty="0">
                <a:solidFill>
                  <a:srgbClr val="0070C0"/>
                </a:solidFill>
              </a:rPr>
              <a:t>; </a:t>
            </a:r>
            <a:r>
              <a:rPr lang="ru-RU" b="1" dirty="0">
                <a:solidFill>
                  <a:srgbClr val="0070C0"/>
                </a:solidFill>
              </a:rPr>
              <a:t>  </a:t>
            </a:r>
            <a:endParaRPr lang="en-US" b="1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...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&lt;p&gt;You clicked </a:t>
            </a:r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0070C0"/>
                </a:solidFill>
              </a:rPr>
              <a:t> times&lt;/p&gt;</a:t>
            </a:r>
          </a:p>
          <a:p>
            <a:r>
              <a:rPr lang="ru-RU" b="1" dirty="0">
                <a:solidFill>
                  <a:srgbClr val="0070C0"/>
                </a:solidFill>
              </a:rPr>
              <a:t>       </a:t>
            </a:r>
            <a:r>
              <a:rPr lang="en-US" b="1" dirty="0">
                <a:solidFill>
                  <a:srgbClr val="0070C0"/>
                </a:solidFill>
              </a:rPr>
              <a:t>...</a:t>
            </a:r>
          </a:p>
          <a:p>
            <a:r>
              <a:rPr lang="en-US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3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620688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Треба </a:t>
            </a:r>
            <a:r>
              <a:rPr lang="ru-RU" b="1" dirty="0" err="1">
                <a:solidFill>
                  <a:srgbClr val="C00000"/>
                </a:solidFill>
              </a:rPr>
              <a:t>виконати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виконаємо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наступну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послідовність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дій</a:t>
            </a:r>
            <a:r>
              <a:rPr lang="ru-RU" b="1" dirty="0">
                <a:solidFill>
                  <a:srgbClr val="C00000"/>
                </a:solidFill>
              </a:rPr>
              <a:t>:</a:t>
            </a:r>
          </a:p>
          <a:p>
            <a:endParaRPr lang="ru-RU" b="1" dirty="0">
              <a:solidFill>
                <a:schemeClr val="dk1"/>
              </a:solidFill>
            </a:endParaRPr>
          </a:p>
          <a:p>
            <a:r>
              <a:rPr lang="ru-RU" b="1" dirty="0">
                <a:solidFill>
                  <a:schemeClr val="dk1"/>
                </a:solidFill>
              </a:rPr>
              <a:t>- </a:t>
            </a:r>
            <a:r>
              <a:rPr lang="ru-RU" b="1" dirty="0" err="1">
                <a:solidFill>
                  <a:schemeClr val="dk1"/>
                </a:solidFill>
              </a:rPr>
              <a:t>Доведемо</a:t>
            </a:r>
            <a:r>
              <a:rPr lang="ru-RU" b="1" dirty="0">
                <a:solidFill>
                  <a:schemeClr val="dk1"/>
                </a:solidFill>
              </a:rPr>
              <a:t> </a:t>
            </a:r>
            <a:r>
              <a:rPr lang="ru-RU" b="1" dirty="0" err="1">
                <a:solidFill>
                  <a:schemeClr val="dk1"/>
                </a:solidFill>
              </a:rPr>
              <a:t>значення</a:t>
            </a:r>
            <a:r>
              <a:rPr lang="ru-RU" b="1" dirty="0">
                <a:solidFill>
                  <a:schemeClr val="dk1"/>
                </a:solidFill>
              </a:rPr>
              <a:t> </a:t>
            </a:r>
            <a:r>
              <a:rPr lang="en-US" b="1" dirty="0">
                <a:solidFill>
                  <a:schemeClr val="dk1"/>
                </a:solidFill>
              </a:rPr>
              <a:t>count </a:t>
            </a:r>
            <a:r>
              <a:rPr lang="ru-RU" b="1" dirty="0">
                <a:solidFill>
                  <a:schemeClr val="dk1"/>
                </a:solidFill>
              </a:rPr>
              <a:t>до 3, клацнувши по </a:t>
            </a:r>
            <a:r>
              <a:rPr lang="ru-RU" b="1" dirty="0" err="1">
                <a:solidFill>
                  <a:schemeClr val="dk1"/>
                </a:solidFill>
              </a:rPr>
              <a:t>кнопці</a:t>
            </a:r>
            <a:r>
              <a:rPr lang="ru-RU" b="1" dirty="0">
                <a:solidFill>
                  <a:schemeClr val="dk1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Click me</a:t>
            </a:r>
            <a:r>
              <a:rPr lang="en-US" b="1" dirty="0">
                <a:solidFill>
                  <a:schemeClr val="dk1"/>
                </a:solidFill>
              </a:rPr>
              <a:t>.</a:t>
            </a:r>
          </a:p>
          <a:p>
            <a:r>
              <a:rPr lang="en-US" b="1" dirty="0">
                <a:solidFill>
                  <a:schemeClr val="dk1"/>
                </a:solidFill>
              </a:rPr>
              <a:t>- </a:t>
            </a:r>
            <a:r>
              <a:rPr lang="ru-RU" b="1" dirty="0" err="1">
                <a:solidFill>
                  <a:schemeClr val="dk1"/>
                </a:solidFill>
              </a:rPr>
              <a:t>Клікнемо</a:t>
            </a:r>
            <a:r>
              <a:rPr lang="ru-RU" b="1" dirty="0">
                <a:solidFill>
                  <a:schemeClr val="dk1"/>
                </a:solidFill>
              </a:rPr>
              <a:t> на </a:t>
            </a:r>
            <a:r>
              <a:rPr lang="ru-RU" b="1" dirty="0" err="1">
                <a:solidFill>
                  <a:schemeClr val="dk1"/>
                </a:solidFill>
              </a:rPr>
              <a:t>кнопці</a:t>
            </a:r>
            <a:r>
              <a:rPr lang="ru-RU" b="1" dirty="0">
                <a:solidFill>
                  <a:schemeClr val="dk1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Show alert</a:t>
            </a:r>
            <a:r>
              <a:rPr lang="en-US" b="1" dirty="0">
                <a:solidFill>
                  <a:schemeClr val="dk1"/>
                </a:solidFill>
              </a:rPr>
              <a:t>.</a:t>
            </a:r>
          </a:p>
          <a:p>
            <a:r>
              <a:rPr lang="en-US" b="1" dirty="0">
                <a:solidFill>
                  <a:schemeClr val="dk1"/>
                </a:solidFill>
              </a:rPr>
              <a:t>- </a:t>
            </a:r>
            <a:r>
              <a:rPr lang="ru-RU" b="1" dirty="0" err="1">
                <a:solidFill>
                  <a:schemeClr val="dk1"/>
                </a:solidFill>
              </a:rPr>
              <a:t>швидко</a:t>
            </a:r>
            <a:r>
              <a:rPr lang="ru-RU" b="1" dirty="0">
                <a:solidFill>
                  <a:schemeClr val="dk1"/>
                </a:solidFill>
              </a:rPr>
              <a:t> (до </a:t>
            </a:r>
            <a:r>
              <a:rPr lang="ru-RU" b="1" dirty="0" err="1">
                <a:solidFill>
                  <a:schemeClr val="dk1"/>
                </a:solidFill>
              </a:rPr>
              <a:t>закінчення</a:t>
            </a:r>
            <a:r>
              <a:rPr lang="ru-RU" b="1" dirty="0">
                <a:solidFill>
                  <a:schemeClr val="dk1"/>
                </a:solidFill>
              </a:rPr>
              <a:t> таймауту) </a:t>
            </a:r>
            <a:r>
              <a:rPr lang="ru-RU" b="1" dirty="0" err="1">
                <a:solidFill>
                  <a:schemeClr val="dk1"/>
                </a:solidFill>
              </a:rPr>
              <a:t>доведемо</a:t>
            </a:r>
            <a:r>
              <a:rPr lang="ru-RU" b="1" dirty="0">
                <a:solidFill>
                  <a:schemeClr val="dk1"/>
                </a:solidFill>
              </a:rPr>
              <a:t> </a:t>
            </a:r>
            <a:r>
              <a:rPr lang="ru-RU" b="1" dirty="0" err="1">
                <a:solidFill>
                  <a:schemeClr val="dk1"/>
                </a:solidFill>
              </a:rPr>
              <a:t>значення</a:t>
            </a:r>
            <a:r>
              <a:rPr lang="ru-RU" b="1" dirty="0">
                <a:solidFill>
                  <a:schemeClr val="dk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count</a:t>
            </a:r>
            <a:r>
              <a:rPr lang="en-US" b="1" dirty="0">
                <a:solidFill>
                  <a:schemeClr val="dk1"/>
                </a:solidFill>
              </a:rPr>
              <a:t> </a:t>
            </a:r>
            <a:r>
              <a:rPr lang="ru-RU" b="1" dirty="0">
                <a:solidFill>
                  <a:schemeClr val="dk1"/>
                </a:solidFill>
              </a:rPr>
              <a:t>до 5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5E7596-C6A8-E4A3-38D8-AB7754234449}"/>
              </a:ext>
            </a:extLst>
          </p:cNvPr>
          <p:cNvSpPr/>
          <p:nvPr/>
        </p:nvSpPr>
        <p:spPr>
          <a:xfrm>
            <a:off x="107504" y="116632"/>
            <a:ext cx="8928992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b="1" dirty="0"/>
              <a:t>Демонстрація у браузері </a:t>
            </a:r>
            <a:r>
              <a:rPr lang="uk-UA" b="1" dirty="0">
                <a:solidFill>
                  <a:srgbClr val="C00000"/>
                </a:solidFill>
              </a:rPr>
              <a:t>08_</a:t>
            </a:r>
            <a:r>
              <a:rPr lang="en-US" b="1" dirty="0">
                <a:solidFill>
                  <a:srgbClr val="C00000"/>
                </a:solidFill>
              </a:rPr>
              <a:t>state/counter.html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E4395-DA63-004D-97B1-43594F9C5980}"/>
              </a:ext>
            </a:extLst>
          </p:cNvPr>
          <p:cNvSpPr txBox="1"/>
          <p:nvPr/>
        </p:nvSpPr>
        <p:spPr>
          <a:xfrm>
            <a:off x="121721" y="2492896"/>
            <a:ext cx="8928992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Тобто</a:t>
            </a:r>
            <a:r>
              <a:rPr lang="ru-RU" b="1" dirty="0"/>
              <a:t> на момент коли </a:t>
            </a:r>
            <a:r>
              <a:rPr lang="ru-RU" b="1" dirty="0" err="1"/>
              <a:t>була</a:t>
            </a:r>
            <a:r>
              <a:rPr lang="ru-RU" b="1" dirty="0"/>
              <a:t> </a:t>
            </a:r>
            <a:r>
              <a:rPr lang="ru-RU" b="1" dirty="0" err="1"/>
              <a:t>викликана</a:t>
            </a:r>
            <a:r>
              <a:rPr lang="ru-RU" b="1" dirty="0"/>
              <a:t> </a:t>
            </a:r>
            <a:r>
              <a:rPr lang="ru-RU" b="1" dirty="0" err="1"/>
              <a:t>функція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C00000"/>
                </a:solidFill>
              </a:rPr>
              <a:t>handleAlertClick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b="1" dirty="0" err="1"/>
              <a:t>був</a:t>
            </a:r>
            <a:r>
              <a:rPr lang="ru-RU" b="1" dirty="0"/>
              <a:t> </a:t>
            </a:r>
            <a:r>
              <a:rPr lang="ru-RU" b="1" dirty="0" err="1"/>
              <a:t>конкретний</a:t>
            </a:r>
            <a:r>
              <a:rPr lang="ru-RU" b="1" dirty="0"/>
              <a:t> рендер компонента </a:t>
            </a:r>
            <a:r>
              <a:rPr lang="ru-RU" b="1" dirty="0" err="1"/>
              <a:t>із</a:t>
            </a:r>
            <a:r>
              <a:rPr lang="ru-RU" b="1" dirty="0"/>
              <a:t> </a:t>
            </a:r>
            <a:r>
              <a:rPr lang="ru-RU" b="1" dirty="0" err="1"/>
              <a:t>значенням</a:t>
            </a:r>
            <a:r>
              <a:rPr lang="ru-RU" b="1" dirty="0"/>
              <a:t> </a:t>
            </a:r>
            <a:r>
              <a:rPr lang="en-US" b="1" dirty="0"/>
              <a:t>state count = 3</a:t>
            </a:r>
          </a:p>
          <a:p>
            <a:r>
              <a:rPr lang="ru-RU" b="1" dirty="0"/>
              <a:t>І </a:t>
            </a:r>
            <a:r>
              <a:rPr lang="ru-RU" b="1" dirty="0" err="1"/>
              <a:t>версія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C00000"/>
                </a:solidFill>
              </a:rPr>
              <a:t>handleAlertClick</a:t>
            </a:r>
            <a:r>
              <a:rPr lang="en-US" b="1" dirty="0"/>
              <a:t> </a:t>
            </a:r>
            <a:r>
              <a:rPr lang="ru-RU" b="1" dirty="0" err="1"/>
              <a:t>теж</a:t>
            </a:r>
            <a:r>
              <a:rPr lang="ru-RU" b="1" dirty="0"/>
              <a:t> </a:t>
            </a:r>
            <a:r>
              <a:rPr lang="ru-RU" b="1" dirty="0" err="1"/>
              <a:t>була</a:t>
            </a:r>
            <a:r>
              <a:rPr lang="ru-RU" b="1" dirty="0"/>
              <a:t> своя</a:t>
            </a:r>
          </a:p>
          <a:p>
            <a:endParaRPr lang="ru-RU" b="1" dirty="0"/>
          </a:p>
          <a:p>
            <a:r>
              <a:rPr lang="ru-RU" b="1" dirty="0" err="1"/>
              <a:t>Після</a:t>
            </a:r>
            <a:r>
              <a:rPr lang="ru-RU" b="1" dirty="0"/>
              <a:t> </a:t>
            </a:r>
            <a:r>
              <a:rPr lang="ru-RU" b="1" dirty="0" err="1"/>
              <a:t>цього</a:t>
            </a:r>
            <a:r>
              <a:rPr lang="ru-RU" b="1" dirty="0"/>
              <a:t> </a:t>
            </a:r>
            <a:r>
              <a:rPr lang="ru-RU" b="1" dirty="0" err="1"/>
              <a:t>додатково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0070C0"/>
                </a:solidFill>
              </a:rPr>
              <a:t>зробили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click 3 </a:t>
            </a:r>
            <a:r>
              <a:rPr lang="ru-RU" b="1" dirty="0">
                <a:solidFill>
                  <a:srgbClr val="0070C0"/>
                </a:solidFill>
              </a:rPr>
              <a:t>рази</a:t>
            </a:r>
            <a:r>
              <a:rPr lang="ru-RU" b="1" dirty="0"/>
              <a:t>, </a:t>
            </a:r>
            <a:r>
              <a:rPr lang="en-US" b="1" dirty="0">
                <a:solidFill>
                  <a:srgbClr val="C00000"/>
                </a:solidFill>
              </a:rPr>
              <a:t>state count </a:t>
            </a:r>
            <a:r>
              <a:rPr lang="ru-RU" b="1" dirty="0">
                <a:solidFill>
                  <a:srgbClr val="C00000"/>
                </a:solidFill>
              </a:rPr>
              <a:t>став = 6</a:t>
            </a:r>
          </a:p>
          <a:p>
            <a:r>
              <a:rPr lang="ru-RU" b="1" dirty="0"/>
              <a:t>І за 3 </a:t>
            </a:r>
            <a:r>
              <a:rPr lang="ru-RU" b="1" dirty="0" err="1"/>
              <a:t>секунди</a:t>
            </a:r>
            <a:r>
              <a:rPr lang="ru-RU" b="1" dirty="0"/>
              <a:t> </a:t>
            </a:r>
            <a:r>
              <a:rPr lang="ru-RU" b="1" dirty="0" err="1"/>
              <a:t>запускається</a:t>
            </a:r>
            <a:r>
              <a:rPr lang="ru-RU" b="1" dirty="0"/>
              <a:t> </a:t>
            </a:r>
            <a:r>
              <a:rPr lang="ru-RU" b="1" dirty="0" err="1"/>
              <a:t>функція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у </a:t>
            </a:r>
            <a:r>
              <a:rPr lang="en-US" b="1" dirty="0" err="1">
                <a:solidFill>
                  <a:srgbClr val="C00000"/>
                </a:solidFill>
              </a:rPr>
              <a:t>setTimeout</a:t>
            </a:r>
            <a:endParaRPr lang="en-US" b="1" dirty="0">
              <a:solidFill>
                <a:srgbClr val="C00000"/>
              </a:solidFill>
            </a:endParaRPr>
          </a:p>
          <a:p>
            <a:endParaRPr lang="ru-RU" b="1" dirty="0"/>
          </a:p>
          <a:p>
            <a:r>
              <a:rPr lang="ru-RU" b="1" dirty="0" err="1">
                <a:solidFill>
                  <a:srgbClr val="C00000"/>
                </a:solidFill>
              </a:rPr>
              <a:t>Важливо</a:t>
            </a:r>
            <a:r>
              <a:rPr lang="ru-RU" b="1" dirty="0"/>
              <a:t> - </a:t>
            </a:r>
            <a:r>
              <a:rPr lang="ru-RU" b="1" dirty="0" err="1"/>
              <a:t>цю</a:t>
            </a:r>
            <a:r>
              <a:rPr lang="ru-RU" b="1" dirty="0"/>
              <a:t> </a:t>
            </a:r>
            <a:r>
              <a:rPr lang="ru-RU" b="1" dirty="0" err="1"/>
              <a:t>функцію</a:t>
            </a:r>
            <a:r>
              <a:rPr lang="ru-RU" b="1" dirty="0"/>
              <a:t> </a:t>
            </a:r>
            <a:r>
              <a:rPr lang="ru-RU" b="1" dirty="0" err="1"/>
              <a:t>було</a:t>
            </a:r>
            <a:r>
              <a:rPr lang="ru-RU" b="1" dirty="0"/>
              <a:t> </a:t>
            </a:r>
            <a:r>
              <a:rPr lang="ru-RU" b="1" dirty="0" err="1"/>
              <a:t>визначено</a:t>
            </a:r>
            <a:r>
              <a:rPr lang="ru-RU" b="1" dirty="0"/>
              <a:t> в момент конкретного рендерингу !!!</a:t>
            </a:r>
          </a:p>
          <a:p>
            <a:r>
              <a:rPr lang="ru-RU" b="1" dirty="0"/>
              <a:t>Вона </a:t>
            </a:r>
            <a:r>
              <a:rPr lang="ru-RU" b="1" dirty="0" err="1"/>
              <a:t>починає</a:t>
            </a:r>
            <a:r>
              <a:rPr lang="ru-RU" b="1" dirty="0"/>
              <a:t> </a:t>
            </a:r>
            <a:r>
              <a:rPr lang="ru-RU" b="1" dirty="0" err="1"/>
              <a:t>шукати</a:t>
            </a:r>
            <a:r>
              <a:rPr lang="ru-RU" b="1" dirty="0"/>
              <a:t> у </a:t>
            </a:r>
            <a:r>
              <a:rPr lang="ru-RU" b="1" dirty="0" err="1"/>
              <a:t>замиканні</a:t>
            </a:r>
            <a:r>
              <a:rPr lang="ru-RU" b="1" dirty="0"/>
              <a:t> </a:t>
            </a:r>
            <a:r>
              <a:rPr lang="en-US" b="1" dirty="0"/>
              <a:t>count, </a:t>
            </a:r>
            <a:r>
              <a:rPr lang="ru-RU" b="1" dirty="0"/>
              <a:t>та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на </a:t>
            </a:r>
            <a:r>
              <a:rPr lang="ru-RU" b="1" dirty="0" err="1"/>
              <a:t>конкретний</a:t>
            </a:r>
            <a:r>
              <a:rPr lang="ru-RU" b="1" dirty="0"/>
              <a:t> рендер компонента </a:t>
            </a:r>
            <a:r>
              <a:rPr lang="ru-RU" b="1" dirty="0" err="1"/>
              <a:t>дорівнює</a:t>
            </a:r>
            <a:r>
              <a:rPr lang="ru-RU" b="1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301567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6632"/>
            <a:ext cx="892899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C00000"/>
                </a:solidFill>
              </a:rPr>
              <a:t>ВИСНОВОК</a:t>
            </a:r>
          </a:p>
          <a:p>
            <a:endParaRPr lang="uk-UA" b="1" dirty="0"/>
          </a:p>
          <a:p>
            <a:r>
              <a:rPr lang="en-US" b="1" dirty="0"/>
              <a:t>- </a:t>
            </a:r>
            <a:r>
              <a:rPr lang="en-US" b="1" dirty="0">
                <a:solidFill>
                  <a:srgbClr val="C00000"/>
                </a:solidFill>
              </a:rPr>
              <a:t>count</a:t>
            </a:r>
            <a:r>
              <a:rPr lang="en-US" b="1" dirty="0"/>
              <a:t> </a:t>
            </a:r>
            <a:r>
              <a:rPr lang="ru-RU" b="1" dirty="0"/>
              <a:t>є константою </a:t>
            </a:r>
            <a:r>
              <a:rPr lang="ru-RU" b="1" dirty="0" err="1"/>
              <a:t>всередині</a:t>
            </a:r>
            <a:r>
              <a:rPr lang="ru-RU" b="1" dirty="0"/>
              <a:t> будь-</a:t>
            </a:r>
            <a:r>
              <a:rPr lang="ru-RU" b="1" dirty="0" err="1"/>
              <a:t>якого</a:t>
            </a:r>
            <a:r>
              <a:rPr lang="ru-RU" b="1" dirty="0"/>
              <a:t> конкретного рендеру та</a:t>
            </a:r>
          </a:p>
          <a:p>
            <a:r>
              <a:rPr lang="ru-RU" b="1" dirty="0"/>
              <a:t>  </a:t>
            </a:r>
            <a:r>
              <a:rPr lang="ru-RU" b="1" dirty="0" err="1"/>
              <a:t>згодом</a:t>
            </a:r>
            <a:r>
              <a:rPr lang="ru-RU" b="1" dirty="0"/>
              <a:t> не </a:t>
            </a:r>
            <a:r>
              <a:rPr lang="ru-RU" b="1" dirty="0" err="1"/>
              <a:t>змінюється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/>
              <a:t>- </a:t>
            </a:r>
            <a:r>
              <a:rPr lang="ru-RU" b="1" dirty="0" err="1"/>
              <a:t>змінюється</a:t>
            </a:r>
            <a:r>
              <a:rPr lang="ru-RU" b="1" dirty="0"/>
              <a:t> компонент,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викликається</a:t>
            </a:r>
            <a:r>
              <a:rPr lang="ru-RU" b="1" dirty="0"/>
              <a:t> </a:t>
            </a:r>
            <a:r>
              <a:rPr lang="ru-RU" b="1" dirty="0" err="1"/>
              <a:t>знову</a:t>
            </a:r>
            <a:r>
              <a:rPr lang="ru-RU" b="1" dirty="0"/>
              <a:t> і </a:t>
            </a:r>
            <a:r>
              <a:rPr lang="ru-RU" b="1" dirty="0" err="1"/>
              <a:t>знову</a:t>
            </a:r>
            <a:r>
              <a:rPr lang="ru-RU" b="1" dirty="0"/>
              <a:t>,</a:t>
            </a:r>
          </a:p>
          <a:p>
            <a:r>
              <a:rPr lang="ru-RU" b="1" dirty="0"/>
              <a:t>  </a:t>
            </a:r>
            <a:r>
              <a:rPr lang="ru-RU" b="1" dirty="0" err="1"/>
              <a:t>створюючи</a:t>
            </a:r>
            <a:r>
              <a:rPr lang="ru-RU" b="1" dirty="0"/>
              <a:t> </a:t>
            </a:r>
            <a:r>
              <a:rPr lang="ru-RU" b="1" dirty="0" err="1"/>
              <a:t>нові</a:t>
            </a:r>
            <a:r>
              <a:rPr lang="ru-RU" b="1" dirty="0"/>
              <a:t> та </a:t>
            </a:r>
            <a:r>
              <a:rPr lang="ru-RU" b="1" dirty="0" err="1"/>
              <a:t>нові</a:t>
            </a:r>
            <a:r>
              <a:rPr lang="ru-RU" b="1" dirty="0"/>
              <a:t> </a:t>
            </a:r>
            <a:r>
              <a:rPr lang="ru-RU" b="1" dirty="0" err="1"/>
              <a:t>рендери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/>
              <a:t>- </a:t>
            </a:r>
            <a:r>
              <a:rPr lang="ru-RU" b="1" dirty="0" err="1"/>
              <a:t>кожен</a:t>
            </a:r>
            <a:r>
              <a:rPr lang="ru-RU" b="1" dirty="0"/>
              <a:t> рендер </a:t>
            </a:r>
            <a:r>
              <a:rPr lang="ru-RU" b="1" dirty="0" err="1"/>
              <a:t>бачить</a:t>
            </a:r>
            <a:r>
              <a:rPr lang="ru-RU" b="1" dirty="0"/>
              <a:t> </a:t>
            </a:r>
            <a:r>
              <a:rPr lang="ru-RU" b="1" dirty="0" err="1"/>
              <a:t>власне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en-US" b="1" dirty="0"/>
              <a:t>count, </a:t>
            </a:r>
            <a:r>
              <a:rPr lang="ru-RU" b="1" dirty="0"/>
              <a:t>яке </a:t>
            </a:r>
            <a:r>
              <a:rPr lang="ru-RU" b="1" dirty="0" err="1"/>
              <a:t>виявляється</a:t>
            </a:r>
            <a:endParaRPr lang="ru-RU" b="1" dirty="0"/>
          </a:p>
          <a:p>
            <a:r>
              <a:rPr lang="ru-RU" b="1" dirty="0"/>
              <a:t>  </a:t>
            </a:r>
            <a:r>
              <a:rPr lang="ru-RU" b="1" dirty="0" err="1"/>
              <a:t>ізольованим</a:t>
            </a:r>
            <a:r>
              <a:rPr lang="ru-RU" b="1" dirty="0"/>
              <a:t> для </a:t>
            </a:r>
            <a:r>
              <a:rPr lang="ru-RU" b="1" dirty="0" err="1"/>
              <a:t>кожної</a:t>
            </a:r>
            <a:r>
              <a:rPr lang="ru-RU" b="1" dirty="0"/>
              <a:t> з </a:t>
            </a:r>
            <a:r>
              <a:rPr lang="ru-RU" b="1" dirty="0" err="1"/>
              <a:t>операцій</a:t>
            </a:r>
            <a:r>
              <a:rPr lang="ru-RU" b="1" dirty="0"/>
              <a:t> рендерингу.</a:t>
            </a:r>
          </a:p>
          <a:p>
            <a:endParaRPr lang="ru-RU" b="1" dirty="0"/>
          </a:p>
          <a:p>
            <a:r>
              <a:rPr lang="ru-RU" b="1" dirty="0"/>
              <a:t>- </a:t>
            </a:r>
            <a:r>
              <a:rPr lang="ru-RU" b="1" dirty="0" err="1"/>
              <a:t>кожен</a:t>
            </a:r>
            <a:r>
              <a:rPr lang="ru-RU" b="1" dirty="0"/>
              <a:t> рендер </a:t>
            </a:r>
            <a:r>
              <a:rPr lang="ru-RU" b="1" dirty="0" err="1"/>
              <a:t>фактично</a:t>
            </a:r>
            <a:r>
              <a:rPr lang="ru-RU" b="1" dirty="0"/>
              <a:t> </a:t>
            </a:r>
            <a:r>
              <a:rPr lang="ru-RU" b="1" dirty="0" err="1"/>
              <a:t>повертає</a:t>
            </a:r>
            <a:r>
              <a:rPr lang="ru-RU" b="1" dirty="0"/>
              <a:t> </a:t>
            </a:r>
            <a:r>
              <a:rPr lang="ru-RU" b="1" dirty="0" err="1"/>
              <a:t>власну</a:t>
            </a:r>
            <a:r>
              <a:rPr lang="ru-RU" b="1" dirty="0"/>
              <a:t> </a:t>
            </a:r>
            <a:r>
              <a:rPr lang="ru-RU" b="1" dirty="0" err="1"/>
              <a:t>версію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endParaRPr lang="ru-RU" b="1" dirty="0"/>
          </a:p>
          <a:p>
            <a:r>
              <a:rPr lang="ru-RU" b="1" dirty="0"/>
              <a:t>  </a:t>
            </a:r>
            <a:r>
              <a:rPr lang="en-US" b="1" dirty="0" err="1">
                <a:solidFill>
                  <a:srgbClr val="C00000"/>
                </a:solidFill>
              </a:rPr>
              <a:t>handleAlertClick</a:t>
            </a:r>
            <a:r>
              <a:rPr lang="en-US" b="1" dirty="0"/>
              <a:t> </a:t>
            </a:r>
            <a:r>
              <a:rPr lang="ru-RU" b="1" dirty="0"/>
              <a:t>і </a:t>
            </a:r>
            <a:r>
              <a:rPr lang="ru-RU" b="1" dirty="0" err="1"/>
              <a:t>кожна</a:t>
            </a:r>
            <a:r>
              <a:rPr lang="ru-RU" b="1" dirty="0"/>
              <a:t> з таких </a:t>
            </a:r>
            <a:r>
              <a:rPr lang="ru-RU" b="1" dirty="0" err="1"/>
              <a:t>версій</a:t>
            </a:r>
            <a:r>
              <a:rPr lang="ru-RU" b="1" dirty="0"/>
              <a:t> </a:t>
            </a:r>
            <a:r>
              <a:rPr lang="ru-RU" b="1" dirty="0" err="1"/>
              <a:t>пам'ятає</a:t>
            </a:r>
            <a:r>
              <a:rPr lang="ru-RU" b="1" dirty="0"/>
              <a:t> </a:t>
            </a:r>
            <a:r>
              <a:rPr lang="ru-RU" b="1" dirty="0" err="1"/>
              <a:t>власне</a:t>
            </a:r>
            <a:endParaRPr lang="ru-RU" b="1" dirty="0"/>
          </a:p>
          <a:p>
            <a:r>
              <a:rPr lang="ru-RU" b="1" dirty="0"/>
              <a:t> 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count</a:t>
            </a:r>
          </a:p>
          <a:p>
            <a:endParaRPr lang="en-US" b="1" dirty="0"/>
          </a:p>
          <a:p>
            <a:r>
              <a:rPr lang="ru-RU" b="1" dirty="0"/>
              <a:t>Таким чином у </a:t>
            </a:r>
            <a:r>
              <a:rPr lang="ru-RU" b="1" dirty="0" err="1"/>
              <a:t>різних</a:t>
            </a:r>
            <a:r>
              <a:rPr lang="ru-RU" b="1" dirty="0"/>
              <a:t> </a:t>
            </a:r>
            <a:r>
              <a:rPr lang="ru-RU" b="1" dirty="0" err="1"/>
              <a:t>операціях</a:t>
            </a:r>
            <a:r>
              <a:rPr lang="ru-RU" b="1" dirty="0"/>
              <a:t> рендерингу </a:t>
            </a:r>
            <a:r>
              <a:rPr lang="ru-RU" b="1" dirty="0" err="1"/>
              <a:t>визначені</a:t>
            </a:r>
            <a:r>
              <a:rPr lang="ru-RU" b="1" dirty="0"/>
              <a:t> у </a:t>
            </a:r>
            <a:r>
              <a:rPr lang="ru-RU" b="1" dirty="0" err="1"/>
              <a:t>коді</a:t>
            </a:r>
            <a:endParaRPr lang="ru-RU" b="1" dirty="0"/>
          </a:p>
          <a:p>
            <a:r>
              <a:rPr lang="ru-RU" b="1" dirty="0"/>
              <a:t>компонента </a:t>
            </a:r>
            <a:r>
              <a:rPr lang="ru-RU" b="1" dirty="0" err="1"/>
              <a:t>властивості</a:t>
            </a:r>
            <a:r>
              <a:rPr lang="ru-RU" b="1" dirty="0"/>
              <a:t>, </a:t>
            </a:r>
            <a:r>
              <a:rPr lang="ru-RU" b="1" dirty="0" err="1"/>
              <a:t>функції</a:t>
            </a:r>
            <a:r>
              <a:rPr lang="ru-RU" b="1" dirty="0"/>
              <a:t>, </a:t>
            </a:r>
            <a:r>
              <a:rPr lang="ru-RU" b="1" dirty="0" err="1"/>
              <a:t>обробники</a:t>
            </a:r>
            <a:r>
              <a:rPr lang="ru-RU" b="1" dirty="0"/>
              <a:t> </a:t>
            </a:r>
            <a:r>
              <a:rPr lang="ru-RU" b="1" dirty="0" err="1"/>
              <a:t>подій</a:t>
            </a:r>
            <a:r>
              <a:rPr lang="ru-RU" b="1" dirty="0"/>
              <a:t>, </a:t>
            </a:r>
            <a:r>
              <a:rPr lang="en-US" b="1" dirty="0"/>
              <a:t>async </a:t>
            </a:r>
            <a:r>
              <a:rPr lang="ru-RU" b="1" dirty="0" err="1"/>
              <a:t>функції</a:t>
            </a:r>
            <a:endParaRPr lang="ru-RU" b="1" dirty="0"/>
          </a:p>
          <a:p>
            <a:r>
              <a:rPr lang="ru-RU" b="1" dirty="0"/>
              <a:t>«належать» </a:t>
            </a:r>
            <a:r>
              <a:rPr lang="ru-RU" b="1" dirty="0" err="1"/>
              <a:t>конкретним</a:t>
            </a:r>
            <a:r>
              <a:rPr lang="ru-RU" b="1" dirty="0"/>
              <a:t> </a:t>
            </a:r>
            <a:r>
              <a:rPr lang="ru-RU" b="1" dirty="0" err="1"/>
              <a:t>рендерам</a:t>
            </a:r>
            <a:r>
              <a:rPr lang="ru-RU" b="1" dirty="0"/>
              <a:t> і </a:t>
            </a:r>
            <a:r>
              <a:rPr lang="ru-RU" b="1" dirty="0" err="1"/>
              <a:t>бачать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</a:t>
            </a:r>
            <a:r>
              <a:rPr lang="ru-RU" b="1" dirty="0" err="1"/>
              <a:t>своє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,</a:t>
            </a:r>
          </a:p>
          <a:p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були</a:t>
            </a:r>
            <a:r>
              <a:rPr lang="ru-RU" b="1" dirty="0"/>
              <a:t> </a:t>
            </a:r>
            <a:r>
              <a:rPr lang="ru-RU" b="1" dirty="0" err="1"/>
              <a:t>визначені</a:t>
            </a:r>
            <a:r>
              <a:rPr lang="ru-RU" b="1" dirty="0"/>
              <a:t> на момент </a:t>
            </a:r>
            <a:r>
              <a:rPr lang="ru-RU" b="1" dirty="0" err="1"/>
              <a:t>цього</a:t>
            </a:r>
            <a:r>
              <a:rPr lang="ru-RU" b="1" dirty="0"/>
              <a:t> конкретного рендеру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84072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44624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useState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67380"/>
            <a:ext cx="892899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</a:rPr>
              <a:t>const</a:t>
            </a:r>
            <a:r>
              <a:rPr lang="ru-RU" b="1" dirty="0">
                <a:solidFill>
                  <a:srgbClr val="0070C0"/>
                </a:solidFill>
              </a:rPr>
              <a:t> [</a:t>
            </a:r>
            <a:r>
              <a:rPr lang="ru-RU" b="1" dirty="0" err="1">
                <a:solidFill>
                  <a:srgbClr val="0070C0"/>
                </a:solidFill>
              </a:rPr>
              <a:t>count</a:t>
            </a:r>
            <a:r>
              <a:rPr lang="ru-RU" b="1" dirty="0">
                <a:solidFill>
                  <a:srgbClr val="0070C0"/>
                </a:solidFill>
              </a:rPr>
              <a:t>, </a:t>
            </a:r>
            <a:r>
              <a:rPr lang="ru-RU" b="1" dirty="0" err="1">
                <a:solidFill>
                  <a:srgbClr val="0070C0"/>
                </a:solidFill>
              </a:rPr>
              <a:t>setCount</a:t>
            </a:r>
            <a:r>
              <a:rPr lang="ru-RU" b="1" dirty="0">
                <a:solidFill>
                  <a:srgbClr val="0070C0"/>
                </a:solidFill>
              </a:rPr>
              <a:t>] = </a:t>
            </a:r>
            <a:r>
              <a:rPr lang="ru-RU" b="1" dirty="0" err="1">
                <a:solidFill>
                  <a:srgbClr val="0070C0"/>
                </a:solidFill>
              </a:rPr>
              <a:t>useState</a:t>
            </a:r>
            <a:r>
              <a:rPr lang="ru-RU" b="1" dirty="0">
                <a:solidFill>
                  <a:srgbClr val="0070C0"/>
                </a:solidFill>
              </a:rPr>
              <a:t>(0);</a:t>
            </a:r>
          </a:p>
          <a:p>
            <a:endParaRPr lang="ru-RU" b="1" dirty="0"/>
          </a:p>
          <a:p>
            <a:r>
              <a:rPr lang="ru-RU" b="1" dirty="0" err="1"/>
              <a:t>повертає</a:t>
            </a:r>
            <a:r>
              <a:rPr lang="ru-RU" b="1" dirty="0"/>
              <a:t> </a:t>
            </a:r>
            <a:r>
              <a:rPr lang="ru-RU" b="1" dirty="0" err="1"/>
              <a:t>масив</a:t>
            </a:r>
            <a:r>
              <a:rPr lang="ru-RU" b="1" dirty="0"/>
              <a:t>,</a:t>
            </a:r>
          </a:p>
          <a:p>
            <a:r>
              <a:rPr lang="ru-RU" b="1" dirty="0"/>
              <a:t>- в </a:t>
            </a:r>
            <a:r>
              <a:rPr lang="ru-RU" b="1" dirty="0" err="1"/>
              <a:t>індексі</a:t>
            </a:r>
            <a:r>
              <a:rPr lang="ru-RU" b="1" dirty="0"/>
              <a:t> 0 </a:t>
            </a:r>
            <a:r>
              <a:rPr lang="ru-RU" b="1" dirty="0" err="1"/>
              <a:t>якого</a:t>
            </a:r>
            <a:r>
              <a:rPr lang="ru-RU" b="1" dirty="0"/>
              <a:t> стан,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в </a:t>
            </a:r>
            <a:r>
              <a:rPr lang="ru-RU" b="1" dirty="0" err="1"/>
              <a:t>індексі</a:t>
            </a:r>
            <a:r>
              <a:rPr lang="ru-RU" b="1" dirty="0"/>
              <a:t> 1 - </a:t>
            </a:r>
            <a:r>
              <a:rPr lang="ru-RU" b="1" dirty="0" err="1"/>
              <a:t>функція-updater</a:t>
            </a:r>
            <a:r>
              <a:rPr lang="ru-RU" b="1" dirty="0"/>
              <a:t> стану</a:t>
            </a:r>
          </a:p>
          <a:p>
            <a:pPr marL="285750" indent="-285750">
              <a:buFontTx/>
              <a:buChar char="-"/>
            </a:pPr>
            <a:endParaRPr lang="en-US" b="1" dirty="0"/>
          </a:p>
          <a:p>
            <a:r>
              <a:rPr lang="ru-RU" b="1" dirty="0" err="1"/>
              <a:t>Початковий</a:t>
            </a:r>
            <a:r>
              <a:rPr lang="ru-RU" b="1" dirty="0"/>
              <a:t> </a:t>
            </a:r>
            <a:r>
              <a:rPr lang="en-US" b="1" dirty="0"/>
              <a:t>state</a:t>
            </a:r>
            <a:r>
              <a:rPr lang="ru-RU" b="1" dirty="0"/>
              <a:t> </a:t>
            </a:r>
            <a:r>
              <a:rPr lang="ru-RU" b="1" dirty="0" err="1"/>
              <a:t>вказуємо</a:t>
            </a:r>
            <a:r>
              <a:rPr lang="ru-RU" b="1" dirty="0"/>
              <a:t> в </a:t>
            </a:r>
            <a:r>
              <a:rPr lang="ru-RU" b="1" dirty="0" err="1"/>
              <a:t>аргументі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userState</a:t>
            </a:r>
            <a:r>
              <a:rPr lang="ru-RU" b="1" dirty="0"/>
              <a:t>(...)</a:t>
            </a:r>
            <a:endParaRPr lang="da-DK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2636912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Функція-updater</a:t>
            </a:r>
            <a:r>
              <a:rPr lang="ru-RU" b="1" dirty="0"/>
              <a:t> стану </a:t>
            </a:r>
            <a:r>
              <a:rPr lang="ru-RU" b="1" dirty="0" err="1"/>
              <a:t>може</a:t>
            </a:r>
            <a:r>
              <a:rPr lang="ru-RU" b="1" dirty="0"/>
              <a:t> </a:t>
            </a:r>
            <a:r>
              <a:rPr lang="ru-RU" b="1" dirty="0" err="1"/>
              <a:t>отримувати</a:t>
            </a:r>
            <a:r>
              <a:rPr lang="ru-RU" b="1" dirty="0"/>
              <a:t> як аргумент </a:t>
            </a:r>
            <a:endParaRPr lang="en-US" b="1" dirty="0"/>
          </a:p>
          <a:p>
            <a:endParaRPr lang="ru-RU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en-US" b="1" dirty="0"/>
              <a:t>state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 err="1"/>
              <a:t>функцію</a:t>
            </a:r>
            <a:r>
              <a:rPr lang="ru-RU" b="1" dirty="0"/>
              <a:t>, яка </a:t>
            </a:r>
            <a:r>
              <a:rPr lang="ru-RU" b="1" dirty="0" err="1"/>
              <a:t>отримує</a:t>
            </a:r>
            <a:r>
              <a:rPr lang="ru-RU" b="1" dirty="0"/>
              <a:t> як аргумент стан</a:t>
            </a:r>
          </a:p>
          <a:p>
            <a:r>
              <a:rPr lang="en-US" b="1" dirty="0"/>
              <a:t> </a:t>
            </a:r>
            <a:r>
              <a:rPr lang="ru-RU" b="1" dirty="0"/>
              <a:t> і на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основі</a:t>
            </a:r>
            <a:r>
              <a:rPr lang="ru-RU" b="1" dirty="0"/>
              <a:t> </a:t>
            </a:r>
            <a:r>
              <a:rPr lang="ru-RU" b="1" dirty="0" err="1"/>
              <a:t>має</a:t>
            </a:r>
            <a:r>
              <a:rPr lang="ru-RU" b="1" dirty="0"/>
              <a:t> </a:t>
            </a:r>
            <a:r>
              <a:rPr lang="ru-RU" b="1" dirty="0" err="1"/>
              <a:t>повертати</a:t>
            </a:r>
            <a:r>
              <a:rPr lang="ru-RU" b="1" dirty="0"/>
              <a:t> </a:t>
            </a:r>
            <a:r>
              <a:rPr lang="ru-RU" b="1" dirty="0" err="1"/>
              <a:t>новий</a:t>
            </a:r>
            <a:r>
              <a:rPr lang="ru-RU" b="1" dirty="0"/>
              <a:t> стан</a:t>
            </a:r>
          </a:p>
          <a:p>
            <a:r>
              <a:rPr lang="en-US" b="1" dirty="0"/>
              <a:t> </a:t>
            </a:r>
            <a:r>
              <a:rPr lang="ru-RU" b="1" dirty="0"/>
              <a:t> (</a:t>
            </a:r>
            <a:r>
              <a:rPr lang="ru-RU" b="1" dirty="0" err="1"/>
              <a:t>поточний</a:t>
            </a:r>
            <a:r>
              <a:rPr lang="ru-RU" b="1" dirty="0"/>
              <a:t> стан </a:t>
            </a:r>
            <a:r>
              <a:rPr lang="ru-RU" b="1" dirty="0" err="1"/>
              <a:t>міняти</a:t>
            </a:r>
            <a:r>
              <a:rPr lang="ru-RU" b="1" dirty="0"/>
              <a:t> не </a:t>
            </a:r>
            <a:r>
              <a:rPr lang="ru-RU" b="1" dirty="0" err="1"/>
              <a:t>можна</a:t>
            </a:r>
            <a:r>
              <a:rPr lang="ru-RU" b="1" dirty="0"/>
              <a:t>!)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8549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11760" y="0"/>
            <a:ext cx="3888432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Як </a:t>
            </a:r>
            <a:r>
              <a:rPr lang="en-US" b="1" dirty="0"/>
              <a:t>React </a:t>
            </a:r>
            <a:r>
              <a:rPr lang="uk-UA" b="1" dirty="0"/>
              <a:t>зберігає </a:t>
            </a:r>
            <a:r>
              <a:rPr lang="en-US" b="1" dirty="0"/>
              <a:t>hooks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32" y="476672"/>
            <a:ext cx="892899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Усі</a:t>
            </a:r>
            <a:r>
              <a:rPr lang="ru-RU" b="1" dirty="0"/>
              <a:t> </a:t>
            </a:r>
            <a:r>
              <a:rPr lang="en-US" b="1" dirty="0"/>
              <a:t>hooks </a:t>
            </a:r>
            <a:r>
              <a:rPr lang="ru-RU" b="1" dirty="0"/>
              <a:t>та </a:t>
            </a:r>
            <a:r>
              <a:rPr lang="ru-RU" b="1" dirty="0" err="1"/>
              <a:t>стани</a:t>
            </a:r>
            <a:r>
              <a:rPr lang="ru-RU" b="1" dirty="0"/>
              <a:t> </a:t>
            </a:r>
            <a:r>
              <a:rPr lang="en-US" b="1" dirty="0"/>
              <a:t>React </a:t>
            </a:r>
            <a:r>
              <a:rPr lang="ru-RU" b="1" dirty="0" err="1"/>
              <a:t>зберігає</a:t>
            </a:r>
            <a:r>
              <a:rPr lang="ru-RU" b="1" dirty="0"/>
              <a:t> у </a:t>
            </a:r>
            <a:r>
              <a:rPr lang="ru-RU" b="1" dirty="0" err="1"/>
              <a:t>спеціальних</a:t>
            </a:r>
            <a:r>
              <a:rPr lang="ru-RU" b="1" dirty="0"/>
              <a:t> </a:t>
            </a:r>
            <a:r>
              <a:rPr lang="ru-RU" b="1" dirty="0" err="1"/>
              <a:t>індексованих</a:t>
            </a:r>
            <a:r>
              <a:rPr lang="ru-RU" b="1" dirty="0"/>
              <a:t> структурах</a:t>
            </a:r>
          </a:p>
          <a:p>
            <a:endParaRPr lang="ru-RU" b="1" dirty="0"/>
          </a:p>
          <a:p>
            <a:r>
              <a:rPr lang="ru-RU" b="1" dirty="0"/>
              <a:t>При </a:t>
            </a:r>
            <a:r>
              <a:rPr lang="ru-RU" b="1" dirty="0" err="1"/>
              <a:t>першому</a:t>
            </a:r>
            <a:r>
              <a:rPr lang="ru-RU" b="1" dirty="0"/>
              <a:t> запуску компонента-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створюються</a:t>
            </a:r>
            <a:r>
              <a:rPr lang="ru-RU" b="1" dirty="0"/>
              <a:t> </a:t>
            </a:r>
            <a:r>
              <a:rPr lang="ru-RU" b="1" dirty="0" err="1"/>
              <a:t>індексовані</a:t>
            </a:r>
            <a:r>
              <a:rPr lang="ru-RU" b="1" dirty="0"/>
              <a:t> </a:t>
            </a:r>
            <a:r>
              <a:rPr lang="ru-RU" b="1" dirty="0" err="1"/>
              <a:t>осередки</a:t>
            </a:r>
            <a:r>
              <a:rPr lang="ru-RU" b="1" dirty="0"/>
              <a:t> (як у </a:t>
            </a:r>
            <a:r>
              <a:rPr lang="ru-RU" b="1" dirty="0" err="1"/>
              <a:t>масивів</a:t>
            </a:r>
            <a:r>
              <a:rPr lang="ru-RU" b="1" dirty="0"/>
              <a:t>),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en-US" b="1" dirty="0"/>
              <a:t>React </a:t>
            </a:r>
            <a:r>
              <a:rPr lang="ru-RU" b="1" dirty="0" err="1"/>
              <a:t>запам'ятовує</a:t>
            </a:r>
            <a:r>
              <a:rPr lang="ru-RU" b="1" dirty="0"/>
              <a:t> </a:t>
            </a:r>
            <a:r>
              <a:rPr lang="ru-RU" b="1" dirty="0" err="1"/>
              <a:t>стани</a:t>
            </a:r>
            <a:r>
              <a:rPr lang="ru-RU" b="1" dirty="0"/>
              <a:t>,</a:t>
            </a:r>
          </a:p>
          <a:p>
            <a:r>
              <a:rPr lang="ru-RU" b="1" dirty="0" err="1"/>
              <a:t>функції</a:t>
            </a:r>
            <a:r>
              <a:rPr lang="ru-RU" b="1" dirty="0"/>
              <a:t>-</a:t>
            </a:r>
            <a:r>
              <a:rPr lang="en-US" b="1" dirty="0"/>
              <a:t>updaters</a:t>
            </a:r>
          </a:p>
          <a:p>
            <a:endParaRPr lang="en-US" b="1" dirty="0"/>
          </a:p>
          <a:p>
            <a:r>
              <a:rPr lang="ru-RU" b="1" dirty="0"/>
              <a:t>А при повторному запуску компоненту-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використовуються</a:t>
            </a:r>
            <a:r>
              <a:rPr lang="ru-RU" b="1" dirty="0"/>
              <a:t> </a:t>
            </a:r>
            <a:r>
              <a:rPr lang="ru-RU" b="1" dirty="0" err="1"/>
              <a:t>ті</a:t>
            </a:r>
            <a:r>
              <a:rPr lang="ru-RU" b="1" dirty="0"/>
              <a:t> </a:t>
            </a:r>
            <a:r>
              <a:rPr lang="en-US" b="1" dirty="0"/>
              <a:t>state, </a:t>
            </a:r>
            <a:r>
              <a:rPr lang="ru-RU" b="1" dirty="0" err="1"/>
              <a:t>функції</a:t>
            </a:r>
            <a:r>
              <a:rPr lang="ru-RU" b="1" dirty="0"/>
              <a:t>-</a:t>
            </a:r>
            <a:r>
              <a:rPr lang="en-US" b="1" dirty="0"/>
              <a:t>updaters,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записані</a:t>
            </a:r>
            <a:r>
              <a:rPr lang="ru-RU" b="1" dirty="0"/>
              <a:t> в </a:t>
            </a:r>
            <a:r>
              <a:rPr lang="ru-RU" b="1" dirty="0" err="1"/>
              <a:t>ці</a:t>
            </a:r>
            <a:r>
              <a:rPr lang="ru-RU" b="1" dirty="0"/>
              <a:t> </a:t>
            </a:r>
            <a:r>
              <a:rPr lang="ru-RU" b="1" dirty="0" err="1"/>
              <a:t>структури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040958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11760" y="0"/>
            <a:ext cx="3888432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Правила при </a:t>
            </a:r>
            <a:r>
              <a:rPr lang="ru-RU" b="1" dirty="0" err="1"/>
              <a:t>роботі</a:t>
            </a:r>
            <a:r>
              <a:rPr lang="ru-RU" b="1" dirty="0"/>
              <a:t> з </a:t>
            </a:r>
            <a:r>
              <a:rPr lang="ru-RU" b="1" dirty="0" err="1"/>
              <a:t>hooks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76672"/>
            <a:ext cx="8928992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1. Hooks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оголошувати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у </a:t>
            </a:r>
            <a:r>
              <a:rPr lang="ru-RU" b="1" dirty="0" err="1"/>
              <a:t>функціях</a:t>
            </a:r>
            <a:endParaRPr lang="ru-RU" b="1" dirty="0"/>
          </a:p>
          <a:p>
            <a:r>
              <a:rPr lang="ru-RU" b="1" dirty="0"/>
              <a:t>2. </a:t>
            </a:r>
            <a:r>
              <a:rPr lang="da-DK" b="1" dirty="0"/>
              <a:t>Hooks </a:t>
            </a:r>
            <a:r>
              <a:rPr lang="ru-RU" b="1" dirty="0"/>
              <a:t>не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оголошувати</a:t>
            </a:r>
            <a:r>
              <a:rPr lang="ru-RU" b="1" dirty="0"/>
              <a:t> в </a:t>
            </a:r>
            <a:r>
              <a:rPr lang="ru-RU" b="1" dirty="0" err="1"/>
              <a:t>умовних</a:t>
            </a:r>
            <a:r>
              <a:rPr lang="ru-RU" b="1" dirty="0"/>
              <a:t> </a:t>
            </a:r>
            <a:r>
              <a:rPr lang="ru-RU" b="1" dirty="0" err="1"/>
              <a:t>конструкціях</a:t>
            </a:r>
            <a:r>
              <a:rPr lang="ru-RU" b="1" dirty="0"/>
              <a:t> типу </a:t>
            </a:r>
            <a:r>
              <a:rPr lang="da-DK" b="1" dirty="0"/>
              <a:t>if, </a:t>
            </a:r>
          </a:p>
          <a:p>
            <a:r>
              <a:rPr lang="da-DK" b="1" dirty="0"/>
              <a:t>   trenar-</a:t>
            </a:r>
            <a:r>
              <a:rPr lang="ru-RU" b="1" dirty="0"/>
              <a:t>операторах, циклах</a:t>
            </a:r>
          </a:p>
          <a:p>
            <a:endParaRPr lang="ru-RU" b="1" dirty="0"/>
          </a:p>
          <a:p>
            <a:r>
              <a:rPr lang="ru-RU" b="1" dirty="0" err="1"/>
              <a:t>Усі</a:t>
            </a:r>
            <a:r>
              <a:rPr lang="ru-RU" b="1" dirty="0"/>
              <a:t> </a:t>
            </a:r>
            <a:r>
              <a:rPr lang="da-DK" b="1" dirty="0"/>
              <a:t>hooks </a:t>
            </a:r>
            <a:r>
              <a:rPr lang="ru-RU" b="1" dirty="0"/>
              <a:t>та </a:t>
            </a:r>
            <a:r>
              <a:rPr lang="ru-RU" b="1" dirty="0" err="1"/>
              <a:t>стани</a:t>
            </a:r>
            <a:r>
              <a:rPr lang="ru-RU" b="1" dirty="0"/>
              <a:t> </a:t>
            </a:r>
            <a:r>
              <a:rPr lang="da-DK" b="1" dirty="0"/>
              <a:t>React </a:t>
            </a:r>
            <a:r>
              <a:rPr lang="ru-RU" b="1" dirty="0" err="1"/>
              <a:t>зберігає</a:t>
            </a:r>
            <a:r>
              <a:rPr lang="ru-RU" b="1" dirty="0"/>
              <a:t> у </a:t>
            </a:r>
            <a:r>
              <a:rPr lang="ru-RU" b="1" dirty="0" err="1"/>
              <a:t>спеціальних</a:t>
            </a:r>
            <a:r>
              <a:rPr lang="ru-RU" b="1" dirty="0"/>
              <a:t> </a:t>
            </a:r>
            <a:r>
              <a:rPr lang="ru-RU" b="1" dirty="0" err="1"/>
              <a:t>індексованих</a:t>
            </a:r>
            <a:r>
              <a:rPr lang="ru-RU" b="1" dirty="0"/>
              <a:t> структурах</a:t>
            </a:r>
          </a:p>
          <a:p>
            <a:r>
              <a:rPr lang="ru-RU" b="1" dirty="0"/>
              <a:t>При </a:t>
            </a:r>
            <a:r>
              <a:rPr lang="ru-RU" b="1" dirty="0" err="1"/>
              <a:t>першому</a:t>
            </a:r>
            <a:r>
              <a:rPr lang="ru-RU" b="1" dirty="0"/>
              <a:t> запуску </a:t>
            </a:r>
            <a:r>
              <a:rPr lang="ru-RU" b="1" dirty="0" err="1"/>
              <a:t>функції</a:t>
            </a:r>
            <a:r>
              <a:rPr lang="ru-RU" b="1" dirty="0"/>
              <a:t>-компонента </a:t>
            </a:r>
            <a:r>
              <a:rPr lang="ru-RU" b="1" dirty="0" err="1"/>
              <a:t>створюються</a:t>
            </a:r>
            <a:r>
              <a:rPr lang="ru-RU" b="1" dirty="0"/>
              <a:t> </a:t>
            </a:r>
            <a:r>
              <a:rPr lang="ru-RU" b="1" dirty="0" err="1"/>
              <a:t>індексовані</a:t>
            </a:r>
            <a:r>
              <a:rPr lang="ru-RU" b="1" dirty="0"/>
              <a:t> </a:t>
            </a:r>
            <a:r>
              <a:rPr lang="ru-RU" b="1" dirty="0" err="1"/>
              <a:t>осередки</a:t>
            </a:r>
            <a:r>
              <a:rPr lang="ru-RU" b="1" dirty="0"/>
              <a:t>   </a:t>
            </a:r>
            <a:r>
              <a:rPr lang="ru-RU" b="1" dirty="0" err="1"/>
              <a:t>яких</a:t>
            </a:r>
            <a:r>
              <a:rPr lang="ru-RU" b="1" dirty="0"/>
              <a:t> </a:t>
            </a:r>
            <a:r>
              <a:rPr lang="da-DK" b="1" dirty="0"/>
              <a:t>React </a:t>
            </a:r>
            <a:r>
              <a:rPr lang="ru-RU" b="1" dirty="0" err="1"/>
              <a:t>запам'ятовує</a:t>
            </a:r>
            <a:r>
              <a:rPr lang="ru-RU" b="1" dirty="0"/>
              <a:t> </a:t>
            </a:r>
            <a:r>
              <a:rPr lang="ru-RU" b="1" dirty="0" err="1"/>
              <a:t>стани</a:t>
            </a:r>
            <a:r>
              <a:rPr lang="ru-RU" b="1" dirty="0"/>
              <a:t>, </a:t>
            </a:r>
            <a:r>
              <a:rPr lang="ru-RU" b="1" dirty="0" err="1"/>
              <a:t>функції</a:t>
            </a:r>
            <a:r>
              <a:rPr lang="ru-RU" b="1" dirty="0"/>
              <a:t>-</a:t>
            </a:r>
            <a:r>
              <a:rPr lang="da-DK" b="1" dirty="0"/>
              <a:t>updaters, </a:t>
            </a:r>
            <a:r>
              <a:rPr lang="ru-RU" b="1" dirty="0"/>
              <a:t>а </a:t>
            </a:r>
            <a:r>
              <a:rPr lang="ru-RU" b="1" dirty="0" err="1"/>
              <a:t>інші</a:t>
            </a:r>
            <a:r>
              <a:rPr lang="ru-RU" b="1" dirty="0"/>
              <a:t> </a:t>
            </a:r>
            <a:r>
              <a:rPr lang="da-DK" b="1" dirty="0"/>
              <a:t>hooks,</a:t>
            </a:r>
            <a:r>
              <a:rPr lang="uk-UA" b="1" dirty="0"/>
              <a:t>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будуть</a:t>
            </a:r>
            <a:r>
              <a:rPr lang="ru-RU" b="1" dirty="0"/>
              <a:t> </a:t>
            </a:r>
            <a:r>
              <a:rPr lang="ru-RU" b="1" dirty="0" err="1"/>
              <a:t>розглянуті</a:t>
            </a:r>
            <a:r>
              <a:rPr lang="ru-RU" b="1" dirty="0"/>
              <a:t> </a:t>
            </a:r>
            <a:r>
              <a:rPr lang="ru-RU" b="1" dirty="0" err="1"/>
              <a:t>далі</a:t>
            </a:r>
            <a:endParaRPr lang="ru-RU" b="1" dirty="0"/>
          </a:p>
          <a:p>
            <a:endParaRPr lang="ru-RU" b="1" dirty="0"/>
          </a:p>
          <a:p>
            <a:r>
              <a:rPr lang="ru-RU" b="1" dirty="0"/>
              <a:t>При повторному </a:t>
            </a:r>
            <a:r>
              <a:rPr lang="da-DK" b="1" dirty="0"/>
              <a:t>re-render </a:t>
            </a:r>
            <a:r>
              <a:rPr lang="ru-RU" b="1" dirty="0" err="1"/>
              <a:t>функції</a:t>
            </a:r>
            <a:r>
              <a:rPr lang="ru-RU" b="1" dirty="0"/>
              <a:t>-компонента </a:t>
            </a:r>
            <a:r>
              <a:rPr lang="ru-RU" b="1" dirty="0" err="1"/>
              <a:t>використовуються</a:t>
            </a:r>
            <a:r>
              <a:rPr lang="ru-RU" b="1" dirty="0"/>
              <a:t> </a:t>
            </a:r>
            <a:r>
              <a:rPr lang="ru-RU" b="1" dirty="0" err="1"/>
              <a:t>вже</a:t>
            </a:r>
            <a:r>
              <a:rPr lang="ru-RU" b="1" dirty="0"/>
              <a:t> </a:t>
            </a:r>
            <a:r>
              <a:rPr lang="ru-RU" b="1" dirty="0" err="1"/>
              <a:t>готові</a:t>
            </a:r>
            <a:r>
              <a:rPr lang="ru-RU" b="1" dirty="0"/>
              <a:t> </a:t>
            </a:r>
            <a:r>
              <a:rPr lang="ru-RU" b="1" dirty="0" err="1"/>
              <a:t>заповнені</a:t>
            </a:r>
            <a:r>
              <a:rPr lang="ru-RU" b="1" dirty="0"/>
              <a:t> </a:t>
            </a:r>
            <a:r>
              <a:rPr lang="ru-RU" b="1" dirty="0" err="1"/>
              <a:t>структури</a:t>
            </a:r>
            <a:r>
              <a:rPr lang="ru-RU" b="1" dirty="0"/>
              <a:t>, та </a:t>
            </a:r>
            <a:r>
              <a:rPr lang="ru-RU" b="1" dirty="0" err="1"/>
              <a:t>запам'ятані</a:t>
            </a:r>
            <a:r>
              <a:rPr lang="ru-RU" b="1" dirty="0"/>
              <a:t> в них </a:t>
            </a:r>
            <a:r>
              <a:rPr lang="ru-RU" b="1" dirty="0" err="1"/>
              <a:t>дані</a:t>
            </a:r>
            <a:r>
              <a:rPr lang="ru-RU" b="1" dirty="0"/>
              <a:t> та </a:t>
            </a:r>
            <a:r>
              <a:rPr lang="ru-RU" b="1" dirty="0" err="1"/>
              <a:t>тіла</a:t>
            </a:r>
            <a:r>
              <a:rPr lang="ru-RU" b="1" dirty="0"/>
              <a:t> </a:t>
            </a:r>
            <a:r>
              <a:rPr lang="ru-RU" b="1" dirty="0" err="1"/>
              <a:t>функцій</a:t>
            </a:r>
            <a:endParaRPr lang="ru-RU" b="1" dirty="0"/>
          </a:p>
          <a:p>
            <a:endParaRPr lang="ru-RU" b="1" dirty="0"/>
          </a:p>
          <a:p>
            <a:r>
              <a:rPr lang="ru-RU" b="1" dirty="0"/>
              <a:t>3.Можна </a:t>
            </a:r>
            <a:r>
              <a:rPr lang="ru-RU" b="1" dirty="0" err="1"/>
              <a:t>ініціалізувати</a:t>
            </a:r>
            <a:r>
              <a:rPr lang="ru-RU" b="1" dirty="0"/>
              <a:t> </a:t>
            </a:r>
            <a:r>
              <a:rPr lang="ru-RU" b="1" dirty="0" err="1"/>
              <a:t>початкове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da-DK" b="1" dirty="0"/>
              <a:t>state</a:t>
            </a:r>
          </a:p>
          <a:p>
            <a:r>
              <a:rPr lang="da-DK" b="1" dirty="0"/>
              <a:t>  </a:t>
            </a:r>
            <a:r>
              <a:rPr lang="ru-RU" b="1" dirty="0"/>
              <a:t>При </a:t>
            </a:r>
            <a:r>
              <a:rPr lang="ru-RU" b="1" dirty="0" err="1"/>
              <a:t>цьому</a:t>
            </a:r>
            <a:r>
              <a:rPr lang="ru-RU" b="1" dirty="0"/>
              <a:t> </a:t>
            </a:r>
            <a:r>
              <a:rPr lang="ru-RU" b="1" dirty="0" err="1"/>
              <a:t>початкове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стану </a:t>
            </a:r>
            <a:r>
              <a:rPr lang="ru-RU" b="1" dirty="0" err="1"/>
              <a:t>можна</a:t>
            </a:r>
            <a:r>
              <a:rPr lang="ru-RU" b="1" dirty="0"/>
              <a:t> перед </a:t>
            </a:r>
            <a:r>
              <a:rPr lang="ru-RU" b="1" dirty="0" err="1"/>
              <a:t>ініціалізацією</a:t>
            </a:r>
            <a:r>
              <a:rPr lang="ru-RU" b="1" dirty="0"/>
              <a:t>    </a:t>
            </a:r>
          </a:p>
          <a:p>
            <a:r>
              <a:rPr lang="ru-RU" b="1" dirty="0"/>
              <a:t>  </a:t>
            </a:r>
            <a:r>
              <a:rPr lang="ru-RU" b="1" dirty="0" err="1"/>
              <a:t>обчислювати</a:t>
            </a:r>
            <a:r>
              <a:rPr lang="ru-RU" b="1" dirty="0"/>
              <a:t>, </a:t>
            </a:r>
            <a:r>
              <a:rPr lang="ru-RU" b="1" dirty="0" err="1"/>
              <a:t>наприклад</a:t>
            </a:r>
            <a:r>
              <a:rPr lang="ru-RU" b="1" dirty="0"/>
              <a:t> у </a:t>
            </a:r>
            <a:r>
              <a:rPr lang="ru-RU" b="1" dirty="0" err="1"/>
              <a:t>функції</a:t>
            </a:r>
            <a:endParaRPr lang="ru-RU" b="1" dirty="0"/>
          </a:p>
          <a:p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945675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38100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key  </a:t>
            </a:r>
            <a:r>
              <a:rPr lang="uk-UA" b="1" dirty="0"/>
              <a:t>при </a:t>
            </a:r>
            <a:r>
              <a:rPr lang="en-US" b="1" dirty="0"/>
              <a:t>map 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98018" y="572130"/>
            <a:ext cx="5423280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Items = [apple, cherry, peach, tomato]</a:t>
            </a:r>
            <a:endParaRPr lang="ru-R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79512" y="568108"/>
            <a:ext cx="4320413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Items = [apple, cherry, peach]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07504" y="4973366"/>
            <a:ext cx="8694462" cy="1200329"/>
          </a:xfrm>
          <a:prstGeom prst="rect">
            <a:avLst/>
          </a:prstGeom>
          <a:noFill/>
          <a:ln>
            <a:solidFill>
              <a:srgbClr val="3756F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React </a:t>
            </a:r>
            <a:r>
              <a:rPr lang="ru-RU" b="1" dirty="0" err="1"/>
              <a:t>побудує</a:t>
            </a:r>
            <a:r>
              <a:rPr lang="ru-RU" b="1" dirty="0"/>
              <a:t> </a:t>
            </a:r>
            <a:r>
              <a:rPr lang="ru-RU" b="1" dirty="0" err="1"/>
              <a:t>новий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VirtualDom</a:t>
            </a:r>
            <a:r>
              <a:rPr lang="en-US" b="1" dirty="0"/>
              <a:t>, </a:t>
            </a:r>
            <a:r>
              <a:rPr lang="ru-RU" b="1" dirty="0"/>
              <a:t>у </a:t>
            </a:r>
            <a:r>
              <a:rPr lang="ru-RU" b="1" dirty="0" err="1"/>
              <a:t>якого</a:t>
            </a:r>
            <a:r>
              <a:rPr lang="ru-RU" b="1" dirty="0"/>
              <a:t> </a:t>
            </a:r>
            <a:r>
              <a:rPr lang="ru-RU" b="1" dirty="0" err="1"/>
              <a:t>немає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Item</a:t>
            </a:r>
            <a:r>
              <a:rPr lang="en-US" b="1" dirty="0"/>
              <a:t> 4</a:t>
            </a:r>
          </a:p>
          <a:p>
            <a:r>
              <a:rPr lang="ru-RU" b="1" dirty="0" err="1"/>
              <a:t>Порівняє</a:t>
            </a:r>
            <a:r>
              <a:rPr lang="ru-RU" b="1" dirty="0"/>
              <a:t> у </a:t>
            </a:r>
            <a:r>
              <a:rPr lang="ru-RU" b="1" dirty="0" err="1"/>
              <a:t>всіх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items</a:t>
            </a:r>
            <a:r>
              <a:rPr lang="en-US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, </a:t>
            </a:r>
            <a:r>
              <a:rPr lang="ru-RU" b="1" dirty="0" err="1"/>
              <a:t>побачить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у перших 3-х </a:t>
            </a:r>
            <a:r>
              <a:rPr lang="en-US" b="1" dirty="0"/>
              <a:t>items </a:t>
            </a:r>
            <a:r>
              <a:rPr lang="ru-RU" b="1" dirty="0"/>
              <a:t>вони не </a:t>
            </a:r>
            <a:r>
              <a:rPr lang="ru-RU" b="1" dirty="0" err="1"/>
              <a:t>змінилися</a:t>
            </a:r>
            <a:r>
              <a:rPr lang="ru-RU" b="1" dirty="0"/>
              <a:t>, і просто </a:t>
            </a:r>
            <a:r>
              <a:rPr lang="ru-RU" b="1" dirty="0" err="1"/>
              <a:t>видалить</a:t>
            </a:r>
            <a:r>
              <a:rPr lang="ru-RU" b="1" dirty="0"/>
              <a:t> з реального </a:t>
            </a:r>
            <a:r>
              <a:rPr lang="en-US" b="1" dirty="0">
                <a:solidFill>
                  <a:srgbClr val="0070C0"/>
                </a:solidFill>
              </a:rPr>
              <a:t>DOM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Item 4</a:t>
            </a:r>
            <a:endParaRPr lang="ru-RU" b="1" dirty="0">
              <a:solidFill>
                <a:srgbClr val="C00000"/>
              </a:solidFill>
            </a:endParaRPr>
          </a:p>
        </p:txBody>
      </p:sp>
      <p:grpSp>
        <p:nvGrpSpPr>
          <p:cNvPr id="16" name="Группа 15"/>
          <p:cNvGrpSpPr/>
          <p:nvPr/>
        </p:nvGrpSpPr>
        <p:grpSpPr>
          <a:xfrm>
            <a:off x="179512" y="1196752"/>
            <a:ext cx="1440160" cy="1412768"/>
            <a:chOff x="827584" y="1443451"/>
            <a:chExt cx="1440160" cy="1412768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1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apple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1835696" y="1196752"/>
            <a:ext cx="1440160" cy="1412768"/>
            <a:chOff x="827584" y="1443451"/>
            <a:chExt cx="1440160" cy="1412768"/>
          </a:xfrm>
        </p:grpSpPr>
        <p:sp>
          <p:nvSpPr>
            <p:cNvPr id="23" name="Прямоугольник 22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2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cherry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3491880" y="1196752"/>
            <a:ext cx="1440160" cy="1412768"/>
            <a:chOff x="827584" y="1443451"/>
            <a:chExt cx="1440160" cy="1412768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3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peach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5148064" y="1196752"/>
            <a:ext cx="1440160" cy="1412768"/>
            <a:chOff x="827584" y="1443451"/>
            <a:chExt cx="1440160" cy="1412768"/>
          </a:xfrm>
        </p:grpSpPr>
        <p:sp>
          <p:nvSpPr>
            <p:cNvPr id="29" name="Прямоугольник 28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4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tomato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179512" y="2934331"/>
            <a:ext cx="4777353" cy="1842050"/>
            <a:chOff x="154687" y="3431766"/>
            <a:chExt cx="4777353" cy="1842050"/>
          </a:xfrm>
        </p:grpSpPr>
        <p:sp>
          <p:nvSpPr>
            <p:cNvPr id="18" name="TextBox 17"/>
            <p:cNvSpPr txBox="1"/>
            <p:nvPr/>
          </p:nvSpPr>
          <p:spPr>
            <a:xfrm>
              <a:off x="154687" y="3431766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rgbClr val="00B050"/>
                  </a:solidFill>
                </a:rPr>
                <a:t>Новый </a:t>
              </a:r>
              <a:r>
                <a:rPr lang="en-US" b="1" dirty="0" err="1">
                  <a:solidFill>
                    <a:srgbClr val="00B050"/>
                  </a:solidFill>
                </a:rPr>
                <a:t>VirtualDom</a:t>
              </a:r>
              <a:endParaRPr lang="ru-RU" b="1" dirty="0">
                <a:solidFill>
                  <a:srgbClr val="00B050"/>
                </a:solidFill>
              </a:endParaRPr>
            </a:p>
          </p:txBody>
        </p:sp>
        <p:grpSp>
          <p:nvGrpSpPr>
            <p:cNvPr id="31" name="Группа 30"/>
            <p:cNvGrpSpPr/>
            <p:nvPr/>
          </p:nvGrpSpPr>
          <p:grpSpPr>
            <a:xfrm>
              <a:off x="179512" y="3861048"/>
              <a:ext cx="1440160" cy="1412768"/>
              <a:chOff x="827584" y="1443451"/>
              <a:chExt cx="1440160" cy="1412768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827584" y="1443451"/>
                <a:ext cx="1440160" cy="413553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Item 1</a:t>
                </a:r>
                <a:endParaRPr lang="ru-RU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3" name="Прямоугольник 32"/>
              <p:cNvSpPr/>
              <p:nvPr/>
            </p:nvSpPr>
            <p:spPr>
              <a:xfrm>
                <a:off x="827584" y="1850173"/>
                <a:ext cx="1440160" cy="1006046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&lt;button&gt;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</a:rPr>
                  <a:t>apple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&lt;input /&gt;</a:t>
                </a:r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" name="Группа 33"/>
            <p:cNvGrpSpPr/>
            <p:nvPr/>
          </p:nvGrpSpPr>
          <p:grpSpPr>
            <a:xfrm>
              <a:off x="1835696" y="3861048"/>
              <a:ext cx="1440160" cy="1412768"/>
              <a:chOff x="827584" y="1443451"/>
              <a:chExt cx="1440160" cy="1412768"/>
            </a:xfrm>
          </p:grpSpPr>
          <p:sp>
            <p:nvSpPr>
              <p:cNvPr id="35" name="Прямоугольник 34"/>
              <p:cNvSpPr/>
              <p:nvPr/>
            </p:nvSpPr>
            <p:spPr>
              <a:xfrm>
                <a:off x="827584" y="1443451"/>
                <a:ext cx="1440160" cy="413553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Item 2</a:t>
                </a:r>
                <a:endParaRPr lang="ru-RU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6" name="Прямоугольник 35"/>
              <p:cNvSpPr/>
              <p:nvPr/>
            </p:nvSpPr>
            <p:spPr>
              <a:xfrm>
                <a:off x="827584" y="1850173"/>
                <a:ext cx="1440160" cy="1006046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&lt;button&gt;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</a:rPr>
                  <a:t>cherry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&lt;input /&gt;</a:t>
                </a:r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Группа 36"/>
            <p:cNvGrpSpPr/>
            <p:nvPr/>
          </p:nvGrpSpPr>
          <p:grpSpPr>
            <a:xfrm>
              <a:off x="3491880" y="3861048"/>
              <a:ext cx="1440160" cy="1412768"/>
              <a:chOff x="827584" y="1443451"/>
              <a:chExt cx="1440160" cy="1412768"/>
            </a:xfrm>
          </p:grpSpPr>
          <p:sp>
            <p:nvSpPr>
              <p:cNvPr id="38" name="Прямоугольник 37"/>
              <p:cNvSpPr/>
              <p:nvPr/>
            </p:nvSpPr>
            <p:spPr>
              <a:xfrm>
                <a:off x="827584" y="1443451"/>
                <a:ext cx="1440160" cy="413553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Item 3</a:t>
                </a:r>
                <a:endParaRPr lang="ru-RU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9" name="Прямоугольник 38"/>
              <p:cNvSpPr/>
              <p:nvPr/>
            </p:nvSpPr>
            <p:spPr>
              <a:xfrm>
                <a:off x="827584" y="1850173"/>
                <a:ext cx="1440160" cy="1006046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&lt;button&gt;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</a:rPr>
                  <a:t>peach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&lt;input /&gt;</a:t>
                </a:r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977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19872" y="38100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key  </a:t>
            </a:r>
            <a:r>
              <a:rPr lang="uk-UA" b="1" dirty="0"/>
              <a:t>при </a:t>
            </a:r>
            <a:r>
              <a:rPr lang="en-US" b="1" dirty="0"/>
              <a:t>map 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07504" y="4973366"/>
            <a:ext cx="8694462" cy="1754326"/>
          </a:xfrm>
          <a:prstGeom prst="rect">
            <a:avLst/>
          </a:prstGeom>
          <a:noFill/>
          <a:ln>
            <a:solidFill>
              <a:srgbClr val="3756F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React </a:t>
            </a:r>
            <a:r>
              <a:rPr lang="ru-RU" b="1" dirty="0" err="1"/>
              <a:t>побудує</a:t>
            </a:r>
            <a:r>
              <a:rPr lang="ru-RU" b="1" dirty="0"/>
              <a:t> </a:t>
            </a:r>
            <a:r>
              <a:rPr lang="ru-RU" b="1" dirty="0" err="1"/>
              <a:t>новий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VirtualDom</a:t>
            </a:r>
            <a:r>
              <a:rPr lang="en-US" b="1" dirty="0"/>
              <a:t>, </a:t>
            </a:r>
            <a:r>
              <a:rPr lang="ru-RU" b="1" dirty="0"/>
              <a:t>у </a:t>
            </a:r>
            <a:r>
              <a:rPr lang="ru-RU" b="1" dirty="0" err="1"/>
              <a:t>якого</a:t>
            </a:r>
            <a:r>
              <a:rPr lang="ru-RU" b="1" dirty="0"/>
              <a:t> </a:t>
            </a:r>
            <a:r>
              <a:rPr lang="ru-RU" b="1" dirty="0" err="1"/>
              <a:t>немає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Item 1</a:t>
            </a:r>
          </a:p>
          <a:p>
            <a:r>
              <a:rPr lang="ru-RU" b="1" dirty="0" err="1"/>
              <a:t>Тобто</a:t>
            </a:r>
            <a:r>
              <a:rPr lang="ru-RU" b="1" dirty="0"/>
              <a:t> у </a:t>
            </a:r>
            <a:r>
              <a:rPr lang="ru-RU" b="1" dirty="0" err="1"/>
              <a:t>масиві</a:t>
            </a:r>
            <a:r>
              <a:rPr lang="ru-RU" b="1" dirty="0"/>
              <a:t> за ключом 0 </a:t>
            </a:r>
            <a:r>
              <a:rPr lang="ru-RU" b="1" dirty="0" err="1"/>
              <a:t>замість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apple</a:t>
            </a:r>
            <a:r>
              <a:rPr lang="en-US" b="1" dirty="0"/>
              <a:t> </a:t>
            </a:r>
            <a:r>
              <a:rPr lang="ru-RU" b="1" dirty="0"/>
              <a:t>зараз </a:t>
            </a:r>
            <a:r>
              <a:rPr lang="en-US" b="1" dirty="0">
                <a:solidFill>
                  <a:srgbClr val="0070C0"/>
                </a:solidFill>
              </a:rPr>
              <a:t>cherry</a:t>
            </a:r>
          </a:p>
          <a:p>
            <a:r>
              <a:rPr lang="ru-RU" b="1" dirty="0" err="1"/>
              <a:t>Порівняє</a:t>
            </a:r>
            <a:r>
              <a:rPr lang="ru-RU" b="1" dirty="0"/>
              <a:t> </a:t>
            </a:r>
            <a:r>
              <a:rPr lang="ru-RU" b="1" dirty="0" err="1"/>
              <a:t>елементи</a:t>
            </a:r>
            <a:r>
              <a:rPr lang="ru-RU" b="1" dirty="0"/>
              <a:t> за ключом 0 у новому та старому </a:t>
            </a:r>
            <a:r>
              <a:rPr lang="en-US" b="1" dirty="0" err="1"/>
              <a:t>VirtualDOM</a:t>
            </a:r>
            <a:endParaRPr lang="en-US" b="1" dirty="0"/>
          </a:p>
          <a:p>
            <a:r>
              <a:rPr lang="ru-RU" b="1" dirty="0"/>
              <a:t>І у </a:t>
            </a:r>
            <a:r>
              <a:rPr lang="en-US" b="1" dirty="0"/>
              <a:t>Item 1 </a:t>
            </a:r>
            <a:r>
              <a:rPr lang="ru-RU" b="1" dirty="0" err="1"/>
              <a:t>замінить</a:t>
            </a:r>
            <a:r>
              <a:rPr lang="ru-RU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apple</a:t>
            </a:r>
            <a:r>
              <a:rPr lang="en-US" b="1" dirty="0"/>
              <a:t> </a:t>
            </a:r>
            <a:r>
              <a:rPr lang="ru-RU" b="1" dirty="0"/>
              <a:t>на </a:t>
            </a:r>
            <a:r>
              <a:rPr lang="en-US" b="1" dirty="0">
                <a:solidFill>
                  <a:srgbClr val="0070C0"/>
                </a:solidFill>
              </a:rPr>
              <a:t>cherry</a:t>
            </a:r>
            <a:r>
              <a:rPr lang="en-US" b="1" dirty="0"/>
              <a:t>, </a:t>
            </a:r>
            <a:r>
              <a:rPr lang="ru-RU" b="1" dirty="0"/>
              <a:t>і так </a:t>
            </a:r>
            <a:r>
              <a:rPr lang="ru-RU" b="1" dirty="0" err="1"/>
              <a:t>аналогічно</a:t>
            </a:r>
            <a:endParaRPr lang="ru-RU" b="1" dirty="0"/>
          </a:p>
          <a:p>
            <a:r>
              <a:rPr lang="en-US" b="1" dirty="0">
                <a:solidFill>
                  <a:srgbClr val="0070C0"/>
                </a:solidFill>
              </a:rPr>
              <a:t>Item 2</a:t>
            </a:r>
            <a:r>
              <a:rPr lang="en-US" b="1" dirty="0"/>
              <a:t>, </a:t>
            </a:r>
            <a:r>
              <a:rPr lang="en-US" b="1" dirty="0">
                <a:solidFill>
                  <a:srgbClr val="0070C0"/>
                </a:solidFill>
              </a:rPr>
              <a:t>Item 3. </a:t>
            </a:r>
            <a:r>
              <a:rPr lang="ru-RU" b="1" dirty="0"/>
              <a:t>А </a:t>
            </a:r>
            <a:r>
              <a:rPr lang="en-US" b="1" dirty="0">
                <a:solidFill>
                  <a:srgbClr val="0070C0"/>
                </a:solidFill>
              </a:rPr>
              <a:t>Item 4</a:t>
            </a:r>
            <a:r>
              <a:rPr lang="en-US" b="1" dirty="0"/>
              <a:t> </a:t>
            </a:r>
            <a:r>
              <a:rPr lang="ru-RU" b="1" dirty="0"/>
              <a:t>буде просто </a:t>
            </a:r>
            <a:r>
              <a:rPr lang="ru-RU" b="1" dirty="0" err="1"/>
              <a:t>вилучено</a:t>
            </a:r>
            <a:endParaRPr lang="ru-RU" b="1" dirty="0"/>
          </a:p>
          <a:p>
            <a:r>
              <a:rPr lang="ru-RU" b="1" dirty="0" err="1"/>
              <a:t>Тобто</a:t>
            </a:r>
            <a:r>
              <a:rPr lang="ru-RU" b="1" dirty="0"/>
              <a:t> </a:t>
            </a:r>
            <a:r>
              <a:rPr lang="ru-RU" b="1" dirty="0" err="1"/>
              <a:t>доведеться</a:t>
            </a:r>
            <a:r>
              <a:rPr lang="ru-RU" b="1" dirty="0"/>
              <a:t> провести </a:t>
            </a:r>
            <a:r>
              <a:rPr lang="en-US" b="1" dirty="0" err="1"/>
              <a:t>rerender</a:t>
            </a:r>
            <a:r>
              <a:rPr lang="en-US" b="1" dirty="0"/>
              <a:t> 3-</a:t>
            </a:r>
            <a:r>
              <a:rPr lang="ru-RU" b="1" dirty="0"/>
              <a:t>х </a:t>
            </a:r>
            <a:r>
              <a:rPr lang="en-US" b="1" dirty="0">
                <a:solidFill>
                  <a:srgbClr val="0070C0"/>
                </a:solidFill>
              </a:rPr>
              <a:t>Items</a:t>
            </a:r>
            <a:r>
              <a:rPr lang="en-US" b="1" dirty="0"/>
              <a:t> </a:t>
            </a:r>
            <a:r>
              <a:rPr lang="ru-RU" b="1" dirty="0" err="1"/>
              <a:t>замість</a:t>
            </a:r>
            <a:r>
              <a:rPr lang="ru-RU" b="1" dirty="0"/>
              <a:t> одного</a:t>
            </a:r>
          </a:p>
        </p:txBody>
      </p:sp>
      <p:grpSp>
        <p:nvGrpSpPr>
          <p:cNvPr id="16" name="Группа 15"/>
          <p:cNvGrpSpPr/>
          <p:nvPr/>
        </p:nvGrpSpPr>
        <p:grpSpPr>
          <a:xfrm>
            <a:off x="179512" y="1196752"/>
            <a:ext cx="1440160" cy="1412768"/>
            <a:chOff x="827584" y="1443451"/>
            <a:chExt cx="1440160" cy="1412768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1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rgbClr val="0070C0"/>
                  </a:solidFill>
                </a:rPr>
                <a:t>apple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1835696" y="1196752"/>
            <a:ext cx="1440160" cy="1412768"/>
            <a:chOff x="827584" y="1443451"/>
            <a:chExt cx="1440160" cy="1412768"/>
          </a:xfrm>
        </p:grpSpPr>
        <p:sp>
          <p:nvSpPr>
            <p:cNvPr id="23" name="Прямоугольник 22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2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rgbClr val="0070C0"/>
                  </a:solidFill>
                </a:rPr>
                <a:t>cherry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3491880" y="1196752"/>
            <a:ext cx="1440160" cy="1412768"/>
            <a:chOff x="827584" y="1443451"/>
            <a:chExt cx="1440160" cy="1412768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3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rgbClr val="0070C0"/>
                  </a:solidFill>
                </a:rPr>
                <a:t>peach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5148064" y="1196752"/>
            <a:ext cx="1440160" cy="1412768"/>
            <a:chOff x="827584" y="1443451"/>
            <a:chExt cx="1440160" cy="1412768"/>
          </a:xfrm>
        </p:grpSpPr>
        <p:sp>
          <p:nvSpPr>
            <p:cNvPr id="29" name="Прямоугольник 28"/>
            <p:cNvSpPr/>
            <p:nvPr/>
          </p:nvSpPr>
          <p:spPr>
            <a:xfrm>
              <a:off x="827584" y="1443451"/>
              <a:ext cx="1440160" cy="413553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Item 4</a:t>
              </a:r>
              <a:endParaRPr lang="ru-RU" b="1" dirty="0">
                <a:solidFill>
                  <a:srgbClr val="002060"/>
                </a:solidFill>
              </a:endParaRPr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827584" y="1850173"/>
              <a:ext cx="1440160" cy="100604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&lt;button&gt;</a:t>
              </a:r>
            </a:p>
            <a:p>
              <a:r>
                <a:rPr lang="en-US" b="1" dirty="0">
                  <a:solidFill>
                    <a:srgbClr val="0070C0"/>
                  </a:solidFill>
                </a:rPr>
                <a:t>tomato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&lt;input /&gt;</a:t>
              </a:r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Группа 42"/>
          <p:cNvGrpSpPr/>
          <p:nvPr/>
        </p:nvGrpSpPr>
        <p:grpSpPr>
          <a:xfrm>
            <a:off x="179512" y="2934331"/>
            <a:ext cx="4777353" cy="1842050"/>
            <a:chOff x="154687" y="3431766"/>
            <a:chExt cx="4777353" cy="1842050"/>
          </a:xfrm>
        </p:grpSpPr>
        <p:sp>
          <p:nvSpPr>
            <p:cNvPr id="18" name="TextBox 17"/>
            <p:cNvSpPr txBox="1"/>
            <p:nvPr/>
          </p:nvSpPr>
          <p:spPr>
            <a:xfrm>
              <a:off x="154687" y="3431766"/>
              <a:ext cx="2390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>
                  <a:solidFill>
                    <a:srgbClr val="00B050"/>
                  </a:solidFill>
                </a:rPr>
                <a:t>Новый </a:t>
              </a:r>
              <a:r>
                <a:rPr lang="en-US" b="1" dirty="0" err="1">
                  <a:solidFill>
                    <a:srgbClr val="00B050"/>
                  </a:solidFill>
                </a:rPr>
                <a:t>VirtualDom</a:t>
              </a:r>
              <a:endParaRPr lang="ru-RU" b="1" dirty="0">
                <a:solidFill>
                  <a:srgbClr val="00B050"/>
                </a:solidFill>
              </a:endParaRPr>
            </a:p>
          </p:txBody>
        </p:sp>
        <p:grpSp>
          <p:nvGrpSpPr>
            <p:cNvPr id="31" name="Группа 30"/>
            <p:cNvGrpSpPr/>
            <p:nvPr/>
          </p:nvGrpSpPr>
          <p:grpSpPr>
            <a:xfrm>
              <a:off x="179512" y="3861048"/>
              <a:ext cx="1440160" cy="1412768"/>
              <a:chOff x="827584" y="1443451"/>
              <a:chExt cx="1440160" cy="1412768"/>
            </a:xfrm>
          </p:grpSpPr>
          <p:sp>
            <p:nvSpPr>
              <p:cNvPr id="32" name="Прямоугольник 31"/>
              <p:cNvSpPr/>
              <p:nvPr/>
            </p:nvSpPr>
            <p:spPr>
              <a:xfrm>
                <a:off x="827584" y="1443451"/>
                <a:ext cx="1440160" cy="413553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Item 2</a:t>
                </a:r>
                <a:endParaRPr lang="ru-RU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3" name="Прямоугольник 32"/>
              <p:cNvSpPr/>
              <p:nvPr/>
            </p:nvSpPr>
            <p:spPr>
              <a:xfrm>
                <a:off x="827584" y="1850173"/>
                <a:ext cx="1440160" cy="1006046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&lt;button&gt;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cherry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&lt;input /&gt;</a:t>
                </a:r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" name="Группа 33"/>
            <p:cNvGrpSpPr/>
            <p:nvPr/>
          </p:nvGrpSpPr>
          <p:grpSpPr>
            <a:xfrm>
              <a:off x="1835696" y="3861048"/>
              <a:ext cx="1440160" cy="1412768"/>
              <a:chOff x="827584" y="1443451"/>
              <a:chExt cx="1440160" cy="1412768"/>
            </a:xfrm>
          </p:grpSpPr>
          <p:sp>
            <p:nvSpPr>
              <p:cNvPr id="35" name="Прямоугольник 34"/>
              <p:cNvSpPr/>
              <p:nvPr/>
            </p:nvSpPr>
            <p:spPr>
              <a:xfrm>
                <a:off x="827584" y="1443451"/>
                <a:ext cx="1440160" cy="413553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Item 2</a:t>
                </a:r>
                <a:endParaRPr lang="ru-RU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6" name="Прямоугольник 35"/>
              <p:cNvSpPr/>
              <p:nvPr/>
            </p:nvSpPr>
            <p:spPr>
              <a:xfrm>
                <a:off x="827584" y="1850173"/>
                <a:ext cx="1440160" cy="1006046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&lt;button&gt;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peach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&lt;input /&gt;</a:t>
                </a:r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Группа 36"/>
            <p:cNvGrpSpPr/>
            <p:nvPr/>
          </p:nvGrpSpPr>
          <p:grpSpPr>
            <a:xfrm>
              <a:off x="3491880" y="3861048"/>
              <a:ext cx="1440160" cy="1412768"/>
              <a:chOff x="827584" y="1443451"/>
              <a:chExt cx="1440160" cy="1412768"/>
            </a:xfrm>
          </p:grpSpPr>
          <p:sp>
            <p:nvSpPr>
              <p:cNvPr id="38" name="Прямоугольник 37"/>
              <p:cNvSpPr/>
              <p:nvPr/>
            </p:nvSpPr>
            <p:spPr>
              <a:xfrm>
                <a:off x="827584" y="1443451"/>
                <a:ext cx="1440160" cy="413553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Item 3</a:t>
                </a:r>
                <a:endParaRPr lang="ru-RU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9" name="Прямоугольник 38"/>
              <p:cNvSpPr/>
              <p:nvPr/>
            </p:nvSpPr>
            <p:spPr>
              <a:xfrm>
                <a:off x="827584" y="1850173"/>
                <a:ext cx="1440160" cy="1006046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&lt;button&gt;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tomato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&lt;input /&gt;</a:t>
                </a:r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202090" y="1914814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cherry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869816" y="1925246"/>
            <a:ext cx="11496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peach 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530338" y="1947838"/>
            <a:ext cx="128753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tomato 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198018" y="572130"/>
            <a:ext cx="5423280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Items = [apple, cherry, peach, tomato]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221740" y="559480"/>
            <a:ext cx="4458272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Items = [cherry, peach, tomato]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1036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" grpId="0" animBg="1"/>
      <p:bldP spid="41" grpId="0" animBg="1"/>
      <p:bldP spid="42" grpId="0" animBg="1"/>
      <p:bldP spid="44" grpId="0" animBg="1"/>
      <p:bldP spid="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124744"/>
            <a:ext cx="8928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 err="1"/>
              <a:t>приймає</a:t>
            </a:r>
            <a:r>
              <a:rPr lang="ru-RU" b="1" dirty="0"/>
              <a:t> 2 </a:t>
            </a:r>
            <a:r>
              <a:rPr lang="ru-RU" b="1" dirty="0" err="1"/>
              <a:t>аргументи</a:t>
            </a:r>
            <a:endParaRPr lang="ru-RU" b="1" dirty="0"/>
          </a:p>
          <a:p>
            <a:r>
              <a:rPr lang="ru-RU" b="1" dirty="0">
                <a:solidFill>
                  <a:srgbClr val="0070C0"/>
                </a:solidFill>
              </a:rPr>
              <a:t>Перший</a:t>
            </a:r>
            <a:r>
              <a:rPr lang="ru-RU" b="1" dirty="0"/>
              <a:t> –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функція</a:t>
            </a:r>
            <a:r>
              <a:rPr lang="ru-RU" b="1" dirty="0"/>
              <a:t>, яка </a:t>
            </a:r>
            <a:r>
              <a:rPr lang="ru-RU" b="1" dirty="0" err="1"/>
              <a:t>виконується</a:t>
            </a:r>
            <a:r>
              <a:rPr lang="ru-RU" b="1" dirty="0"/>
              <a:t> при кожному </a:t>
            </a:r>
            <a:r>
              <a:rPr lang="ru-RU" b="1" dirty="0" err="1"/>
              <a:t>виклику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C00000"/>
                </a:solidFill>
              </a:rPr>
              <a:t>useEffect</a:t>
            </a:r>
            <a:endParaRPr lang="da-DK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5694E-C65A-EE21-52C6-680441DFE3F7}"/>
              </a:ext>
            </a:extLst>
          </p:cNvPr>
          <p:cNvSpPr txBox="1"/>
          <p:nvPr/>
        </p:nvSpPr>
        <p:spPr>
          <a:xfrm>
            <a:off x="71500" y="2204864"/>
            <a:ext cx="892899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function Counter(){</a:t>
            </a:r>
          </a:p>
          <a:p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ru-RU" b="1" dirty="0" err="1">
                <a:solidFill>
                  <a:srgbClr val="0070C0"/>
                </a:solidFill>
              </a:rPr>
              <a:t>const</a:t>
            </a:r>
            <a:r>
              <a:rPr lang="ru-RU" b="1" dirty="0">
                <a:solidFill>
                  <a:srgbClr val="0070C0"/>
                </a:solidFill>
              </a:rPr>
              <a:t> [</a:t>
            </a:r>
            <a:r>
              <a:rPr lang="ru-RU" b="1" dirty="0" err="1">
                <a:solidFill>
                  <a:srgbClr val="0070C0"/>
                </a:solidFill>
              </a:rPr>
              <a:t>count</a:t>
            </a:r>
            <a:r>
              <a:rPr lang="ru-RU" b="1" dirty="0">
                <a:solidFill>
                  <a:srgbClr val="0070C0"/>
                </a:solidFill>
              </a:rPr>
              <a:t>, </a:t>
            </a:r>
            <a:r>
              <a:rPr lang="ru-RU" b="1" dirty="0" err="1">
                <a:solidFill>
                  <a:srgbClr val="0070C0"/>
                </a:solidFill>
              </a:rPr>
              <a:t>setCount</a:t>
            </a:r>
            <a:r>
              <a:rPr lang="ru-RU" b="1" dirty="0">
                <a:solidFill>
                  <a:srgbClr val="0070C0"/>
                </a:solidFill>
              </a:rPr>
              <a:t>] = </a:t>
            </a:r>
            <a:r>
              <a:rPr lang="ru-RU" b="1" dirty="0" err="1">
                <a:solidFill>
                  <a:srgbClr val="0070C0"/>
                </a:solidFill>
              </a:rPr>
              <a:t>useState</a:t>
            </a:r>
            <a:r>
              <a:rPr lang="ru-RU" b="1" dirty="0">
                <a:solidFill>
                  <a:srgbClr val="0070C0"/>
                </a:solidFill>
              </a:rPr>
              <a:t>(0);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   </a:t>
            </a:r>
            <a:r>
              <a:rPr lang="en-US" b="1" dirty="0" err="1">
                <a:solidFill>
                  <a:srgbClr val="00B050"/>
                </a:solidFill>
              </a:rPr>
              <a:t>useEffect</a:t>
            </a:r>
            <a:r>
              <a:rPr lang="en-US" b="1" dirty="0">
                <a:solidFill>
                  <a:srgbClr val="00B050"/>
                </a:solidFill>
              </a:rPr>
              <a:t>(() =&gt; {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</a:t>
            </a:r>
            <a:r>
              <a:rPr lang="en-US" b="1" dirty="0" err="1">
                <a:solidFill>
                  <a:srgbClr val="00B050"/>
                </a:solidFill>
              </a:rPr>
              <a:t>document.title</a:t>
            </a:r>
            <a:r>
              <a:rPr lang="en-US" b="1" dirty="0">
                <a:solidFill>
                  <a:srgbClr val="00B050"/>
                </a:solidFill>
              </a:rPr>
              <a:t> = `You clicked ${</a:t>
            </a:r>
            <a:r>
              <a:rPr lang="en-US" b="1" dirty="0">
                <a:solidFill>
                  <a:srgbClr val="C00000"/>
                </a:solidFill>
              </a:rPr>
              <a:t>count</a:t>
            </a:r>
            <a:r>
              <a:rPr lang="en-US" b="1" dirty="0">
                <a:solidFill>
                  <a:srgbClr val="00B050"/>
                </a:solidFill>
              </a:rPr>
              <a:t>} times`</a:t>
            </a:r>
          </a:p>
          <a:p>
            <a:r>
              <a:rPr lang="en-US" b="1" dirty="0">
                <a:solidFill>
                  <a:srgbClr val="00B050"/>
                </a:solidFill>
              </a:rPr>
              <a:t>   })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>
                <a:solidFill>
                  <a:srgbClr val="7030A0"/>
                </a:solidFill>
              </a:rPr>
              <a:t>const handle = () =&gt; </a:t>
            </a:r>
            <a:r>
              <a:rPr lang="en-US" b="1" dirty="0" err="1">
                <a:solidFill>
                  <a:srgbClr val="7030A0"/>
                </a:solidFill>
              </a:rPr>
              <a:t>setCount</a:t>
            </a:r>
            <a:r>
              <a:rPr lang="en-US" b="1" dirty="0">
                <a:solidFill>
                  <a:srgbClr val="7030A0"/>
                </a:solidFill>
              </a:rPr>
              <a:t>(count + 1)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   return &lt;&gt;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&lt;p&gt;You clicked </a:t>
            </a:r>
            <a:r>
              <a:rPr lang="en-US" b="1" dirty="0">
                <a:solidFill>
                  <a:srgbClr val="C00000"/>
                </a:solidFill>
              </a:rPr>
              <a:t>{count}</a:t>
            </a:r>
            <a:r>
              <a:rPr lang="en-US" b="1" dirty="0">
                <a:solidFill>
                  <a:srgbClr val="0070C0"/>
                </a:solidFill>
              </a:rPr>
              <a:t> times&lt;/p&gt;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&lt;button </a:t>
            </a:r>
            <a:r>
              <a:rPr lang="en-US" b="1" dirty="0" err="1">
                <a:solidFill>
                  <a:srgbClr val="0070C0"/>
                </a:solidFill>
              </a:rPr>
              <a:t>onClick</a:t>
            </a:r>
            <a:r>
              <a:rPr lang="en-US" b="1" dirty="0">
                <a:solidFill>
                  <a:srgbClr val="0070C0"/>
                </a:solidFill>
              </a:rPr>
              <a:t>={</a:t>
            </a:r>
            <a:r>
              <a:rPr lang="en-US" b="1" dirty="0">
                <a:solidFill>
                  <a:srgbClr val="7030A0"/>
                </a:solidFill>
              </a:rPr>
              <a:t>handle</a:t>
            </a:r>
            <a:r>
              <a:rPr lang="en-US" b="1" dirty="0">
                <a:solidFill>
                  <a:srgbClr val="0070C0"/>
                </a:solidFill>
              </a:rPr>
              <a:t>}&gt;Click me&lt;/button&gt;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&lt;/&gt;	</a:t>
            </a:r>
          </a:p>
          <a:p>
            <a:r>
              <a:rPr lang="en-US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0743F-47B7-CFAD-C2B7-9F332C94A41B}"/>
              </a:ext>
            </a:extLst>
          </p:cNvPr>
          <p:cNvSpPr txBox="1"/>
          <p:nvPr/>
        </p:nvSpPr>
        <p:spPr>
          <a:xfrm>
            <a:off x="108757" y="44624"/>
            <a:ext cx="8928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Використання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FF0000"/>
                </a:solidFill>
              </a:rPr>
              <a:t>useEffect</a:t>
            </a:r>
            <a:r>
              <a:rPr lang="ru-RU" b="1" dirty="0"/>
              <a:t> </a:t>
            </a:r>
            <a:r>
              <a:rPr lang="ru-RU" b="1" dirty="0" err="1"/>
              <a:t>дозволяє</a:t>
            </a:r>
            <a:r>
              <a:rPr lang="ru-RU" b="1" dirty="0"/>
              <a:t> </a:t>
            </a:r>
            <a:r>
              <a:rPr lang="ru-RU" b="1" dirty="0" err="1"/>
              <a:t>синхронізувати</a:t>
            </a:r>
            <a:r>
              <a:rPr lang="ru-RU" b="1" dirty="0"/>
              <a:t> </a:t>
            </a:r>
            <a:r>
              <a:rPr lang="ru-RU" b="1" dirty="0" err="1"/>
              <a:t>сутності</a:t>
            </a:r>
            <a:r>
              <a:rPr lang="ru-RU" b="1" dirty="0"/>
              <a:t>,</a:t>
            </a:r>
          </a:p>
          <a:p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знаходяться</a:t>
            </a:r>
            <a:r>
              <a:rPr lang="ru-RU" b="1" dirty="0"/>
              <a:t> за межами дерева </a:t>
            </a:r>
            <a:r>
              <a:rPr lang="ru-RU" b="1" dirty="0" err="1"/>
              <a:t>React</a:t>
            </a:r>
            <a:r>
              <a:rPr lang="ru-RU" b="1" dirty="0"/>
              <a:t>, з </a:t>
            </a:r>
            <a:r>
              <a:rPr lang="ru-RU" b="1" dirty="0" err="1"/>
              <a:t>властивостями</a:t>
            </a:r>
            <a:r>
              <a:rPr lang="ru-RU" b="1" dirty="0"/>
              <a:t> та станом.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318449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332656"/>
            <a:ext cx="892899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</a:rPr>
              <a:t>Другий</a:t>
            </a:r>
            <a:r>
              <a:rPr lang="ru-RU" b="1" dirty="0"/>
              <a:t> аргумент - </a:t>
            </a:r>
            <a:r>
              <a:rPr lang="ru-RU" b="1" dirty="0" err="1"/>
              <a:t>масив</a:t>
            </a:r>
            <a:r>
              <a:rPr lang="ru-RU" b="1" dirty="0"/>
              <a:t>, в </a:t>
            </a:r>
            <a:r>
              <a:rPr lang="ru-RU" b="1" dirty="0" err="1"/>
              <a:t>якому</a:t>
            </a:r>
            <a:r>
              <a:rPr lang="ru-RU" b="1" dirty="0"/>
              <a:t> </a:t>
            </a:r>
            <a:r>
              <a:rPr lang="ru-RU" b="1" dirty="0" err="1"/>
              <a:t>вказуються</a:t>
            </a:r>
            <a:r>
              <a:rPr lang="ru-RU" b="1" dirty="0"/>
              <a:t> </a:t>
            </a:r>
            <a:r>
              <a:rPr lang="ru-RU" b="1" dirty="0" err="1"/>
              <a:t>змінні</a:t>
            </a:r>
            <a:r>
              <a:rPr lang="ru-RU" b="1" dirty="0"/>
              <a:t>, при </a:t>
            </a:r>
            <a:r>
              <a:rPr lang="ru-RU" b="1" dirty="0" err="1"/>
              <a:t>зміні</a:t>
            </a:r>
            <a:r>
              <a:rPr lang="ru-RU" b="1" dirty="0"/>
              <a:t> </a:t>
            </a:r>
            <a:r>
              <a:rPr lang="ru-RU" b="1" dirty="0" err="1"/>
              <a:t>яких</a:t>
            </a:r>
            <a:r>
              <a:rPr lang="ru-RU" b="1" dirty="0"/>
              <a:t> треба </a:t>
            </a:r>
            <a:r>
              <a:rPr lang="ru-RU" b="1" dirty="0" err="1"/>
              <a:t>виконувати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en-US" b="1" dirty="0"/>
              <a:t> </a:t>
            </a:r>
            <a:r>
              <a:rPr lang="ru-RU" b="1" dirty="0" err="1"/>
              <a:t>ефекту</a:t>
            </a:r>
            <a:endParaRPr lang="ru-RU" b="1" dirty="0"/>
          </a:p>
          <a:p>
            <a:endParaRPr lang="ru-RU" b="1" dirty="0"/>
          </a:p>
          <a:p>
            <a:r>
              <a:rPr lang="ru-RU" b="1" dirty="0" err="1"/>
              <a:t>Якщо</a:t>
            </a:r>
            <a:r>
              <a:rPr lang="ru-RU" b="1" dirty="0"/>
              <a:t> в </a:t>
            </a:r>
            <a:r>
              <a:rPr lang="en-US" b="1" dirty="0" err="1">
                <a:solidFill>
                  <a:srgbClr val="C0000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/>
              <a:t>другим аргументом </a:t>
            </a:r>
            <a:r>
              <a:rPr lang="ru-RU" b="1" dirty="0" err="1"/>
              <a:t>передати</a:t>
            </a:r>
            <a:r>
              <a:rPr lang="ru-RU" b="1" dirty="0"/>
              <a:t> </a:t>
            </a:r>
            <a:r>
              <a:rPr lang="ru-RU" b="1" dirty="0" err="1"/>
              <a:t>порожній</a:t>
            </a:r>
            <a:r>
              <a:rPr lang="ru-RU" b="1" dirty="0"/>
              <a:t> </a:t>
            </a:r>
            <a:r>
              <a:rPr lang="ru-RU" b="1" dirty="0" err="1"/>
              <a:t>масив</a:t>
            </a:r>
            <a:r>
              <a:rPr lang="ru-RU" b="1" dirty="0"/>
              <a:t> []</a:t>
            </a:r>
          </a:p>
          <a:p>
            <a:r>
              <a:rPr lang="ru-RU" b="1" dirty="0"/>
              <a:t>код у </a:t>
            </a:r>
            <a:r>
              <a:rPr lang="en-US" b="1" dirty="0" err="1">
                <a:solidFill>
                  <a:srgbClr val="C0000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 err="1"/>
              <a:t>спрацює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при </a:t>
            </a:r>
            <a:r>
              <a:rPr lang="ru-RU" b="1" dirty="0" err="1"/>
              <a:t>першому</a:t>
            </a:r>
            <a:r>
              <a:rPr lang="ru-RU" b="1" dirty="0"/>
              <a:t> запуску компонента</a:t>
            </a:r>
          </a:p>
          <a:p>
            <a:endParaRPr lang="ru-RU" b="1" dirty="0"/>
          </a:p>
          <a:p>
            <a:r>
              <a:rPr lang="ru-RU" b="1" dirty="0" err="1"/>
              <a:t>Функція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повертається</a:t>
            </a:r>
            <a:r>
              <a:rPr lang="ru-RU" b="1" dirty="0"/>
              <a:t> з </a:t>
            </a:r>
            <a:r>
              <a:rPr lang="en-US" b="1" dirty="0" err="1">
                <a:solidFill>
                  <a:srgbClr val="C0000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 err="1"/>
              <a:t>виконається</a:t>
            </a:r>
            <a:r>
              <a:rPr lang="ru-RU" b="1" dirty="0"/>
              <a:t> при </a:t>
            </a:r>
            <a:r>
              <a:rPr lang="ru-RU" b="1" dirty="0" err="1"/>
              <a:t>розмонтуванні</a:t>
            </a:r>
            <a:r>
              <a:rPr lang="ru-RU" b="1" dirty="0"/>
              <a:t> компонента</a:t>
            </a:r>
          </a:p>
          <a:p>
            <a:r>
              <a:rPr lang="ru-RU" b="1" dirty="0"/>
              <a:t>Вона </a:t>
            </a:r>
            <a:r>
              <a:rPr lang="ru-RU" b="1" dirty="0" err="1"/>
              <a:t>виконається</a:t>
            </a:r>
            <a:r>
              <a:rPr lang="ru-RU" b="1" dirty="0"/>
              <a:t> </a:t>
            </a:r>
            <a:r>
              <a:rPr lang="ru-RU" b="1" dirty="0" err="1"/>
              <a:t>після</a:t>
            </a:r>
            <a:r>
              <a:rPr lang="ru-RU" b="1" dirty="0"/>
              <a:t> кожного рендерингу та </a:t>
            </a:r>
            <a:r>
              <a:rPr lang="ru-RU" b="1" dirty="0" err="1"/>
              <a:t>комміту</a:t>
            </a:r>
            <a:r>
              <a:rPr lang="ru-RU" b="1" dirty="0"/>
              <a:t> </a:t>
            </a:r>
            <a:r>
              <a:rPr lang="en-US" b="1" dirty="0"/>
              <a:t>JSX </a:t>
            </a:r>
            <a:r>
              <a:rPr lang="ru-RU" b="1" dirty="0"/>
              <a:t>в </a:t>
            </a:r>
            <a:r>
              <a:rPr lang="en-US" b="1" dirty="0"/>
              <a:t>DOM</a:t>
            </a:r>
            <a:endParaRPr lang="da-DK" b="1" dirty="0"/>
          </a:p>
          <a:p>
            <a:endParaRPr lang="ru-RU" b="1" dirty="0"/>
          </a:p>
          <a:p>
            <a:r>
              <a:rPr lang="ru-RU" b="1" dirty="0" err="1"/>
              <a:t>Якщо</a:t>
            </a:r>
            <a:r>
              <a:rPr lang="ru-RU" b="1" dirty="0"/>
              <a:t> в </a:t>
            </a:r>
            <a:r>
              <a:rPr lang="en-US" b="1" dirty="0" err="1">
                <a:solidFill>
                  <a:srgbClr val="C0000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/>
              <a:t>в </a:t>
            </a:r>
            <a:r>
              <a:rPr lang="ru-RU" b="1" dirty="0" err="1"/>
              <a:t>масив</a:t>
            </a:r>
            <a:r>
              <a:rPr lang="ru-RU" b="1" dirty="0"/>
              <a:t> []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передається</a:t>
            </a:r>
            <a:r>
              <a:rPr lang="ru-RU" b="1" dirty="0"/>
              <a:t> другим аргументом </a:t>
            </a:r>
            <a:r>
              <a:rPr lang="ru-RU" b="1" dirty="0" err="1"/>
              <a:t>передати</a:t>
            </a:r>
            <a:r>
              <a:rPr lang="ru-RU" b="1" dirty="0"/>
              <a:t> </a:t>
            </a:r>
            <a:r>
              <a:rPr lang="ru-RU" b="1" dirty="0" err="1"/>
              <a:t>ім'я</a:t>
            </a:r>
            <a:r>
              <a:rPr lang="ru-RU" b="1" dirty="0"/>
              <a:t> </a:t>
            </a:r>
            <a:r>
              <a:rPr lang="ru-RU" b="1" dirty="0" err="1"/>
              <a:t>змінної</a:t>
            </a:r>
            <a:r>
              <a:rPr lang="ru-RU" b="1" dirty="0"/>
              <a:t> код у </a:t>
            </a:r>
            <a:r>
              <a:rPr lang="en-US" b="1" dirty="0" err="1">
                <a:solidFill>
                  <a:srgbClr val="C0000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 err="1"/>
              <a:t>спрацює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при </a:t>
            </a:r>
            <a:r>
              <a:rPr lang="ru-RU" b="1" dirty="0" err="1"/>
              <a:t>зміні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ru-RU" b="1" dirty="0" err="1"/>
              <a:t>цієї</a:t>
            </a:r>
            <a:r>
              <a:rPr lang="ru-RU" b="1" dirty="0"/>
              <a:t>  </a:t>
            </a:r>
            <a:r>
              <a:rPr lang="ru-RU" b="1" dirty="0" err="1"/>
              <a:t>змінної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47940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7504" y="44624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// 1 render</a:t>
            </a:r>
            <a:endParaRPr lang="ru-RU" b="1" i="1" dirty="0">
              <a:solidFill>
                <a:srgbClr val="C00000"/>
              </a:solidFill>
            </a:endParaRPr>
          </a:p>
          <a:p>
            <a:r>
              <a:rPr lang="en-US" b="1" dirty="0"/>
              <a:t>function Counter() {</a:t>
            </a:r>
          </a:p>
          <a:p>
            <a:r>
              <a:rPr lang="en-US" b="1" dirty="0"/>
              <a:t>  ...</a:t>
            </a:r>
          </a:p>
          <a:p>
            <a:r>
              <a:rPr lang="en-US" b="1" dirty="0"/>
              <a:t>  </a:t>
            </a:r>
            <a:r>
              <a:rPr lang="en-US" b="1" dirty="0" err="1"/>
              <a:t>useEffect</a:t>
            </a:r>
            <a:r>
              <a:rPr lang="en-US" b="1" dirty="0"/>
              <a:t>(</a:t>
            </a:r>
            <a:r>
              <a:rPr lang="ru-RU" b="1" dirty="0"/>
              <a:t>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Функция эффекта из первого рендера</a:t>
            </a:r>
          </a:p>
          <a:p>
            <a:r>
              <a:rPr lang="ru-RU" b="1" dirty="0"/>
              <a:t>    () =&gt; </a:t>
            </a:r>
            <a:r>
              <a:rPr lang="en-US" b="1" dirty="0" err="1"/>
              <a:t>document.title</a:t>
            </a:r>
            <a:r>
              <a:rPr lang="en-US" b="1" dirty="0"/>
              <a:t> = `You clicked ${</a:t>
            </a:r>
            <a:r>
              <a:rPr lang="en-US" b="1" dirty="0">
                <a:solidFill>
                  <a:srgbClr val="C00000"/>
                </a:solidFill>
              </a:rPr>
              <a:t>0</a:t>
            </a:r>
            <a:r>
              <a:rPr lang="en-US" b="1" dirty="0"/>
              <a:t>} times`</a:t>
            </a:r>
            <a:endParaRPr lang="ru-RU" b="1" dirty="0"/>
          </a:p>
          <a:p>
            <a:r>
              <a:rPr lang="en-US" b="1" dirty="0"/>
              <a:t>  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B6156-6D2F-41D5-A692-E4B9B9A59C5E}"/>
              </a:ext>
            </a:extLst>
          </p:cNvPr>
          <p:cNvSpPr txBox="1"/>
          <p:nvPr/>
        </p:nvSpPr>
        <p:spPr>
          <a:xfrm>
            <a:off x="107504" y="1962706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// 2 render</a:t>
            </a:r>
            <a:endParaRPr lang="ru-RU" b="1" i="1" dirty="0">
              <a:solidFill>
                <a:srgbClr val="C00000"/>
              </a:solidFill>
            </a:endParaRPr>
          </a:p>
          <a:p>
            <a:r>
              <a:rPr lang="en-US" b="1" dirty="0"/>
              <a:t>function Counter() {</a:t>
            </a:r>
          </a:p>
          <a:p>
            <a:r>
              <a:rPr lang="en-US" b="1" dirty="0"/>
              <a:t>  ...</a:t>
            </a:r>
          </a:p>
          <a:p>
            <a:r>
              <a:rPr lang="en-US" b="1" dirty="0"/>
              <a:t>  </a:t>
            </a:r>
            <a:r>
              <a:rPr lang="en-US" b="1" dirty="0" err="1"/>
              <a:t>useEffect</a:t>
            </a:r>
            <a:r>
              <a:rPr lang="en-US" b="1" dirty="0"/>
              <a:t>(</a:t>
            </a:r>
            <a:r>
              <a:rPr lang="ru-RU" b="1" dirty="0"/>
              <a:t>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Функция эффекта из первого рендера</a:t>
            </a:r>
          </a:p>
          <a:p>
            <a:r>
              <a:rPr lang="ru-RU" b="1" dirty="0"/>
              <a:t>    () =&gt; </a:t>
            </a:r>
            <a:r>
              <a:rPr lang="en-US" b="1" dirty="0" err="1"/>
              <a:t>document.title</a:t>
            </a:r>
            <a:r>
              <a:rPr lang="en-US" b="1" dirty="0"/>
              <a:t> = `You clicked ${</a:t>
            </a:r>
            <a:r>
              <a:rPr lang="en-US" b="1" dirty="0">
                <a:solidFill>
                  <a:srgbClr val="C00000"/>
                </a:solidFill>
              </a:rPr>
              <a:t>1</a:t>
            </a:r>
            <a:r>
              <a:rPr lang="en-US" b="1" dirty="0"/>
              <a:t>} times`</a:t>
            </a:r>
            <a:endParaRPr lang="ru-RU" b="1" dirty="0"/>
          </a:p>
          <a:p>
            <a:r>
              <a:rPr lang="en-US" b="1" dirty="0"/>
              <a:t>  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1C4676-4B05-4A1F-A4DF-8902CE4EB9E0}"/>
              </a:ext>
            </a:extLst>
          </p:cNvPr>
          <p:cNvSpPr txBox="1"/>
          <p:nvPr/>
        </p:nvSpPr>
        <p:spPr>
          <a:xfrm>
            <a:off x="107504" y="3978930"/>
            <a:ext cx="89289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// 3 render</a:t>
            </a:r>
            <a:endParaRPr lang="ru-RU" b="1" i="1" dirty="0">
              <a:solidFill>
                <a:srgbClr val="C00000"/>
              </a:solidFill>
            </a:endParaRPr>
          </a:p>
          <a:p>
            <a:r>
              <a:rPr lang="en-US" b="1" dirty="0"/>
              <a:t>function Counter() {</a:t>
            </a:r>
          </a:p>
          <a:p>
            <a:r>
              <a:rPr lang="en-US" b="1" dirty="0"/>
              <a:t>  ...</a:t>
            </a:r>
          </a:p>
          <a:p>
            <a:r>
              <a:rPr lang="en-US" b="1" dirty="0"/>
              <a:t>  </a:t>
            </a:r>
            <a:r>
              <a:rPr lang="en-US" b="1" dirty="0" err="1"/>
              <a:t>useEffect</a:t>
            </a:r>
            <a:r>
              <a:rPr lang="en-US" b="1" dirty="0"/>
              <a:t>(</a:t>
            </a:r>
            <a:r>
              <a:rPr lang="ru-RU" b="1" dirty="0"/>
              <a:t>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b="1" i="1" dirty="0">
                <a:solidFill>
                  <a:schemeClr val="bg1">
                    <a:lumMod val="65000"/>
                  </a:schemeClr>
                </a:solidFill>
              </a:rPr>
              <a:t>Функция эффекта из первого рендера</a:t>
            </a:r>
          </a:p>
          <a:p>
            <a:r>
              <a:rPr lang="ru-RU" b="1" dirty="0"/>
              <a:t>    () =&gt; </a:t>
            </a:r>
            <a:r>
              <a:rPr lang="en-US" b="1" dirty="0" err="1"/>
              <a:t>document.title</a:t>
            </a:r>
            <a:r>
              <a:rPr lang="en-US" b="1" dirty="0"/>
              <a:t> = `You clicked ${</a:t>
            </a:r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/>
              <a:t>} times`</a:t>
            </a:r>
            <a:endParaRPr lang="ru-RU" b="1" dirty="0"/>
          </a:p>
          <a:p>
            <a:r>
              <a:rPr lang="en-US" b="1" dirty="0"/>
              <a:t>  );</a:t>
            </a:r>
          </a:p>
        </p:txBody>
      </p:sp>
    </p:spTree>
    <p:extLst>
      <p:ext uri="{BB962C8B-B14F-4D97-AF65-F5344CB8AC3E}">
        <p14:creationId xmlns:p14="http://schemas.microsoft.com/office/powerpoint/2010/main" val="96601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7504" y="214188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Кожен</a:t>
            </a:r>
            <a:r>
              <a:rPr lang="ru-RU" b="1" dirty="0"/>
              <a:t> рендер </a:t>
            </a:r>
            <a:r>
              <a:rPr lang="ru-RU" b="1" dirty="0" err="1"/>
              <a:t>має</a:t>
            </a:r>
            <a:r>
              <a:rPr lang="ru-RU" b="1" dirty="0"/>
              <a:t> </a:t>
            </a:r>
            <a:r>
              <a:rPr lang="ru-RU" b="1" dirty="0" err="1"/>
              <a:t>власні</a:t>
            </a:r>
            <a:r>
              <a:rPr lang="ru-RU" b="1" dirty="0"/>
              <a:t> </a:t>
            </a:r>
            <a:r>
              <a:rPr lang="ru-RU" b="1" dirty="0" err="1"/>
              <a:t>ефекти</a:t>
            </a:r>
            <a:r>
              <a:rPr lang="ru-RU" b="1" dirty="0"/>
              <a:t> !!!</a:t>
            </a:r>
          </a:p>
          <a:p>
            <a:r>
              <a:rPr lang="en-US" b="1" dirty="0">
                <a:solidFill>
                  <a:srgbClr val="0070C0"/>
                </a:solidFill>
              </a:rPr>
              <a:t>React</a:t>
            </a:r>
            <a:r>
              <a:rPr lang="en-US" b="1" dirty="0"/>
              <a:t> </a:t>
            </a:r>
            <a:r>
              <a:rPr lang="ru-RU" b="1" dirty="0" err="1"/>
              <a:t>запам'ятовує</a:t>
            </a:r>
            <a:r>
              <a:rPr lang="ru-RU" b="1" dirty="0"/>
              <a:t> </a:t>
            </a:r>
            <a:r>
              <a:rPr lang="ru-RU" b="1" dirty="0" err="1"/>
              <a:t>функцію</a:t>
            </a:r>
            <a:r>
              <a:rPr lang="ru-RU" b="1" dirty="0"/>
              <a:t> </a:t>
            </a:r>
            <a:r>
              <a:rPr lang="ru-RU" b="1" dirty="0" err="1"/>
              <a:t>ефекту</a:t>
            </a:r>
            <a:r>
              <a:rPr lang="ru-RU" b="1" dirty="0"/>
              <a:t> і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її</a:t>
            </a:r>
            <a:r>
              <a:rPr lang="ru-RU" b="1" dirty="0"/>
              <a:t> </a:t>
            </a:r>
            <a:r>
              <a:rPr lang="ru-RU" b="1" dirty="0" err="1"/>
              <a:t>після</a:t>
            </a:r>
            <a:r>
              <a:rPr lang="ru-RU" b="1" dirty="0"/>
              <a:t> того, як дозволить браузеру </a:t>
            </a:r>
            <a:r>
              <a:rPr lang="ru-RU" b="1" dirty="0" err="1"/>
              <a:t>вивести</a:t>
            </a:r>
            <a:r>
              <a:rPr lang="ru-RU" b="1" dirty="0"/>
              <a:t> </a:t>
            </a:r>
            <a:r>
              <a:rPr lang="ru-RU" b="1" dirty="0" err="1"/>
              <a:t>зображення</a:t>
            </a:r>
            <a:r>
              <a:rPr lang="ru-RU" b="1" dirty="0"/>
              <a:t> на </a:t>
            </a:r>
            <a:r>
              <a:rPr lang="ru-RU" b="1" dirty="0" err="1"/>
              <a:t>екран</a:t>
            </a:r>
            <a:r>
              <a:rPr lang="ru-RU" b="1" dirty="0"/>
              <a:t>.</a:t>
            </a:r>
          </a:p>
          <a:p>
            <a:r>
              <a:rPr lang="ru-RU" b="1" dirty="0" err="1"/>
              <a:t>Тобто</a:t>
            </a:r>
            <a:r>
              <a:rPr lang="ru-RU" b="1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useEffect</a:t>
            </a:r>
            <a:r>
              <a:rPr lang="en-US" b="1" dirty="0"/>
              <a:t> </a:t>
            </a:r>
            <a:r>
              <a:rPr lang="ru-RU" b="1" dirty="0" err="1"/>
              <a:t>виконується</a:t>
            </a:r>
            <a:r>
              <a:rPr lang="ru-RU" b="1" dirty="0"/>
              <a:t> </a:t>
            </a:r>
            <a:r>
              <a:rPr lang="ru-RU" b="1" dirty="0" err="1"/>
              <a:t>після</a:t>
            </a:r>
            <a:r>
              <a:rPr lang="ru-RU" b="1" dirty="0"/>
              <a:t> кожного рендерингу та </a:t>
            </a:r>
            <a:r>
              <a:rPr lang="ru-RU" b="1" dirty="0" err="1"/>
              <a:t>комміту</a:t>
            </a:r>
            <a:r>
              <a:rPr lang="ru-RU" b="1" dirty="0"/>
              <a:t> </a:t>
            </a:r>
            <a:r>
              <a:rPr lang="en-US" b="1" dirty="0"/>
              <a:t>JSX </a:t>
            </a:r>
            <a:r>
              <a:rPr lang="ru-RU" b="1" dirty="0"/>
              <a:t>у </a:t>
            </a:r>
            <a:r>
              <a:rPr lang="en-US" b="1" dirty="0"/>
              <a:t>DOM</a:t>
            </a:r>
            <a:endParaRPr lang="da-DK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2073622"/>
            <a:ext cx="8928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Ефект</a:t>
            </a:r>
            <a:r>
              <a:rPr lang="ru-RU" b="1" dirty="0"/>
              <a:t> у кожному </a:t>
            </a:r>
            <a:r>
              <a:rPr lang="ru-RU" b="1" dirty="0" err="1"/>
              <a:t>рендері</a:t>
            </a:r>
            <a:r>
              <a:rPr lang="ru-RU" b="1" dirty="0"/>
              <a:t> представлений новою </a:t>
            </a:r>
            <a:r>
              <a:rPr lang="ru-RU" b="1" dirty="0" err="1"/>
              <a:t>функцією</a:t>
            </a:r>
            <a:r>
              <a:rPr lang="ru-RU" b="1" dirty="0"/>
              <a:t>, а </a:t>
            </a:r>
            <a:r>
              <a:rPr lang="ru-RU" b="1" dirty="0" err="1"/>
              <a:t>кожна</a:t>
            </a:r>
            <a:r>
              <a:rPr lang="ru-RU" b="1" dirty="0"/>
              <a:t> </a:t>
            </a:r>
            <a:r>
              <a:rPr lang="ru-RU" b="1" dirty="0" err="1"/>
              <a:t>функція</a:t>
            </a:r>
            <a:r>
              <a:rPr lang="ru-RU" b="1" dirty="0"/>
              <a:t> </a:t>
            </a:r>
            <a:r>
              <a:rPr lang="ru-RU" b="1" dirty="0" err="1"/>
              <a:t>ефекту</a:t>
            </a:r>
            <a:r>
              <a:rPr lang="ru-RU" b="1" dirty="0"/>
              <a:t> </a:t>
            </a:r>
            <a:r>
              <a:rPr lang="ru-RU" b="1" dirty="0" err="1"/>
              <a:t>бачить</a:t>
            </a:r>
            <a:r>
              <a:rPr lang="ru-RU" b="1" dirty="0"/>
              <a:t> </a:t>
            </a:r>
            <a:r>
              <a:rPr lang="ru-RU" b="1" dirty="0" err="1"/>
              <a:t>властивості</a:t>
            </a:r>
            <a:r>
              <a:rPr lang="ru-RU" b="1" dirty="0"/>
              <a:t> та стан з конкретного рендеру, </a:t>
            </a:r>
            <a:r>
              <a:rPr lang="ru-RU" b="1" dirty="0" err="1"/>
              <a:t>якому</a:t>
            </a:r>
            <a:r>
              <a:rPr lang="ru-RU" b="1" dirty="0"/>
              <a:t> вона </a:t>
            </a:r>
            <a:r>
              <a:rPr lang="ru-RU" b="1" dirty="0" err="1"/>
              <a:t>належить</a:t>
            </a:r>
            <a:r>
              <a:rPr lang="ru-RU" b="1" dirty="0"/>
              <a:t>.</a:t>
            </a:r>
            <a:endParaRPr lang="da-DK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58704-305B-416B-ABDA-5130C2CDCCBE}"/>
              </a:ext>
            </a:extLst>
          </p:cNvPr>
          <p:cNvSpPr txBox="1"/>
          <p:nvPr/>
        </p:nvSpPr>
        <p:spPr>
          <a:xfrm>
            <a:off x="107504" y="3548916"/>
            <a:ext cx="89289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Кожна</a:t>
            </a:r>
            <a:r>
              <a:rPr lang="ru-RU" b="1" dirty="0"/>
              <a:t> </a:t>
            </a:r>
            <a:r>
              <a:rPr lang="ru-RU" b="1" dirty="0" err="1"/>
              <a:t>функція</a:t>
            </a:r>
            <a:r>
              <a:rPr lang="ru-RU" b="1" dirty="0"/>
              <a:t> </a:t>
            </a:r>
            <a:r>
              <a:rPr lang="ru-RU" b="1" dirty="0" err="1"/>
              <a:t>всередині</a:t>
            </a:r>
            <a:r>
              <a:rPr lang="ru-RU" b="1" dirty="0"/>
              <a:t> </a:t>
            </a:r>
            <a:r>
              <a:rPr lang="ru-RU" b="1" dirty="0" err="1"/>
              <a:t>механізму</a:t>
            </a:r>
            <a:r>
              <a:rPr lang="ru-RU" b="1" dirty="0"/>
              <a:t> рендерингу компонента</a:t>
            </a:r>
          </a:p>
          <a:p>
            <a:r>
              <a:rPr lang="ru-RU" b="1" dirty="0">
                <a:solidFill>
                  <a:srgbClr val="0070C0"/>
                </a:solidFill>
              </a:rPr>
              <a:t>(</a:t>
            </a:r>
            <a:r>
              <a:rPr lang="ru-RU" b="1" dirty="0" err="1">
                <a:solidFill>
                  <a:srgbClr val="0070C0"/>
                </a:solidFill>
              </a:rPr>
              <a:t>включаючи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обробники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подій</a:t>
            </a:r>
            <a:r>
              <a:rPr lang="ru-RU" b="1" dirty="0">
                <a:solidFill>
                  <a:srgbClr val="0070C0"/>
                </a:solidFill>
              </a:rPr>
              <a:t>, </a:t>
            </a:r>
            <a:r>
              <a:rPr lang="ru-RU" b="1" dirty="0" err="1">
                <a:solidFill>
                  <a:srgbClr val="0070C0"/>
                </a:solidFill>
              </a:rPr>
              <a:t>ефекти</a:t>
            </a:r>
            <a:r>
              <a:rPr lang="ru-RU" b="1" dirty="0">
                <a:solidFill>
                  <a:srgbClr val="0070C0"/>
                </a:solidFill>
              </a:rPr>
              <a:t>, тайм-</a:t>
            </a:r>
            <a:r>
              <a:rPr lang="ru-RU" b="1" dirty="0" err="1">
                <a:solidFill>
                  <a:srgbClr val="0070C0"/>
                </a:solidFill>
              </a:rPr>
              <a:t>аути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або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виклики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API </a:t>
            </a:r>
            <a:r>
              <a:rPr lang="ru-RU" b="1" dirty="0" err="1">
                <a:solidFill>
                  <a:srgbClr val="0070C0"/>
                </a:solidFill>
              </a:rPr>
              <a:t>усередині</a:t>
            </a:r>
            <a:r>
              <a:rPr lang="ru-RU" b="1" dirty="0">
                <a:solidFill>
                  <a:srgbClr val="0070C0"/>
                </a:solidFill>
              </a:rPr>
              <a:t> них) </a:t>
            </a:r>
            <a:r>
              <a:rPr lang="ru-RU" b="1" dirty="0" err="1"/>
              <a:t>захоплює</a:t>
            </a:r>
            <a:r>
              <a:rPr lang="ru-RU" b="1" dirty="0"/>
              <a:t> </a:t>
            </a:r>
            <a:r>
              <a:rPr lang="ru-RU" b="1" dirty="0" err="1"/>
              <a:t>властивості</a:t>
            </a:r>
            <a:r>
              <a:rPr lang="ru-RU" b="1" dirty="0"/>
              <a:t> та стан </a:t>
            </a:r>
            <a:r>
              <a:rPr lang="ru-RU" b="1" dirty="0" err="1"/>
              <a:t>виклику</a:t>
            </a:r>
            <a:r>
              <a:rPr lang="ru-RU" b="1" dirty="0"/>
              <a:t> рендеру,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визначив</a:t>
            </a:r>
            <a:r>
              <a:rPr lang="ru-RU" b="1" dirty="0"/>
              <a:t>.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3938855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16216" y="63366"/>
            <a:ext cx="252028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clean effects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76672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Функція</a:t>
            </a:r>
            <a:r>
              <a:rPr lang="ru-RU" b="1" dirty="0"/>
              <a:t> яка </a:t>
            </a:r>
            <a:r>
              <a:rPr lang="ru-RU" b="1" dirty="0" err="1"/>
              <a:t>повертається</a:t>
            </a:r>
            <a:r>
              <a:rPr lang="ru-RU" b="1" dirty="0"/>
              <a:t> з </a:t>
            </a:r>
            <a:r>
              <a:rPr lang="en-US" b="1" dirty="0" err="1"/>
              <a:t>useEffect</a:t>
            </a:r>
            <a:r>
              <a:rPr lang="en-US" b="1" dirty="0"/>
              <a:t> </a:t>
            </a:r>
            <a:r>
              <a:rPr lang="uk-UA" b="1" dirty="0" err="1"/>
              <a:t>виканується</a:t>
            </a:r>
            <a:r>
              <a:rPr lang="uk-UA" b="1" dirty="0"/>
              <a:t> за умов</a:t>
            </a:r>
          </a:p>
          <a:p>
            <a:endParaRPr lang="ru-RU" b="1" dirty="0"/>
          </a:p>
          <a:p>
            <a:r>
              <a:rPr lang="ru-RU" b="1" dirty="0"/>
              <a:t>- </a:t>
            </a:r>
            <a:r>
              <a:rPr lang="ru-RU" b="1" dirty="0" err="1"/>
              <a:t>видалення</a:t>
            </a:r>
            <a:r>
              <a:rPr lang="ru-RU" b="1" dirty="0"/>
              <a:t> компонента з </a:t>
            </a:r>
            <a:r>
              <a:rPr lang="en-US" b="1" dirty="0"/>
              <a:t>DOM</a:t>
            </a:r>
          </a:p>
          <a:p>
            <a:r>
              <a:rPr lang="en-US" b="1" dirty="0"/>
              <a:t>- </a:t>
            </a:r>
            <a:r>
              <a:rPr lang="ru-RU" b="1" dirty="0"/>
              <a:t>при повторному </a:t>
            </a:r>
            <a:r>
              <a:rPr lang="en-US" b="1" dirty="0"/>
              <a:t>render, </a:t>
            </a:r>
            <a:r>
              <a:rPr lang="ru-RU" b="1" dirty="0"/>
              <a:t>при </a:t>
            </a:r>
            <a:r>
              <a:rPr lang="ru-RU" b="1" dirty="0" err="1"/>
              <a:t>черговому</a:t>
            </a:r>
            <a:r>
              <a:rPr lang="ru-RU" b="1" dirty="0"/>
              <a:t> </a:t>
            </a:r>
            <a:r>
              <a:rPr lang="ru-RU" b="1" dirty="0" err="1"/>
              <a:t>виклику</a:t>
            </a:r>
            <a:r>
              <a:rPr lang="ru-RU" b="1" dirty="0"/>
              <a:t> </a:t>
            </a:r>
            <a:r>
              <a:rPr lang="en-US" b="1" dirty="0" err="1"/>
              <a:t>useEffect</a:t>
            </a:r>
            <a:r>
              <a:rPr lang="en-US" b="1" dirty="0"/>
              <a:t>,</a:t>
            </a:r>
          </a:p>
          <a:p>
            <a:r>
              <a:rPr lang="en-US" b="1" dirty="0"/>
              <a:t> 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видалити</a:t>
            </a:r>
            <a:r>
              <a:rPr lang="ru-RU" b="1" dirty="0"/>
              <a:t> </a:t>
            </a:r>
            <a:r>
              <a:rPr lang="ru-RU" b="1" dirty="0" err="1"/>
              <a:t>наприклад</a:t>
            </a:r>
            <a:r>
              <a:rPr lang="ru-RU" b="1" dirty="0"/>
              <a:t> </a:t>
            </a:r>
            <a:r>
              <a:rPr lang="ru-RU" b="1" dirty="0" err="1"/>
              <a:t>старий</a:t>
            </a:r>
            <a:r>
              <a:rPr lang="ru-RU" b="1" dirty="0"/>
              <a:t> </a:t>
            </a:r>
            <a:r>
              <a:rPr lang="en-US" b="1" dirty="0" err="1"/>
              <a:t>setTimeout</a:t>
            </a:r>
            <a:r>
              <a:rPr lang="en-US" b="1" dirty="0"/>
              <a:t>()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2478998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7504" y="1832130"/>
            <a:ext cx="8928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React </a:t>
            </a:r>
            <a:r>
              <a:rPr lang="ru-RU" b="1" dirty="0"/>
              <a:t>рендерит </a:t>
            </a:r>
            <a:r>
              <a:rPr lang="ru-RU" b="1" dirty="0" err="1"/>
              <a:t>інтерфейс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00B050"/>
                </a:solidFill>
              </a:rPr>
              <a:t>{</a:t>
            </a:r>
            <a:r>
              <a:rPr lang="ru-RU" b="1" dirty="0" err="1">
                <a:solidFill>
                  <a:srgbClr val="00B050"/>
                </a:solidFill>
              </a:rPr>
              <a:t>id</a:t>
            </a:r>
            <a:r>
              <a:rPr lang="ru-RU" b="1" dirty="0">
                <a:solidFill>
                  <a:srgbClr val="00B050"/>
                </a:solidFill>
              </a:rPr>
              <a:t>: 10}</a:t>
            </a:r>
            <a:endParaRPr lang="en-US" b="1" dirty="0">
              <a:solidFill>
                <a:srgbClr val="00B050"/>
              </a:solidFill>
            </a:endParaRPr>
          </a:p>
          <a:p>
            <a:pPr marL="342900" indent="-342900">
              <a:buAutoNum type="arabicPeriod"/>
            </a:pPr>
            <a:r>
              <a:rPr lang="ru-RU" b="1" dirty="0" err="1"/>
              <a:t>Виведення</a:t>
            </a:r>
            <a:r>
              <a:rPr lang="ru-RU" b="1" dirty="0"/>
              <a:t> на </a:t>
            </a:r>
            <a:r>
              <a:rPr lang="ru-RU" b="1" dirty="0" err="1"/>
              <a:t>екран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r>
              <a:rPr lang="ru-RU" b="1" dirty="0"/>
              <a:t> з </a:t>
            </a:r>
            <a:r>
              <a:rPr lang="ru-RU" b="1" dirty="0">
                <a:solidFill>
                  <a:srgbClr val="00B050"/>
                </a:solidFill>
              </a:rPr>
              <a:t>{</a:t>
            </a:r>
            <a:r>
              <a:rPr lang="ru-RU" b="1" dirty="0" err="1">
                <a:solidFill>
                  <a:srgbClr val="00B050"/>
                </a:solidFill>
              </a:rPr>
              <a:t>id</a:t>
            </a:r>
            <a:r>
              <a:rPr lang="ru-RU" b="1" dirty="0">
                <a:solidFill>
                  <a:srgbClr val="00B050"/>
                </a:solidFill>
              </a:rPr>
              <a:t>: 10}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b="1" dirty="0"/>
              <a:t>3</a:t>
            </a:r>
            <a:r>
              <a:rPr lang="en-US" b="1" dirty="0"/>
              <a:t>.</a:t>
            </a:r>
            <a:r>
              <a:rPr lang="uk-UA" b="1" dirty="0"/>
              <a:t> </a:t>
            </a:r>
            <a:r>
              <a:rPr lang="en-US" b="1" dirty="0"/>
              <a:t>React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ефект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00B050"/>
                </a:solidFill>
              </a:rPr>
              <a:t>{</a:t>
            </a:r>
            <a:r>
              <a:rPr lang="ru-RU" b="1" dirty="0" err="1">
                <a:solidFill>
                  <a:srgbClr val="00B050"/>
                </a:solidFill>
              </a:rPr>
              <a:t>id</a:t>
            </a:r>
            <a:r>
              <a:rPr lang="ru-RU" b="1" dirty="0">
                <a:solidFill>
                  <a:srgbClr val="00B050"/>
                </a:solidFill>
              </a:rPr>
              <a:t>: 10}</a:t>
            </a:r>
            <a:endParaRPr lang="da-DK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52B07-F270-4560-90F1-42D5EF793AEC}"/>
              </a:ext>
            </a:extLst>
          </p:cNvPr>
          <p:cNvSpPr txBox="1"/>
          <p:nvPr/>
        </p:nvSpPr>
        <p:spPr>
          <a:xfrm>
            <a:off x="107504" y="116632"/>
            <a:ext cx="89289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0070C0"/>
                </a:solidFill>
              </a:rPr>
              <a:t>useEffect(() =&gt; {</a:t>
            </a:r>
          </a:p>
          <a:p>
            <a:r>
              <a:rPr lang="ru-RU" b="1" dirty="0">
                <a:solidFill>
                  <a:srgbClr val="0070C0"/>
                </a:solidFill>
              </a:rPr>
              <a:t>  </a:t>
            </a:r>
            <a:r>
              <a:rPr lang="da-DK" b="1" dirty="0">
                <a:solidFill>
                  <a:srgbClr val="0070C0"/>
                </a:solidFill>
              </a:rPr>
              <a:t>api.subscribe(id, handle);</a:t>
            </a:r>
          </a:p>
          <a:p>
            <a:r>
              <a:rPr lang="da-DK" b="1" dirty="0">
                <a:solidFill>
                  <a:srgbClr val="0070C0"/>
                </a:solidFill>
              </a:rPr>
              <a:t>  return () =&gt; api.unsubscribe(id, handle)</a:t>
            </a:r>
          </a:p>
          <a:p>
            <a:r>
              <a:rPr lang="da-DK" b="1" dirty="0">
                <a:solidFill>
                  <a:srgbClr val="0070C0"/>
                </a:solidFill>
              </a:rPr>
              <a:t>})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7D4AC-DFB4-4ED1-AFDB-93C64E6417ED}"/>
              </a:ext>
            </a:extLst>
          </p:cNvPr>
          <p:cNvSpPr txBox="1"/>
          <p:nvPr/>
        </p:nvSpPr>
        <p:spPr>
          <a:xfrm>
            <a:off x="7881" y="145367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{</a:t>
            </a:r>
            <a:r>
              <a:rPr lang="ru-RU" b="1" dirty="0" err="1">
                <a:solidFill>
                  <a:srgbClr val="00B050"/>
                </a:solidFill>
              </a:rPr>
              <a:t>id</a:t>
            </a:r>
            <a:r>
              <a:rPr lang="ru-RU" b="1" dirty="0">
                <a:solidFill>
                  <a:srgbClr val="00B050"/>
                </a:solidFill>
              </a:rPr>
              <a:t>: 10}</a:t>
            </a:r>
            <a:endParaRPr lang="ru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50373-25D9-4D77-91EA-992B24FF97C2}"/>
              </a:ext>
            </a:extLst>
          </p:cNvPr>
          <p:cNvSpPr txBox="1"/>
          <p:nvPr/>
        </p:nvSpPr>
        <p:spPr>
          <a:xfrm>
            <a:off x="30557" y="279955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{</a:t>
            </a:r>
            <a:r>
              <a:rPr lang="ru-RU" b="1" dirty="0" err="1">
                <a:solidFill>
                  <a:srgbClr val="C00000"/>
                </a:solidFill>
              </a:rPr>
              <a:t>id</a:t>
            </a:r>
            <a:r>
              <a:rPr lang="ru-RU" b="1" dirty="0">
                <a:solidFill>
                  <a:srgbClr val="C00000"/>
                </a:solidFill>
              </a:rPr>
              <a:t>: 20}</a:t>
            </a:r>
            <a:endParaRPr lang="ru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F0096-EB27-4262-9354-7A0262F4E881}"/>
              </a:ext>
            </a:extLst>
          </p:cNvPr>
          <p:cNvSpPr txBox="1"/>
          <p:nvPr/>
        </p:nvSpPr>
        <p:spPr>
          <a:xfrm>
            <a:off x="107504" y="3212976"/>
            <a:ext cx="892899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React </a:t>
            </a:r>
            <a:r>
              <a:rPr lang="ru-RU" b="1" dirty="0"/>
              <a:t>рендерит </a:t>
            </a:r>
            <a:r>
              <a:rPr lang="ru-RU" b="1" dirty="0" err="1"/>
              <a:t>інтерфейс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C00000"/>
                </a:solidFill>
              </a:rPr>
              <a:t>{</a:t>
            </a:r>
            <a:r>
              <a:rPr lang="ru-RU" b="1" dirty="0" err="1">
                <a:solidFill>
                  <a:srgbClr val="C00000"/>
                </a:solidFill>
              </a:rPr>
              <a:t>id</a:t>
            </a:r>
            <a:r>
              <a:rPr lang="ru-RU" b="1" dirty="0">
                <a:solidFill>
                  <a:srgbClr val="C00000"/>
                </a:solidFill>
              </a:rPr>
              <a:t>: 20}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Виведення</a:t>
            </a:r>
            <a:r>
              <a:rPr lang="ru-RU" b="1" dirty="0"/>
              <a:t> на </a:t>
            </a:r>
            <a:r>
              <a:rPr lang="ru-RU" b="1" dirty="0" err="1"/>
              <a:t>екран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r>
              <a:rPr lang="ru-RU" b="1" dirty="0"/>
              <a:t> з </a:t>
            </a:r>
            <a:r>
              <a:rPr lang="ru-RU" b="1" dirty="0">
                <a:solidFill>
                  <a:srgbClr val="C00000"/>
                </a:solidFill>
              </a:rPr>
              <a:t>{</a:t>
            </a:r>
            <a:r>
              <a:rPr lang="ru-RU" b="1" dirty="0" err="1">
                <a:solidFill>
                  <a:srgbClr val="C00000"/>
                </a:solidFill>
              </a:rPr>
              <a:t>id</a:t>
            </a:r>
            <a:r>
              <a:rPr lang="ru-RU" b="1" dirty="0">
                <a:solidFill>
                  <a:srgbClr val="C00000"/>
                </a:solidFill>
              </a:rPr>
              <a:t>: 20}</a:t>
            </a:r>
          </a:p>
          <a:p>
            <a:r>
              <a:rPr lang="en-US" b="1" dirty="0"/>
              <a:t>3</a:t>
            </a:r>
            <a:r>
              <a:rPr lang="ru-RU" b="1" dirty="0"/>
              <a:t>.</a:t>
            </a:r>
            <a:r>
              <a:rPr lang="en-US" b="1" dirty="0"/>
              <a:t> </a:t>
            </a:r>
            <a:r>
              <a:rPr lang="ru-RU" b="1" dirty="0" err="1"/>
              <a:t>React</a:t>
            </a:r>
            <a:r>
              <a:rPr lang="ru-RU" b="1" dirty="0"/>
              <a:t>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очищення</a:t>
            </a:r>
            <a:r>
              <a:rPr lang="ru-RU" b="1" dirty="0"/>
              <a:t> </a:t>
            </a:r>
            <a:r>
              <a:rPr lang="ru-RU" b="1" dirty="0" err="1"/>
              <a:t>ефекту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00B050"/>
                </a:solidFill>
              </a:rPr>
              <a:t>{</a:t>
            </a:r>
            <a:r>
              <a:rPr lang="ru-RU" b="1" dirty="0" err="1">
                <a:solidFill>
                  <a:srgbClr val="00B050"/>
                </a:solidFill>
              </a:rPr>
              <a:t>id</a:t>
            </a:r>
            <a:r>
              <a:rPr lang="ru-RU" b="1" dirty="0">
                <a:solidFill>
                  <a:srgbClr val="00B050"/>
                </a:solidFill>
              </a:rPr>
              <a:t>: 10}</a:t>
            </a:r>
          </a:p>
          <a:p>
            <a:r>
              <a:rPr lang="ru-RU" b="1" dirty="0"/>
              <a:t>4</a:t>
            </a:r>
            <a:r>
              <a:rPr lang="en-US" b="1" dirty="0"/>
              <a:t>. React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ефект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C00000"/>
                </a:solidFill>
              </a:rPr>
              <a:t>{</a:t>
            </a:r>
            <a:r>
              <a:rPr lang="ru-RU" b="1" dirty="0" err="1">
                <a:solidFill>
                  <a:srgbClr val="C00000"/>
                </a:solidFill>
              </a:rPr>
              <a:t>id</a:t>
            </a:r>
            <a:r>
              <a:rPr lang="ru-RU" b="1" dirty="0">
                <a:solidFill>
                  <a:srgbClr val="C00000"/>
                </a:solidFill>
              </a:rPr>
              <a:t>: 20}</a:t>
            </a:r>
            <a:endParaRPr lang="ru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71298-5661-42AD-89E7-1F13B19905F0}"/>
              </a:ext>
            </a:extLst>
          </p:cNvPr>
          <p:cNvSpPr txBox="1"/>
          <p:nvPr/>
        </p:nvSpPr>
        <p:spPr>
          <a:xfrm>
            <a:off x="107504" y="5039621"/>
            <a:ext cx="892899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React </a:t>
            </a:r>
            <a:r>
              <a:rPr lang="ru-RU" b="1" dirty="0"/>
              <a:t>рендерит </a:t>
            </a:r>
            <a:r>
              <a:rPr lang="ru-RU" b="1" dirty="0" err="1"/>
              <a:t>інтерфейс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0070C0"/>
                </a:solidFill>
              </a:rPr>
              <a:t>{</a:t>
            </a:r>
            <a:r>
              <a:rPr lang="ru-RU" b="1" dirty="0" err="1">
                <a:solidFill>
                  <a:srgbClr val="0070C0"/>
                </a:solidFill>
              </a:rPr>
              <a:t>id</a:t>
            </a:r>
            <a:r>
              <a:rPr lang="ru-RU" b="1" dirty="0">
                <a:solidFill>
                  <a:srgbClr val="0070C0"/>
                </a:solidFill>
              </a:rPr>
              <a:t>: 30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Виведення</a:t>
            </a:r>
            <a:r>
              <a:rPr lang="ru-RU" b="1" dirty="0"/>
              <a:t> на </a:t>
            </a:r>
            <a:r>
              <a:rPr lang="ru-RU" b="1" dirty="0" err="1"/>
              <a:t>екран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r>
              <a:rPr lang="ru-RU" b="1" dirty="0"/>
              <a:t> з</a:t>
            </a:r>
            <a:r>
              <a:rPr lang="en-US" b="1" dirty="0"/>
              <a:t> </a:t>
            </a:r>
            <a:r>
              <a:rPr lang="ru-RU" b="1" dirty="0">
                <a:solidFill>
                  <a:srgbClr val="0070C0"/>
                </a:solidFill>
              </a:rPr>
              <a:t>{</a:t>
            </a:r>
            <a:r>
              <a:rPr lang="ru-RU" b="1" dirty="0" err="1">
                <a:solidFill>
                  <a:srgbClr val="0070C0"/>
                </a:solidFill>
              </a:rPr>
              <a:t>id</a:t>
            </a:r>
            <a:r>
              <a:rPr lang="ru-RU" b="1" dirty="0">
                <a:solidFill>
                  <a:srgbClr val="0070C0"/>
                </a:solidFill>
              </a:rPr>
              <a:t>: 30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}</a:t>
            </a:r>
            <a:r>
              <a:rPr lang="ru-RU" b="1" dirty="0"/>
              <a:t> </a:t>
            </a:r>
          </a:p>
          <a:p>
            <a:r>
              <a:rPr lang="en-US" b="1" dirty="0"/>
              <a:t>3.</a:t>
            </a:r>
            <a:r>
              <a:rPr lang="ru-RU" b="1" dirty="0"/>
              <a:t> </a:t>
            </a:r>
            <a:r>
              <a:rPr lang="ru-RU" b="1" dirty="0" err="1"/>
              <a:t>React</a:t>
            </a:r>
            <a:r>
              <a:rPr lang="ru-RU" b="1" dirty="0"/>
              <a:t>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очищення</a:t>
            </a:r>
            <a:r>
              <a:rPr lang="ru-RU" b="1" dirty="0"/>
              <a:t> </a:t>
            </a:r>
            <a:r>
              <a:rPr lang="ru-RU" b="1" dirty="0" err="1"/>
              <a:t>ефекту</a:t>
            </a:r>
            <a:r>
              <a:rPr lang="ru-RU" b="1" dirty="0"/>
              <a:t> для </a:t>
            </a:r>
            <a:r>
              <a:rPr lang="ru-RU" b="1" dirty="0">
                <a:solidFill>
                  <a:srgbClr val="C00000"/>
                </a:solidFill>
              </a:rPr>
              <a:t>{</a:t>
            </a:r>
            <a:r>
              <a:rPr lang="ru-RU" b="1" dirty="0" err="1">
                <a:solidFill>
                  <a:srgbClr val="C00000"/>
                </a:solidFill>
              </a:rPr>
              <a:t>id</a:t>
            </a:r>
            <a:r>
              <a:rPr lang="ru-RU" b="1" dirty="0">
                <a:solidFill>
                  <a:srgbClr val="C00000"/>
                </a:solidFill>
              </a:rPr>
              <a:t>: 20}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en-US" b="1" dirty="0"/>
              <a:t>4</a:t>
            </a:r>
            <a:r>
              <a:rPr lang="ru-RU" b="1" dirty="0"/>
              <a:t>. </a:t>
            </a:r>
            <a:r>
              <a:rPr lang="en-US" b="1" dirty="0"/>
              <a:t>React </a:t>
            </a:r>
            <a:r>
              <a:rPr lang="ru-RU" b="1" dirty="0" err="1"/>
              <a:t>виконує</a:t>
            </a:r>
            <a:r>
              <a:rPr lang="ru-RU" b="1" dirty="0"/>
              <a:t> </a:t>
            </a:r>
            <a:r>
              <a:rPr lang="ru-RU" b="1" dirty="0" err="1"/>
              <a:t>ефект</a:t>
            </a:r>
            <a:r>
              <a:rPr lang="ru-RU" b="1" dirty="0"/>
              <a:t> для</a:t>
            </a:r>
            <a:r>
              <a:rPr lang="en-US" b="1" dirty="0"/>
              <a:t> </a:t>
            </a:r>
            <a:r>
              <a:rPr lang="ru-RU" b="1" dirty="0">
                <a:solidFill>
                  <a:srgbClr val="0070C0"/>
                </a:solidFill>
              </a:rPr>
              <a:t>{</a:t>
            </a:r>
            <a:r>
              <a:rPr lang="ru-RU" b="1" dirty="0" err="1">
                <a:solidFill>
                  <a:srgbClr val="0070C0"/>
                </a:solidFill>
              </a:rPr>
              <a:t>id</a:t>
            </a:r>
            <a:r>
              <a:rPr lang="ru-RU" b="1" dirty="0">
                <a:solidFill>
                  <a:srgbClr val="0070C0"/>
                </a:solidFill>
              </a:rPr>
              <a:t>: 30}</a:t>
            </a:r>
            <a:endParaRPr lang="da-DK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E897D-9B3A-4074-A353-37635E9260C1}"/>
              </a:ext>
            </a:extLst>
          </p:cNvPr>
          <p:cNvSpPr txBox="1"/>
          <p:nvPr/>
        </p:nvSpPr>
        <p:spPr>
          <a:xfrm>
            <a:off x="0" y="466264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{</a:t>
            </a:r>
            <a:r>
              <a:rPr lang="ru-RU" b="1" dirty="0" err="1">
                <a:solidFill>
                  <a:srgbClr val="0070C0"/>
                </a:solidFill>
              </a:rPr>
              <a:t>id</a:t>
            </a:r>
            <a:r>
              <a:rPr lang="ru-RU" b="1" dirty="0">
                <a:solidFill>
                  <a:srgbClr val="0070C0"/>
                </a:solidFill>
              </a:rPr>
              <a:t>: 30}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88901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3" grpId="0"/>
      <p:bldP spid="4" grpId="0" animBg="1"/>
      <p:bldP spid="7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88640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Використання</a:t>
            </a:r>
            <a:r>
              <a:rPr lang="ru-RU" b="1" dirty="0"/>
              <a:t> </a:t>
            </a:r>
            <a:r>
              <a:rPr lang="ru-RU" b="1" dirty="0" err="1"/>
              <a:t>інших</a:t>
            </a:r>
            <a:r>
              <a:rPr lang="ru-RU" b="1" dirty="0"/>
              <a:t> </a:t>
            </a:r>
            <a:r>
              <a:rPr lang="ru-RU" b="1" dirty="0" err="1"/>
              <a:t>React</a:t>
            </a:r>
            <a:r>
              <a:rPr lang="ru-RU" b="1" dirty="0"/>
              <a:t> </a:t>
            </a:r>
            <a:r>
              <a:rPr lang="ru-RU" b="1" dirty="0" err="1"/>
              <a:t>hooks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переглянути</a:t>
            </a:r>
            <a:r>
              <a:rPr lang="ru-RU" b="1" dirty="0"/>
              <a:t> в </a:t>
            </a:r>
            <a:r>
              <a:rPr lang="ru-RU" b="1" dirty="0" err="1"/>
              <a:t>документації</a:t>
            </a:r>
            <a:endParaRPr lang="ru-RU" b="1" dirty="0">
              <a:hlinkClick r:id="rId2"/>
            </a:endParaRPr>
          </a:p>
          <a:p>
            <a:r>
              <a:rPr lang="da-DK" b="1" dirty="0">
                <a:hlinkClick r:id="rId2"/>
              </a:rPr>
              <a:t>https://reactjs.org/docs/hooks-intro.html</a:t>
            </a:r>
            <a:r>
              <a:rPr lang="ru-RU" b="1" dirty="0"/>
              <a:t> </a:t>
            </a:r>
          </a:p>
          <a:p>
            <a:r>
              <a:rPr lang="da-DK" b="1" dirty="0">
                <a:hlinkClick r:id="rId3"/>
              </a:rPr>
              <a:t>https://reactjs.org/blog/2019/02/06/react-v16.8.0.html</a:t>
            </a:r>
            <a:r>
              <a:rPr lang="ru-RU" b="1" dirty="0"/>
              <a:t> </a:t>
            </a:r>
            <a:endParaRPr lang="en-US" b="1" dirty="0"/>
          </a:p>
          <a:p>
            <a:r>
              <a:rPr lang="da-DK" b="1" dirty="0">
                <a:hlinkClick r:id="rId4"/>
              </a:rPr>
              <a:t>https://reactjs.org/docs/hooks-faq.html</a:t>
            </a:r>
            <a:endParaRPr lang="da-DK" b="1" dirty="0"/>
          </a:p>
          <a:p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4222633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73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619672" y="5229200"/>
            <a:ext cx="4283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6700</TotalTime>
  <Words>2661</Words>
  <Application>Microsoft Office PowerPoint</Application>
  <PresentationFormat>Экран (4:3)</PresentationFormat>
  <Paragraphs>434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Calibri</vt:lpstr>
      <vt:lpstr>Courier New</vt:lpstr>
      <vt:lpstr>Verdana</vt:lpstr>
      <vt:lpstr>Wingdings</vt:lpstr>
      <vt:lpstr>Wingdings 2</vt:lpstr>
      <vt:lpstr>Wingdings 3</vt:lpstr>
      <vt:lpstr>Тема1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dc:creator>Роман Никифоров</dc:creator>
  <cp:lastModifiedBy>Роман Никифоров</cp:lastModifiedBy>
  <cp:revision>1221</cp:revision>
  <dcterms:modified xsi:type="dcterms:W3CDTF">2024-10-08T10:13:08Z</dcterms:modified>
</cp:coreProperties>
</file>