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0"/>
  </p:notesMasterIdLst>
  <p:sldIdLst>
    <p:sldId id="256" r:id="rId2"/>
    <p:sldId id="378" r:id="rId3"/>
    <p:sldId id="379" r:id="rId4"/>
    <p:sldId id="414" r:id="rId5"/>
    <p:sldId id="415" r:id="rId6"/>
    <p:sldId id="401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416" r:id="rId15"/>
    <p:sldId id="417" r:id="rId16"/>
    <p:sldId id="387" r:id="rId17"/>
    <p:sldId id="394" r:id="rId18"/>
    <p:sldId id="395" r:id="rId19"/>
    <p:sldId id="396" r:id="rId20"/>
    <p:sldId id="397" r:id="rId21"/>
    <p:sldId id="412" r:id="rId22"/>
    <p:sldId id="407" r:id="rId23"/>
    <p:sldId id="408" r:id="rId24"/>
    <p:sldId id="409" r:id="rId25"/>
    <p:sldId id="410" r:id="rId26"/>
    <p:sldId id="411" r:id="rId27"/>
    <p:sldId id="406" r:id="rId28"/>
    <p:sldId id="324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DFEB"/>
    <a:srgbClr val="375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 autoAdjust="0"/>
    <p:restoredTop sz="94514" autoAdjust="0"/>
  </p:normalViewPr>
  <p:slideViewPr>
    <p:cSldViewPr>
      <p:cViewPr>
        <p:scale>
          <a:sx n="125" d="100"/>
          <a:sy n="125" d="100"/>
        </p:scale>
        <p:origin x="1500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065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242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211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880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576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759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973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06.09.2020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regexpal.com/" TargetMode="External"/><Relationship Id="rId2" Type="http://schemas.openxmlformats.org/officeDocument/2006/relationships/hyperlink" Target="http://regexr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Regular expressions in Java Script</a:t>
            </a:r>
            <a:endParaRPr lang="ru-RU" sz="13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6592" y="44624"/>
            <a:ext cx="7123800" cy="432048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400" b="1" dirty="0"/>
              <a:t>Регулярные выражения</a:t>
            </a:r>
            <a:r>
              <a:rPr lang="en-US" sz="2400" b="1" dirty="0"/>
              <a:t> </a:t>
            </a:r>
            <a:r>
              <a:rPr lang="en-US" sz="2200" b="1" i="1" dirty="0">
                <a:solidFill>
                  <a:srgbClr val="FF0000"/>
                </a:solidFill>
              </a:rPr>
              <a:t>Regular expressions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548680"/>
            <a:ext cx="892899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Осуществляют поиск в тексте по заданному шаблону</a:t>
            </a:r>
          </a:p>
          <a:p>
            <a:endParaRPr lang="ru-RU" b="1" dirty="0"/>
          </a:p>
          <a:p>
            <a:r>
              <a:rPr lang="ru-RU" b="1" dirty="0"/>
              <a:t>Особенности:</a:t>
            </a:r>
          </a:p>
          <a:p>
            <a:r>
              <a:rPr lang="ru-RU" b="1" dirty="0"/>
              <a:t>- по умолчанию поиск ведется с учетом регистра;</a:t>
            </a:r>
          </a:p>
          <a:p>
            <a:r>
              <a:rPr lang="ru-RU" b="1" dirty="0"/>
              <a:t>- по умолчанию включен режим </a:t>
            </a:r>
            <a:r>
              <a:rPr lang="en-US" b="1" dirty="0" err="1"/>
              <a:t>StandartMode</a:t>
            </a:r>
            <a:r>
              <a:rPr lang="en-US" b="1" dirty="0"/>
              <a:t> -&gt; </a:t>
            </a:r>
            <a:r>
              <a:rPr lang="uk-UA" b="1" dirty="0" err="1"/>
              <a:t>возвращается</a:t>
            </a:r>
            <a:r>
              <a:rPr lang="uk-UA" b="1" dirty="0"/>
              <a:t> </a:t>
            </a:r>
            <a:r>
              <a:rPr lang="uk-UA" b="1" dirty="0" err="1"/>
              <a:t>самое</a:t>
            </a:r>
            <a:r>
              <a:rPr lang="uk-UA" b="1" dirty="0"/>
              <a:t> </a:t>
            </a:r>
          </a:p>
          <a:p>
            <a:r>
              <a:rPr lang="uk-UA" b="1" dirty="0"/>
              <a:t>  </a:t>
            </a:r>
            <a:r>
              <a:rPr lang="uk-UA" b="1" dirty="0" err="1"/>
              <a:t>первое</a:t>
            </a:r>
            <a:r>
              <a:rPr lang="uk-UA" b="1" dirty="0"/>
              <a:t> </a:t>
            </a:r>
            <a:r>
              <a:rPr lang="uk-UA" b="1" dirty="0" err="1"/>
              <a:t>найденное</a:t>
            </a:r>
            <a:r>
              <a:rPr lang="uk-UA" b="1" dirty="0"/>
              <a:t> </a:t>
            </a:r>
            <a:r>
              <a:rPr lang="uk-UA" b="1" dirty="0" err="1"/>
              <a:t>совпадение</a:t>
            </a:r>
            <a:r>
              <a:rPr lang="uk-UA" b="1" dirty="0"/>
              <a:t> в </a:t>
            </a:r>
            <a:r>
              <a:rPr lang="uk-UA" b="1" dirty="0" err="1"/>
              <a:t>строке</a:t>
            </a:r>
            <a:r>
              <a:rPr lang="en-US" b="1" dirty="0"/>
              <a:t>  </a:t>
            </a:r>
            <a:endParaRPr lang="uk-UA" b="1" dirty="0"/>
          </a:p>
          <a:p>
            <a:r>
              <a:rPr lang="uk-UA" b="1" dirty="0"/>
              <a:t>  </a:t>
            </a:r>
            <a:r>
              <a:rPr lang="uk-UA" b="1" dirty="0" err="1"/>
              <a:t>Есть</a:t>
            </a:r>
            <a:r>
              <a:rPr lang="uk-UA" b="1" dirty="0"/>
              <a:t> </a:t>
            </a:r>
            <a:r>
              <a:rPr lang="uk-UA" b="1" dirty="0" err="1"/>
              <a:t>еще</a:t>
            </a:r>
            <a:r>
              <a:rPr lang="ru-RU" b="1" dirty="0"/>
              <a:t> режим </a:t>
            </a:r>
            <a:r>
              <a:rPr lang="en-US" b="1" dirty="0" err="1"/>
              <a:t>GlobalMode</a:t>
            </a:r>
            <a:r>
              <a:rPr lang="en-US" b="1" dirty="0"/>
              <a:t> -&gt; </a:t>
            </a:r>
            <a:r>
              <a:rPr lang="ru-RU" b="1" dirty="0"/>
              <a:t>возвращаются все совпадения в </a:t>
            </a:r>
          </a:p>
          <a:p>
            <a:r>
              <a:rPr lang="ru-RU" b="1" dirty="0"/>
              <a:t>  строке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2924944"/>
            <a:ext cx="892899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Каждое </a:t>
            </a:r>
            <a:r>
              <a:rPr lang="en-US" b="1" dirty="0">
                <a:solidFill>
                  <a:srgbClr val="FF0000"/>
                </a:solidFill>
              </a:rPr>
              <a:t>Regex</a:t>
            </a:r>
            <a:r>
              <a:rPr lang="en-US" b="1" dirty="0"/>
              <a:t>  </a:t>
            </a:r>
            <a:r>
              <a:rPr lang="ru-RU" b="1" dirty="0"/>
              <a:t>состоит из одной или нескольких управляющих команд. Все управляющие команды разбиваются на три класса: </a:t>
            </a:r>
          </a:p>
          <a:p>
            <a:r>
              <a:rPr lang="ru-RU" b="1" dirty="0"/>
              <a:t>- простые символы, а также управляющие символы, играющие роль их  </a:t>
            </a:r>
          </a:p>
          <a:p>
            <a:r>
              <a:rPr lang="ru-RU" b="1" dirty="0"/>
              <a:t>  "заменителей" — их еще называют литералами; </a:t>
            </a:r>
          </a:p>
          <a:p>
            <a:endParaRPr lang="ru-RU" b="1" dirty="0"/>
          </a:p>
          <a:p>
            <a:r>
              <a:rPr lang="ru-RU" b="1" dirty="0"/>
              <a:t>- управляющие конструкции (квантификаторы повторений, оператор  </a:t>
            </a:r>
          </a:p>
          <a:p>
            <a:r>
              <a:rPr lang="ru-RU" b="1" dirty="0"/>
              <a:t>  альтернативы, группирующие скобки и т. д.); </a:t>
            </a:r>
          </a:p>
          <a:p>
            <a:endParaRPr lang="ru-RU" b="1" dirty="0"/>
          </a:p>
          <a:p>
            <a:r>
              <a:rPr lang="ru-RU" b="1" dirty="0"/>
              <a:t>- мнимые символы (в строке их нет, но  они как бы помечают </a:t>
            </a:r>
          </a:p>
          <a:p>
            <a:r>
              <a:rPr lang="ru-RU" b="1" dirty="0"/>
              <a:t>  какую-то часть строки — например, ее начало или конец)</a:t>
            </a:r>
          </a:p>
        </p:txBody>
      </p:sp>
    </p:spTree>
    <p:extLst>
      <p:ext uri="{BB962C8B-B14F-4D97-AF65-F5344CB8AC3E}">
        <p14:creationId xmlns:p14="http://schemas.microsoft.com/office/powerpoint/2010/main" val="229342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44624"/>
            <a:ext cx="7992888" cy="432048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400" dirty="0"/>
              <a:t>Редакторы для отладки регулярных выражений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548680"/>
            <a:ext cx="892899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2"/>
              </a:rPr>
              <a:t>http://regexr.com</a:t>
            </a:r>
            <a:endParaRPr lang="en-US" b="1" dirty="0"/>
          </a:p>
          <a:p>
            <a:endParaRPr lang="en-US" b="1" dirty="0"/>
          </a:p>
          <a:p>
            <a:r>
              <a:rPr lang="en-US" b="1" dirty="0">
                <a:hlinkClick r:id="rId3"/>
              </a:rPr>
              <a:t>http://regexpal.com</a:t>
            </a:r>
            <a:endParaRPr lang="en-US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96522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2267744" y="44624"/>
            <a:ext cx="4536504" cy="446856"/>
          </a:xfrm>
          <a:prstGeom prst="rect">
            <a:avLst/>
          </a:prstGeom>
          <a:ln w="19050" cap="flat" cmpd="thickThin" algn="ctr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dk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ru-RU" sz="2400" dirty="0"/>
              <a:t>Объект </a:t>
            </a:r>
            <a:r>
              <a:rPr lang="en-US" sz="2400" dirty="0" err="1"/>
              <a:t>RegExp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20688"/>
            <a:ext cx="8928992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Объект задается</a:t>
            </a:r>
          </a:p>
          <a:p>
            <a:r>
              <a:rPr lang="en-US" altLang="ru-RU" dirty="0" err="1">
                <a:solidFill>
                  <a:srgbClr val="0070C0"/>
                </a:solidFill>
              </a:rPr>
              <a:t>var</a:t>
            </a:r>
            <a:r>
              <a:rPr lang="en-US" altLang="ru-RU" dirty="0">
                <a:solidFill>
                  <a:srgbClr val="0070C0"/>
                </a:solidFill>
              </a:rPr>
              <a:t> re =  </a:t>
            </a:r>
            <a:r>
              <a:rPr lang="ru-RU" altLang="ru-RU" dirty="0">
                <a:solidFill>
                  <a:srgbClr val="0070C0"/>
                </a:solidFill>
              </a:rPr>
              <a:t>/</a:t>
            </a:r>
            <a:r>
              <a:rPr lang="ru-RU" altLang="ru-RU" dirty="0" err="1">
                <a:solidFill>
                  <a:srgbClr val="0070C0"/>
                </a:solidFill>
              </a:rPr>
              <a:t>pattern</a:t>
            </a:r>
            <a:r>
              <a:rPr lang="ru-RU" altLang="ru-RU" dirty="0">
                <a:solidFill>
                  <a:srgbClr val="0070C0"/>
                </a:solidFill>
              </a:rPr>
              <a:t>/</a:t>
            </a:r>
            <a:r>
              <a:rPr lang="ru-RU" altLang="ru-RU" dirty="0" err="1">
                <a:solidFill>
                  <a:srgbClr val="0070C0"/>
                </a:solidFill>
              </a:rPr>
              <a:t>flags</a:t>
            </a:r>
            <a:r>
              <a:rPr lang="ru-RU" altLang="ru-RU" dirty="0">
                <a:solidFill>
                  <a:srgbClr val="0070C0"/>
                </a:solidFill>
              </a:rPr>
              <a:t> </a:t>
            </a:r>
          </a:p>
          <a:p>
            <a:r>
              <a:rPr lang="en-US" altLang="ru-RU" dirty="0">
                <a:solidFill>
                  <a:srgbClr val="0070C0"/>
                </a:solidFill>
              </a:rPr>
              <a:t>   </a:t>
            </a:r>
            <a:r>
              <a:rPr lang="ru-RU" altLang="ru-RU" dirty="0"/>
              <a:t>или</a:t>
            </a:r>
          </a:p>
          <a:p>
            <a:r>
              <a:rPr lang="en-US" altLang="ru-RU" dirty="0" err="1">
                <a:solidFill>
                  <a:srgbClr val="0070C0"/>
                </a:solidFill>
              </a:rPr>
              <a:t>var</a:t>
            </a:r>
            <a:r>
              <a:rPr lang="en-US" altLang="ru-RU" dirty="0">
                <a:solidFill>
                  <a:srgbClr val="0070C0"/>
                </a:solidFill>
              </a:rPr>
              <a:t> re  = </a:t>
            </a:r>
            <a:r>
              <a:rPr lang="ru-RU" altLang="ru-RU" dirty="0" err="1">
                <a:solidFill>
                  <a:srgbClr val="0070C0"/>
                </a:solidFill>
              </a:rPr>
              <a:t>new</a:t>
            </a:r>
            <a:r>
              <a:rPr lang="ru-RU" altLang="ru-RU" dirty="0">
                <a:solidFill>
                  <a:srgbClr val="0070C0"/>
                </a:solidFill>
              </a:rPr>
              <a:t> </a:t>
            </a:r>
            <a:r>
              <a:rPr lang="ru-RU" altLang="ru-RU" dirty="0" err="1">
                <a:solidFill>
                  <a:srgbClr val="0070C0"/>
                </a:solidFill>
              </a:rPr>
              <a:t>RegExp</a:t>
            </a:r>
            <a:r>
              <a:rPr lang="ru-RU" altLang="ru-RU" dirty="0">
                <a:solidFill>
                  <a:srgbClr val="0070C0"/>
                </a:solidFill>
              </a:rPr>
              <a:t>(</a:t>
            </a:r>
            <a:r>
              <a:rPr lang="ru-RU" altLang="ru-RU" dirty="0" err="1">
                <a:solidFill>
                  <a:srgbClr val="0070C0"/>
                </a:solidFill>
              </a:rPr>
              <a:t>pattern</a:t>
            </a:r>
            <a:r>
              <a:rPr lang="ru-RU" altLang="ru-RU" dirty="0">
                <a:solidFill>
                  <a:srgbClr val="0070C0"/>
                </a:solidFill>
              </a:rPr>
              <a:t> [, </a:t>
            </a:r>
            <a:r>
              <a:rPr lang="ru-RU" altLang="ru-RU" dirty="0" err="1">
                <a:solidFill>
                  <a:srgbClr val="0070C0"/>
                </a:solidFill>
              </a:rPr>
              <a:t>flags</a:t>
            </a:r>
            <a:r>
              <a:rPr lang="ru-RU" altLang="ru-RU" dirty="0">
                <a:solidFill>
                  <a:srgbClr val="0070C0"/>
                </a:solidFill>
              </a:rPr>
              <a:t>])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4593902"/>
            <a:ext cx="8928992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Например</a:t>
            </a:r>
            <a:r>
              <a:rPr lang="en-US" dirty="0"/>
              <a:t>:</a:t>
            </a:r>
            <a:endParaRPr lang="ru-RU" dirty="0"/>
          </a:p>
          <a:p>
            <a:r>
              <a:rPr lang="de-DE" altLang="ru-RU" dirty="0" err="1">
                <a:solidFill>
                  <a:srgbClr val="0070C0"/>
                </a:solidFill>
              </a:rPr>
              <a:t>var</a:t>
            </a:r>
            <a:r>
              <a:rPr lang="de-DE" altLang="ru-RU" dirty="0">
                <a:solidFill>
                  <a:srgbClr val="0070C0"/>
                </a:solidFill>
              </a:rPr>
              <a:t> </a:t>
            </a:r>
            <a:r>
              <a:rPr lang="de-DE" altLang="ru-RU" dirty="0" err="1">
                <a:solidFill>
                  <a:srgbClr val="0070C0"/>
                </a:solidFill>
              </a:rPr>
              <a:t>re</a:t>
            </a:r>
            <a:r>
              <a:rPr lang="de-DE" altLang="ru-RU" dirty="0">
                <a:solidFill>
                  <a:srgbClr val="0070C0"/>
                </a:solidFill>
              </a:rPr>
              <a:t> = /</a:t>
            </a:r>
            <a:r>
              <a:rPr lang="de-DE" altLang="ru-RU" dirty="0" err="1">
                <a:solidFill>
                  <a:srgbClr val="0070C0"/>
                </a:solidFill>
              </a:rPr>
              <a:t>ab+c</a:t>
            </a:r>
            <a:r>
              <a:rPr lang="de-DE" altLang="ru-RU" dirty="0">
                <a:solidFill>
                  <a:srgbClr val="0070C0"/>
                </a:solidFill>
              </a:rPr>
              <a:t>/i;</a:t>
            </a:r>
          </a:p>
          <a:p>
            <a:r>
              <a:rPr lang="de-DE" altLang="ru-RU" dirty="0" err="1">
                <a:solidFill>
                  <a:srgbClr val="0070C0"/>
                </a:solidFill>
              </a:rPr>
              <a:t>var</a:t>
            </a:r>
            <a:r>
              <a:rPr lang="de-DE" altLang="ru-RU" dirty="0">
                <a:solidFill>
                  <a:srgbClr val="0070C0"/>
                </a:solidFill>
              </a:rPr>
              <a:t> </a:t>
            </a:r>
            <a:r>
              <a:rPr lang="de-DE" altLang="ru-RU" dirty="0" err="1">
                <a:solidFill>
                  <a:srgbClr val="0070C0"/>
                </a:solidFill>
              </a:rPr>
              <a:t>re</a:t>
            </a:r>
            <a:r>
              <a:rPr lang="de-DE" altLang="ru-RU" dirty="0">
                <a:solidFill>
                  <a:srgbClr val="0070C0"/>
                </a:solidFill>
              </a:rPr>
              <a:t>  = </a:t>
            </a:r>
            <a:r>
              <a:rPr lang="de-DE" altLang="ru-RU" dirty="0" err="1">
                <a:solidFill>
                  <a:srgbClr val="0070C0"/>
                </a:solidFill>
              </a:rPr>
              <a:t>new</a:t>
            </a:r>
            <a:r>
              <a:rPr lang="de-DE" altLang="ru-RU" dirty="0">
                <a:solidFill>
                  <a:srgbClr val="0070C0"/>
                </a:solidFill>
              </a:rPr>
              <a:t> </a:t>
            </a:r>
            <a:r>
              <a:rPr lang="de-DE" altLang="ru-RU" dirty="0" err="1">
                <a:solidFill>
                  <a:srgbClr val="0070C0"/>
                </a:solidFill>
              </a:rPr>
              <a:t>RegExp</a:t>
            </a:r>
            <a:r>
              <a:rPr lang="de-DE" altLang="ru-RU" dirty="0">
                <a:solidFill>
                  <a:srgbClr val="0070C0"/>
                </a:solidFill>
              </a:rPr>
              <a:t>('</a:t>
            </a:r>
            <a:r>
              <a:rPr lang="de-DE" altLang="ru-RU" dirty="0" err="1">
                <a:solidFill>
                  <a:srgbClr val="0070C0"/>
                </a:solidFill>
              </a:rPr>
              <a:t>ab+c</a:t>
            </a:r>
            <a:r>
              <a:rPr lang="de-DE" altLang="ru-RU" dirty="0">
                <a:solidFill>
                  <a:srgbClr val="0070C0"/>
                </a:solidFill>
              </a:rPr>
              <a:t>', 'i');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496" y="1868631"/>
            <a:ext cx="8972125" cy="25853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Флаги</a:t>
            </a:r>
          </a:p>
          <a:p>
            <a:r>
              <a:rPr lang="en-US" dirty="0">
                <a:solidFill>
                  <a:srgbClr val="7030A0"/>
                </a:solidFill>
              </a:rPr>
              <a:t>/</a:t>
            </a:r>
            <a:r>
              <a:rPr lang="ru-RU" dirty="0">
                <a:solidFill>
                  <a:srgbClr val="7030A0"/>
                </a:solidFill>
              </a:rPr>
              <a:t>регулярное выражение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 err="1"/>
              <a:t>i</a:t>
            </a:r>
            <a:r>
              <a:rPr lang="en-US" dirty="0">
                <a:solidFill>
                  <a:schemeClr val="tx1"/>
                </a:solidFill>
              </a:rPr>
              <a:t>  - </a:t>
            </a:r>
            <a:r>
              <a:rPr lang="ru-RU" dirty="0">
                <a:solidFill>
                  <a:schemeClr val="tx1"/>
                </a:solidFill>
              </a:rPr>
              <a:t>не учитывать регистр</a:t>
            </a:r>
          </a:p>
          <a:p>
            <a:r>
              <a:rPr lang="en-US" dirty="0">
                <a:solidFill>
                  <a:srgbClr val="7030A0"/>
                </a:solidFill>
              </a:rPr>
              <a:t>/</a:t>
            </a:r>
            <a:r>
              <a:rPr lang="ru-RU" dirty="0">
                <a:solidFill>
                  <a:srgbClr val="7030A0"/>
                </a:solidFill>
              </a:rPr>
              <a:t>регулярное выражение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/>
              <a:t>g</a:t>
            </a:r>
            <a:r>
              <a:rPr lang="en-US" dirty="0">
                <a:solidFill>
                  <a:schemeClr val="tx1"/>
                </a:solidFill>
              </a:rPr>
              <a:t>  - </a:t>
            </a:r>
            <a:r>
              <a:rPr lang="ru-RU" dirty="0">
                <a:solidFill>
                  <a:schemeClr val="tx1"/>
                </a:solidFill>
              </a:rPr>
              <a:t>глобальный поиск</a:t>
            </a:r>
            <a:endParaRPr lang="ru-RU" dirty="0"/>
          </a:p>
          <a:p>
            <a:endParaRPr lang="ru-RU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/</a:t>
            </a:r>
            <a:r>
              <a:rPr lang="ru-RU" dirty="0">
                <a:solidFill>
                  <a:srgbClr val="7030A0"/>
                </a:solidFill>
              </a:rPr>
              <a:t>регулярное выражение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/>
              <a:t>m </a:t>
            </a:r>
            <a:r>
              <a:rPr lang="ru-RU" dirty="0">
                <a:solidFill>
                  <a:schemeClr val="tx1"/>
                </a:solidFill>
              </a:rPr>
              <a:t>- сопоставление по нескольким строкам. Символы начала и конца (^ и $) начинают работать по нескольким строкам (происходит сопоставление с началом или концом каждой строки, а не только с началом или концом всей вводимой строки)</a:t>
            </a:r>
          </a:p>
          <a:p>
            <a:r>
              <a:rPr lang="ru-RU" dirty="0">
                <a:solidFill>
                  <a:schemeClr val="tx1"/>
                </a:solidFill>
              </a:rPr>
              <a:t>Помним, что строки разделяются символами \n или \r или \n\r</a:t>
            </a:r>
          </a:p>
        </p:txBody>
      </p:sp>
    </p:spTree>
    <p:extLst>
      <p:ext uri="{BB962C8B-B14F-4D97-AF65-F5344CB8AC3E}">
        <p14:creationId xmlns:p14="http://schemas.microsoft.com/office/powerpoint/2010/main" val="103322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7503" y="1174686"/>
            <a:ext cx="8972125" cy="286232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 err="1"/>
              <a:t>st.search</a:t>
            </a:r>
            <a:r>
              <a:rPr lang="en-US" dirty="0"/>
              <a:t>(pattern)</a:t>
            </a:r>
            <a:r>
              <a:rPr lang="en-US" dirty="0">
                <a:solidFill>
                  <a:schemeClr val="tx1"/>
                </a:solidFill>
              </a:rPr>
              <a:t> -&gt; </a:t>
            </a:r>
            <a:r>
              <a:rPr lang="ru-RU" dirty="0">
                <a:solidFill>
                  <a:schemeClr val="tx1"/>
                </a:solidFill>
              </a:rPr>
              <a:t>находит и возвращает индекс вхождения </a:t>
            </a:r>
          </a:p>
          <a:p>
            <a:r>
              <a:rPr lang="ru-RU" dirty="0">
                <a:solidFill>
                  <a:schemeClr val="tx1"/>
                </a:solidFill>
              </a:rPr>
              <a:t>                      паттерна,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или -1 при неудачном поиске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en-US" dirty="0" err="1"/>
              <a:t>st.replace</a:t>
            </a:r>
            <a:r>
              <a:rPr lang="en-US" dirty="0"/>
              <a:t>(pattern, </a:t>
            </a:r>
            <a:r>
              <a:rPr lang="ru-RU" dirty="0" err="1"/>
              <a:t>строка_замены</a:t>
            </a:r>
            <a:r>
              <a:rPr lang="en-US" dirty="0"/>
              <a:t>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-&gt; </a:t>
            </a:r>
            <a:r>
              <a:rPr lang="ru-RU" dirty="0">
                <a:solidFill>
                  <a:schemeClr val="tx1"/>
                </a:solidFill>
              </a:rPr>
              <a:t>находит и заменяет в строке найденную подстроку </a:t>
            </a:r>
          </a:p>
          <a:p>
            <a:r>
              <a:rPr lang="ru-RU" dirty="0">
                <a:solidFill>
                  <a:schemeClr val="tx1"/>
                </a:solidFill>
              </a:rPr>
              <a:t>     на то, что указали в строке замены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/>
              <a:t>st.split</a:t>
            </a:r>
            <a:r>
              <a:rPr lang="en-US" dirty="0"/>
              <a:t>(pattern)</a:t>
            </a:r>
            <a:r>
              <a:rPr lang="en-US" dirty="0">
                <a:solidFill>
                  <a:schemeClr val="tx1"/>
                </a:solidFill>
              </a:rPr>
              <a:t>-&gt; </a:t>
            </a:r>
            <a:r>
              <a:rPr lang="ru-RU" dirty="0">
                <a:solidFill>
                  <a:schemeClr val="tx1"/>
                </a:solidFill>
              </a:rPr>
              <a:t>разбивает строку на подстроки по регулярному </a:t>
            </a:r>
          </a:p>
          <a:p>
            <a:r>
              <a:rPr lang="ru-RU" dirty="0">
                <a:solidFill>
                  <a:schemeClr val="tx1"/>
                </a:solidFill>
              </a:rPr>
              <a:t>			выражению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371" y="3989963"/>
            <a:ext cx="8972125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 err="1"/>
              <a:t>pattern.exec</a:t>
            </a:r>
            <a:r>
              <a:rPr lang="en-US" dirty="0"/>
              <a:t>(</a:t>
            </a:r>
            <a:r>
              <a:rPr lang="en-US" dirty="0" err="1"/>
              <a:t>st</a:t>
            </a:r>
            <a:r>
              <a:rPr lang="en-US" dirty="0"/>
              <a:t>)</a:t>
            </a:r>
            <a:r>
              <a:rPr lang="en-US" dirty="0">
                <a:solidFill>
                  <a:schemeClr val="tx1"/>
                </a:solidFill>
              </a:rPr>
              <a:t> -&gt;  </a:t>
            </a:r>
            <a:r>
              <a:rPr lang="ru-RU" dirty="0">
                <a:solidFill>
                  <a:schemeClr val="tx1"/>
                </a:solidFill>
              </a:rPr>
              <a:t>возвращает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объект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или </a:t>
            </a:r>
            <a:r>
              <a:rPr lang="en-US" dirty="0">
                <a:solidFill>
                  <a:schemeClr val="tx1"/>
                </a:solidFill>
              </a:rPr>
              <a:t>null</a:t>
            </a:r>
            <a:r>
              <a:rPr lang="ru-RU" dirty="0">
                <a:solidFill>
                  <a:schemeClr val="tx1"/>
                </a:solidFill>
              </a:rPr>
              <a:t>, если нет </a:t>
            </a:r>
          </a:p>
          <a:p>
            <a:r>
              <a:rPr lang="ru-RU" dirty="0">
                <a:solidFill>
                  <a:schemeClr val="tx1"/>
                </a:solidFill>
              </a:rPr>
              <a:t>			 совпадений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ru-RU" dirty="0">
                <a:solidFill>
                  <a:schemeClr val="tx1"/>
                </a:solidFill>
              </a:rPr>
              <a:t>Если в строке нужно найти  </a:t>
            </a:r>
          </a:p>
          <a:p>
            <a:r>
              <a:rPr lang="ru-RU" dirty="0">
                <a:solidFill>
                  <a:schemeClr val="tx1"/>
                </a:solidFill>
              </a:rPr>
              <a:t>			 несколько совпадений, то метод </a:t>
            </a:r>
            <a:r>
              <a:rPr lang="en-US" dirty="0">
                <a:solidFill>
                  <a:schemeClr val="tx1"/>
                </a:solidFill>
              </a:rPr>
              <a:t>exec()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      </a:t>
            </a:r>
            <a:r>
              <a:rPr lang="ru-RU" dirty="0">
                <a:solidFill>
                  <a:schemeClr val="tx1"/>
                </a:solidFill>
              </a:rPr>
              <a:t>надо применять несколько раз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en-US" dirty="0" err="1"/>
              <a:t>pattern.test</a:t>
            </a:r>
            <a:r>
              <a:rPr lang="en-US" dirty="0"/>
              <a:t>(</a:t>
            </a:r>
            <a:r>
              <a:rPr lang="en-US" dirty="0" err="1"/>
              <a:t>st</a:t>
            </a:r>
            <a:r>
              <a:rPr lang="en-US" dirty="0"/>
              <a:t>)</a:t>
            </a:r>
            <a:r>
              <a:rPr lang="en-US" dirty="0">
                <a:solidFill>
                  <a:schemeClr val="tx1"/>
                </a:solidFill>
              </a:rPr>
              <a:t> -&gt;  </a:t>
            </a:r>
            <a:r>
              <a:rPr lang="ru-RU" dirty="0">
                <a:solidFill>
                  <a:schemeClr val="tx1"/>
                </a:solidFill>
              </a:rPr>
              <a:t>возвращает</a:t>
            </a:r>
            <a:r>
              <a:rPr lang="en-US" dirty="0">
                <a:solidFill>
                  <a:schemeClr val="tx1"/>
                </a:solidFill>
              </a:rPr>
              <a:t> true</a:t>
            </a:r>
            <a:r>
              <a:rPr lang="ru-RU" dirty="0">
                <a:solidFill>
                  <a:schemeClr val="tx1"/>
                </a:solidFill>
              </a:rPr>
              <a:t>, если есть совпадение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или </a:t>
            </a:r>
          </a:p>
          <a:p>
            <a:r>
              <a:rPr lang="ru-RU" dirty="0">
                <a:solidFill>
                  <a:schemeClr val="tx1"/>
                </a:solidFill>
              </a:rPr>
              <a:t>                     </a:t>
            </a:r>
            <a:r>
              <a:rPr lang="en-US" dirty="0">
                <a:solidFill>
                  <a:schemeClr val="tx1"/>
                </a:solidFill>
              </a:rPr>
              <a:t>false</a:t>
            </a:r>
            <a:r>
              <a:rPr lang="ru-RU" dirty="0">
                <a:solidFill>
                  <a:schemeClr val="tx1"/>
                </a:solidFill>
              </a:rPr>
              <a:t>, если нет  совпадений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107503" y="123459"/>
            <a:ext cx="4032449" cy="446856"/>
          </a:xfrm>
          <a:prstGeom prst="rect">
            <a:avLst/>
          </a:prstGeom>
          <a:ln w="19050" cap="flat" cmpd="thickThin" algn="ctr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dk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ru-RU" sz="2400" dirty="0"/>
              <a:t>Методы объекта </a:t>
            </a:r>
            <a:r>
              <a:rPr lang="en-US" sz="2400" dirty="0" err="1"/>
              <a:t>RegExp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7389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3240" y="1747249"/>
            <a:ext cx="8972125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uk-UA" dirty="0" err="1">
                <a:solidFill>
                  <a:schemeClr val="tx1"/>
                </a:solidFill>
              </a:rPr>
              <a:t>Глобальн</a:t>
            </a:r>
            <a:r>
              <a:rPr lang="ru-RU" dirty="0" err="1">
                <a:solidFill>
                  <a:schemeClr val="tx1"/>
                </a:solidFill>
              </a:rPr>
              <a:t>ый</a:t>
            </a:r>
            <a:r>
              <a:rPr lang="ru-RU" dirty="0">
                <a:solidFill>
                  <a:schemeClr val="tx1"/>
                </a:solidFill>
              </a:rPr>
              <a:t> поиск означает искать все вхождения шаблона</a:t>
            </a:r>
          </a:p>
          <a:p>
            <a:r>
              <a:rPr lang="uk-UA" dirty="0" err="1">
                <a:solidFill>
                  <a:schemeClr val="tx1"/>
                </a:solidFill>
              </a:rPr>
              <a:t>Например</a:t>
            </a:r>
            <a:r>
              <a:rPr lang="uk-UA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= "</a:t>
            </a:r>
            <a:r>
              <a:rPr lang="en-US" dirty="0">
                <a:solidFill>
                  <a:srgbClr val="0070C0"/>
                </a:solidFill>
              </a:rPr>
              <a:t>hello</a:t>
            </a:r>
            <a:r>
              <a:rPr lang="en-US" dirty="0">
                <a:solidFill>
                  <a:schemeClr val="tx1"/>
                </a:solidFill>
              </a:rPr>
              <a:t> and  again </a:t>
            </a:r>
            <a:r>
              <a:rPr lang="en-US" dirty="0">
                <a:solidFill>
                  <a:srgbClr val="00B050"/>
                </a:solidFill>
              </a:rPr>
              <a:t>hello</a:t>
            </a:r>
            <a:r>
              <a:rPr lang="en-US" dirty="0">
                <a:solidFill>
                  <a:schemeClr val="tx1"/>
                </a:solidFill>
              </a:rPr>
              <a:t>";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st.match</a:t>
            </a:r>
            <a:r>
              <a:rPr lang="en-US" dirty="0">
                <a:solidFill>
                  <a:schemeClr val="tx1"/>
                </a:solidFill>
              </a:rPr>
              <a:t>(/hello/); // </a:t>
            </a:r>
            <a:r>
              <a:rPr lang="uk-UA" dirty="0" err="1">
                <a:solidFill>
                  <a:schemeClr val="tx1"/>
                </a:solidFill>
              </a:rPr>
              <a:t>вернет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первое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совпадение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hello</a:t>
            </a:r>
            <a:r>
              <a:rPr lang="uk-UA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err="1">
                <a:solidFill>
                  <a:schemeClr val="tx1"/>
                </a:solidFill>
              </a:rPr>
              <a:t>st.match</a:t>
            </a:r>
            <a:r>
              <a:rPr lang="en-US" dirty="0">
                <a:solidFill>
                  <a:schemeClr val="tx1"/>
                </a:solidFill>
              </a:rPr>
              <a:t>(/hello/g); // </a:t>
            </a:r>
            <a:r>
              <a:rPr lang="uk-UA" dirty="0" err="1">
                <a:solidFill>
                  <a:schemeClr val="tx1"/>
                </a:solidFill>
              </a:rPr>
              <a:t>вернет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['</a:t>
            </a:r>
            <a:r>
              <a:rPr lang="en-US" dirty="0">
                <a:solidFill>
                  <a:srgbClr val="0070C0"/>
                </a:solidFill>
              </a:rPr>
              <a:t>hello', </a:t>
            </a:r>
            <a:r>
              <a:rPr lang="en-US" dirty="0">
                <a:solidFill>
                  <a:srgbClr val="00B050"/>
                </a:solidFill>
              </a:rPr>
              <a:t>'hello'</a:t>
            </a:r>
            <a:r>
              <a:rPr lang="en-US" dirty="0">
                <a:solidFill>
                  <a:schemeClr val="tx1"/>
                </a:solidFill>
              </a:rPr>
              <a:t>]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7" y="620688"/>
            <a:ext cx="8972125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Флаги, используемые в </a:t>
            </a:r>
            <a:r>
              <a:rPr lang="en-US" dirty="0" err="1">
                <a:solidFill>
                  <a:schemeClr val="tx1"/>
                </a:solidFill>
              </a:rPr>
              <a:t>regexp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/</a:t>
            </a:r>
            <a:r>
              <a:rPr lang="ru-RU" dirty="0">
                <a:solidFill>
                  <a:srgbClr val="7030A0"/>
                </a:solidFill>
              </a:rPr>
              <a:t>регулярное выражение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 - </a:t>
            </a:r>
            <a:r>
              <a:rPr lang="ru-RU" dirty="0">
                <a:solidFill>
                  <a:schemeClr val="tx1"/>
                </a:solidFill>
              </a:rPr>
              <a:t>не учитывать регистр</a:t>
            </a:r>
          </a:p>
          <a:p>
            <a:r>
              <a:rPr lang="en-US" dirty="0">
                <a:solidFill>
                  <a:srgbClr val="7030A0"/>
                </a:solidFill>
              </a:rPr>
              <a:t>/</a:t>
            </a:r>
            <a:r>
              <a:rPr lang="ru-RU" dirty="0">
                <a:solidFill>
                  <a:srgbClr val="7030A0"/>
                </a:solidFill>
              </a:rPr>
              <a:t>регулярное выражение</a:t>
            </a:r>
            <a:r>
              <a:rPr lang="en-US" dirty="0">
                <a:solidFill>
                  <a:schemeClr val="tx1"/>
                </a:solidFill>
              </a:rPr>
              <a:t>/g  - </a:t>
            </a:r>
            <a:r>
              <a:rPr lang="ru-RU" dirty="0">
                <a:solidFill>
                  <a:schemeClr val="tx1"/>
                </a:solidFill>
              </a:rPr>
              <a:t>глобальный поиск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71875" y="48125"/>
            <a:ext cx="5796405" cy="36933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Флаги регулярных выражений </a:t>
            </a:r>
            <a:r>
              <a:rPr lang="en-US" dirty="0"/>
              <a:t>JavaScript</a:t>
            </a:r>
            <a:r>
              <a:rPr lang="ru-RU" dirty="0"/>
              <a:t> 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519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21856"/>
            <a:ext cx="8928992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Поиск в тексте осуществляется слева направо</a:t>
            </a:r>
          </a:p>
          <a:p>
            <a:r>
              <a:rPr lang="en-US" b="1" dirty="0" err="1"/>
              <a:t>RegEx</a:t>
            </a:r>
            <a:r>
              <a:rPr lang="en-US" b="1" dirty="0"/>
              <a:t>	 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/</a:t>
            </a:r>
            <a:r>
              <a:rPr lang="en-US" sz="4000" b="1" dirty="0">
                <a:solidFill>
                  <a:schemeClr val="accent2"/>
                </a:solidFill>
              </a:rPr>
              <a:t>change</a:t>
            </a:r>
            <a:r>
              <a:rPr lang="en-US" sz="4000" b="1" dirty="0">
                <a:solidFill>
                  <a:srgbClr val="0070C0"/>
                </a:solidFill>
              </a:rPr>
              <a:t>/</a:t>
            </a:r>
            <a:r>
              <a:rPr lang="en-US" sz="4000" b="1" dirty="0" err="1">
                <a:solidFill>
                  <a:srgbClr val="0070C0"/>
                </a:solidFill>
              </a:rPr>
              <a:t>ig</a:t>
            </a:r>
            <a:endParaRPr lang="ru-RU" sz="40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CA7A27-5418-4833-929B-9BC972EAEF52}"/>
              </a:ext>
            </a:extLst>
          </p:cNvPr>
          <p:cNvSpPr txBox="1"/>
          <p:nvPr/>
        </p:nvSpPr>
        <p:spPr>
          <a:xfrm>
            <a:off x="1483040" y="1699791"/>
            <a:ext cx="12167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/>
              <a:t>nel</a:t>
            </a:r>
            <a:endParaRPr lang="ru-UA" sz="4400" b="1" dirty="0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E952E58-8093-4AAB-96D8-525A365115F4}"/>
              </a:ext>
            </a:extLst>
          </p:cNvPr>
          <p:cNvCxnSpPr>
            <a:cxnSpLocks/>
          </p:cNvCxnSpPr>
          <p:nvPr/>
        </p:nvCxnSpPr>
        <p:spPr>
          <a:xfrm flipV="1">
            <a:off x="354008" y="2276872"/>
            <a:ext cx="0" cy="3600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544C4BA-D3FA-481F-8998-DAE80FBDB1F7}"/>
              </a:ext>
            </a:extLst>
          </p:cNvPr>
          <p:cNvSpPr txBox="1"/>
          <p:nvPr/>
        </p:nvSpPr>
        <p:spPr>
          <a:xfrm>
            <a:off x="107504" y="1695091"/>
            <a:ext cx="4320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</a:t>
            </a:r>
            <a:endParaRPr lang="ru-UA" sz="4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B42B455-E18B-4C29-8249-C34EFE8CB5DC}"/>
              </a:ext>
            </a:extLst>
          </p:cNvPr>
          <p:cNvSpPr txBox="1"/>
          <p:nvPr/>
        </p:nvSpPr>
        <p:spPr>
          <a:xfrm>
            <a:off x="459886" y="1695090"/>
            <a:ext cx="4320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h</a:t>
            </a:r>
            <a:endParaRPr lang="ru-UA" sz="4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5B6B67-44B4-49D8-8E49-7C16A174B0B7}"/>
              </a:ext>
            </a:extLst>
          </p:cNvPr>
          <p:cNvSpPr txBox="1"/>
          <p:nvPr/>
        </p:nvSpPr>
        <p:spPr>
          <a:xfrm>
            <a:off x="790296" y="1695090"/>
            <a:ext cx="5229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a</a:t>
            </a:r>
            <a:endParaRPr lang="ru-UA" sz="4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51E9614-A05F-43CE-858A-D16066C07352}"/>
              </a:ext>
            </a:extLst>
          </p:cNvPr>
          <p:cNvSpPr txBox="1"/>
          <p:nvPr/>
        </p:nvSpPr>
        <p:spPr>
          <a:xfrm>
            <a:off x="1127230" y="1694117"/>
            <a:ext cx="5229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n</a:t>
            </a:r>
            <a:endParaRPr lang="ru-UA" sz="4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EE6F07C-47DD-4118-B95E-1C7405AA1FD4}"/>
              </a:ext>
            </a:extLst>
          </p:cNvPr>
          <p:cNvSpPr txBox="1"/>
          <p:nvPr/>
        </p:nvSpPr>
        <p:spPr>
          <a:xfrm>
            <a:off x="2627784" y="1687451"/>
            <a:ext cx="22140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change</a:t>
            </a:r>
            <a:endParaRPr lang="ru-UA" sz="4400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1214A79A-B840-4E3C-ABB4-D69FB10F5323}"/>
              </a:ext>
            </a:extLst>
          </p:cNvPr>
          <p:cNvCxnSpPr>
            <a:cxnSpLocks/>
          </p:cNvCxnSpPr>
          <p:nvPr/>
        </p:nvCxnSpPr>
        <p:spPr>
          <a:xfrm flipH="1">
            <a:off x="354008" y="908720"/>
            <a:ext cx="1481688" cy="10081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3B774FB7-8F3B-449D-B5DE-DE9DE79ABA1A}"/>
              </a:ext>
            </a:extLst>
          </p:cNvPr>
          <p:cNvCxnSpPr>
            <a:cxnSpLocks/>
          </p:cNvCxnSpPr>
          <p:nvPr/>
        </p:nvCxnSpPr>
        <p:spPr>
          <a:xfrm flipH="1">
            <a:off x="733482" y="919515"/>
            <a:ext cx="1454596" cy="10399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2A0EB9C-8C33-489B-8345-5F2F5FBA92A0}"/>
              </a:ext>
            </a:extLst>
          </p:cNvPr>
          <p:cNvCxnSpPr>
            <a:cxnSpLocks/>
          </p:cNvCxnSpPr>
          <p:nvPr/>
        </p:nvCxnSpPr>
        <p:spPr>
          <a:xfrm flipH="1">
            <a:off x="1030527" y="980728"/>
            <a:ext cx="1396281" cy="9716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45332DE-1630-4993-816F-1921D5149D95}"/>
              </a:ext>
            </a:extLst>
          </p:cNvPr>
          <p:cNvCxnSpPr>
            <a:cxnSpLocks/>
          </p:cNvCxnSpPr>
          <p:nvPr/>
        </p:nvCxnSpPr>
        <p:spPr>
          <a:xfrm flipH="1">
            <a:off x="1368448" y="980728"/>
            <a:ext cx="1444902" cy="9782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72880A1E-457B-4C63-9AE0-DF796EB274B2}"/>
              </a:ext>
            </a:extLst>
          </p:cNvPr>
          <p:cNvCxnSpPr>
            <a:cxnSpLocks/>
          </p:cNvCxnSpPr>
          <p:nvPr/>
        </p:nvCxnSpPr>
        <p:spPr>
          <a:xfrm flipH="1">
            <a:off x="1793639" y="980231"/>
            <a:ext cx="1236337" cy="9543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3339242-B972-40C9-A45E-6998364A6FC9}"/>
              </a:ext>
            </a:extLst>
          </p:cNvPr>
          <p:cNvCxnSpPr>
            <a:cxnSpLocks/>
          </p:cNvCxnSpPr>
          <p:nvPr/>
        </p:nvCxnSpPr>
        <p:spPr>
          <a:xfrm flipH="1">
            <a:off x="740523" y="908223"/>
            <a:ext cx="1095174" cy="1026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12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85185E-6 L 0.03732 0.0020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33 0.00209 L 0.07534 0.00209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534 0.00209 L 0.11388 0.00209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388 0.00209 L 0.15416 0.0002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83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416 0.00023 L 0.03733 0.00208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33 0.00208 L 0.2802 0.00023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1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021 0.00023 L 0.46128 0.00301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06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6379" y="57750"/>
            <a:ext cx="2520280" cy="360040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400" dirty="0"/>
              <a:t>Спецсимволы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476672"/>
            <a:ext cx="8928992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3200" dirty="0"/>
              <a:t>.</a:t>
            </a:r>
            <a:r>
              <a:rPr lang="en-US" sz="2000" dirty="0"/>
              <a:t>   +    *    -    :     =   !    ?    \    |    ^    $ </a:t>
            </a:r>
          </a:p>
          <a:p>
            <a:endParaRPr lang="en-US" sz="2000" dirty="0"/>
          </a:p>
          <a:p>
            <a:r>
              <a:rPr lang="en-US" sz="2000" dirty="0"/>
              <a:t>[  ]    (  )  {  } 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1785590"/>
            <a:ext cx="8856984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Действия </a:t>
            </a:r>
            <a:r>
              <a:rPr lang="en-US" dirty="0"/>
              <a:t>meta – </a:t>
            </a:r>
            <a:r>
              <a:rPr lang="ru-RU" dirty="0"/>
              <a:t>символов зависят от того в каком контексте их использовать, и есть некоторые сочетания символов, где </a:t>
            </a:r>
          </a:p>
          <a:p>
            <a:r>
              <a:rPr lang="en-US" dirty="0"/>
              <a:t>meta-</a:t>
            </a:r>
            <a:r>
              <a:rPr lang="ru-RU" dirty="0"/>
              <a:t>символы теряют свой смысл.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2995205"/>
            <a:ext cx="8856984" cy="317009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meta–</a:t>
            </a:r>
            <a:r>
              <a:rPr lang="ru-RU" dirty="0"/>
              <a:t>символ 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  <a:r>
              <a:rPr lang="en-US" dirty="0"/>
              <a:t>  </a:t>
            </a:r>
            <a:r>
              <a:rPr lang="ru-RU" dirty="0"/>
              <a:t>означает любой символ кроме </a:t>
            </a:r>
            <a:r>
              <a:rPr lang="en-US" dirty="0"/>
              <a:t>\n</a:t>
            </a:r>
          </a:p>
          <a:p>
            <a:r>
              <a:rPr lang="ru-RU" dirty="0"/>
              <a:t>Например РВ</a:t>
            </a:r>
            <a:endParaRPr lang="en-US" dirty="0"/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h.t</a:t>
            </a:r>
            <a:r>
              <a:rPr lang="ru-RU" dirty="0"/>
              <a:t> 	совпадает с </a:t>
            </a:r>
            <a:r>
              <a:rPr lang="en-US" dirty="0">
                <a:solidFill>
                  <a:srgbClr val="7030A0"/>
                </a:solidFill>
              </a:rPr>
              <a:t>hat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hot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hit, </a:t>
            </a:r>
            <a:r>
              <a:rPr lang="en-US" dirty="0" err="1">
                <a:solidFill>
                  <a:srgbClr val="7030A0"/>
                </a:solidFill>
              </a:rPr>
              <a:t>hzt</a:t>
            </a:r>
            <a:r>
              <a:rPr lang="en-US" dirty="0">
                <a:solidFill>
                  <a:srgbClr val="7030A0"/>
                </a:solidFill>
              </a:rPr>
              <a:t>, h t</a:t>
            </a:r>
          </a:p>
          <a:p>
            <a:r>
              <a:rPr lang="en-US" dirty="0"/>
              <a:t>	</a:t>
            </a:r>
            <a:r>
              <a:rPr lang="ru-RU" dirty="0"/>
              <a:t>но не совпадает с  </a:t>
            </a:r>
            <a:r>
              <a:rPr lang="en-US" dirty="0">
                <a:solidFill>
                  <a:srgbClr val="7030A0"/>
                </a:solidFill>
              </a:rPr>
              <a:t>heat</a:t>
            </a:r>
            <a:r>
              <a:rPr lang="en-US" dirty="0"/>
              <a:t> </a:t>
            </a:r>
            <a:endParaRPr lang="ru-RU" dirty="0"/>
          </a:p>
          <a:p>
            <a:endParaRPr lang="ru-RU" dirty="0"/>
          </a:p>
          <a:p>
            <a:r>
              <a:rPr lang="ru-RU" dirty="0">
                <a:solidFill>
                  <a:srgbClr val="FF0000"/>
                </a:solidFill>
              </a:rPr>
              <a:t>9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ru-RU" dirty="0">
                <a:solidFill>
                  <a:srgbClr val="FF0000"/>
                </a:solidFill>
              </a:rPr>
              <a:t>00 </a:t>
            </a:r>
            <a:r>
              <a:rPr lang="ru-RU" dirty="0"/>
              <a:t>	совпадает с </a:t>
            </a:r>
            <a:r>
              <a:rPr lang="en-US" dirty="0">
                <a:solidFill>
                  <a:srgbClr val="7030A0"/>
                </a:solidFill>
              </a:rPr>
              <a:t>9-00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9500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9.00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ru-RU" dirty="0"/>
              <a:t>Чтобы </a:t>
            </a:r>
            <a:r>
              <a:rPr lang="en-US" dirty="0"/>
              <a:t>meta–</a:t>
            </a:r>
            <a:r>
              <a:rPr lang="ru-RU" dirty="0"/>
              <a:t>символ 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  <a:r>
              <a:rPr lang="en-US" dirty="0"/>
              <a:t> </a:t>
            </a:r>
            <a:r>
              <a:rPr lang="ru-RU" dirty="0"/>
              <a:t>также совпадал с </a:t>
            </a:r>
            <a:r>
              <a:rPr lang="en-US" dirty="0"/>
              <a:t>\n</a:t>
            </a:r>
            <a:r>
              <a:rPr lang="ru-RU" dirty="0"/>
              <a:t>  нужно использовать модификатор </a:t>
            </a:r>
            <a:r>
              <a:rPr lang="en-US" dirty="0"/>
              <a:t>s</a:t>
            </a:r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02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546933"/>
            <a:ext cx="8856984" cy="4247317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Для отмены действия спецсимвола надо перед ним поставить обратный слеш </a:t>
            </a:r>
            <a:r>
              <a:rPr lang="en-US" dirty="0">
                <a:solidFill>
                  <a:srgbClr val="FF0000"/>
                </a:solidFill>
              </a:rPr>
              <a:t>\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Например </a:t>
            </a:r>
            <a:r>
              <a:rPr lang="en-US" dirty="0"/>
              <a:t>Regex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9</a:t>
            </a:r>
            <a:r>
              <a:rPr lang="en-US" dirty="0">
                <a:solidFill>
                  <a:srgbClr val="FF0000"/>
                </a:solidFill>
              </a:rPr>
              <a:t>\.</a:t>
            </a:r>
            <a:r>
              <a:rPr lang="ru-RU" dirty="0">
                <a:solidFill>
                  <a:srgbClr val="FF0000"/>
                </a:solidFill>
              </a:rPr>
              <a:t>00 </a:t>
            </a:r>
            <a:r>
              <a:rPr lang="ru-RU" dirty="0"/>
              <a:t>	совпадает с </a:t>
            </a:r>
            <a:r>
              <a:rPr lang="en-US" dirty="0">
                <a:solidFill>
                  <a:srgbClr val="7030A0"/>
                </a:solidFill>
              </a:rPr>
              <a:t>9.00</a:t>
            </a:r>
            <a:endParaRPr lang="ru-RU" dirty="0">
              <a:solidFill>
                <a:srgbClr val="7030A0"/>
              </a:solidFill>
            </a:endParaRPr>
          </a:p>
          <a:p>
            <a:r>
              <a:rPr lang="ru-RU" dirty="0">
                <a:solidFill>
                  <a:srgbClr val="7030A0"/>
                </a:solidFill>
              </a:rPr>
              <a:t>	но не совпадает с 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9500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9</a:t>
            </a:r>
            <a:r>
              <a:rPr lang="ru-RU" dirty="0">
                <a:solidFill>
                  <a:srgbClr val="7030A0"/>
                </a:solidFill>
              </a:rPr>
              <a:t>-</a:t>
            </a:r>
            <a:r>
              <a:rPr lang="en-US" dirty="0">
                <a:solidFill>
                  <a:srgbClr val="7030A0"/>
                </a:solidFill>
              </a:rPr>
              <a:t>00</a:t>
            </a:r>
          </a:p>
          <a:p>
            <a:r>
              <a:rPr lang="ru-RU" dirty="0"/>
              <a:t>Например </a:t>
            </a:r>
            <a:r>
              <a:rPr lang="en-US" dirty="0"/>
              <a:t>– Regex </a:t>
            </a:r>
            <a:r>
              <a:rPr lang="ru-RU" dirty="0"/>
              <a:t>для строк</a:t>
            </a:r>
          </a:p>
          <a:p>
            <a:endParaRPr lang="ru-RU" dirty="0"/>
          </a:p>
          <a:p>
            <a:r>
              <a:rPr lang="en-US" dirty="0">
                <a:solidFill>
                  <a:srgbClr val="7030A0"/>
                </a:solidFill>
              </a:rPr>
              <a:t>his_export.txt</a:t>
            </a:r>
          </a:p>
          <a:p>
            <a:r>
              <a:rPr lang="en-US" dirty="0">
                <a:solidFill>
                  <a:srgbClr val="7030A0"/>
                </a:solidFill>
              </a:rPr>
              <a:t>her_export.txt </a:t>
            </a:r>
            <a:endParaRPr lang="ru-RU" dirty="0">
              <a:solidFill>
                <a:srgbClr val="7030A0"/>
              </a:solidFill>
            </a:endParaRPr>
          </a:p>
          <a:p>
            <a:endParaRPr lang="ru-RU" dirty="0"/>
          </a:p>
          <a:p>
            <a:r>
              <a:rPr lang="ru-RU" dirty="0"/>
              <a:t>будет </a:t>
            </a:r>
            <a:r>
              <a:rPr lang="en-US" dirty="0">
                <a:solidFill>
                  <a:schemeClr val="accent2"/>
                </a:solidFill>
                <a:cs typeface="Courier New"/>
              </a:rPr>
              <a:t>'</a:t>
            </a:r>
            <a:r>
              <a:rPr lang="en-US" dirty="0">
                <a:solidFill>
                  <a:schemeClr val="accent2"/>
                </a:solidFill>
              </a:rPr>
              <a:t>/</a:t>
            </a:r>
            <a:r>
              <a:rPr lang="en-US" dirty="0" err="1">
                <a:solidFill>
                  <a:schemeClr val="accent2"/>
                </a:solidFill>
              </a:rPr>
              <a:t>h.._export</a:t>
            </a:r>
            <a:r>
              <a:rPr lang="en-US" dirty="0">
                <a:solidFill>
                  <a:schemeClr val="accent2"/>
                </a:solidFill>
              </a:rPr>
              <a:t>\.txt/</a:t>
            </a:r>
            <a:r>
              <a:rPr lang="en-US" dirty="0" err="1">
                <a:solidFill>
                  <a:schemeClr val="accent2"/>
                </a:solidFill>
              </a:rPr>
              <a:t>i</a:t>
            </a:r>
            <a:r>
              <a:rPr lang="en-US" dirty="0">
                <a:solidFill>
                  <a:schemeClr val="accent2"/>
                </a:solidFill>
                <a:latin typeface="Courier New"/>
                <a:cs typeface="Courier New"/>
              </a:rPr>
              <a:t>'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ru-RU" dirty="0"/>
              <a:t>  </a:t>
            </a:r>
            <a:endParaRPr lang="en-US" dirty="0"/>
          </a:p>
          <a:p>
            <a:endParaRPr lang="en-US" dirty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07504" y="44624"/>
            <a:ext cx="4320480" cy="360040"/>
          </a:xfrm>
          <a:prstGeom prst="rect">
            <a:avLst/>
          </a:prstGeom>
          <a:ln w="25400" cap="flat" cmpd="sng" algn="ctr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/>
              <a:t>Отмена действий спецсимволов 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982806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35643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Управляющие спецсимволы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546933"/>
            <a:ext cx="8856984" cy="175432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 -  пробел </a:t>
            </a:r>
            <a:r>
              <a:rPr lang="en-US" dirty="0"/>
              <a:t>   </a:t>
            </a:r>
            <a:r>
              <a:rPr lang="ru-RU" dirty="0">
                <a:cs typeface="Courier New"/>
              </a:rPr>
              <a:t>" "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 - </a:t>
            </a:r>
            <a:r>
              <a:rPr lang="ru-RU" dirty="0"/>
              <a:t> </a:t>
            </a:r>
            <a:r>
              <a:rPr lang="en-US" dirty="0"/>
              <a:t>\t – </a:t>
            </a:r>
            <a:r>
              <a:rPr lang="ru-RU" dirty="0"/>
              <a:t>табуляция</a:t>
            </a:r>
          </a:p>
          <a:p>
            <a:r>
              <a:rPr lang="ru-RU" dirty="0"/>
              <a:t> - </a:t>
            </a:r>
            <a:r>
              <a:rPr lang="en-US" dirty="0"/>
              <a:t> </a:t>
            </a:r>
            <a:r>
              <a:rPr lang="ru-RU" dirty="0"/>
              <a:t>перенос строки   </a:t>
            </a:r>
            <a:r>
              <a:rPr lang="en-US" dirty="0"/>
              <a:t>\n,  \r,  \n\r</a:t>
            </a:r>
          </a:p>
          <a:p>
            <a:r>
              <a:rPr lang="en-US" dirty="0"/>
              <a:t> -  </a:t>
            </a:r>
            <a:r>
              <a:rPr lang="ru-RU" dirty="0"/>
              <a:t>непечатаемые</a:t>
            </a:r>
            <a:r>
              <a:rPr lang="en-US" dirty="0"/>
              <a:t> </a:t>
            </a:r>
            <a:r>
              <a:rPr lang="ru-RU" dirty="0"/>
              <a:t>символы  </a:t>
            </a:r>
            <a:r>
              <a:rPr lang="en-US" dirty="0"/>
              <a:t>\e (escape), \v (vertical tab), </a:t>
            </a:r>
          </a:p>
          <a:p>
            <a:r>
              <a:rPr lang="en-US" dirty="0"/>
              <a:t>				\a (bell)</a:t>
            </a:r>
          </a:p>
          <a:p>
            <a:r>
              <a:rPr lang="en-US" dirty="0"/>
              <a:t> - ASCII </a:t>
            </a:r>
            <a:r>
              <a:rPr lang="ru-RU" dirty="0"/>
              <a:t>и </a:t>
            </a:r>
            <a:r>
              <a:rPr lang="en-US" dirty="0"/>
              <a:t>ANSI </a:t>
            </a:r>
            <a:r>
              <a:rPr lang="ru-RU" dirty="0"/>
              <a:t>код  (</a:t>
            </a:r>
            <a:r>
              <a:rPr lang="en-US" dirty="0"/>
              <a:t> 0xA9 = \xA9 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078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3564396" cy="360040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400" dirty="0"/>
              <a:t>Character sets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546933"/>
            <a:ext cx="8856984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ru-RU" dirty="0" err="1">
                <a:solidFill>
                  <a:schemeClr val="accent2"/>
                </a:solidFill>
              </a:rPr>
              <a:t>набор_символов</a:t>
            </a:r>
            <a:r>
              <a:rPr lang="en-US" dirty="0">
                <a:solidFill>
                  <a:schemeClr val="accent2"/>
                </a:solidFill>
              </a:rPr>
              <a:t>]</a:t>
            </a:r>
            <a:endParaRPr lang="ru-RU" dirty="0">
              <a:solidFill>
                <a:schemeClr val="accent2"/>
              </a:solidFill>
            </a:endParaRPr>
          </a:p>
          <a:p>
            <a:endParaRPr lang="ru-RU" dirty="0"/>
          </a:p>
          <a:p>
            <a:r>
              <a:rPr lang="ru-RU" dirty="0"/>
              <a:t>Например</a:t>
            </a:r>
          </a:p>
          <a:p>
            <a:r>
              <a:rPr lang="en-US" dirty="0"/>
              <a:t>[</a:t>
            </a:r>
            <a:r>
              <a:rPr lang="en-US" dirty="0" err="1"/>
              <a:t>aeiou</a:t>
            </a:r>
            <a:r>
              <a:rPr lang="en-US" dirty="0"/>
              <a:t>] – </a:t>
            </a:r>
            <a:r>
              <a:rPr lang="ru-RU" dirty="0"/>
              <a:t>совпадает с одним из символов из указанных</a:t>
            </a:r>
          </a:p>
          <a:p>
            <a:r>
              <a:rPr lang="en-US" dirty="0"/>
              <a:t>gr[</a:t>
            </a:r>
            <a:r>
              <a:rPr lang="en-US" dirty="0" err="1"/>
              <a:t>ea</a:t>
            </a:r>
            <a:r>
              <a:rPr lang="en-US" dirty="0"/>
              <a:t>]y – </a:t>
            </a:r>
            <a:r>
              <a:rPr lang="ru-RU" dirty="0"/>
              <a:t>совпадет с  </a:t>
            </a:r>
            <a:r>
              <a:rPr lang="en-US" dirty="0">
                <a:solidFill>
                  <a:srgbClr val="0070C0"/>
                </a:solidFill>
              </a:rPr>
              <a:t>grey</a:t>
            </a:r>
            <a:r>
              <a:rPr lang="ru-RU" dirty="0"/>
              <a:t> или </a:t>
            </a:r>
            <a:r>
              <a:rPr lang="en-US" dirty="0">
                <a:solidFill>
                  <a:srgbClr val="0070C0"/>
                </a:solidFill>
              </a:rPr>
              <a:t>gray</a:t>
            </a:r>
            <a:r>
              <a:rPr lang="ru-RU" dirty="0"/>
              <a:t> </a:t>
            </a:r>
            <a:r>
              <a:rPr lang="en-US" dirty="0"/>
              <a:t>  </a:t>
            </a:r>
            <a:endParaRPr lang="ru-RU" dirty="0"/>
          </a:p>
          <a:p>
            <a:r>
              <a:rPr lang="en-US" dirty="0"/>
              <a:t>gr[</a:t>
            </a:r>
            <a:r>
              <a:rPr lang="en-US" dirty="0" err="1"/>
              <a:t>ea</a:t>
            </a:r>
            <a:r>
              <a:rPr lang="en-US" dirty="0"/>
              <a:t>]t – </a:t>
            </a:r>
            <a:r>
              <a:rPr lang="ru-RU" dirty="0"/>
              <a:t>не совпадет с  </a:t>
            </a:r>
            <a:r>
              <a:rPr lang="en-US" dirty="0">
                <a:solidFill>
                  <a:srgbClr val="0070C0"/>
                </a:solidFill>
              </a:rPr>
              <a:t>great</a:t>
            </a:r>
            <a:r>
              <a:rPr lang="ru-RU" dirty="0"/>
              <a:t> </a:t>
            </a:r>
            <a:r>
              <a:rPr lang="en-US" dirty="0"/>
              <a:t>  </a:t>
            </a:r>
            <a:endParaRPr lang="ru-RU" dirty="0"/>
          </a:p>
          <a:p>
            <a:r>
              <a:rPr lang="en-US" dirty="0"/>
              <a:t>gr[</a:t>
            </a:r>
            <a:r>
              <a:rPr lang="en-US" dirty="0" err="1"/>
              <a:t>ea</a:t>
            </a:r>
            <a:r>
              <a:rPr lang="en-US" dirty="0"/>
              <a:t>][</a:t>
            </a:r>
            <a:r>
              <a:rPr lang="en-US" dirty="0" err="1"/>
              <a:t>ea</a:t>
            </a:r>
            <a:r>
              <a:rPr lang="en-US" dirty="0"/>
              <a:t>]t – </a:t>
            </a:r>
            <a:r>
              <a:rPr lang="ru-RU" dirty="0"/>
              <a:t>совпадет с  </a:t>
            </a:r>
            <a:r>
              <a:rPr lang="en-US" dirty="0">
                <a:solidFill>
                  <a:srgbClr val="0070C0"/>
                </a:solidFill>
              </a:rPr>
              <a:t>great</a:t>
            </a:r>
            <a:r>
              <a:rPr lang="ru-RU" dirty="0"/>
              <a:t>,</a:t>
            </a:r>
          </a:p>
          <a:p>
            <a:r>
              <a:rPr lang="ru-RU" dirty="0"/>
              <a:t>		а также совпадет с </a:t>
            </a:r>
            <a:r>
              <a:rPr lang="en-US" dirty="0" err="1">
                <a:solidFill>
                  <a:srgbClr val="0070C0"/>
                </a:solidFill>
              </a:rPr>
              <a:t>graat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greet</a:t>
            </a:r>
            <a:r>
              <a:rPr lang="en-US" dirty="0"/>
              <a:t> </a:t>
            </a:r>
            <a:r>
              <a:rPr lang="uk-UA" dirty="0"/>
              <a:t>и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graet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2996952"/>
            <a:ext cx="8856984" cy="258532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ru-RU" dirty="0" err="1">
                <a:solidFill>
                  <a:schemeClr val="accent2"/>
                </a:solidFill>
              </a:rPr>
              <a:t>диапазон_набора_символов</a:t>
            </a:r>
            <a:r>
              <a:rPr lang="en-US" dirty="0">
                <a:solidFill>
                  <a:schemeClr val="accent2"/>
                </a:solidFill>
              </a:rPr>
              <a:t>]</a:t>
            </a:r>
            <a:endParaRPr lang="ru-RU" dirty="0">
              <a:solidFill>
                <a:schemeClr val="accent2"/>
              </a:solidFill>
            </a:endParaRPr>
          </a:p>
          <a:p>
            <a:endParaRPr lang="ru-RU" dirty="0"/>
          </a:p>
          <a:p>
            <a:r>
              <a:rPr lang="ru-RU" dirty="0"/>
              <a:t>Например</a:t>
            </a:r>
          </a:p>
          <a:p>
            <a:r>
              <a:rPr lang="en-US" dirty="0"/>
              <a:t>[</a:t>
            </a:r>
            <a:r>
              <a:rPr lang="ru-RU" dirty="0"/>
              <a:t>0-9</a:t>
            </a:r>
            <a:r>
              <a:rPr lang="en-US" dirty="0"/>
              <a:t>] – </a:t>
            </a:r>
            <a:r>
              <a:rPr lang="ru-RU" dirty="0"/>
              <a:t>совпадает с одной из цифр от 0 до 9</a:t>
            </a:r>
          </a:p>
          <a:p>
            <a:r>
              <a:rPr lang="en-US" dirty="0"/>
              <a:t>[A-</a:t>
            </a:r>
            <a:r>
              <a:rPr lang="en-US" dirty="0" err="1"/>
              <a:t>Za</a:t>
            </a:r>
            <a:r>
              <a:rPr lang="en-US" dirty="0"/>
              <a:t>-z] – </a:t>
            </a:r>
            <a:r>
              <a:rPr lang="ru-RU" dirty="0"/>
              <a:t>один из алфавитных символов</a:t>
            </a:r>
          </a:p>
          <a:p>
            <a:r>
              <a:rPr lang="en-US" dirty="0"/>
              <a:t>[a-</a:t>
            </a:r>
            <a:r>
              <a:rPr lang="en-US" dirty="0" err="1"/>
              <a:t>ek</a:t>
            </a:r>
            <a:r>
              <a:rPr lang="en-US" dirty="0"/>
              <a:t>-</a:t>
            </a:r>
            <a:r>
              <a:rPr lang="en-US" dirty="0" err="1"/>
              <a:t>ou</a:t>
            </a:r>
            <a:r>
              <a:rPr lang="en-US" dirty="0"/>
              <a:t>-y] – </a:t>
            </a:r>
            <a:r>
              <a:rPr lang="ru-RU" dirty="0"/>
              <a:t>задание несколько диапазонов</a:t>
            </a:r>
          </a:p>
          <a:p>
            <a:endParaRPr lang="ru-RU" dirty="0"/>
          </a:p>
          <a:p>
            <a:r>
              <a:rPr lang="ru-RU" dirty="0">
                <a:solidFill>
                  <a:srgbClr val="FF0000"/>
                </a:solidFill>
              </a:rPr>
              <a:t>Внимание !!!</a:t>
            </a:r>
          </a:p>
          <a:p>
            <a:r>
              <a:rPr lang="en-US" dirty="0"/>
              <a:t>[50-99] – </a:t>
            </a:r>
            <a:r>
              <a:rPr lang="ru-RU" dirty="0"/>
              <a:t>это</a:t>
            </a:r>
            <a:r>
              <a:rPr lang="en-US" dirty="0"/>
              <a:t> </a:t>
            </a:r>
            <a:r>
              <a:rPr lang="ru-RU" dirty="0"/>
              <a:t>не диапазон от 50 до 99, а например 589</a:t>
            </a:r>
          </a:p>
        </p:txBody>
      </p:sp>
    </p:spTree>
    <p:extLst>
      <p:ext uri="{BB962C8B-B14F-4D97-AF65-F5344CB8AC3E}">
        <p14:creationId xmlns:p14="http://schemas.microsoft.com/office/powerpoint/2010/main" val="1157158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3564396" cy="360040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400" dirty="0"/>
              <a:t>Character sets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447721"/>
            <a:ext cx="8856984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[^</a:t>
            </a:r>
            <a:r>
              <a:rPr lang="ru-RU" dirty="0" err="1">
                <a:solidFill>
                  <a:schemeClr val="accent2"/>
                </a:solidFill>
              </a:rPr>
              <a:t>диапазон_набора_символов</a:t>
            </a:r>
            <a:r>
              <a:rPr lang="en-US" dirty="0">
                <a:solidFill>
                  <a:schemeClr val="accent2"/>
                </a:solidFill>
              </a:rPr>
              <a:t>]</a:t>
            </a:r>
            <a:r>
              <a:rPr lang="en-US" dirty="0"/>
              <a:t> – </a:t>
            </a:r>
            <a:r>
              <a:rPr lang="ru-RU" dirty="0"/>
              <a:t>совпадение будет, если в строке </a:t>
            </a:r>
          </a:p>
          <a:p>
            <a:r>
              <a:rPr lang="ru-RU" dirty="0"/>
              <a:t>                           не будет символов, входящих в набор</a:t>
            </a:r>
          </a:p>
          <a:p>
            <a:r>
              <a:rPr lang="ru-RU" dirty="0"/>
              <a:t>Например</a:t>
            </a:r>
          </a:p>
          <a:p>
            <a:r>
              <a:rPr lang="en-US" dirty="0">
                <a:solidFill>
                  <a:srgbClr val="0070C0"/>
                </a:solidFill>
                <a:latin typeface="Courier New"/>
                <a:cs typeface="Courier New"/>
              </a:rPr>
              <a:t>see[^</a:t>
            </a:r>
            <a:r>
              <a:rPr lang="en-US" dirty="0" err="1">
                <a:solidFill>
                  <a:srgbClr val="0070C0"/>
                </a:solidFill>
                <a:latin typeface="Courier New"/>
                <a:cs typeface="Courier New"/>
              </a:rPr>
              <a:t>mn</a:t>
            </a:r>
            <a:r>
              <a:rPr lang="en-US" dirty="0">
                <a:solidFill>
                  <a:srgbClr val="0070C0"/>
                </a:solidFill>
                <a:latin typeface="Courier New"/>
                <a:cs typeface="Courier New"/>
              </a:rPr>
              <a:t>] </a:t>
            </a:r>
            <a:r>
              <a:rPr lang="en-US" dirty="0"/>
              <a:t>– </a:t>
            </a:r>
            <a:r>
              <a:rPr lang="ru-RU" dirty="0"/>
              <a:t>совпадает с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seek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>
                <a:solidFill>
                  <a:srgbClr val="0070C0"/>
                </a:solidFill>
              </a:rPr>
              <a:t>sees</a:t>
            </a:r>
            <a:r>
              <a:rPr lang="ru-RU" dirty="0"/>
              <a:t>, не совпадет с </a:t>
            </a:r>
            <a:r>
              <a:rPr lang="en-US" dirty="0">
                <a:solidFill>
                  <a:srgbClr val="0070C0"/>
                </a:solidFill>
              </a:rPr>
              <a:t>seem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  <a:latin typeface="Courier New"/>
                <a:cs typeface="Courier New"/>
              </a:rPr>
              <a:t>[^</a:t>
            </a:r>
            <a:r>
              <a:rPr lang="ru-RU" dirty="0">
                <a:solidFill>
                  <a:srgbClr val="0070C0"/>
                </a:solidFill>
                <a:latin typeface="Courier New"/>
                <a:cs typeface="Courier New"/>
              </a:rPr>
              <a:t>0-</a:t>
            </a:r>
            <a:r>
              <a:rPr lang="en-US" dirty="0">
                <a:solidFill>
                  <a:srgbClr val="0070C0"/>
                </a:solidFill>
                <a:latin typeface="Courier New"/>
                <a:cs typeface="Courier New"/>
              </a:rPr>
              <a:t>3] </a:t>
            </a:r>
            <a:r>
              <a:rPr lang="en-US" dirty="0"/>
              <a:t>– </a:t>
            </a:r>
            <a:r>
              <a:rPr lang="ru-RU" dirty="0"/>
              <a:t>совпадает с одной 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444-5465</a:t>
            </a:r>
            <a:r>
              <a:rPr lang="en-US" dirty="0"/>
              <a:t> </a:t>
            </a:r>
            <a:r>
              <a:rPr lang="ru-RU" dirty="0"/>
              <a:t>но не с </a:t>
            </a:r>
            <a:r>
              <a:rPr lang="ru-RU" dirty="0">
                <a:solidFill>
                  <a:srgbClr val="0070C0"/>
                </a:solidFill>
              </a:rPr>
              <a:t>245-5365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2095688"/>
            <a:ext cx="885698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>
                <a:solidFill>
                  <a:schemeClr val="accent2"/>
                </a:solidFill>
              </a:rPr>
              <a:t>Внимание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ru-RU" dirty="0">
                <a:solidFill>
                  <a:schemeClr val="accent2"/>
                </a:solidFill>
              </a:rPr>
              <a:t>!!!</a:t>
            </a:r>
          </a:p>
          <a:p>
            <a:r>
              <a:rPr lang="en-US" dirty="0">
                <a:solidFill>
                  <a:srgbClr val="0070C0"/>
                </a:solidFill>
                <a:latin typeface="Courier New"/>
                <a:cs typeface="Courier New"/>
              </a:rPr>
              <a:t>see[^</a:t>
            </a:r>
            <a:r>
              <a:rPr lang="en-US" dirty="0" err="1">
                <a:solidFill>
                  <a:srgbClr val="0070C0"/>
                </a:solidFill>
                <a:latin typeface="Courier New"/>
                <a:cs typeface="Courier New"/>
              </a:rPr>
              <a:t>mn</a:t>
            </a:r>
            <a:r>
              <a:rPr lang="en-US" dirty="0">
                <a:solidFill>
                  <a:srgbClr val="0070C0"/>
                </a:solidFill>
                <a:latin typeface="Courier New"/>
                <a:cs typeface="Courier New"/>
              </a:rPr>
              <a:t>] </a:t>
            </a:r>
            <a:r>
              <a:rPr lang="ru-RU" dirty="0"/>
              <a:t>совпадет с </a:t>
            </a:r>
            <a:r>
              <a:rPr lang="ru-RU" dirty="0">
                <a:solidFill>
                  <a:srgbClr val="0070C0"/>
                </a:solidFill>
                <a:latin typeface="Courier New"/>
                <a:cs typeface="Courier New"/>
              </a:rPr>
              <a:t>"</a:t>
            </a:r>
            <a:r>
              <a:rPr lang="en-US" dirty="0">
                <a:solidFill>
                  <a:srgbClr val="0070C0"/>
                </a:solidFill>
                <a:latin typeface="Courier New"/>
                <a:cs typeface="Courier New"/>
              </a:rPr>
              <a:t>see </a:t>
            </a:r>
            <a:r>
              <a:rPr lang="ru-RU" dirty="0">
                <a:solidFill>
                  <a:srgbClr val="0070C0"/>
                </a:solidFill>
                <a:latin typeface="Courier New"/>
                <a:cs typeface="Courier New"/>
              </a:rPr>
              <a:t>"</a:t>
            </a:r>
            <a:r>
              <a:rPr lang="ru-RU" dirty="0">
                <a:cs typeface="Courier New"/>
              </a:rPr>
              <a:t> </a:t>
            </a:r>
            <a:r>
              <a:rPr lang="ru-RU" dirty="0"/>
              <a:t>но не совпадет с </a:t>
            </a:r>
            <a:r>
              <a:rPr lang="ru-RU" dirty="0">
                <a:solidFill>
                  <a:srgbClr val="0070C0"/>
                </a:solidFill>
                <a:latin typeface="Courier New"/>
                <a:cs typeface="Courier New"/>
              </a:rPr>
              <a:t>"</a:t>
            </a:r>
            <a:r>
              <a:rPr lang="en-US" dirty="0">
                <a:solidFill>
                  <a:srgbClr val="0070C0"/>
                </a:solidFill>
              </a:rPr>
              <a:t>seem</a:t>
            </a:r>
            <a:r>
              <a:rPr lang="ru-RU" dirty="0">
                <a:solidFill>
                  <a:srgbClr val="0070C0"/>
                </a:solidFill>
                <a:cs typeface="Courier New"/>
              </a:rPr>
              <a:t>"</a:t>
            </a:r>
            <a:r>
              <a:rPr lang="ru-RU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3979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44624"/>
            <a:ext cx="6048672" cy="360040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400" dirty="0"/>
              <a:t>Meta-</a:t>
            </a:r>
            <a:r>
              <a:rPr lang="ru-RU" sz="2400" dirty="0"/>
              <a:t>символы в с</a:t>
            </a:r>
            <a:r>
              <a:rPr lang="en-US" sz="2400" dirty="0" err="1"/>
              <a:t>haracter</a:t>
            </a:r>
            <a:r>
              <a:rPr lang="en-US" sz="2400" dirty="0"/>
              <a:t> sets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879769"/>
            <a:ext cx="8856984" cy="335476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Meta-</a:t>
            </a:r>
            <a:r>
              <a:rPr lang="ru-RU" dirty="0"/>
              <a:t>символы в с</a:t>
            </a:r>
            <a:r>
              <a:rPr lang="en-US" dirty="0" err="1"/>
              <a:t>haracter</a:t>
            </a:r>
            <a:r>
              <a:rPr lang="en-US" dirty="0"/>
              <a:t> sets</a:t>
            </a:r>
            <a:r>
              <a:rPr lang="uk-UA" dirty="0"/>
              <a:t> не </a:t>
            </a:r>
            <a:r>
              <a:rPr lang="uk-UA" dirty="0" err="1"/>
              <a:t>имеют</a:t>
            </a:r>
            <a:r>
              <a:rPr lang="uk-UA" dirty="0"/>
              <a:t> </a:t>
            </a:r>
            <a:r>
              <a:rPr lang="uk-UA" dirty="0" err="1"/>
              <a:t>своего</a:t>
            </a:r>
            <a:r>
              <a:rPr lang="uk-UA" dirty="0"/>
              <a:t> </a:t>
            </a:r>
            <a:r>
              <a:rPr lang="uk-UA" dirty="0" err="1"/>
              <a:t>специального</a:t>
            </a:r>
            <a:r>
              <a:rPr lang="uk-UA" dirty="0"/>
              <a:t> </a:t>
            </a:r>
            <a:r>
              <a:rPr lang="uk-UA" dirty="0" err="1"/>
              <a:t>действия</a:t>
            </a:r>
            <a:r>
              <a:rPr lang="uk-UA" dirty="0"/>
              <a:t>, </a:t>
            </a:r>
            <a:r>
              <a:rPr lang="uk-UA" dirty="0" err="1"/>
              <a:t>кроме</a:t>
            </a:r>
            <a:r>
              <a:rPr lang="uk-UA" dirty="0"/>
              <a:t> </a:t>
            </a:r>
            <a:r>
              <a:rPr lang="uk-UA" dirty="0" err="1"/>
              <a:t>мета-символов</a:t>
            </a:r>
            <a:r>
              <a:rPr lang="en-US" dirty="0"/>
              <a:t> </a:t>
            </a:r>
            <a:r>
              <a:rPr lang="uk-UA" dirty="0"/>
              <a:t> </a:t>
            </a:r>
            <a:r>
              <a:rPr lang="en-US" dirty="0"/>
              <a:t> </a:t>
            </a:r>
            <a:r>
              <a:rPr lang="en-US" sz="2000" dirty="0">
                <a:solidFill>
                  <a:schemeClr val="accent2"/>
                </a:solidFill>
              </a:rPr>
              <a:t>] - ^ \  </a:t>
            </a:r>
            <a:r>
              <a:rPr lang="ru-RU" dirty="0"/>
              <a:t>которые, если надо чтобы они не имели воздействия, предварять обратным слешем.</a:t>
            </a:r>
            <a:endParaRPr lang="uk-UA" dirty="0"/>
          </a:p>
          <a:p>
            <a:endParaRPr lang="uk-UA" dirty="0"/>
          </a:p>
          <a:p>
            <a:r>
              <a:rPr lang="uk-UA" dirty="0" err="1"/>
              <a:t>Например</a:t>
            </a:r>
            <a:endParaRPr lang="uk-UA" dirty="0"/>
          </a:p>
          <a:p>
            <a:r>
              <a:rPr lang="en-US" dirty="0">
                <a:solidFill>
                  <a:schemeClr val="accent2"/>
                </a:solidFill>
              </a:rPr>
              <a:t>h[</a:t>
            </a:r>
            <a:r>
              <a:rPr lang="en-US" dirty="0" err="1">
                <a:solidFill>
                  <a:schemeClr val="accent2"/>
                </a:solidFill>
              </a:rPr>
              <a:t>abc.xyz</a:t>
            </a:r>
            <a:r>
              <a:rPr lang="en-US" dirty="0">
                <a:solidFill>
                  <a:schemeClr val="accent2"/>
                </a:solidFill>
              </a:rPr>
              <a:t>]t</a:t>
            </a:r>
            <a:r>
              <a:rPr lang="en-US" dirty="0"/>
              <a:t> </a:t>
            </a:r>
            <a:r>
              <a:rPr lang="ru-RU" dirty="0"/>
              <a:t>совпадает с </a:t>
            </a:r>
            <a:r>
              <a:rPr lang="en-US" dirty="0">
                <a:solidFill>
                  <a:srgbClr val="0070C0"/>
                </a:solidFill>
              </a:rPr>
              <a:t>hat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h.t</a:t>
            </a:r>
            <a:r>
              <a:rPr lang="en-US" dirty="0"/>
              <a:t> </a:t>
            </a:r>
            <a:r>
              <a:rPr lang="ru-RU" dirty="0"/>
              <a:t>но не совпадает с 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hot</a:t>
            </a:r>
            <a:r>
              <a:rPr lang="uk-UA" dirty="0"/>
              <a:t>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ru-RU" dirty="0">
                <a:solidFill>
                  <a:srgbClr val="7030A0"/>
                </a:solidFill>
              </a:rPr>
              <a:t>Например ищем </a:t>
            </a:r>
            <a:r>
              <a:rPr lang="en-US" sz="2400" dirty="0" err="1">
                <a:solidFill>
                  <a:schemeClr val="accent2"/>
                </a:solidFill>
              </a:rPr>
              <a:t>var</a:t>
            </a:r>
            <a:r>
              <a:rPr lang="en-US" sz="2400" dirty="0">
                <a:solidFill>
                  <a:schemeClr val="accent2"/>
                </a:solidFill>
              </a:rPr>
              <a:t>(4)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ru-RU" sz="2400" dirty="0">
                <a:solidFill>
                  <a:srgbClr val="7030A0"/>
                </a:solidFill>
              </a:rPr>
              <a:t>или </a:t>
            </a:r>
            <a:r>
              <a:rPr lang="en-US" sz="2400" dirty="0" err="1">
                <a:solidFill>
                  <a:schemeClr val="accent2"/>
                </a:solidFill>
              </a:rPr>
              <a:t>var</a:t>
            </a:r>
            <a:r>
              <a:rPr lang="en-US" sz="2400" dirty="0">
                <a:solidFill>
                  <a:schemeClr val="accent2"/>
                </a:solidFill>
              </a:rPr>
              <a:t>[4]</a:t>
            </a:r>
            <a:endParaRPr lang="uk-UA" sz="2400" dirty="0">
              <a:solidFill>
                <a:schemeClr val="accent2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chemeClr val="accent2"/>
                </a:solidFill>
              </a:rPr>
              <a:t>[</a:t>
            </a:r>
            <a:r>
              <a:rPr lang="en-US" sz="2400" dirty="0">
                <a:solidFill>
                  <a:srgbClr val="7030A0"/>
                </a:solidFill>
              </a:rPr>
              <a:t>[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>
                <a:solidFill>
                  <a:schemeClr val="accent2"/>
                </a:solidFill>
              </a:rPr>
              <a:t>]</a:t>
            </a:r>
            <a:r>
              <a:rPr lang="en-US" sz="2400" dirty="0">
                <a:solidFill>
                  <a:srgbClr val="0070C0"/>
                </a:solidFill>
              </a:rPr>
              <a:t>[0-9]</a:t>
            </a:r>
            <a:r>
              <a:rPr lang="en-US" sz="2400" dirty="0">
                <a:solidFill>
                  <a:schemeClr val="accent2"/>
                </a:solidFill>
              </a:rPr>
              <a:t>[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>
                <a:solidFill>
                  <a:srgbClr val="7030A0"/>
                </a:solidFill>
              </a:rPr>
              <a:t>\]</a:t>
            </a:r>
            <a:r>
              <a:rPr lang="en-US" sz="2400" dirty="0">
                <a:solidFill>
                  <a:schemeClr val="accent2"/>
                </a:solidFill>
              </a:rPr>
              <a:t>]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ru-RU" dirty="0"/>
              <a:t>или</a:t>
            </a:r>
            <a:r>
              <a:rPr lang="en-US" dirty="0"/>
              <a:t> 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chemeClr val="accent2"/>
                </a:solidFill>
              </a:rPr>
              <a:t>[</a:t>
            </a:r>
            <a:r>
              <a:rPr lang="en-US" sz="2400" dirty="0">
                <a:solidFill>
                  <a:srgbClr val="7030A0"/>
                </a:solidFill>
              </a:rPr>
              <a:t>[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>
                <a:solidFill>
                  <a:schemeClr val="accent2"/>
                </a:solidFill>
              </a:rPr>
              <a:t>]</a:t>
            </a:r>
            <a:r>
              <a:rPr lang="en-US" sz="2400" dirty="0">
                <a:solidFill>
                  <a:srgbClr val="0070C0"/>
                </a:solidFill>
              </a:rPr>
              <a:t>[0-9]</a:t>
            </a:r>
            <a:r>
              <a:rPr lang="en-US" sz="2400" dirty="0">
                <a:solidFill>
                  <a:schemeClr val="accent2"/>
                </a:solidFill>
              </a:rPr>
              <a:t>[</a:t>
            </a:r>
            <a:r>
              <a:rPr lang="en-US" sz="2400" dirty="0">
                <a:solidFill>
                  <a:srgbClr val="7030A0"/>
                </a:solidFill>
              </a:rPr>
              <a:t>]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>
                <a:solidFill>
                  <a:schemeClr val="accent2"/>
                </a:solidFill>
              </a:rPr>
              <a:t>]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2003[-/]10[-/]05[-/]</a:t>
            </a:r>
            <a:r>
              <a:rPr lang="en-US" dirty="0"/>
              <a:t> – </a:t>
            </a:r>
            <a:r>
              <a:rPr lang="ru-RU" dirty="0"/>
              <a:t>найдет </a:t>
            </a:r>
            <a:r>
              <a:rPr lang="uk-UA" dirty="0">
                <a:solidFill>
                  <a:srgbClr val="0070C0"/>
                </a:solidFill>
              </a:rPr>
              <a:t>2003-10-05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uk-UA" dirty="0">
                <a:solidFill>
                  <a:srgbClr val="0070C0"/>
                </a:solidFill>
              </a:rPr>
              <a:t>2003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uk-UA" dirty="0">
                <a:solidFill>
                  <a:srgbClr val="0070C0"/>
                </a:solidFill>
              </a:rPr>
              <a:t>10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uk-UA" dirty="0">
                <a:solidFill>
                  <a:srgbClr val="0070C0"/>
                </a:solidFill>
              </a:rPr>
              <a:t>05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4575319"/>
            <a:ext cx="8856984" cy="166199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Если в наборе ищем символ </a:t>
            </a:r>
            <a:r>
              <a:rPr lang="ru-RU" dirty="0">
                <a:solidFill>
                  <a:schemeClr val="accent2"/>
                </a:solidFill>
              </a:rPr>
              <a:t>–</a:t>
            </a:r>
            <a:r>
              <a:rPr lang="ru-RU" dirty="0"/>
              <a:t> то он должен быть предварен обратным слешем или стоять в начале набора </a:t>
            </a:r>
          </a:p>
          <a:p>
            <a:endParaRPr lang="ru-RU" dirty="0"/>
          </a:p>
          <a:p>
            <a:r>
              <a:rPr lang="ru-RU" dirty="0"/>
              <a:t>Например ищем  </a:t>
            </a:r>
            <a:r>
              <a:rPr lang="en-US" sz="2400" dirty="0">
                <a:solidFill>
                  <a:schemeClr val="accent2"/>
                </a:solidFill>
              </a:rPr>
              <a:t>file01  file-1  file\1 file_1</a:t>
            </a:r>
            <a:endParaRPr lang="ru-RU" sz="2400" dirty="0">
              <a:solidFill>
                <a:schemeClr val="accent2"/>
              </a:solidFill>
            </a:endParaRPr>
          </a:p>
          <a:p>
            <a:r>
              <a:rPr lang="ru-RU" dirty="0"/>
              <a:t> </a:t>
            </a:r>
            <a:r>
              <a:rPr lang="en-US" sz="2400" dirty="0">
                <a:solidFill>
                  <a:srgbClr val="7030A0"/>
                </a:solidFill>
              </a:rPr>
              <a:t>file[-0\\_]1</a:t>
            </a:r>
            <a:r>
              <a:rPr lang="ru-RU" sz="2400" dirty="0">
                <a:solidFill>
                  <a:srgbClr val="7030A0"/>
                </a:solidFill>
              </a:rPr>
              <a:t> </a:t>
            </a:r>
            <a:r>
              <a:rPr lang="ru-RU" dirty="0"/>
              <a:t> или  </a:t>
            </a:r>
            <a:r>
              <a:rPr lang="en-US" sz="2400" dirty="0">
                <a:solidFill>
                  <a:srgbClr val="7030A0"/>
                </a:solidFill>
              </a:rPr>
              <a:t>file[0\-\\_]1</a:t>
            </a:r>
            <a:endParaRPr lang="ru-RU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185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1932" y="30184"/>
            <a:ext cx="2732524" cy="415498"/>
          </a:xfrm>
          <a:prstGeom prst="rect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 lnSpcReduction="1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sz="24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lang="en-US" dirty="0"/>
              <a:t>Repetition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419872" y="15007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*  +  ? </a:t>
            </a:r>
            <a:endParaRPr lang="ru-RU" sz="2400" b="1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863605"/>
            <a:ext cx="8928992" cy="175432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0070C0"/>
                </a:solidFill>
              </a:rPr>
              <a:t>apples* </a:t>
            </a:r>
            <a:r>
              <a:rPr lang="en-US" dirty="0"/>
              <a:t>- </a:t>
            </a:r>
            <a:r>
              <a:rPr lang="ru-RU" dirty="0"/>
              <a:t>совпадает с </a:t>
            </a:r>
            <a:r>
              <a:rPr lang="en-US" dirty="0">
                <a:solidFill>
                  <a:schemeClr val="accent6"/>
                </a:solidFill>
              </a:rPr>
              <a:t>apple, apples, </a:t>
            </a:r>
            <a:r>
              <a:rPr lang="en-US" dirty="0" err="1">
                <a:solidFill>
                  <a:schemeClr val="accent6"/>
                </a:solidFill>
              </a:rPr>
              <a:t>applesssss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apples+ </a:t>
            </a:r>
            <a:r>
              <a:rPr lang="en-US" dirty="0"/>
              <a:t>- </a:t>
            </a:r>
            <a:r>
              <a:rPr lang="ru-RU" dirty="0"/>
              <a:t>совпадает с </a:t>
            </a:r>
            <a:r>
              <a:rPr lang="en-US" dirty="0"/>
              <a:t>       </a:t>
            </a:r>
            <a:r>
              <a:rPr lang="en-US" dirty="0">
                <a:solidFill>
                  <a:schemeClr val="accent6"/>
                </a:solidFill>
              </a:rPr>
              <a:t>apples, </a:t>
            </a:r>
            <a:r>
              <a:rPr lang="en-US" dirty="0" err="1">
                <a:solidFill>
                  <a:schemeClr val="accent6"/>
                </a:solidFill>
              </a:rPr>
              <a:t>applesssss</a:t>
            </a:r>
            <a:endParaRPr lang="ru-RU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apples? </a:t>
            </a:r>
            <a:r>
              <a:rPr lang="en-US" dirty="0"/>
              <a:t>- </a:t>
            </a:r>
            <a:r>
              <a:rPr lang="ru-RU" dirty="0"/>
              <a:t>совпадает с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apple, apples </a:t>
            </a:r>
            <a:r>
              <a:rPr lang="ru-RU" dirty="0"/>
              <a:t>не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/>
              <a:t>совпадает с </a:t>
            </a:r>
            <a:r>
              <a:rPr lang="en-US" dirty="0" err="1">
                <a:solidFill>
                  <a:schemeClr val="accent6"/>
                </a:solidFill>
              </a:rPr>
              <a:t>applesssss</a:t>
            </a:r>
            <a:endParaRPr lang="ru-RU" dirty="0">
              <a:solidFill>
                <a:schemeClr val="accent6"/>
              </a:solidFill>
            </a:endParaRPr>
          </a:p>
          <a:p>
            <a:endParaRPr lang="ru-RU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colou?r</a:t>
            </a:r>
            <a:r>
              <a:rPr lang="en-US" dirty="0">
                <a:solidFill>
                  <a:srgbClr val="0070C0"/>
                </a:solidFill>
              </a:rPr>
              <a:t> -</a:t>
            </a:r>
            <a:r>
              <a:rPr lang="en-US" dirty="0"/>
              <a:t> </a:t>
            </a:r>
            <a:r>
              <a:rPr lang="ru-RU" dirty="0"/>
              <a:t>совпадает с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color</a:t>
            </a:r>
            <a:r>
              <a:rPr lang="ru-RU" dirty="0"/>
              <a:t> и </a:t>
            </a:r>
            <a:r>
              <a:rPr lang="en-US" dirty="0" err="1">
                <a:solidFill>
                  <a:schemeClr val="accent6"/>
                </a:solidFill>
              </a:rPr>
              <a:t>colour</a:t>
            </a:r>
            <a:endParaRPr lang="ru-RU" dirty="0">
              <a:solidFill>
                <a:schemeClr val="accent6"/>
              </a:solidFill>
            </a:endParaRPr>
          </a:p>
          <a:p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443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65821"/>
            <a:ext cx="2592288" cy="410851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400" dirty="0"/>
              <a:t> {</a:t>
            </a:r>
            <a:r>
              <a:rPr lang="en-US" sz="2400" dirty="0" err="1"/>
              <a:t>min,max</a:t>
            </a:r>
            <a:r>
              <a:rPr lang="en-US" sz="2400" dirty="0"/>
              <a:t>}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611396"/>
            <a:ext cx="8928992" cy="175432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min – </a:t>
            </a:r>
            <a:r>
              <a:rPr lang="ru-RU" dirty="0"/>
              <a:t>всегда присутствует, может быть 0</a:t>
            </a:r>
          </a:p>
          <a:p>
            <a:r>
              <a:rPr lang="en-US" dirty="0"/>
              <a:t>max – </a:t>
            </a:r>
            <a:r>
              <a:rPr lang="ru-RU" dirty="0"/>
              <a:t>необязательно</a:t>
            </a:r>
          </a:p>
          <a:p>
            <a:endParaRPr lang="ru-RU" dirty="0"/>
          </a:p>
          <a:p>
            <a:r>
              <a:rPr lang="en-US" dirty="0">
                <a:solidFill>
                  <a:srgbClr val="0070C0"/>
                </a:solidFill>
              </a:rPr>
              <a:t>a{4,8} </a:t>
            </a:r>
            <a:r>
              <a:rPr lang="en-US" dirty="0"/>
              <a:t>- </a:t>
            </a:r>
            <a:r>
              <a:rPr lang="ru-RU" dirty="0"/>
              <a:t>совпадает от</a:t>
            </a:r>
            <a:r>
              <a:rPr lang="en-US" dirty="0"/>
              <a:t> </a:t>
            </a:r>
            <a:r>
              <a:rPr lang="ru-RU" dirty="0"/>
              <a:t>четырех до восьми  </a:t>
            </a:r>
            <a:r>
              <a:rPr lang="uk-UA" dirty="0"/>
              <a:t>букв </a:t>
            </a:r>
            <a:r>
              <a:rPr lang="en-US" dirty="0">
                <a:solidFill>
                  <a:srgbClr val="0070C0"/>
                </a:solidFill>
              </a:rPr>
              <a:t>a</a:t>
            </a:r>
            <a:endParaRPr lang="ru-RU" dirty="0"/>
          </a:p>
          <a:p>
            <a:r>
              <a:rPr lang="en-US" dirty="0">
                <a:solidFill>
                  <a:srgbClr val="0070C0"/>
                </a:solidFill>
              </a:rPr>
              <a:t>a{4} </a:t>
            </a:r>
            <a:r>
              <a:rPr lang="ru-RU" dirty="0">
                <a:solidFill>
                  <a:srgbClr val="0070C0"/>
                </a:solidFill>
              </a:rPr>
              <a:t>  </a:t>
            </a:r>
            <a:r>
              <a:rPr lang="en-US" dirty="0"/>
              <a:t>- </a:t>
            </a:r>
            <a:r>
              <a:rPr lang="ru-RU" dirty="0"/>
              <a:t>совпадает точно с</a:t>
            </a:r>
            <a:r>
              <a:rPr lang="en-US" dirty="0"/>
              <a:t> </a:t>
            </a:r>
            <a:r>
              <a:rPr lang="ru-RU" dirty="0" err="1"/>
              <a:t>четырмя</a:t>
            </a:r>
            <a:r>
              <a:rPr lang="ru-RU" dirty="0"/>
              <a:t> буквами </a:t>
            </a:r>
            <a:r>
              <a:rPr lang="en-US" dirty="0">
                <a:solidFill>
                  <a:srgbClr val="0070C0"/>
                </a:solidFill>
              </a:rPr>
              <a:t>a</a:t>
            </a:r>
            <a:endParaRPr lang="ru-RU" dirty="0"/>
          </a:p>
          <a:p>
            <a:r>
              <a:rPr lang="en-US" dirty="0">
                <a:solidFill>
                  <a:srgbClr val="0070C0"/>
                </a:solidFill>
              </a:rPr>
              <a:t>a{4,} 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/>
              <a:t>- </a:t>
            </a:r>
            <a:r>
              <a:rPr lang="ru-RU" dirty="0"/>
              <a:t>совпадает от</a:t>
            </a:r>
            <a:r>
              <a:rPr lang="en-US" dirty="0"/>
              <a:t> </a:t>
            </a:r>
            <a:r>
              <a:rPr lang="ru-RU" dirty="0"/>
              <a:t>четырех и более  букв </a:t>
            </a:r>
            <a:r>
              <a:rPr lang="en-US" dirty="0">
                <a:solidFill>
                  <a:srgbClr val="0070C0"/>
                </a:solidFill>
              </a:rPr>
              <a:t>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4453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968552" cy="360040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400" dirty="0"/>
              <a:t>shorthand</a:t>
            </a:r>
            <a:r>
              <a:rPr lang="ru-RU" sz="2400" dirty="0"/>
              <a:t> </a:t>
            </a:r>
            <a:r>
              <a:rPr lang="en-US" sz="2400" dirty="0"/>
              <a:t> </a:t>
            </a:r>
            <a:r>
              <a:rPr lang="ru-RU" sz="2400" dirty="0"/>
              <a:t>с</a:t>
            </a:r>
            <a:r>
              <a:rPr lang="en-US" sz="2400" dirty="0" err="1"/>
              <a:t>haracter</a:t>
            </a:r>
            <a:r>
              <a:rPr lang="en-US" sz="2400" dirty="0"/>
              <a:t> sets</a:t>
            </a:r>
            <a:endParaRPr lang="ru-RU" sz="24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737965"/>
              </p:ext>
            </p:extLst>
          </p:nvPr>
        </p:nvGraphicFramePr>
        <p:xfrm>
          <a:off x="145453" y="548680"/>
          <a:ext cx="543465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shorthand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смысл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Эквивалент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\d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числа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[0-9]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\w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АЦС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[a-zA-Z0-9_]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\s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b="1" dirty="0" err="1">
                          <a:solidFill>
                            <a:schemeClr val="tx1"/>
                          </a:solidFill>
                        </a:rPr>
                        <a:t>пробел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[ \s\t\n]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\D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не </a:t>
                      </a:r>
                      <a:r>
                        <a:rPr lang="ru-RU" b="1" dirty="0"/>
                        <a:t>числа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[^0-9]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\W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не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АЦС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[^a-zA-Z0-9_]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\S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не </a:t>
                      </a:r>
                      <a:r>
                        <a:rPr lang="uk-UA" b="1" dirty="0" err="1">
                          <a:solidFill>
                            <a:schemeClr val="tx1"/>
                          </a:solidFill>
                        </a:rPr>
                        <a:t>пробел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[^ \s\t\n]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96136" y="548680"/>
            <a:ext cx="3173433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chemeClr val="accent2"/>
                </a:solidFill>
              </a:rPr>
              <a:t>Внимание !!!</a:t>
            </a:r>
          </a:p>
          <a:p>
            <a:r>
              <a:rPr lang="ru-RU" dirty="0">
                <a:solidFill>
                  <a:schemeClr val="accent2"/>
                </a:solidFill>
              </a:rPr>
              <a:t>_   </a:t>
            </a:r>
            <a:r>
              <a:rPr lang="ru-RU" dirty="0"/>
              <a:t>это АЦС</a:t>
            </a:r>
          </a:p>
          <a:p>
            <a:endParaRPr lang="ru-RU" dirty="0">
              <a:solidFill>
                <a:schemeClr val="accent2"/>
              </a:solidFill>
            </a:endParaRPr>
          </a:p>
          <a:p>
            <a:r>
              <a:rPr lang="ru-RU" dirty="0">
                <a:solidFill>
                  <a:schemeClr val="accent2"/>
                </a:solidFill>
              </a:rPr>
              <a:t>-   </a:t>
            </a:r>
            <a:r>
              <a:rPr lang="ru-RU" dirty="0"/>
              <a:t>это не АЦС</a:t>
            </a:r>
          </a:p>
        </p:txBody>
      </p:sp>
    </p:spTree>
    <p:extLst>
      <p:ext uri="{BB962C8B-B14F-4D97-AF65-F5344CB8AC3E}">
        <p14:creationId xmlns:p14="http://schemas.microsoft.com/office/powerpoint/2010/main" val="206439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63688" y="101824"/>
            <a:ext cx="5803410" cy="446856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400" dirty="0"/>
              <a:t>Группировка символов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810973"/>
            <a:ext cx="8928992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Группировать можно символы, наборы (</a:t>
            </a:r>
            <a:r>
              <a:rPr lang="en-US" dirty="0"/>
              <a:t>character sets</a:t>
            </a:r>
            <a:r>
              <a:rPr lang="ru-RU" dirty="0"/>
              <a:t>).</a:t>
            </a:r>
          </a:p>
          <a:p>
            <a:r>
              <a:rPr lang="ru-RU" dirty="0"/>
              <a:t>Но группы нельзя использовать в наборах.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08" y="1857598"/>
            <a:ext cx="8928992" cy="2400657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3200" dirty="0">
                <a:solidFill>
                  <a:schemeClr val="accent2"/>
                </a:solidFill>
              </a:rPr>
              <a:t>(</a:t>
            </a:r>
            <a:r>
              <a:rPr lang="en-US" sz="3200" dirty="0" err="1">
                <a:solidFill>
                  <a:schemeClr val="accent2"/>
                </a:solidFill>
              </a:rPr>
              <a:t>abc</a:t>
            </a:r>
            <a:r>
              <a:rPr lang="en-US" sz="3200" dirty="0">
                <a:solidFill>
                  <a:schemeClr val="accent2"/>
                </a:solidFill>
              </a:rPr>
              <a:t>)+ </a:t>
            </a:r>
            <a:r>
              <a:rPr lang="ru-RU" dirty="0"/>
              <a:t>найдет </a:t>
            </a:r>
            <a:r>
              <a:rPr lang="uk-UA" sz="2000" dirty="0">
                <a:solidFill>
                  <a:schemeClr val="accent2"/>
                </a:solidFill>
              </a:rPr>
              <a:t>"</a:t>
            </a:r>
            <a:r>
              <a:rPr lang="en-US" sz="2000" dirty="0" err="1">
                <a:solidFill>
                  <a:schemeClr val="accent2"/>
                </a:solidFill>
              </a:rPr>
              <a:t>abcabcabc</a:t>
            </a:r>
            <a:r>
              <a:rPr lang="uk-UA" sz="2000" dirty="0">
                <a:solidFill>
                  <a:schemeClr val="accent2"/>
                </a:solidFill>
              </a:rPr>
              <a:t>"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sz="3200" dirty="0">
                <a:cs typeface="Courier New"/>
              </a:rPr>
              <a:t>(</a:t>
            </a:r>
            <a:r>
              <a:rPr lang="en-US" sz="3200" dirty="0">
                <a:solidFill>
                  <a:schemeClr val="accent2"/>
                </a:solidFill>
              </a:rPr>
              <a:t>in)?depended </a:t>
            </a:r>
            <a:r>
              <a:rPr lang="ru-RU" dirty="0"/>
              <a:t>найдет </a:t>
            </a:r>
            <a:r>
              <a:rPr lang="uk-UA" sz="2000" dirty="0">
                <a:solidFill>
                  <a:schemeClr val="accent2"/>
                </a:solidFill>
              </a:rPr>
              <a:t>"</a:t>
            </a:r>
            <a:r>
              <a:rPr lang="en-US" sz="2000" dirty="0">
                <a:solidFill>
                  <a:schemeClr val="accent2"/>
                </a:solidFill>
              </a:rPr>
              <a:t>depended</a:t>
            </a:r>
            <a:r>
              <a:rPr lang="uk-UA" sz="2000" dirty="0">
                <a:solidFill>
                  <a:schemeClr val="accent2"/>
                </a:solidFill>
              </a:rPr>
              <a:t>"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ru-RU" dirty="0">
                <a:cs typeface="Courier New"/>
              </a:rPr>
              <a:t>и </a:t>
            </a:r>
            <a:r>
              <a:rPr lang="uk-UA" sz="2000" dirty="0">
                <a:solidFill>
                  <a:schemeClr val="accent2"/>
                </a:solidFill>
              </a:rPr>
              <a:t>"</a:t>
            </a:r>
            <a:r>
              <a:rPr lang="en-US" sz="2000" dirty="0" err="1">
                <a:solidFill>
                  <a:schemeClr val="accent2"/>
                </a:solidFill>
              </a:rPr>
              <a:t>independed</a:t>
            </a:r>
            <a:r>
              <a:rPr lang="uk-UA" sz="2000" dirty="0">
                <a:solidFill>
                  <a:schemeClr val="accent2"/>
                </a:solidFill>
              </a:rPr>
              <a:t>“</a:t>
            </a:r>
            <a:endParaRPr lang="en-US" sz="2000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 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run</a:t>
            </a:r>
            <a:r>
              <a:rPr lang="ru-RU" sz="3200" dirty="0">
                <a:solidFill>
                  <a:schemeClr val="accent2"/>
                </a:solidFill>
              </a:rPr>
              <a:t>(</a:t>
            </a:r>
            <a:r>
              <a:rPr lang="en-US" sz="3200" dirty="0">
                <a:solidFill>
                  <a:schemeClr val="accent2"/>
                </a:solidFill>
              </a:rPr>
              <a:t>s</a:t>
            </a:r>
            <a:r>
              <a:rPr lang="ru-RU" sz="3200" dirty="0">
                <a:solidFill>
                  <a:schemeClr val="accent2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?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ru-RU" dirty="0"/>
              <a:t>То же самое что и </a:t>
            </a:r>
            <a:r>
              <a:rPr lang="en-US" dirty="0"/>
              <a:t> </a:t>
            </a:r>
            <a:r>
              <a:rPr lang="en-US" sz="2000" dirty="0">
                <a:solidFill>
                  <a:schemeClr val="accent2"/>
                </a:solidFill>
              </a:rPr>
              <a:t>runs?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377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75856" y="35332"/>
            <a:ext cx="2592288" cy="369332"/>
          </a:xfr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sz="1800" dirty="0">
                <a:solidFill>
                  <a:schemeClr val="tx1"/>
                </a:solidFill>
              </a:rPr>
              <a:t>Альтернатива  </a:t>
            </a:r>
            <a:r>
              <a:rPr lang="en-US" sz="1800" dirty="0">
                <a:solidFill>
                  <a:schemeClr val="tx1"/>
                </a:solidFill>
              </a:rPr>
              <a:t>|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447797"/>
            <a:ext cx="8928992" cy="249299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800" dirty="0" err="1">
                <a:solidFill>
                  <a:schemeClr val="accent2"/>
                </a:solidFill>
              </a:rPr>
              <a:t>apple|orange</a:t>
            </a:r>
            <a:r>
              <a:rPr lang="en-US" sz="2800" dirty="0">
                <a:solidFill>
                  <a:schemeClr val="accent2"/>
                </a:solidFill>
              </a:rPr>
              <a:t>  </a:t>
            </a:r>
            <a:r>
              <a:rPr lang="en-US" sz="2000" dirty="0">
                <a:solidFill>
                  <a:srgbClr val="7030A0"/>
                </a:solidFill>
              </a:rPr>
              <a:t>-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ru-RU" dirty="0"/>
              <a:t>найдет </a:t>
            </a:r>
            <a:r>
              <a:rPr lang="uk-UA" dirty="0">
                <a:solidFill>
                  <a:schemeClr val="accent2"/>
                </a:solidFill>
              </a:rPr>
              <a:t>"</a:t>
            </a:r>
            <a:r>
              <a:rPr lang="en-US" dirty="0">
                <a:solidFill>
                  <a:schemeClr val="accent2"/>
                </a:solidFill>
              </a:rPr>
              <a:t>apple</a:t>
            </a:r>
            <a:r>
              <a:rPr lang="uk-UA" dirty="0">
                <a:solidFill>
                  <a:schemeClr val="accent2"/>
                </a:solidFill>
              </a:rPr>
              <a:t>"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ru-RU" dirty="0"/>
              <a:t>и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uk-UA" dirty="0">
                <a:solidFill>
                  <a:schemeClr val="accent2"/>
                </a:solidFill>
              </a:rPr>
              <a:t>"</a:t>
            </a:r>
            <a:r>
              <a:rPr lang="en-US" dirty="0">
                <a:solidFill>
                  <a:schemeClr val="accent2"/>
                </a:solidFill>
              </a:rPr>
              <a:t>orange</a:t>
            </a:r>
            <a:r>
              <a:rPr lang="uk-UA" dirty="0">
                <a:solidFill>
                  <a:schemeClr val="accent2"/>
                </a:solidFill>
              </a:rPr>
              <a:t>"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sz="2800" dirty="0">
                <a:solidFill>
                  <a:schemeClr val="accent2"/>
                </a:solidFill>
              </a:rPr>
              <a:t>apple</a:t>
            </a:r>
            <a:r>
              <a:rPr lang="en-US" sz="2800" dirty="0">
                <a:solidFill>
                  <a:srgbClr val="7030A0"/>
                </a:solidFill>
              </a:rPr>
              <a:t>(</a:t>
            </a:r>
            <a:r>
              <a:rPr lang="en-US" sz="2800" dirty="0" err="1">
                <a:solidFill>
                  <a:srgbClr val="7030A0"/>
                </a:solidFill>
              </a:rPr>
              <a:t>juice|sauce</a:t>
            </a:r>
            <a:r>
              <a:rPr lang="en-US" sz="2800" dirty="0">
                <a:solidFill>
                  <a:srgbClr val="7030A0"/>
                </a:solidFill>
              </a:rPr>
              <a:t>)</a:t>
            </a:r>
          </a:p>
          <a:p>
            <a:r>
              <a:rPr lang="en-US" dirty="0">
                <a:solidFill>
                  <a:srgbClr val="7030A0"/>
                </a:solidFill>
              </a:rPr>
              <a:t> –  </a:t>
            </a:r>
            <a:r>
              <a:rPr lang="ru-RU" dirty="0"/>
              <a:t>это не то же самое что и </a:t>
            </a:r>
            <a:r>
              <a:rPr lang="en-US" dirty="0" err="1">
                <a:solidFill>
                  <a:schemeClr val="accent2"/>
                </a:solidFill>
              </a:rPr>
              <a:t>applejuice|sauce</a:t>
            </a:r>
            <a:endParaRPr lang="ru-RU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sz="2800" dirty="0">
                <a:solidFill>
                  <a:schemeClr val="accent2"/>
                </a:solidFill>
              </a:rPr>
              <a:t>w(</a:t>
            </a:r>
            <a:r>
              <a:rPr lang="en-US" sz="2800" dirty="0" err="1">
                <a:solidFill>
                  <a:schemeClr val="accent2"/>
                </a:solidFill>
              </a:rPr>
              <a:t>ei|ie</a:t>
            </a:r>
            <a:r>
              <a:rPr lang="en-US" sz="2800" dirty="0">
                <a:solidFill>
                  <a:schemeClr val="accent2"/>
                </a:solidFill>
              </a:rPr>
              <a:t>)</a:t>
            </a:r>
            <a:r>
              <a:rPr lang="en-US" sz="2800" dirty="0" err="1">
                <a:solidFill>
                  <a:schemeClr val="accent2"/>
                </a:solidFill>
              </a:rPr>
              <a:t>rd</a:t>
            </a:r>
            <a:r>
              <a:rPr lang="ru-RU" sz="2800" dirty="0">
                <a:solidFill>
                  <a:schemeClr val="accent2"/>
                </a:solidFill>
              </a:rPr>
              <a:t> 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rgbClr val="7030A0"/>
                </a:solidFill>
              </a:rPr>
              <a:t>- </a:t>
            </a:r>
            <a:r>
              <a:rPr lang="ru-RU" dirty="0"/>
              <a:t>найдет </a:t>
            </a:r>
            <a:r>
              <a:rPr lang="uk-UA" dirty="0">
                <a:solidFill>
                  <a:schemeClr val="accent2"/>
                </a:solidFill>
              </a:rPr>
              <a:t>"</a:t>
            </a:r>
            <a:r>
              <a:rPr lang="en-US" dirty="0">
                <a:solidFill>
                  <a:schemeClr val="accent2"/>
                </a:solidFill>
              </a:rPr>
              <a:t>weird</a:t>
            </a:r>
            <a:r>
              <a:rPr lang="uk-UA" dirty="0">
                <a:solidFill>
                  <a:schemeClr val="accent2"/>
                </a:solidFill>
              </a:rPr>
              <a:t>"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ru-RU" dirty="0"/>
              <a:t>и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uk-UA" dirty="0">
                <a:solidFill>
                  <a:schemeClr val="accent2"/>
                </a:solidFill>
              </a:rPr>
              <a:t>"</a:t>
            </a:r>
            <a:r>
              <a:rPr lang="en-US" dirty="0" err="1">
                <a:solidFill>
                  <a:schemeClr val="accent2"/>
                </a:solidFill>
              </a:rPr>
              <a:t>wierd</a:t>
            </a:r>
            <a:r>
              <a:rPr lang="uk-UA" dirty="0">
                <a:solidFill>
                  <a:schemeClr val="accent2"/>
                </a:solidFill>
              </a:rPr>
              <a:t>"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0" y="3403811"/>
            <a:ext cx="7663196" cy="18253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0063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6478"/>
            <a:ext cx="5256584" cy="369332"/>
          </a:xfr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l"/>
            <a:r>
              <a:rPr lang="ru-RU" sz="1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Метасимволы начала и окончания строк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96" y="476672"/>
            <a:ext cx="3168352" cy="830997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400" dirty="0">
                <a:solidFill>
                  <a:schemeClr val="accent2"/>
                </a:solidFill>
              </a:rPr>
              <a:t>^</a:t>
            </a:r>
            <a:r>
              <a:rPr lang="en-US" dirty="0"/>
              <a:t> - </a:t>
            </a:r>
            <a:r>
              <a:rPr lang="ru-RU" dirty="0"/>
              <a:t>начало строки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$</a:t>
            </a:r>
            <a:r>
              <a:rPr lang="en-US" dirty="0"/>
              <a:t> - </a:t>
            </a:r>
            <a:r>
              <a:rPr lang="ru-RU" dirty="0"/>
              <a:t>окончание строки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4235" y="505247"/>
            <a:ext cx="5688632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Метасимволы </a:t>
            </a:r>
            <a:r>
              <a:rPr lang="en-US" dirty="0">
                <a:solidFill>
                  <a:schemeClr val="accent2"/>
                </a:solidFill>
              </a:rPr>
              <a:t>^ 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/>
              <a:t>и </a:t>
            </a:r>
            <a:r>
              <a:rPr lang="en-US" dirty="0">
                <a:solidFill>
                  <a:schemeClr val="accent2"/>
                </a:solidFill>
              </a:rPr>
              <a:t>$</a:t>
            </a:r>
            <a:r>
              <a:rPr lang="ru-RU" dirty="0"/>
              <a:t> -  это позиции в строке а не символы.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4208" y="76684"/>
            <a:ext cx="2608659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regexp.html - 4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9019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419872" y="39978"/>
            <a:ext cx="2304256" cy="369332"/>
          </a:xfr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References</a:t>
            </a:r>
            <a:endParaRPr lang="ru-RU" sz="1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467380"/>
            <a:ext cx="8928992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Любой блок РВ, обрамленный в выражении скобками, выделяется как единое целое и записывается в так называемый "карман" (номер кармана соответствует порядковому номеру открывающей скобки)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1484784"/>
            <a:ext cx="8928992" cy="2185214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Например, ищем дату в формате </a:t>
            </a:r>
            <a:r>
              <a:rPr lang="en-US" dirty="0"/>
              <a:t>DD-MM-YYYY </a:t>
            </a:r>
            <a:r>
              <a:rPr lang="uk-UA" dirty="0" err="1"/>
              <a:t>но</a:t>
            </a:r>
            <a:r>
              <a:rPr lang="uk-UA" dirty="0"/>
              <a:t> </a:t>
            </a:r>
            <a:r>
              <a:rPr lang="uk-UA" dirty="0" err="1"/>
              <a:t>между</a:t>
            </a:r>
            <a:r>
              <a:rPr lang="uk-UA" dirty="0"/>
              <a:t> цифрами </a:t>
            </a:r>
            <a:r>
              <a:rPr lang="uk-UA" dirty="0" err="1"/>
              <a:t>могут</a:t>
            </a:r>
            <a:r>
              <a:rPr lang="uk-UA" dirty="0"/>
              <a:t> </a:t>
            </a:r>
            <a:r>
              <a:rPr lang="uk-UA" dirty="0" err="1"/>
              <a:t>быть</a:t>
            </a:r>
            <a:r>
              <a:rPr lang="uk-UA" dirty="0"/>
              <a:t> </a:t>
            </a:r>
            <a:r>
              <a:rPr lang="uk-UA" dirty="0" err="1"/>
              <a:t>пробелы</a:t>
            </a:r>
            <a:r>
              <a:rPr lang="uk-UA" dirty="0"/>
              <a:t>, знаки </a:t>
            </a:r>
            <a:r>
              <a:rPr lang="uk-UA" dirty="0" err="1"/>
              <a:t>пунктуации</a:t>
            </a:r>
            <a:r>
              <a:rPr lang="uk-UA" dirty="0"/>
              <a:t> и т.д.</a:t>
            </a:r>
          </a:p>
          <a:p>
            <a:endParaRPr lang="uk-UA" dirty="0"/>
          </a:p>
          <a:p>
            <a:r>
              <a:rPr lang="en-US" sz="2800" dirty="0"/>
              <a:t>/\s*</a:t>
            </a:r>
            <a:r>
              <a:rPr lang="en-US" sz="2800" dirty="0">
                <a:solidFill>
                  <a:schemeClr val="accent2"/>
                </a:solidFill>
              </a:rPr>
              <a:t>(\d+)</a:t>
            </a:r>
            <a:r>
              <a:rPr lang="en-US" sz="2800" dirty="0"/>
              <a:t>\s*</a:t>
            </a:r>
            <a:r>
              <a:rPr lang="en-US" sz="2800" dirty="0">
                <a:solidFill>
                  <a:schemeClr val="accent2"/>
                </a:solidFill>
              </a:rPr>
              <a:t>(\d+)</a:t>
            </a:r>
            <a:r>
              <a:rPr lang="en-US" sz="2800" dirty="0"/>
              <a:t>\s*</a:t>
            </a:r>
            <a:r>
              <a:rPr lang="en-US" sz="2800" dirty="0">
                <a:solidFill>
                  <a:schemeClr val="accent2"/>
                </a:solidFill>
              </a:rPr>
              <a:t>(\d+)</a:t>
            </a:r>
            <a:r>
              <a:rPr lang="en-US" sz="2800" dirty="0"/>
              <a:t>\s*$/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ru-RU" dirty="0" err="1"/>
              <a:t>Т.о</a:t>
            </a:r>
            <a:r>
              <a:rPr lang="ru-RU" dirty="0"/>
              <a:t>. получим 3 кармана, номера которых равны номеру открывающей скобки.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4" y="3812847"/>
            <a:ext cx="8928992" cy="1200329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Карманы можно использовать далее в РВ для ссылки на их содержимое, например</a:t>
            </a:r>
            <a:endParaRPr lang="en-US" dirty="0"/>
          </a:p>
          <a:p>
            <a:r>
              <a:rPr lang="en-US" dirty="0" err="1"/>
              <a:t>Regx</a:t>
            </a:r>
            <a:r>
              <a:rPr lang="en-US" dirty="0"/>
              <a:t>  </a:t>
            </a:r>
            <a:r>
              <a:rPr lang="en-US" dirty="0">
                <a:solidFill>
                  <a:schemeClr val="accent2"/>
                </a:solidFill>
              </a:rPr>
              <a:t>/apples to \1/</a:t>
            </a:r>
            <a:r>
              <a:rPr lang="en-US" dirty="0"/>
              <a:t>  </a:t>
            </a:r>
            <a:r>
              <a:rPr lang="uk-UA" dirty="0" err="1"/>
              <a:t>соответствует</a:t>
            </a:r>
            <a:r>
              <a:rPr lang="uk-UA" dirty="0"/>
              <a:t> с</a:t>
            </a:r>
            <a:r>
              <a:rPr lang="ru-RU" dirty="0"/>
              <a:t>троке  </a:t>
            </a:r>
            <a:r>
              <a:rPr lang="en-US" dirty="0">
                <a:solidFill>
                  <a:schemeClr val="accent2"/>
                </a:solidFill>
              </a:rPr>
              <a:t>apples to apples</a:t>
            </a:r>
            <a:endParaRPr lang="ru-RU" dirty="0">
              <a:solidFill>
                <a:schemeClr val="accent2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5357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1079" y="28877"/>
            <a:ext cx="8928992" cy="646331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По умолчанию повторения жадные, то есть стараются захватить как можно больше символов.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6231" y="836712"/>
            <a:ext cx="89038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Regex: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sz="2800" b="1" dirty="0">
                <a:solidFill>
                  <a:schemeClr val="accent2"/>
                </a:solidFill>
              </a:rPr>
              <a:t>.*</a:t>
            </a:r>
            <a:r>
              <a:rPr lang="en-US" sz="2800" b="1" dirty="0">
                <a:solidFill>
                  <a:srgbClr val="00B050"/>
                </a:solidFill>
              </a:rPr>
              <a:t>[0-9]+</a:t>
            </a:r>
            <a:endParaRPr lang="ru-RU" sz="28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628800"/>
            <a:ext cx="54726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kern="1300" spc="410" dirty="0"/>
              <a:t>Page 26</a:t>
            </a:r>
            <a:endParaRPr lang="ru-RU" kern="1300" spc="410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flipV="1">
            <a:off x="1284015" y="2852936"/>
            <a:ext cx="0" cy="364682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91200" y="1631935"/>
            <a:ext cx="913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8800" b="1" kern="1300" spc="410"/>
            </a:lvl1pPr>
          </a:lstStyle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737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59259E-6 L 0.08386 -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86 -2.59259E-6 L 0.16268 -2.59259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67 -2.59259E-6 L 0.25139 -2.59259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39 -1.48148E-6 L 0.40521 -1.48148E-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521 -2.59259E-6 L 0.50313 -2.59259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313 -2.59259E-6 L 0.57222 -2.59259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0"/>
                            </p:stCondLst>
                            <p:childTnLst>
                              <p:par>
                                <p:cTn id="2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7222 -2.59259E-6 L 0.62674 -2.59259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2674 4.81481E-6 L 0.5717 4.81481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795298" cy="36933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ru-RU" sz="1800" b="1" dirty="0"/>
              <a:t>Ограничение жадности повторителей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476672"/>
            <a:ext cx="4464496" cy="40011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000" dirty="0">
                <a:solidFill>
                  <a:schemeClr val="accent2"/>
                </a:solidFill>
              </a:rPr>
              <a:t>*?   +?    {</a:t>
            </a:r>
            <a:r>
              <a:rPr lang="en-US" sz="2000" dirty="0" err="1">
                <a:solidFill>
                  <a:schemeClr val="accent2"/>
                </a:solidFill>
              </a:rPr>
              <a:t>min,max</a:t>
            </a:r>
            <a:r>
              <a:rPr lang="en-US" sz="2000" dirty="0">
                <a:solidFill>
                  <a:schemeClr val="accent2"/>
                </a:solidFill>
              </a:rPr>
              <a:t>}?    ??</a:t>
            </a:r>
            <a:endParaRPr lang="ru-RU" sz="2000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1484784"/>
            <a:ext cx="8928992" cy="1200329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Regex:  </a:t>
            </a:r>
            <a:r>
              <a:rPr lang="en-US" dirty="0">
                <a:solidFill>
                  <a:schemeClr val="accent2"/>
                </a:solidFill>
              </a:rPr>
              <a:t>apples??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en-US" dirty="0"/>
              <a:t>String: </a:t>
            </a:r>
            <a:r>
              <a:rPr lang="en-US" dirty="0">
                <a:solidFill>
                  <a:schemeClr val="accent2"/>
                </a:solidFill>
              </a:rPr>
              <a:t>"We picked apples."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en-US" dirty="0"/>
              <a:t>Regex </a:t>
            </a:r>
            <a:r>
              <a:rPr lang="ru-RU" dirty="0"/>
              <a:t> будет действовать так - если есть слово </a:t>
            </a:r>
            <a:r>
              <a:rPr lang="en-US" dirty="0">
                <a:solidFill>
                  <a:schemeClr val="accent2"/>
                </a:solidFill>
              </a:rPr>
              <a:t>apples</a:t>
            </a:r>
            <a:r>
              <a:rPr lang="ru-RU" dirty="0"/>
              <a:t> то возьму слово </a:t>
            </a:r>
            <a:r>
              <a:rPr lang="en-US" dirty="0">
                <a:solidFill>
                  <a:schemeClr val="accent2"/>
                </a:solidFill>
              </a:rPr>
              <a:t>apple</a:t>
            </a:r>
            <a:r>
              <a:rPr lang="ru-RU" dirty="0"/>
              <a:t> а </a:t>
            </a:r>
            <a:r>
              <a:rPr lang="en-US" dirty="0">
                <a:solidFill>
                  <a:schemeClr val="accent2"/>
                </a:solidFill>
              </a:rPr>
              <a:t>s</a:t>
            </a:r>
            <a:r>
              <a:rPr lang="en-US" dirty="0"/>
              <a:t> </a:t>
            </a:r>
            <a:r>
              <a:rPr lang="ru-RU" dirty="0"/>
              <a:t>не обязательно захватывать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73" y="3933056"/>
            <a:ext cx="8928992" cy="2031325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Regex:</a:t>
            </a:r>
            <a:r>
              <a:rPr lang="ru-RU" dirty="0"/>
              <a:t> </a:t>
            </a:r>
            <a:r>
              <a:rPr lang="ru-RU" dirty="0">
                <a:solidFill>
                  <a:schemeClr val="accent2"/>
                </a:solidFill>
              </a:rPr>
              <a:t>.*?[0-9]+</a:t>
            </a:r>
          </a:p>
          <a:p>
            <a:r>
              <a:rPr lang="en-US" dirty="0"/>
              <a:t>String: </a:t>
            </a:r>
            <a:r>
              <a:rPr lang="ru-RU" dirty="0"/>
              <a:t>  </a:t>
            </a:r>
            <a:r>
              <a:rPr lang="en-US" dirty="0">
                <a:solidFill>
                  <a:schemeClr val="accent2"/>
                </a:solidFill>
              </a:rPr>
              <a:t>Page 266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en-US" dirty="0"/>
              <a:t>Regex</a:t>
            </a:r>
            <a:r>
              <a:rPr lang="ru-RU" dirty="0"/>
              <a:t> сначала будет пытаться проверить не первую часть выражения</a:t>
            </a:r>
          </a:p>
          <a:p>
            <a:r>
              <a:rPr lang="ru-RU" dirty="0">
                <a:solidFill>
                  <a:schemeClr val="accent2"/>
                </a:solidFill>
              </a:rPr>
              <a:t>.*? </a:t>
            </a:r>
            <a:r>
              <a:rPr lang="ru-RU" dirty="0"/>
              <a:t>а вторую – </a:t>
            </a:r>
            <a:r>
              <a:rPr lang="ru-RU" dirty="0">
                <a:solidFill>
                  <a:schemeClr val="accent2"/>
                </a:solidFill>
              </a:rPr>
              <a:t>[0-9]+ </a:t>
            </a:r>
            <a:r>
              <a:rPr lang="ru-RU" dirty="0"/>
              <a:t>и если для нее не будет совпадения то уже тогда будет искаться соответствие с </a:t>
            </a:r>
            <a:r>
              <a:rPr lang="ru-RU" dirty="0">
                <a:solidFill>
                  <a:schemeClr val="accent2"/>
                </a:solidFill>
              </a:rPr>
              <a:t>.*? </a:t>
            </a:r>
            <a:r>
              <a:rPr lang="ru-RU" dirty="0"/>
              <a:t>. Таким образом часть строки, содержащая </a:t>
            </a:r>
            <a:r>
              <a:rPr lang="ru-RU" dirty="0">
                <a:latin typeface="Courier New"/>
                <a:cs typeface="Courier New"/>
              </a:rPr>
              <a:t>"</a:t>
            </a:r>
            <a:r>
              <a:rPr lang="en-US" dirty="0">
                <a:solidFill>
                  <a:schemeClr val="accent2"/>
                </a:solidFill>
              </a:rPr>
              <a:t>Page </a:t>
            </a:r>
            <a:r>
              <a:rPr lang="ru-RU" dirty="0">
                <a:cs typeface="Courier New"/>
              </a:rPr>
              <a:t>"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/>
              <a:t>не попадает под </a:t>
            </a:r>
            <a:r>
              <a:rPr lang="ru-RU" dirty="0">
                <a:solidFill>
                  <a:schemeClr val="accent2"/>
                </a:solidFill>
              </a:rPr>
              <a:t>[0-9]+  </a:t>
            </a:r>
            <a:r>
              <a:rPr lang="ru-RU" dirty="0"/>
              <a:t>и его захватывает </a:t>
            </a:r>
            <a:r>
              <a:rPr lang="ru-RU" dirty="0">
                <a:solidFill>
                  <a:schemeClr val="accent2"/>
                </a:solidFill>
              </a:rPr>
              <a:t>.*?</a:t>
            </a:r>
            <a:r>
              <a:rPr lang="ru-RU" dirty="0"/>
              <a:t>, а вот </a:t>
            </a:r>
            <a:r>
              <a:rPr lang="en-US" dirty="0">
                <a:solidFill>
                  <a:schemeClr val="accent2"/>
                </a:solidFill>
              </a:rPr>
              <a:t>266</a:t>
            </a:r>
            <a:r>
              <a:rPr lang="ru-RU" dirty="0"/>
              <a:t> захватит </a:t>
            </a:r>
            <a:r>
              <a:rPr lang="ru-RU" dirty="0">
                <a:solidFill>
                  <a:schemeClr val="accent2"/>
                </a:solidFill>
              </a:rPr>
              <a:t>[0-9]+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1002794"/>
            <a:ext cx="89289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Теперь </a:t>
            </a:r>
            <a:r>
              <a:rPr lang="en-US" dirty="0"/>
              <a:t>Regex</a:t>
            </a:r>
            <a:r>
              <a:rPr lang="ru-RU" dirty="0"/>
              <a:t> будет захватывать как можно меньше символов.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780928"/>
            <a:ext cx="1944216" cy="9962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5496" y="6084004"/>
            <a:ext cx="8928992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Regex:</a:t>
            </a:r>
            <a:r>
              <a:rPr lang="ru-RU" dirty="0"/>
              <a:t> </a:t>
            </a:r>
            <a:r>
              <a:rPr lang="ru-RU" dirty="0">
                <a:solidFill>
                  <a:schemeClr val="accent2"/>
                </a:solidFill>
              </a:rPr>
              <a:t>.*?[0-9]</a:t>
            </a:r>
            <a:r>
              <a:rPr lang="en-US" dirty="0">
                <a:solidFill>
                  <a:schemeClr val="accent2"/>
                </a:solidFill>
              </a:rPr>
              <a:t>*?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en-US" dirty="0"/>
              <a:t>String: </a:t>
            </a:r>
            <a:r>
              <a:rPr lang="ru-RU" dirty="0"/>
              <a:t>  </a:t>
            </a:r>
            <a:r>
              <a:rPr lang="en-US" dirty="0">
                <a:solidFill>
                  <a:schemeClr val="accent2"/>
                </a:solidFill>
              </a:rPr>
              <a:t>Page 266 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/>
              <a:t>- </a:t>
            </a:r>
            <a:r>
              <a:rPr lang="en-US" dirty="0"/>
              <a:t> </a:t>
            </a:r>
            <a:r>
              <a:rPr lang="ru-RU" dirty="0"/>
              <a:t>совпадения вообще не будет !!!</a:t>
            </a:r>
          </a:p>
        </p:txBody>
      </p:sp>
    </p:spTree>
    <p:extLst>
      <p:ext uri="{BB962C8B-B14F-4D97-AF65-F5344CB8AC3E}">
        <p14:creationId xmlns:p14="http://schemas.microsoft.com/office/powerpoint/2010/main" val="123447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1079" y="28877"/>
            <a:ext cx="8928992" cy="646331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По умолчанию повторения жадные, то есть стараются захватить как можно больше символов.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6231" y="836712"/>
            <a:ext cx="8903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Regex: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sz="4800" b="1" dirty="0">
                <a:solidFill>
                  <a:schemeClr val="accent2"/>
                </a:solidFill>
              </a:rPr>
              <a:t>.*?</a:t>
            </a:r>
            <a:r>
              <a:rPr lang="en-US" sz="4800" b="1" dirty="0">
                <a:solidFill>
                  <a:srgbClr val="00B050"/>
                </a:solidFill>
              </a:rPr>
              <a:t>[0-9]+</a:t>
            </a:r>
            <a:endParaRPr lang="ru-RU" sz="48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628800"/>
            <a:ext cx="39604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kern="1300" spc="410" dirty="0"/>
              <a:t>Page </a:t>
            </a:r>
            <a:endParaRPr lang="ru-RU" kern="1300" spc="410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flipV="1">
            <a:off x="827584" y="2852936"/>
            <a:ext cx="0" cy="364682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48150" y="1631935"/>
            <a:ext cx="23567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8800" b="1" kern="1300" spc="410"/>
            </a:lvl1pPr>
          </a:lstStyle>
          <a:p>
            <a:r>
              <a:rPr lang="en-US" dirty="0"/>
              <a:t>26</a:t>
            </a:r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6103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59259E-6 L 0.05278 -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277 3.33333E-6 L 0.13507 3.33333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55 -0.00092 L 0.22327 -0.0009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327 -0.00092 L 0.30018 -0.0009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018 -0.00092 L 0.44896 -0.0009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895 -0.00092 L 0.54513 -0.00092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514 -0.00092 L 0.62309 -0.00092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783 -0.00139 L 0.62274 -0.00139 " pathEditMode="relative" rAng="0" ptsTypes="AA">
                                      <p:cBhvr>
                                        <p:cTn id="37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6231" y="116632"/>
            <a:ext cx="89038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Regex: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\</a:t>
            </a:r>
            <a:r>
              <a:rPr lang="en-US" sz="6000" b="1" dirty="0" err="1">
                <a:solidFill>
                  <a:schemeClr val="accent6">
                    <a:lumMod val="75000"/>
                  </a:schemeClr>
                </a:solidFill>
              </a:rPr>
              <a:t>w+</a:t>
            </a:r>
            <a:r>
              <a:rPr lang="en-US" sz="6000" b="1" dirty="0" err="1">
                <a:solidFill>
                  <a:srgbClr val="FF0000"/>
                </a:solidFill>
              </a:rPr>
              <a:t>s</a:t>
            </a:r>
            <a:endParaRPr lang="ru-RU" sz="5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999" y="1628800"/>
            <a:ext cx="17281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kern="1300" spc="410" dirty="0"/>
              <a:t>We </a:t>
            </a:r>
            <a:endParaRPr lang="ru-RU" sz="1200" kern="1300" spc="410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flipV="1">
            <a:off x="380678" y="2564904"/>
            <a:ext cx="0" cy="364682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25911" y="1631935"/>
            <a:ext cx="38101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8800" b="1" kern="1300" spc="410"/>
            </a:lvl1pPr>
          </a:lstStyle>
          <a:p>
            <a:r>
              <a:rPr lang="en-US" sz="6600" dirty="0"/>
              <a:t>picked</a:t>
            </a:r>
            <a:endParaRPr lang="ru-RU" sz="6600" dirty="0"/>
          </a:p>
        </p:txBody>
      </p:sp>
      <p:sp>
        <p:nvSpPr>
          <p:cNvPr id="7" name="TextBox 6"/>
          <p:cNvSpPr txBox="1"/>
          <p:nvPr/>
        </p:nvSpPr>
        <p:spPr>
          <a:xfrm>
            <a:off x="5527607" y="1578977"/>
            <a:ext cx="36163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8800" b="1" kern="1300" spc="410"/>
            </a:lvl1pPr>
          </a:lstStyle>
          <a:p>
            <a:r>
              <a:rPr lang="en-US" sz="6600" dirty="0"/>
              <a:t>apples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344958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44444E-6 L 0.05868 4.4444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68 4.07407E-6 L 0.11267 4.0740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77 -0.00046 L 0.1118 -0.00046 " pathEditMode="relative" rAng="0" ptsTypes="AA">
                                      <p:cBhvr>
                                        <p:cTn id="14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5 -0.00046 L 0.1118 -0.0004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163 -2.96296E-6 L 0.15798 -2.96296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98 -2.96296E-6 L 0.54548 -2.96296E-6 " pathEditMode="relative" rAng="0" ptsTypes="AA">
                                      <p:cBhvr>
                                        <p:cTn id="2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003 -2.84656E-7 L 0.54496 -2.84656E-7 " pathEditMode="relative" rAng="0" ptsTypes="AA">
                                      <p:cBhvr>
                                        <p:cTn id="30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548 4.04536E-6 L 0.23055 4.04536E-6 " pathEditMode="relative" rAng="0" ptsTypes="AA">
                                      <p:cBhvr>
                                        <p:cTn id="34" dur="3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-0.00046 L 0.29496 -0.0004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548 -0.00046 L 0.29548 -0.00046 " pathEditMode="relative" rAng="0" ptsTypes="AA">
                                      <p:cBhvr>
                                        <p:cTn id="42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566 -2.84656E-7 L 0.34809 -2.84656E-7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-0.00046 L 0.34809 -0.00046 " pathEditMode="relative" rAng="0" ptsTypes="AA">
                                      <p:cBhvr>
                                        <p:cTn id="50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-1.69868E-6 L 0.41788 -1.69868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-2.84656E-7 L 0.41892 -2.84656E-7 " pathEditMode="relative" rAng="0" ptsTypes="AA">
                                      <p:cBhvr>
                                        <p:cTn id="58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-0.00046 L 0.48194 -0.0004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194 -0.00046 L 0.54496 -0.0004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05 -0.00046 L 0.54549 -0.00046 " pathEditMode="relative" rAng="0" ptsTypes="AA">
                                      <p:cBhvr>
                                        <p:cTn id="70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5052 -0.00046 L 0.60052 -0.00046 " pathEditMode="relative" rAng="0" ptsTypes="AA">
                                      <p:cBhvr>
                                        <p:cTn id="74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9982 -0.00046 L 0.85052 -0.00046 " pathEditMode="relative" rAng="0" ptsTypes="AA">
                                      <p:cBhvr>
                                        <p:cTn id="78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6231" y="116632"/>
            <a:ext cx="89038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Regex: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\w*</a:t>
            </a:r>
            <a:r>
              <a:rPr lang="en-US" sz="6000" b="1" dirty="0">
                <a:solidFill>
                  <a:srgbClr val="FF0000"/>
                </a:solidFill>
              </a:rPr>
              <a:t>s</a:t>
            </a:r>
            <a:endParaRPr lang="ru-RU" sz="5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999" y="1628800"/>
            <a:ext cx="17281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kern="1300" spc="410" dirty="0"/>
              <a:t>We </a:t>
            </a:r>
            <a:endParaRPr lang="ru-RU" sz="1200" kern="1300" spc="410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flipV="1">
            <a:off x="380678" y="2564904"/>
            <a:ext cx="0" cy="364682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25911" y="1631935"/>
            <a:ext cx="38101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8800" b="1" kern="1300" spc="410"/>
            </a:lvl1pPr>
          </a:lstStyle>
          <a:p>
            <a:r>
              <a:rPr lang="en-US" sz="6600" dirty="0"/>
              <a:t>picked</a:t>
            </a:r>
            <a:endParaRPr lang="ru-RU" sz="6600" dirty="0"/>
          </a:p>
        </p:txBody>
      </p:sp>
      <p:sp>
        <p:nvSpPr>
          <p:cNvPr id="7" name="TextBox 6"/>
          <p:cNvSpPr txBox="1"/>
          <p:nvPr/>
        </p:nvSpPr>
        <p:spPr>
          <a:xfrm>
            <a:off x="5527607" y="1578977"/>
            <a:ext cx="36163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8800" b="1" kern="1300" spc="410"/>
            </a:lvl1pPr>
          </a:lstStyle>
          <a:p>
            <a:r>
              <a:rPr lang="en-US" sz="6600" dirty="0"/>
              <a:t>apples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19506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44444E-6 L 0.05868 4.44444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68 4.07407E-6 L 0.11267 4.07407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77 -0.00046 L 0.1118 -0.00046 " pathEditMode="relative" rAng="0" ptsTypes="AA">
                                      <p:cBhvr>
                                        <p:cTn id="12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5 -0.00046 L 0.1118 -0.0004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163 -2.96296E-6 L 0.15798 -2.96296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46 2.35076E-6 L 0.54496 2.35076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98 2.35076E-6 L 0.54392 2.35076E-6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2.68394E-7 L 0.15902 2.68394E-7 " pathEditMode="relative" rAng="0" ptsTypes="AA">
                                      <p:cBhvr>
                                        <p:cTn id="28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3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548 2.35076E-6 L 0.23836 2.35076E-6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548 2.35076E-6 L 0.23784 2.35076E-6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566 0.00023 L 0.30086 0.00023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2.68394E-7 L 0.30086 2.68394E-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2.68394E-7 L 0.3559 2.68394E-7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0.00023 L 0.3559 0.00023 " pathEditMode="relative" rAng="0" ptsTypes="AA">
                                      <p:cBhvr>
                                        <p:cTn id="46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000"/>
                            </p:stCondLst>
                            <p:childTnLst>
                              <p:par>
                                <p:cTn id="4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2.68394E-7 L 0.41892 2.68394E-7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892 2.68394E-7 L 0.54496 2.68394E-7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000"/>
                            </p:stCondLst>
                            <p:childTnLst>
                              <p:par>
                                <p:cTn id="5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2.35076E-6 L 0.47378 2.35076E-6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0"/>
                            </p:stCondLst>
                            <p:childTnLst>
                              <p:par>
                                <p:cTn id="5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496 2.35076E-6 L 0.47604 2.35076E-6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0"/>
                            </p:stCondLst>
                            <p:childTnLst>
                              <p:par>
                                <p:cTn id="6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427 -0.00047 L 0.54496 -0.00047 " pathEditMode="relative" rAng="0" ptsTypes="AA">
                                      <p:cBhvr>
                                        <p:cTn id="61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763 -0.00046 L 0.59427 -0.00046 " pathEditMode="relative" rAng="0" ptsTypes="AA">
                                      <p:cBhvr>
                                        <p:cTn id="64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000"/>
                            </p:stCondLst>
                            <p:childTnLst>
                              <p:par>
                                <p:cTn id="66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6742" y="111986"/>
            <a:ext cx="3715178" cy="36933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ru-RU" sz="1800" b="1" dirty="0"/>
              <a:t>Эффективность повторений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611396"/>
            <a:ext cx="8928992" cy="313932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.+</a:t>
            </a:r>
            <a:r>
              <a:rPr lang="en-US" dirty="0"/>
              <a:t> </a:t>
            </a:r>
            <a:r>
              <a:rPr lang="ru-RU" dirty="0" err="1"/>
              <a:t>быстреее</a:t>
            </a:r>
            <a:r>
              <a:rPr lang="ru-RU" dirty="0"/>
              <a:t> чем </a:t>
            </a:r>
            <a:r>
              <a:rPr lang="en-US" dirty="0">
                <a:solidFill>
                  <a:schemeClr val="accent2"/>
                </a:solidFill>
              </a:rPr>
              <a:t>.*</a:t>
            </a:r>
          </a:p>
          <a:p>
            <a:r>
              <a:rPr lang="uk-UA" dirty="0" err="1"/>
              <a:t>еще</a:t>
            </a:r>
            <a:r>
              <a:rPr lang="uk-UA" dirty="0"/>
              <a:t> </a:t>
            </a:r>
            <a:r>
              <a:rPr lang="uk-UA" dirty="0" err="1"/>
              <a:t>быстрее</a:t>
            </a:r>
            <a:r>
              <a:rPr lang="en-US" dirty="0"/>
              <a:t> </a:t>
            </a:r>
            <a:r>
              <a:rPr lang="uk-UA" dirty="0" err="1"/>
              <a:t>работают</a:t>
            </a:r>
            <a:r>
              <a:rPr lang="uk-UA" dirty="0"/>
              <a:t> </a:t>
            </a:r>
            <a:r>
              <a:rPr lang="en-US" dirty="0">
                <a:solidFill>
                  <a:schemeClr val="accent2"/>
                </a:solidFill>
              </a:rPr>
              <a:t>.{5} </a:t>
            </a:r>
            <a:r>
              <a:rPr lang="uk-UA" dirty="0"/>
              <a:t>и </a:t>
            </a:r>
            <a:r>
              <a:rPr lang="en-US" dirty="0">
                <a:solidFill>
                  <a:schemeClr val="accent2"/>
                </a:solidFill>
              </a:rPr>
              <a:t>.{3,7}</a:t>
            </a:r>
            <a:endParaRPr lang="ru-RU" dirty="0">
              <a:solidFill>
                <a:schemeClr val="accent2"/>
              </a:solidFill>
            </a:endParaRPr>
          </a:p>
          <a:p>
            <a:endParaRPr lang="uk-UA" dirty="0"/>
          </a:p>
          <a:p>
            <a:r>
              <a:rPr lang="ru-RU" i="1" dirty="0">
                <a:solidFill>
                  <a:srgbClr val="0070C0"/>
                </a:solidFill>
              </a:rPr>
              <a:t>Надо стараться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ru-RU" i="1" dirty="0">
                <a:solidFill>
                  <a:srgbClr val="0070C0"/>
                </a:solidFill>
              </a:rPr>
              <a:t>ссужать диапазон символов для поиска</a:t>
            </a:r>
          </a:p>
          <a:p>
            <a:r>
              <a:rPr lang="ru-RU" dirty="0"/>
              <a:t>Например вместо </a:t>
            </a:r>
            <a:r>
              <a:rPr lang="en-US" dirty="0">
                <a:solidFill>
                  <a:schemeClr val="accent2"/>
                </a:solidFill>
              </a:rPr>
              <a:t>.+</a:t>
            </a:r>
            <a:r>
              <a:rPr lang="ru-RU" dirty="0"/>
              <a:t>  использовать  </a:t>
            </a:r>
            <a:r>
              <a:rPr lang="en-US" dirty="0">
                <a:solidFill>
                  <a:schemeClr val="accent2"/>
                </a:solidFill>
              </a:rPr>
              <a:t>[a-</a:t>
            </a:r>
            <a:r>
              <a:rPr lang="en-US" dirty="0" err="1">
                <a:solidFill>
                  <a:schemeClr val="accent2"/>
                </a:solidFill>
              </a:rPr>
              <a:t>zA</a:t>
            </a:r>
            <a:r>
              <a:rPr lang="en-US" dirty="0">
                <a:solidFill>
                  <a:schemeClr val="accent2"/>
                </a:solidFill>
              </a:rPr>
              <a:t>-Z]+</a:t>
            </a:r>
            <a:endParaRPr lang="ru-RU" dirty="0">
              <a:solidFill>
                <a:schemeClr val="accent2"/>
              </a:solidFill>
            </a:endParaRPr>
          </a:p>
          <a:p>
            <a:endParaRPr lang="ru-RU" dirty="0">
              <a:solidFill>
                <a:schemeClr val="accent2"/>
              </a:solidFill>
            </a:endParaRPr>
          </a:p>
          <a:p>
            <a:r>
              <a:rPr lang="ru-RU" i="1" dirty="0">
                <a:solidFill>
                  <a:srgbClr val="0070C0"/>
                </a:solidFill>
              </a:rPr>
              <a:t>Обеспечивать конкретные начальную и конечную точки доступа</a:t>
            </a:r>
          </a:p>
          <a:p>
            <a:r>
              <a:rPr lang="ru-RU" dirty="0"/>
              <a:t>Например вместо </a:t>
            </a:r>
            <a:r>
              <a:rPr lang="en-US" dirty="0">
                <a:solidFill>
                  <a:schemeClr val="accent2"/>
                </a:solidFill>
              </a:rPr>
              <a:t>&lt;.+&gt;</a:t>
            </a:r>
            <a:r>
              <a:rPr lang="ru-RU" dirty="0"/>
              <a:t>  использовать  </a:t>
            </a:r>
            <a:r>
              <a:rPr lang="en-US" dirty="0">
                <a:solidFill>
                  <a:schemeClr val="accent2"/>
                </a:solidFill>
              </a:rPr>
              <a:t>&lt;[^&gt;]+&gt;</a:t>
            </a:r>
            <a:endParaRPr lang="ru-RU" dirty="0">
              <a:solidFill>
                <a:schemeClr val="accent2"/>
              </a:solidFill>
            </a:endParaRPr>
          </a:p>
          <a:p>
            <a:endParaRPr lang="ru-RU" dirty="0">
              <a:solidFill>
                <a:schemeClr val="accent2"/>
              </a:solidFill>
            </a:endParaRPr>
          </a:p>
          <a:p>
            <a:endParaRPr lang="ru-RU" dirty="0">
              <a:solidFill>
                <a:schemeClr val="accent2"/>
              </a:solidFill>
            </a:endParaRPr>
          </a:p>
          <a:p>
            <a:r>
              <a:rPr lang="ru-RU" i="1" dirty="0">
                <a:solidFill>
                  <a:srgbClr val="0070C0"/>
                </a:solidFill>
              </a:rPr>
              <a:t>Использовать якоря начала, окончания слов и границы слов</a:t>
            </a:r>
            <a:endParaRPr lang="ru-RU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392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8640960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88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272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5635</TotalTime>
  <Words>1703</Words>
  <Application>Microsoft Office PowerPoint</Application>
  <PresentationFormat>Экран (4:3)</PresentationFormat>
  <Paragraphs>277</Paragraphs>
  <Slides>28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Calibri</vt:lpstr>
      <vt:lpstr>Courier New</vt:lpstr>
      <vt:lpstr>Verdana</vt:lpstr>
      <vt:lpstr>Wingdings 2</vt:lpstr>
      <vt:lpstr>Wingdings 3</vt:lpstr>
      <vt:lpstr>Тема1</vt:lpstr>
      <vt:lpstr>Regular expressions in Java Script</vt:lpstr>
      <vt:lpstr>Регулярные выражения Regular expressions</vt:lpstr>
      <vt:lpstr>Редакторы для отладки регулярных выражений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Спецсимволы </vt:lpstr>
      <vt:lpstr>Презентация PowerPoint</vt:lpstr>
      <vt:lpstr>Управляющие спецсимволы </vt:lpstr>
      <vt:lpstr>Character sets</vt:lpstr>
      <vt:lpstr>Character sets</vt:lpstr>
      <vt:lpstr>Meta-символы в сharacter sets</vt:lpstr>
      <vt:lpstr>Презентация PowerPoint</vt:lpstr>
      <vt:lpstr> {min,max}</vt:lpstr>
      <vt:lpstr>shorthand  сharacter sets</vt:lpstr>
      <vt:lpstr>Группировка символов</vt:lpstr>
      <vt:lpstr>Альтернатива  |</vt:lpstr>
      <vt:lpstr>Метасимволы начала и окончания строк  </vt:lpstr>
      <vt:lpstr>References</vt:lpstr>
      <vt:lpstr>Презентация PowerPoint</vt:lpstr>
      <vt:lpstr>Ограничение жадности повторителей</vt:lpstr>
      <vt:lpstr>Презентация PowerPoint</vt:lpstr>
      <vt:lpstr>Презентация PowerPoint</vt:lpstr>
      <vt:lpstr>Презентация PowerPoint</vt:lpstr>
      <vt:lpstr>Эффективность повторений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896</cp:revision>
  <dcterms:modified xsi:type="dcterms:W3CDTF">2020-09-06T07:59:46Z</dcterms:modified>
</cp:coreProperties>
</file>