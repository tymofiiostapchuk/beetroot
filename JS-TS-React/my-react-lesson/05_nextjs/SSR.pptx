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3"/>
  </p:notesMasterIdLst>
  <p:sldIdLst>
    <p:sldId id="256" r:id="rId2"/>
    <p:sldId id="351" r:id="rId3"/>
    <p:sldId id="397" r:id="rId4"/>
    <p:sldId id="398" r:id="rId5"/>
    <p:sldId id="399" r:id="rId6"/>
    <p:sldId id="405" r:id="rId7"/>
    <p:sldId id="403" r:id="rId8"/>
    <p:sldId id="400" r:id="rId9"/>
    <p:sldId id="401" r:id="rId10"/>
    <p:sldId id="341" r:id="rId11"/>
    <p:sldId id="343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0" autoAdjust="0"/>
    <p:restoredTop sz="94514" autoAdjust="0"/>
  </p:normalViewPr>
  <p:slideViewPr>
    <p:cSldViewPr>
      <p:cViewPr varScale="1">
        <p:scale>
          <a:sx n="104" d="100"/>
          <a:sy n="104" d="100"/>
        </p:scale>
        <p:origin x="180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jpg"/><Relationship Id="rId7" Type="http://schemas.openxmlformats.org/officeDocument/2006/relationships/image" Target="../media/image8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Server Side component </a:t>
            </a:r>
            <a:br>
              <a:rPr lang="en-US" sz="54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r>
              <a:rPr lang="en-US" sz="54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in Next</a:t>
            </a:r>
            <a: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.js</a:t>
            </a:r>
            <a:endParaRPr lang="ru-RU" sz="13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7F2FFB-4BE7-F679-A3D1-4C6F8344A69F}"/>
              </a:ext>
            </a:extLst>
          </p:cNvPr>
          <p:cNvSpPr txBox="1"/>
          <p:nvPr/>
        </p:nvSpPr>
        <p:spPr>
          <a:xfrm>
            <a:off x="2483768" y="116632"/>
            <a:ext cx="4176464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Server Side Render (SSR) app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FA76F9E-754C-743C-A0F3-6B2EE72B17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620688"/>
            <a:ext cx="1052736" cy="105273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7B57619-9B98-9FB0-F3BC-980DFB06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108" y="764704"/>
            <a:ext cx="2458340" cy="403244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5C397EF-EA64-E192-2B63-65046EDAF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132856"/>
            <a:ext cx="2286000" cy="1828800"/>
          </a:xfrm>
          <a:prstGeom prst="rect">
            <a:avLst/>
          </a:prstGeom>
        </p:spPr>
      </p:pic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EAB0D978-2587-F813-BA37-B7F125DEB0EA}"/>
              </a:ext>
            </a:extLst>
          </p:cNvPr>
          <p:cNvCxnSpPr/>
          <p:nvPr/>
        </p:nvCxnSpPr>
        <p:spPr>
          <a:xfrm>
            <a:off x="2393504" y="2348880"/>
            <a:ext cx="3834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AD3504-98B8-CFA0-4DB1-C506D9534841}"/>
              </a:ext>
            </a:extLst>
          </p:cNvPr>
          <p:cNvSpPr txBox="1"/>
          <p:nvPr/>
        </p:nvSpPr>
        <p:spPr>
          <a:xfrm>
            <a:off x="3754086" y="1916039"/>
            <a:ext cx="6600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GET</a:t>
            </a: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415E0D7A-75BB-D8F2-3293-47FA9F1CDF68}"/>
              </a:ext>
            </a:extLst>
          </p:cNvPr>
          <p:cNvCxnSpPr>
            <a:cxnSpLocks/>
          </p:cNvCxnSpPr>
          <p:nvPr/>
        </p:nvCxnSpPr>
        <p:spPr>
          <a:xfrm flipH="1">
            <a:off x="2393504" y="2636912"/>
            <a:ext cx="37626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FCECB9F-3F5A-C4D5-1DD3-1C76A1F241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143" y="2780928"/>
            <a:ext cx="586110" cy="65298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4AF3658E-D6B8-C49D-A4F7-C53AC2E82E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26" y="2232164"/>
            <a:ext cx="1628756" cy="131170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546507E-A8CD-516C-3164-289AC0885443}"/>
              </a:ext>
            </a:extLst>
          </p:cNvPr>
          <p:cNvSpPr txBox="1"/>
          <p:nvPr/>
        </p:nvSpPr>
        <p:spPr>
          <a:xfrm>
            <a:off x="89248" y="1699509"/>
            <a:ext cx="239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http://site.com</a:t>
            </a:r>
            <a:endParaRPr lang="ru-UA" b="1" dirty="0"/>
          </a:p>
        </p:txBody>
      </p:sp>
    </p:spTree>
    <p:extLst>
      <p:ext uri="{BB962C8B-B14F-4D97-AF65-F5344CB8AC3E}">
        <p14:creationId xmlns:p14="http://schemas.microsoft.com/office/powerpoint/2010/main" val="2232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-0.32656 -0.0055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37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7F2FFB-4BE7-F679-A3D1-4C6F8344A69F}"/>
              </a:ext>
            </a:extLst>
          </p:cNvPr>
          <p:cNvSpPr txBox="1"/>
          <p:nvPr/>
        </p:nvSpPr>
        <p:spPr>
          <a:xfrm>
            <a:off x="179512" y="143344"/>
            <a:ext cx="2520280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uk-UA" dirty="0"/>
              <a:t>Типове</a:t>
            </a:r>
            <a:r>
              <a:rPr lang="en-US" dirty="0"/>
              <a:t> SPA app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FA76F9E-754C-743C-A0F3-6B2EE72B17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620688"/>
            <a:ext cx="1052736" cy="105273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7B57619-9B98-9FB0-F3BC-980DFB06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108" y="764704"/>
            <a:ext cx="2458340" cy="403244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5C397EF-EA64-E192-2B63-65046EDAF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132856"/>
            <a:ext cx="2286000" cy="1828800"/>
          </a:xfrm>
          <a:prstGeom prst="rect">
            <a:avLst/>
          </a:prstGeom>
        </p:spPr>
      </p:pic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EAB0D978-2587-F813-BA37-B7F125DEB0EA}"/>
              </a:ext>
            </a:extLst>
          </p:cNvPr>
          <p:cNvCxnSpPr/>
          <p:nvPr/>
        </p:nvCxnSpPr>
        <p:spPr>
          <a:xfrm>
            <a:off x="2393504" y="1989633"/>
            <a:ext cx="3834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AD3504-98B8-CFA0-4DB1-C506D9534841}"/>
              </a:ext>
            </a:extLst>
          </p:cNvPr>
          <p:cNvSpPr txBox="1"/>
          <p:nvPr/>
        </p:nvSpPr>
        <p:spPr>
          <a:xfrm>
            <a:off x="3754086" y="1556792"/>
            <a:ext cx="6600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GET</a:t>
            </a: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415E0D7A-75BB-D8F2-3293-47FA9F1CDF68}"/>
              </a:ext>
            </a:extLst>
          </p:cNvPr>
          <p:cNvCxnSpPr>
            <a:cxnSpLocks/>
          </p:cNvCxnSpPr>
          <p:nvPr/>
        </p:nvCxnSpPr>
        <p:spPr>
          <a:xfrm flipH="1">
            <a:off x="2393504" y="2276872"/>
            <a:ext cx="37626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FCECB9F-3F5A-C4D5-1DD3-1C76A1F241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143" y="2487986"/>
            <a:ext cx="586110" cy="65298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546507E-A8CD-516C-3164-289AC0885443}"/>
              </a:ext>
            </a:extLst>
          </p:cNvPr>
          <p:cNvSpPr txBox="1"/>
          <p:nvPr/>
        </p:nvSpPr>
        <p:spPr>
          <a:xfrm>
            <a:off x="89248" y="1699509"/>
            <a:ext cx="239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http://site.com</a:t>
            </a:r>
            <a:endParaRPr lang="ru-UA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E4FD75-607A-4C1F-A572-4351D2CEA8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844" y="1031972"/>
            <a:ext cx="520900" cy="506916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33BB94BE-C01E-9C06-7218-03B442B2BD5B}"/>
              </a:ext>
            </a:extLst>
          </p:cNvPr>
          <p:cNvCxnSpPr/>
          <p:nvPr/>
        </p:nvCxnSpPr>
        <p:spPr>
          <a:xfrm>
            <a:off x="2393504" y="2516900"/>
            <a:ext cx="3834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D4B0B8-914B-ED2A-0D19-AC1695E263D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2609664"/>
            <a:ext cx="440694" cy="531304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AE230998-72B7-C6C0-D76F-C84C3609A0D6}"/>
              </a:ext>
            </a:extLst>
          </p:cNvPr>
          <p:cNvCxnSpPr>
            <a:cxnSpLocks/>
          </p:cNvCxnSpPr>
          <p:nvPr/>
        </p:nvCxnSpPr>
        <p:spPr>
          <a:xfrm flipH="1">
            <a:off x="2393504" y="2780928"/>
            <a:ext cx="3834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D6EF87C-29E3-1DA5-2E62-8EE727A14A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987" y="2897697"/>
            <a:ext cx="500421" cy="603311"/>
          </a:xfrm>
          <a:prstGeom prst="rect">
            <a:avLst/>
          </a:prstGeom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BB84028A-E851-D717-2B80-0DA8D773101A}"/>
              </a:ext>
            </a:extLst>
          </p:cNvPr>
          <p:cNvCxnSpPr/>
          <p:nvPr/>
        </p:nvCxnSpPr>
        <p:spPr>
          <a:xfrm>
            <a:off x="2443264" y="2996952"/>
            <a:ext cx="3834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7C04530-53E8-E5A0-F6C9-B6A5CF5A487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306" y="3095480"/>
            <a:ext cx="539164" cy="717564"/>
          </a:xfrm>
          <a:prstGeom prst="rect">
            <a:avLst/>
          </a:prstGeom>
        </p:spPr>
      </p:pic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5C33F102-7FDB-8334-2CCC-3E9AFD416391}"/>
              </a:ext>
            </a:extLst>
          </p:cNvPr>
          <p:cNvCxnSpPr>
            <a:cxnSpLocks/>
          </p:cNvCxnSpPr>
          <p:nvPr/>
        </p:nvCxnSpPr>
        <p:spPr>
          <a:xfrm flipH="1">
            <a:off x="2393504" y="3284984"/>
            <a:ext cx="3834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153F8CC-9477-7E81-AC39-241E27C7259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244" y="3363312"/>
            <a:ext cx="539164" cy="71756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A5B0B35-40C2-8D01-18D5-935B6D16EF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229462"/>
            <a:ext cx="1575664" cy="132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4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2107 L -0.32656 -0.02662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37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96296E-6 L 0.35382 -2.96296E-6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-0.33437 4.81481E-6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7037E-6 L 0.35139 0.00324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69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07407E-6 L -0.34011 -0.00138 " pathEditMode="relative" rAng="0" ptsTypes="AA">
                                      <p:cBhvr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14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7F2FFB-4BE7-F679-A3D1-4C6F8344A69F}"/>
              </a:ext>
            </a:extLst>
          </p:cNvPr>
          <p:cNvSpPr txBox="1"/>
          <p:nvPr/>
        </p:nvSpPr>
        <p:spPr>
          <a:xfrm>
            <a:off x="2483768" y="116632"/>
            <a:ext cx="4176464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React Server components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FA76F9E-754C-743C-A0F3-6B2EE72B17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620688"/>
            <a:ext cx="1052736" cy="105273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7B57619-9B98-9FB0-F3BC-980DFB06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108" y="764704"/>
            <a:ext cx="2458340" cy="403244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5C397EF-EA64-E192-2B63-65046EDAF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132856"/>
            <a:ext cx="2286000" cy="1828800"/>
          </a:xfrm>
          <a:prstGeom prst="rect">
            <a:avLst/>
          </a:prstGeom>
        </p:spPr>
      </p:pic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EAB0D978-2587-F813-BA37-B7F125DEB0EA}"/>
              </a:ext>
            </a:extLst>
          </p:cNvPr>
          <p:cNvCxnSpPr/>
          <p:nvPr/>
        </p:nvCxnSpPr>
        <p:spPr>
          <a:xfrm>
            <a:off x="2393504" y="1917625"/>
            <a:ext cx="3834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AD3504-98B8-CFA0-4DB1-C506D9534841}"/>
              </a:ext>
            </a:extLst>
          </p:cNvPr>
          <p:cNvSpPr txBox="1"/>
          <p:nvPr/>
        </p:nvSpPr>
        <p:spPr>
          <a:xfrm>
            <a:off x="3754086" y="1484784"/>
            <a:ext cx="6600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GET</a:t>
            </a: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415E0D7A-75BB-D8F2-3293-47FA9F1CDF68}"/>
              </a:ext>
            </a:extLst>
          </p:cNvPr>
          <p:cNvCxnSpPr>
            <a:cxnSpLocks/>
          </p:cNvCxnSpPr>
          <p:nvPr/>
        </p:nvCxnSpPr>
        <p:spPr>
          <a:xfrm flipH="1">
            <a:off x="2393504" y="2204864"/>
            <a:ext cx="37626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FCECB9F-3F5A-C4D5-1DD3-1C76A1F241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143" y="2348880"/>
            <a:ext cx="586110" cy="65298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546507E-A8CD-516C-3164-289AC0885443}"/>
              </a:ext>
            </a:extLst>
          </p:cNvPr>
          <p:cNvSpPr txBox="1"/>
          <p:nvPr/>
        </p:nvSpPr>
        <p:spPr>
          <a:xfrm>
            <a:off x="89248" y="1699509"/>
            <a:ext cx="2394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http://site.com</a:t>
            </a:r>
            <a:endParaRPr lang="ru-UA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BE2A72-B735-4394-29C8-4DC1ED53FE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17" y="2267930"/>
            <a:ext cx="1676782" cy="123307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16E32703-5DB4-AFA0-4F56-0251230810D7}"/>
              </a:ext>
            </a:extLst>
          </p:cNvPr>
          <p:cNvCxnSpPr>
            <a:cxnSpLocks/>
          </p:cNvCxnSpPr>
          <p:nvPr/>
        </p:nvCxnSpPr>
        <p:spPr>
          <a:xfrm flipH="1">
            <a:off x="2393504" y="2636912"/>
            <a:ext cx="37626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545743F-ED8A-0405-38C9-32224AF664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432" y="2680781"/>
            <a:ext cx="826852" cy="77635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C12E3DC-72DC-532B-E47A-9295B323FF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01" y="2193589"/>
            <a:ext cx="1637890" cy="130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1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-0.32656 3.7037E-6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7037E-6 L -0.32708 -3.7037E-6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826C3A-37B2-9D24-9B40-80DF6FDC235D}"/>
              </a:ext>
            </a:extLst>
          </p:cNvPr>
          <p:cNvSpPr txBox="1"/>
          <p:nvPr/>
        </p:nvSpPr>
        <p:spPr>
          <a:xfrm>
            <a:off x="1403648" y="116632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uk-UA" dirty="0"/>
              <a:t>Особливості </a:t>
            </a:r>
            <a:r>
              <a:rPr lang="en-US" dirty="0"/>
              <a:t>React Server Component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F53EC-FE4E-B66D-E82A-96D854A1DCEC}"/>
              </a:ext>
            </a:extLst>
          </p:cNvPr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1. </a:t>
            </a:r>
            <a:r>
              <a:rPr lang="uk-UA" b="1" dirty="0"/>
              <a:t>Може </a:t>
            </a:r>
            <a:r>
              <a:rPr lang="uk-UA" b="1" dirty="0" err="1"/>
              <a:t>рендеритись</a:t>
            </a:r>
            <a:r>
              <a:rPr lang="uk-UA" b="1" dirty="0"/>
              <a:t> разом </a:t>
            </a:r>
            <a:r>
              <a:rPr lang="en-US" b="1" dirty="0"/>
              <a:t>Server </a:t>
            </a:r>
            <a:r>
              <a:rPr lang="ru-RU" b="1" dirty="0"/>
              <a:t>та </a:t>
            </a:r>
            <a:r>
              <a:rPr lang="en-US" b="1" dirty="0"/>
              <a:t>Client Components</a:t>
            </a:r>
            <a:endParaRPr lang="da-DK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DA05A-8ED1-414B-F9E3-AE3DE1890DA7}"/>
              </a:ext>
            </a:extLst>
          </p:cNvPr>
          <p:cNvSpPr txBox="1"/>
          <p:nvPr/>
        </p:nvSpPr>
        <p:spPr>
          <a:xfrm>
            <a:off x="179512" y="1187460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2</a:t>
            </a:r>
            <a:r>
              <a:rPr lang="da-DK" b="1" dirty="0"/>
              <a:t>. </a:t>
            </a:r>
            <a:r>
              <a:rPr lang="uk-UA" b="1" dirty="0"/>
              <a:t>Може </a:t>
            </a:r>
            <a:r>
              <a:rPr lang="en-US" b="1" dirty="0"/>
              <a:t>stream partial HTML</a:t>
            </a:r>
            <a:endParaRPr lang="da-DK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1516B-63C5-3D2F-C827-5B0E670F4629}"/>
              </a:ext>
            </a:extLst>
          </p:cNvPr>
          <p:cNvSpPr txBox="1"/>
          <p:nvPr/>
        </p:nvSpPr>
        <p:spPr>
          <a:xfrm>
            <a:off x="179512" y="1691516"/>
            <a:ext cx="892899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r>
              <a:rPr lang="da-DK" b="1" dirty="0"/>
              <a:t>. </a:t>
            </a:r>
            <a:r>
              <a:rPr lang="uk-UA" b="1" dirty="0"/>
              <a:t>Йому не потрібен </a:t>
            </a:r>
            <a:r>
              <a:rPr lang="en-US" b="1" dirty="0"/>
              <a:t>hydration </a:t>
            </a:r>
            <a:r>
              <a:rPr lang="uk-UA" b="1" dirty="0"/>
              <a:t>в браузері</a:t>
            </a:r>
            <a:br>
              <a:rPr lang="uk-UA" b="1" dirty="0"/>
            </a:br>
            <a:br>
              <a:rPr lang="uk-UA" b="1" dirty="0"/>
            </a:br>
            <a:r>
              <a:rPr lang="en-US" b="1" dirty="0"/>
              <a:t>hydration - </a:t>
            </a:r>
            <a:r>
              <a:rPr lang="uk-UA" b="1" dirty="0"/>
              <a:t>це процес додавання </a:t>
            </a:r>
            <a:r>
              <a:rPr lang="en-US" b="1" dirty="0"/>
              <a:t>JavaScript </a:t>
            </a:r>
            <a:r>
              <a:rPr lang="uk-UA" b="1" dirty="0"/>
              <a:t>до скомпільованого на сервері і отриманого браузером </a:t>
            </a:r>
            <a:r>
              <a:rPr lang="en-US" b="1" dirty="0"/>
              <a:t>HTML-</a:t>
            </a:r>
            <a:r>
              <a:rPr lang="uk-UA" b="1" dirty="0"/>
              <a:t>коду і його </a:t>
            </a:r>
            <a:r>
              <a:rPr lang="uk-UA" b="1" dirty="0" err="1"/>
              <a:t>виконяння</a:t>
            </a:r>
            <a:r>
              <a:rPr lang="uk-UA" b="1" dirty="0"/>
              <a:t> під час </a:t>
            </a:r>
            <a:r>
              <a:rPr lang="uk-UA" b="1" dirty="0" err="1"/>
              <a:t>рендерінгу</a:t>
            </a:r>
            <a:r>
              <a:rPr lang="uk-UA" b="1" dirty="0"/>
              <a:t> </a:t>
            </a:r>
            <a:r>
              <a:rPr lang="en-US" b="1" dirty="0"/>
              <a:t>HTML-</a:t>
            </a:r>
            <a:r>
              <a:rPr lang="uk-UA" b="1" dirty="0"/>
              <a:t>коду в браузері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3903854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826C3A-37B2-9D24-9B40-80DF6FDC235D}"/>
              </a:ext>
            </a:extLst>
          </p:cNvPr>
          <p:cNvSpPr txBox="1"/>
          <p:nvPr/>
        </p:nvSpPr>
        <p:spPr>
          <a:xfrm>
            <a:off x="107504" y="1886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uk-UA" dirty="0"/>
              <a:t>Коли використовувати </a:t>
            </a:r>
            <a:r>
              <a:rPr lang="en-US" dirty="0"/>
              <a:t>Client Component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F53EC-FE4E-B66D-E82A-96D854A1DCEC}"/>
              </a:ext>
            </a:extLst>
          </p:cNvPr>
          <p:cNvSpPr txBox="1"/>
          <p:nvPr/>
        </p:nvSpPr>
        <p:spPr>
          <a:xfrm>
            <a:off x="107504" y="548680"/>
            <a:ext cx="892899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Якщо</a:t>
            </a:r>
            <a:r>
              <a:rPr lang="ru-RU" b="1" dirty="0"/>
              <a:t> компонент </a:t>
            </a:r>
            <a:r>
              <a:rPr lang="ru-RU" b="1" dirty="0" err="1">
                <a:solidFill>
                  <a:srgbClr val="FF0000"/>
                </a:solidFill>
              </a:rPr>
              <a:t>взаємодіє</a:t>
            </a:r>
            <a:r>
              <a:rPr lang="ru-RU" b="1" dirty="0"/>
              <a:t> з </a:t>
            </a:r>
            <a:r>
              <a:rPr lang="da-DK" b="1" dirty="0"/>
              <a:t>user</a:t>
            </a:r>
          </a:p>
          <a:p>
            <a:r>
              <a:rPr lang="da-DK" b="1" dirty="0"/>
              <a:t>- clicking buttons</a:t>
            </a:r>
          </a:p>
          <a:p>
            <a:pPr marL="285750" indent="-285750">
              <a:buFontTx/>
              <a:buChar char="-"/>
            </a:pPr>
            <a:r>
              <a:rPr lang="ru-RU" b="1" dirty="0"/>
              <a:t>вводиться </a:t>
            </a:r>
            <a:r>
              <a:rPr lang="ru-RU" b="1" dirty="0" err="1"/>
              <a:t>інформація</a:t>
            </a:r>
            <a:r>
              <a:rPr lang="ru-RU" b="1" dirty="0"/>
              <a:t> в </a:t>
            </a:r>
            <a:r>
              <a:rPr lang="da-DK" b="1" dirty="0"/>
              <a:t>input fields </a:t>
            </a:r>
            <a:endParaRPr lang="uk-UA" b="1" dirty="0"/>
          </a:p>
          <a:p>
            <a:r>
              <a:rPr lang="uk-UA" b="1" dirty="0"/>
              <a:t>- </a:t>
            </a:r>
            <a:r>
              <a:rPr lang="ru-RU" b="1" dirty="0"/>
              <a:t>в</a:t>
            </a:r>
            <a:r>
              <a:rPr lang="uk-UA" b="1" dirty="0" err="1"/>
              <a:t>икликаються</a:t>
            </a:r>
            <a:r>
              <a:rPr lang="uk-UA" b="1" dirty="0"/>
              <a:t> </a:t>
            </a:r>
            <a:r>
              <a:rPr lang="en-US" b="1" dirty="0"/>
              <a:t>events</a:t>
            </a:r>
            <a:endParaRPr lang="da-DK" b="1" dirty="0"/>
          </a:p>
          <a:p>
            <a:r>
              <a:rPr lang="da-DK" b="1" dirty="0"/>
              <a:t>- </a:t>
            </a:r>
            <a:r>
              <a:rPr lang="ru-RU" b="1" dirty="0" err="1"/>
              <a:t>використовуються</a:t>
            </a:r>
            <a:r>
              <a:rPr lang="ru-RU" b="1" dirty="0"/>
              <a:t> </a:t>
            </a:r>
            <a:r>
              <a:rPr lang="da-DK" b="1" dirty="0"/>
              <a:t>React hooks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DA05A-8ED1-414B-F9E3-AE3DE1890DA7}"/>
              </a:ext>
            </a:extLst>
          </p:cNvPr>
          <p:cNvSpPr txBox="1"/>
          <p:nvPr/>
        </p:nvSpPr>
        <p:spPr>
          <a:xfrm>
            <a:off x="117376" y="2996952"/>
            <a:ext cx="892899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Якщо</a:t>
            </a:r>
            <a:r>
              <a:rPr lang="ru-RU" b="1" dirty="0"/>
              <a:t> компонент </a:t>
            </a:r>
            <a:r>
              <a:rPr lang="ru-RU" b="1" dirty="0">
                <a:solidFill>
                  <a:srgbClr val="FF0000"/>
                </a:solidFill>
              </a:rPr>
              <a:t>не </a:t>
            </a:r>
            <a:r>
              <a:rPr lang="ru-RU" b="1" dirty="0" err="1">
                <a:solidFill>
                  <a:srgbClr val="FF0000"/>
                </a:solidFill>
              </a:rPr>
              <a:t>взаємодіє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/>
              <a:t>з </a:t>
            </a:r>
            <a:r>
              <a:rPr lang="da-DK" b="1" dirty="0"/>
              <a:t>user</a:t>
            </a:r>
          </a:p>
          <a:p>
            <a:r>
              <a:rPr lang="da-DK" b="1" dirty="0"/>
              <a:t>- fetching data </a:t>
            </a:r>
            <a:r>
              <a:rPr lang="ru-RU" b="1" dirty="0"/>
              <a:t>з сервера</a:t>
            </a:r>
          </a:p>
          <a:p>
            <a:r>
              <a:rPr lang="ru-RU" b="1" dirty="0"/>
              <a:t>- </a:t>
            </a:r>
            <a:r>
              <a:rPr lang="ru-RU" b="1" dirty="0" err="1"/>
              <a:t>показується</a:t>
            </a:r>
            <a:r>
              <a:rPr lang="ru-RU" b="1" dirty="0"/>
              <a:t> </a:t>
            </a:r>
            <a:r>
              <a:rPr lang="da-DK" b="1" dirty="0"/>
              <a:t>static content </a:t>
            </a:r>
          </a:p>
          <a:p>
            <a:r>
              <a:rPr lang="da-DK" b="1" dirty="0"/>
              <a:t>- </a:t>
            </a:r>
            <a:r>
              <a:rPr lang="ru-RU" b="1" dirty="0" err="1"/>
              <a:t>виконуються</a:t>
            </a:r>
            <a:r>
              <a:rPr lang="ru-RU" b="1" dirty="0"/>
              <a:t> </a:t>
            </a:r>
            <a:r>
              <a:rPr lang="da-DK" b="1" dirty="0"/>
              <a:t>server-side </a:t>
            </a:r>
            <a:r>
              <a:rPr lang="ru-RU" b="1" dirty="0" err="1"/>
              <a:t>розрахунки</a:t>
            </a:r>
            <a:endParaRPr lang="da-DK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201DD-09D3-7C40-B76D-BED26C7170F2}"/>
              </a:ext>
            </a:extLst>
          </p:cNvPr>
          <p:cNvSpPr txBox="1"/>
          <p:nvPr/>
        </p:nvSpPr>
        <p:spPr>
          <a:xfrm>
            <a:off x="107504" y="2628203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uk-UA" dirty="0"/>
              <a:t>Коли використовувати</a:t>
            </a:r>
            <a:r>
              <a:rPr lang="en-US" dirty="0"/>
              <a:t> Server Component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8BF9F-DA0C-F7C1-4D1F-FC24B98AF7C7}"/>
              </a:ext>
            </a:extLst>
          </p:cNvPr>
          <p:cNvSpPr txBox="1"/>
          <p:nvPr/>
        </p:nvSpPr>
        <p:spPr>
          <a:xfrm>
            <a:off x="179512" y="4797152"/>
            <a:ext cx="89289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Увага !!!</a:t>
            </a:r>
            <a:endParaRPr lang="da-DK" b="1" dirty="0"/>
          </a:p>
          <a:p>
            <a:pPr marL="285750" indent="-285750">
              <a:buFontTx/>
              <a:buChar char="-"/>
            </a:pPr>
            <a:r>
              <a:rPr lang="da-DK" b="1" dirty="0"/>
              <a:t>Next.js </a:t>
            </a:r>
            <a:r>
              <a:rPr lang="ru-RU" b="1" dirty="0"/>
              <a:t>автоматично </a:t>
            </a:r>
            <a:r>
              <a:rPr lang="ru-RU" b="1" dirty="0" err="1"/>
              <a:t>розглядає</a:t>
            </a:r>
            <a:r>
              <a:rPr lang="ru-RU" b="1" dirty="0"/>
              <a:t> </a:t>
            </a:r>
            <a:r>
              <a:rPr lang="ru-RU" b="1" dirty="0" err="1"/>
              <a:t>кожен</a:t>
            </a:r>
            <a:r>
              <a:rPr lang="ru-RU" b="1" dirty="0"/>
              <a:t> компонент як  </a:t>
            </a:r>
            <a:r>
              <a:rPr lang="da-DK" b="1" dirty="0"/>
              <a:t>Server Component</a:t>
            </a:r>
          </a:p>
          <a:p>
            <a:r>
              <a:rPr lang="ru-RU" b="1" dirty="0"/>
              <a:t> - для того </a:t>
            </a:r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створити</a:t>
            </a:r>
            <a:r>
              <a:rPr lang="ru-RU" b="1" dirty="0"/>
              <a:t> </a:t>
            </a:r>
            <a:r>
              <a:rPr lang="da-DK" b="1" dirty="0"/>
              <a:t>Client Component </a:t>
            </a:r>
            <a:r>
              <a:rPr lang="ru-RU" b="1" dirty="0"/>
              <a:t>треба на початку файла компонента </a:t>
            </a:r>
            <a:r>
              <a:rPr lang="ru-RU" b="1" dirty="0" err="1"/>
              <a:t>додати</a:t>
            </a:r>
            <a:r>
              <a:rPr lang="ru-RU" b="1" dirty="0"/>
              <a:t> строку  </a:t>
            </a:r>
            <a:r>
              <a:rPr lang="ru-RU" b="1" dirty="0">
                <a:solidFill>
                  <a:srgbClr val="C00000"/>
                </a:solidFill>
              </a:rPr>
              <a:t>"</a:t>
            </a:r>
            <a:r>
              <a:rPr lang="da-DK" b="1" dirty="0">
                <a:solidFill>
                  <a:srgbClr val="C00000"/>
                </a:solidFill>
              </a:rPr>
              <a:t>client component"</a:t>
            </a:r>
            <a:endParaRPr lang="uk-UA" b="1" dirty="0">
              <a:solidFill>
                <a:srgbClr val="C00000"/>
              </a:solidFill>
            </a:endParaRPr>
          </a:p>
          <a:p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3155166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36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826C3A-37B2-9D24-9B40-80DF6FDC235D}"/>
              </a:ext>
            </a:extLst>
          </p:cNvPr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_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0E177-1691-1063-7721-B265B6FE084E}"/>
              </a:ext>
            </a:extLst>
          </p:cNvPr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4048834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826C3A-37B2-9D24-9B40-80DF6FDC235D}"/>
              </a:ext>
            </a:extLst>
          </p:cNvPr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_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0E177-1691-1063-7721-B265B6FE084E}"/>
              </a:ext>
            </a:extLst>
          </p:cNvPr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886357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_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203717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844824"/>
            <a:ext cx="8928992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485931"/>
            <a:ext cx="8928992" cy="369332"/>
          </a:xfrm>
          <a:prstGeom prst="rect">
            <a:avLst/>
          </a:prstGeom>
          <a:solidFill>
            <a:srgbClr val="FFFF00">
              <a:alpha val="1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127038"/>
            <a:ext cx="8928992" cy="369332"/>
          </a:xfrm>
          <a:prstGeom prst="rect">
            <a:avLst/>
          </a:prstGeom>
          <a:solidFill>
            <a:srgbClr val="00B0F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12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3420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6879</TotalTime>
  <Words>182</Words>
  <Application>Microsoft Office PowerPoint</Application>
  <PresentationFormat>Экран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Calibri</vt:lpstr>
      <vt:lpstr>Courier New</vt:lpstr>
      <vt:lpstr>Verdana</vt:lpstr>
      <vt:lpstr>Wingdings 2</vt:lpstr>
      <vt:lpstr>Wingdings 3</vt:lpstr>
      <vt:lpstr>Тема1</vt:lpstr>
      <vt:lpstr>Server Side component  in Next.js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1175</cp:revision>
  <dcterms:modified xsi:type="dcterms:W3CDTF">2024-11-08T07:31:59Z</dcterms:modified>
</cp:coreProperties>
</file>