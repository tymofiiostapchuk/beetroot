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7"/>
  </p:notesMasterIdLst>
  <p:sldIdLst>
    <p:sldId id="256" r:id="rId2"/>
    <p:sldId id="300" r:id="rId3"/>
    <p:sldId id="332" r:id="rId4"/>
    <p:sldId id="331" r:id="rId5"/>
    <p:sldId id="333" r:id="rId6"/>
    <p:sldId id="301" r:id="rId7"/>
    <p:sldId id="303" r:id="rId8"/>
    <p:sldId id="328" r:id="rId9"/>
    <p:sldId id="394" r:id="rId10"/>
    <p:sldId id="348" r:id="rId11"/>
    <p:sldId id="347" r:id="rId12"/>
    <p:sldId id="385" r:id="rId13"/>
    <p:sldId id="397" r:id="rId14"/>
    <p:sldId id="395" r:id="rId15"/>
    <p:sldId id="337" r:id="rId16"/>
    <p:sldId id="382" r:id="rId17"/>
    <p:sldId id="399" r:id="rId18"/>
    <p:sldId id="351" r:id="rId19"/>
    <p:sldId id="335" r:id="rId20"/>
    <p:sldId id="336" r:id="rId21"/>
    <p:sldId id="345" r:id="rId22"/>
    <p:sldId id="401" r:id="rId23"/>
    <p:sldId id="400" r:id="rId24"/>
    <p:sldId id="392" r:id="rId25"/>
    <p:sldId id="357" r:id="rId26"/>
    <p:sldId id="358" r:id="rId27"/>
    <p:sldId id="359" r:id="rId28"/>
    <p:sldId id="360" r:id="rId29"/>
    <p:sldId id="365" r:id="rId30"/>
    <p:sldId id="366" r:id="rId31"/>
    <p:sldId id="393" r:id="rId32"/>
    <p:sldId id="372" r:id="rId33"/>
    <p:sldId id="374" r:id="rId34"/>
    <p:sldId id="375" r:id="rId35"/>
    <p:sldId id="308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DFEB"/>
    <a:srgbClr val="375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0" autoAdjust="0"/>
    <p:restoredTop sz="94514" autoAdjust="0"/>
  </p:normalViewPr>
  <p:slideViewPr>
    <p:cSldViewPr>
      <p:cViewPr varScale="1">
        <p:scale>
          <a:sx n="99" d="100"/>
          <a:sy n="99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502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13.01.2023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jquery.com/" TargetMode="External"/><Relationship Id="rId2" Type="http://schemas.openxmlformats.org/officeDocument/2006/relationships/hyperlink" Target="http://jquery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jqueryui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Java</a:t>
            </a:r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Script - </a:t>
            </a:r>
            <a:r>
              <a:rPr lang="en-US" sz="5400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jQuery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07340"/>
            <a:ext cx="8928992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бібліотека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написана на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JavaScript,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фокусується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взаємодії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JavaScript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HTML.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: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легко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отримувати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доступ до будь-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DOM,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звертатися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атрибутів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вмісту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DOM,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маніпулювати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ними;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користувачеві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зручний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API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роботи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AJAX.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988840"/>
            <a:ext cx="8928992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API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(application programming interface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–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набір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готових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класів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 процедур, 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 структур і констант,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надаються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додатком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бібліотекою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сервісом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використання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зовнішніх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програмних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продуктах.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319824"/>
            <a:ext cx="892899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  <a:hlinkClick r:id="rId2"/>
              </a:rPr>
              <a:t>http://jquery.com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  <a:hlinkClick r:id="rId3"/>
              </a:rPr>
              <a:t>http://code.jquery.com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  <a:hlinkClick r:id="rId4"/>
              </a:rPr>
              <a:t>http://jqueryui.com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91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07340"/>
            <a:ext cx="4248472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 class="p1"&gt;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Paragraph 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 class="p2"&gt;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Paragraph 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 class="p3"&gt;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Paragraph 3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 class="p4"&gt;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Paragraph 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&lt;/p&gt;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1484784"/>
            <a:ext cx="885698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натівний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JavaScript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document.getElementsByTagName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("p")[1].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"changed";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2134238"/>
            <a:ext cx="885698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jQuery</a:t>
            </a:r>
            <a:endParaRPr lang="en-US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$(".p2").html("changed");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3358733"/>
            <a:ext cx="8856984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натівний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JavaScript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els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document.getElementsByTagName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("p");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for(var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0,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els.length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els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"changed";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4836061"/>
            <a:ext cx="8856984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jQuery</a:t>
            </a:r>
            <a:endParaRPr lang="en-US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$("p").html("changed");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5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88640"/>
            <a:ext cx="8928992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Суть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полягає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тому,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відбирати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потім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виконувати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над ними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якісь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В основу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відбору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покладено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селекторний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метод - 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аналогією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2872095"/>
            <a:ext cx="8928992" cy="24622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Синтаксис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відбору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елементів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ru-RU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 </a:t>
            </a:r>
            <a:r>
              <a:rPr lang="ru-RU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селектор </a:t>
            </a:r>
            <a:r>
              <a:rPr lang="en-US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де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$( 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alias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функції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jQuery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 ) 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селектор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$("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 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")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відбере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вкладені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19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6842" y="1988840"/>
            <a:ext cx="8856984" cy="101566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Courier New" pitchFamily="49" charset="0"/>
                <a:cs typeface="Courier New" pitchFamily="49" charset="0"/>
              </a:rPr>
              <a:t>$( )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1403648" y="476672"/>
            <a:ext cx="7580178" cy="1728192"/>
            <a:chOff x="1403648" y="476672"/>
            <a:chExt cx="7580178" cy="1728192"/>
          </a:xfrm>
        </p:grpSpPr>
        <p:sp>
          <p:nvSpPr>
            <p:cNvPr id="7" name="TextBox 6"/>
            <p:cNvSpPr txBox="1"/>
            <p:nvPr/>
          </p:nvSpPr>
          <p:spPr>
            <a:xfrm>
              <a:off x="2411760" y="476672"/>
              <a:ext cx="6572066" cy="101566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CSS </a:t>
              </a:r>
              <a:r>
                <a:rPr lang="ru-RU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селектор</a:t>
              </a:r>
              <a:r>
                <a:rPr lang="en-US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endPara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jQuery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поверне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набір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елементів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відповідний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цьому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селектору</a:t>
              </a:r>
            </a:p>
          </p:txBody>
        </p:sp>
        <p:cxnSp>
          <p:nvCxnSpPr>
            <p:cNvPr id="9" name="Прямая со стрелкой 8"/>
            <p:cNvCxnSpPr>
              <a:stCxn id="7" idx="1"/>
            </p:cNvCxnSpPr>
            <p:nvPr/>
          </p:nvCxnSpPr>
          <p:spPr>
            <a:xfrm flipH="1">
              <a:off x="1403648" y="984504"/>
              <a:ext cx="1008112" cy="12203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/>
          <p:cNvGrpSpPr/>
          <p:nvPr/>
        </p:nvGrpSpPr>
        <p:grpSpPr>
          <a:xfrm>
            <a:off x="1331640" y="2138207"/>
            <a:ext cx="7632848" cy="738664"/>
            <a:chOff x="1350978" y="544047"/>
            <a:chExt cx="7632848" cy="738664"/>
          </a:xfrm>
        </p:grpSpPr>
        <p:sp>
          <p:nvSpPr>
            <p:cNvPr id="14" name="TextBox 13"/>
            <p:cNvSpPr txBox="1"/>
            <p:nvPr/>
          </p:nvSpPr>
          <p:spPr>
            <a:xfrm>
              <a:off x="2411760" y="544047"/>
              <a:ext cx="6572066" cy="73866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HTML </a:t>
              </a:r>
              <a:r>
                <a:rPr lang="ru-RU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строка</a:t>
              </a:r>
              <a:r>
                <a:rPr lang="en-US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endPara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-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можна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додати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елементи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DOM до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сторінки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5" name="Прямая со стрелкой 14"/>
            <p:cNvCxnSpPr>
              <a:stCxn id="14" idx="1"/>
            </p:cNvCxnSpPr>
            <p:nvPr/>
          </p:nvCxnSpPr>
          <p:spPr>
            <a:xfrm flipH="1">
              <a:off x="1350978" y="913379"/>
              <a:ext cx="106078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/>
          <p:cNvGrpSpPr/>
          <p:nvPr/>
        </p:nvGrpSpPr>
        <p:grpSpPr>
          <a:xfrm>
            <a:off x="1403648" y="2708920"/>
            <a:ext cx="7560840" cy="1242720"/>
            <a:chOff x="1422986" y="39991"/>
            <a:chExt cx="7560840" cy="1242720"/>
          </a:xfrm>
        </p:grpSpPr>
        <p:sp>
          <p:nvSpPr>
            <p:cNvPr id="21" name="TextBox 20"/>
            <p:cNvSpPr txBox="1"/>
            <p:nvPr/>
          </p:nvSpPr>
          <p:spPr>
            <a:xfrm>
              <a:off x="2411760" y="544047"/>
              <a:ext cx="6572066" cy="73866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JavaScript </a:t>
              </a:r>
              <a:r>
                <a:rPr lang="ru-RU" sz="2400" b="1" dirty="0">
                  <a:solidFill>
                    <a:schemeClr val="accent2"/>
                  </a:solidFill>
                  <a:latin typeface="Courier New" pitchFamily="49" charset="0"/>
                  <a:cs typeface="Courier New" pitchFamily="49" charset="0"/>
                </a:rPr>
                <a:t>объект</a:t>
              </a:r>
              <a:endPara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- </a:t>
              </a:r>
              <a:r>
                <a:rPr lang="uk-UA" b="1" dirty="0">
                  <a:latin typeface="Courier New" pitchFamily="49" charset="0"/>
                  <a:cs typeface="Courier New" pitchFamily="49" charset="0"/>
                </a:rPr>
                <a:t>р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озглянемо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пізніше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2" name="Прямая со стрелкой 21"/>
            <p:cNvCxnSpPr>
              <a:stCxn id="21" idx="1"/>
            </p:cNvCxnSpPr>
            <p:nvPr/>
          </p:nvCxnSpPr>
          <p:spPr>
            <a:xfrm flipH="1" flipV="1">
              <a:off x="1422986" y="39991"/>
              <a:ext cx="988774" cy="8733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233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658" y="101531"/>
            <a:ext cx="8996838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!!!</a:t>
            </a:r>
          </a:p>
          <a:p>
            <a:r>
              <a:rPr lang="ru-RU" b="1" dirty="0" err="1"/>
              <a:t>Функція</a:t>
            </a:r>
            <a:r>
              <a:rPr lang="ru-RU" b="1" dirty="0"/>
              <a:t> $( ) </a:t>
            </a:r>
            <a:r>
              <a:rPr lang="ru-RU" b="1" dirty="0" err="1">
                <a:solidFill>
                  <a:srgbClr val="C00000"/>
                </a:solidFill>
              </a:rPr>
              <a:t>завжди</a:t>
            </a:r>
            <a:r>
              <a:rPr lang="ru-RU" b="1" dirty="0"/>
              <a:t> </a:t>
            </a:r>
            <a:r>
              <a:rPr lang="ru-RU" b="1" dirty="0" err="1"/>
              <a:t>повертає</a:t>
            </a:r>
            <a:r>
              <a:rPr lang="ru-RU" b="1" dirty="0"/>
              <a:t> </a:t>
            </a:r>
            <a:r>
              <a:rPr lang="ru-RU" b="1" dirty="0" err="1"/>
              <a:t>спеціальний</a:t>
            </a:r>
            <a:r>
              <a:rPr lang="ru-RU" b="1" dirty="0"/>
              <a:t> </a:t>
            </a:r>
            <a:r>
              <a:rPr lang="ru-RU" b="1" dirty="0" err="1"/>
              <a:t>об'єкт</a:t>
            </a:r>
            <a:r>
              <a:rPr lang="ru-RU" b="1" dirty="0"/>
              <a:t> </a:t>
            </a:r>
            <a:r>
              <a:rPr lang="en-US" b="1" dirty="0"/>
              <a:t>JavaScript,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масив</a:t>
            </a:r>
            <a:r>
              <a:rPr lang="ru-RU" b="1" dirty="0"/>
              <a:t> </a:t>
            </a:r>
            <a:r>
              <a:rPr lang="ru-RU" b="1" dirty="0" err="1"/>
              <a:t>елементів</a:t>
            </a:r>
            <a:r>
              <a:rPr lang="ru-RU" b="1" dirty="0"/>
              <a:t> </a:t>
            </a:r>
            <a:r>
              <a:rPr lang="en-US" b="1" dirty="0"/>
              <a:t>DOM,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відповідає</a:t>
            </a:r>
            <a:r>
              <a:rPr lang="ru-RU" b="1" dirty="0"/>
              <a:t> тому селектору, </a:t>
            </a:r>
            <a:r>
              <a:rPr lang="ru-RU" b="1" dirty="0" err="1"/>
              <a:t>який</a:t>
            </a:r>
            <a:r>
              <a:rPr lang="ru-RU" b="1" dirty="0"/>
              <a:t> </a:t>
            </a:r>
            <a:r>
              <a:rPr lang="ru-RU" b="1" dirty="0" err="1"/>
              <a:t>був</a:t>
            </a:r>
            <a:r>
              <a:rPr lang="ru-RU" b="1" dirty="0"/>
              <a:t> </a:t>
            </a:r>
            <a:r>
              <a:rPr lang="ru-RU" b="1" dirty="0" err="1"/>
              <a:t>переданий</a:t>
            </a:r>
            <a:r>
              <a:rPr lang="ru-RU" b="1" dirty="0"/>
              <a:t> у </a:t>
            </a:r>
            <a:r>
              <a:rPr lang="ru-RU" b="1" dirty="0" err="1"/>
              <a:t>цю</a:t>
            </a:r>
            <a:r>
              <a:rPr lang="ru-RU" b="1" dirty="0"/>
              <a:t> </a:t>
            </a:r>
            <a:r>
              <a:rPr lang="ru-RU" b="1" dirty="0" err="1"/>
              <a:t>функцію</a:t>
            </a:r>
            <a:r>
              <a:rPr lang="ru-RU" b="1" dirty="0"/>
              <a:t>.</a:t>
            </a:r>
          </a:p>
          <a:p>
            <a:r>
              <a:rPr lang="ru-RU" b="1" dirty="0" err="1"/>
              <a:t>Цей</a:t>
            </a:r>
            <a:r>
              <a:rPr lang="ru-RU" b="1" dirty="0"/>
              <a:t> </a:t>
            </a:r>
            <a:r>
              <a:rPr lang="ru-RU" b="1" dirty="0" err="1"/>
              <a:t>спеціальний</a:t>
            </a:r>
            <a:r>
              <a:rPr lang="ru-RU" b="1" dirty="0"/>
              <a:t> </a:t>
            </a:r>
            <a:r>
              <a:rPr lang="ru-RU" b="1" dirty="0" err="1"/>
              <a:t>об'єкт</a:t>
            </a:r>
            <a:r>
              <a:rPr lang="ru-RU" b="1" dirty="0"/>
              <a:t> </a:t>
            </a:r>
            <a:r>
              <a:rPr lang="ru-RU" b="1" dirty="0" err="1"/>
              <a:t>має</a:t>
            </a:r>
            <a:r>
              <a:rPr lang="ru-RU" b="1" dirty="0"/>
              <a:t> </a:t>
            </a:r>
            <a:r>
              <a:rPr lang="ru-RU" b="1" dirty="0" err="1"/>
              <a:t>багато</a:t>
            </a:r>
            <a:r>
              <a:rPr lang="ru-RU" b="1" dirty="0"/>
              <a:t> </a:t>
            </a:r>
            <a:r>
              <a:rPr lang="ru-RU" b="1" dirty="0" err="1"/>
              <a:t>корисних</a:t>
            </a:r>
            <a:r>
              <a:rPr lang="ru-RU" b="1" dirty="0"/>
              <a:t> </a:t>
            </a:r>
            <a:r>
              <a:rPr lang="ru-RU" b="1" dirty="0" err="1"/>
              <a:t>методів</a:t>
            </a:r>
            <a:r>
              <a:rPr lang="ru-RU" b="1" dirty="0"/>
              <a:t>, за </a:t>
            </a:r>
            <a:r>
              <a:rPr lang="ru-RU" b="1" dirty="0" err="1"/>
              <a:t>допомогою</a:t>
            </a:r>
            <a:r>
              <a:rPr lang="ru-RU" b="1" dirty="0"/>
              <a:t> </a:t>
            </a:r>
            <a:r>
              <a:rPr lang="ru-RU" b="1" dirty="0" err="1"/>
              <a:t>яких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впливати</a:t>
            </a:r>
            <a:r>
              <a:rPr lang="ru-RU" b="1" dirty="0"/>
              <a:t> на </a:t>
            </a:r>
            <a:r>
              <a:rPr lang="ru-RU" b="1" dirty="0" err="1"/>
              <a:t>відібрану</a:t>
            </a:r>
            <a:r>
              <a:rPr lang="ru-RU" b="1" dirty="0"/>
              <a:t> </a:t>
            </a:r>
            <a:r>
              <a:rPr lang="ru-RU" b="1" dirty="0" err="1"/>
              <a:t>групу</a:t>
            </a:r>
            <a:r>
              <a:rPr lang="ru-RU" b="1" dirty="0"/>
              <a:t> </a:t>
            </a:r>
            <a:r>
              <a:rPr lang="ru-RU" b="1" dirty="0" err="1"/>
              <a:t>елементів</a:t>
            </a:r>
            <a:r>
              <a:rPr lang="ru-RU" b="1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28" y="2204864"/>
            <a:ext cx="895796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b="1" dirty="0"/>
              <a:t>Мовою </a:t>
            </a:r>
            <a:r>
              <a:rPr lang="ru-RU" b="1" dirty="0" err="1"/>
              <a:t>програмування</a:t>
            </a:r>
            <a:r>
              <a:rPr lang="ru-RU" b="1" dirty="0"/>
              <a:t> </a:t>
            </a:r>
            <a:r>
              <a:rPr lang="ru-RU" b="1" dirty="0" err="1"/>
              <a:t>конструкція</a:t>
            </a:r>
            <a:r>
              <a:rPr lang="ru-RU" b="1" dirty="0"/>
              <a:t> </a:t>
            </a:r>
            <a:r>
              <a:rPr lang="ru-RU" b="1" dirty="0">
                <a:solidFill>
                  <a:srgbClr val="C00000"/>
                </a:solidFill>
              </a:rPr>
              <a:t>$( )</a:t>
            </a:r>
            <a:r>
              <a:rPr lang="ru-RU" b="1" dirty="0"/>
              <a:t> </a:t>
            </a:r>
            <a:r>
              <a:rPr lang="ru-RU" b="1" dirty="0" err="1"/>
              <a:t>називається</a:t>
            </a:r>
            <a:endParaRPr lang="ru-RU" b="1" dirty="0"/>
          </a:p>
          <a:p>
            <a:r>
              <a:rPr lang="ru-RU" b="1" dirty="0" err="1"/>
              <a:t>обгорткою</a:t>
            </a:r>
            <a:r>
              <a:rPr lang="ru-RU" b="1" dirty="0"/>
              <a:t> (</a:t>
            </a:r>
            <a:r>
              <a:rPr lang="en-US" b="1" dirty="0">
                <a:solidFill>
                  <a:srgbClr val="C00000"/>
                </a:solidFill>
              </a:rPr>
              <a:t>wrapper</a:t>
            </a:r>
            <a:r>
              <a:rPr lang="en-US" b="1" dirty="0"/>
              <a:t>) </a:t>
            </a:r>
            <a:r>
              <a:rPr lang="ru-RU" b="1" dirty="0" err="1"/>
              <a:t>оскільки</a:t>
            </a:r>
            <a:r>
              <a:rPr lang="ru-RU" b="1" dirty="0"/>
              <a:t> вона </a:t>
            </a:r>
            <a:r>
              <a:rPr lang="ru-RU" b="1" dirty="0" err="1"/>
              <a:t>обгортає</a:t>
            </a:r>
            <a:r>
              <a:rPr lang="ru-RU" b="1" dirty="0"/>
              <a:t> </a:t>
            </a:r>
            <a:r>
              <a:rPr lang="ru-RU" b="1" dirty="0" err="1"/>
              <a:t>відібрані</a:t>
            </a:r>
            <a:r>
              <a:rPr lang="ru-RU" b="1" dirty="0"/>
              <a:t> </a:t>
            </a:r>
            <a:r>
              <a:rPr lang="ru-RU" b="1" dirty="0" err="1"/>
              <a:t>елементи</a:t>
            </a:r>
            <a:r>
              <a:rPr lang="ru-RU" b="1" dirty="0"/>
              <a:t> </a:t>
            </a:r>
            <a:r>
              <a:rPr lang="ru-RU" b="1" dirty="0" err="1"/>
              <a:t>додатковою</a:t>
            </a:r>
            <a:r>
              <a:rPr lang="ru-RU" b="1" dirty="0"/>
              <a:t> </a:t>
            </a:r>
            <a:r>
              <a:rPr lang="ru-RU" b="1" dirty="0" err="1"/>
              <a:t>функціональністю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3284984"/>
            <a:ext cx="8640960" cy="3139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b="1" dirty="0">
                <a:solidFill>
                  <a:srgbClr val="002060"/>
                </a:solidFill>
              </a:rPr>
              <a:t>При </a:t>
            </a:r>
            <a:r>
              <a:rPr lang="ru-RU" b="1" dirty="0" err="1">
                <a:solidFill>
                  <a:srgbClr val="002060"/>
                </a:solidFill>
              </a:rPr>
              <a:t>виклику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>
                <a:solidFill>
                  <a:srgbClr val="C00000"/>
                </a:solidFill>
              </a:rPr>
              <a:t>$() </a:t>
            </a:r>
            <a:r>
              <a:rPr lang="ru-RU" b="1" dirty="0" err="1">
                <a:solidFill>
                  <a:srgbClr val="002060"/>
                </a:solidFill>
              </a:rPr>
              <a:t>об'єкт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повертається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завжди</a:t>
            </a:r>
            <a:r>
              <a:rPr lang="ru-RU" b="1" dirty="0">
                <a:solidFill>
                  <a:srgbClr val="002060"/>
                </a:solidFill>
              </a:rPr>
              <a:t>, </a:t>
            </a:r>
            <a:r>
              <a:rPr lang="ru-RU" b="1" dirty="0" err="1">
                <a:solidFill>
                  <a:srgbClr val="002060"/>
                </a:solidFill>
              </a:rPr>
              <a:t>незалежно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від</a:t>
            </a:r>
            <a:r>
              <a:rPr lang="ru-RU" b="1" dirty="0">
                <a:solidFill>
                  <a:srgbClr val="002060"/>
                </a:solidFill>
              </a:rPr>
              <a:t> того, </a:t>
            </a:r>
            <a:r>
              <a:rPr lang="ru-RU" b="1" dirty="0" err="1">
                <a:solidFill>
                  <a:srgbClr val="002060"/>
                </a:solidFill>
              </a:rPr>
              <a:t>чи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знайшла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функція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елементи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чи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ні</a:t>
            </a:r>
            <a:r>
              <a:rPr lang="ru-RU" b="1" dirty="0">
                <a:solidFill>
                  <a:srgbClr val="002060"/>
                </a:solidFill>
              </a:rPr>
              <a:t>.</a:t>
            </a:r>
          </a:p>
          <a:p>
            <a:endParaRPr lang="ru-RU" b="1" dirty="0">
              <a:solidFill>
                <a:srgbClr val="002060"/>
              </a:solidFill>
            </a:endParaRPr>
          </a:p>
          <a:p>
            <a:r>
              <a:rPr lang="ru-RU" b="1" dirty="0" err="1">
                <a:solidFill>
                  <a:srgbClr val="002060"/>
                </a:solidFill>
              </a:rPr>
              <a:t>Цей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об'єкт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має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властивість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length</a:t>
            </a:r>
            <a:r>
              <a:rPr lang="en-US" b="1" dirty="0">
                <a:solidFill>
                  <a:srgbClr val="002060"/>
                </a:solidFill>
              </a:rPr>
              <a:t>, </a:t>
            </a:r>
            <a:r>
              <a:rPr lang="ru-RU" b="1" dirty="0">
                <a:solidFill>
                  <a:srgbClr val="002060"/>
                </a:solidFill>
              </a:rPr>
              <a:t>яка </a:t>
            </a:r>
            <a:r>
              <a:rPr lang="ru-RU" b="1" dirty="0" err="1">
                <a:solidFill>
                  <a:srgbClr val="002060"/>
                </a:solidFill>
              </a:rPr>
              <a:t>вказує</a:t>
            </a:r>
            <a:r>
              <a:rPr lang="ru-RU" b="1" dirty="0">
                <a:solidFill>
                  <a:srgbClr val="002060"/>
                </a:solidFill>
              </a:rPr>
              <a:t>, яку </a:t>
            </a:r>
            <a:r>
              <a:rPr lang="ru-RU" b="1" dirty="0" err="1">
                <a:solidFill>
                  <a:srgbClr val="002060"/>
                </a:solidFill>
              </a:rPr>
              <a:t>кількість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елементів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було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знайдено</a:t>
            </a:r>
            <a:r>
              <a:rPr lang="ru-RU" b="1" dirty="0">
                <a:solidFill>
                  <a:srgbClr val="002060"/>
                </a:solidFill>
              </a:rPr>
              <a:t>. </a:t>
            </a:r>
            <a:r>
              <a:rPr lang="ru-RU" b="1" dirty="0" err="1">
                <a:solidFill>
                  <a:srgbClr val="002060"/>
                </a:solidFill>
              </a:rPr>
              <a:t>Цю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властивість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можна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використовувати</a:t>
            </a:r>
            <a:r>
              <a:rPr lang="ru-RU" b="1" dirty="0">
                <a:solidFill>
                  <a:srgbClr val="002060"/>
                </a:solidFill>
              </a:rPr>
              <a:t> </a:t>
            </a:r>
            <a:r>
              <a:rPr lang="ru-RU" b="1" dirty="0" err="1">
                <a:solidFill>
                  <a:srgbClr val="002060"/>
                </a:solidFill>
              </a:rPr>
              <a:t>під</a:t>
            </a:r>
            <a:r>
              <a:rPr lang="ru-RU" b="1" dirty="0">
                <a:solidFill>
                  <a:srgbClr val="002060"/>
                </a:solidFill>
              </a:rPr>
              <a:t> час </a:t>
            </a:r>
            <a:r>
              <a:rPr lang="ru-RU" b="1" dirty="0" err="1">
                <a:solidFill>
                  <a:srgbClr val="002060"/>
                </a:solidFill>
              </a:rPr>
              <a:t>перевірки</a:t>
            </a:r>
            <a:r>
              <a:rPr lang="ru-RU" b="1" dirty="0">
                <a:solidFill>
                  <a:srgbClr val="002060"/>
                </a:solidFill>
              </a:rPr>
              <a:t>, </a:t>
            </a:r>
            <a:r>
              <a:rPr lang="ru-RU" b="1" dirty="0" err="1">
                <a:solidFill>
                  <a:srgbClr val="002060"/>
                </a:solidFill>
              </a:rPr>
              <a:t>наприклад</a:t>
            </a:r>
            <a:endParaRPr lang="en-US" b="1" dirty="0">
              <a:solidFill>
                <a:srgbClr val="002060"/>
              </a:solidFill>
            </a:endParaRPr>
          </a:p>
          <a:p>
            <a:endParaRPr lang="ru-RU" b="1" dirty="0"/>
          </a:p>
          <a:p>
            <a:r>
              <a:rPr lang="ru-RU" b="1" dirty="0">
                <a:solidFill>
                  <a:srgbClr val="002060"/>
                </a:solidFill>
              </a:rPr>
              <a:t>	</a:t>
            </a:r>
            <a:r>
              <a:rPr lang="en-US" b="1" dirty="0">
                <a:solidFill>
                  <a:srgbClr val="002060"/>
                </a:solidFill>
              </a:rPr>
              <a:t>const </a:t>
            </a:r>
            <a:r>
              <a:rPr lang="en-US" b="1" dirty="0" err="1">
                <a:solidFill>
                  <a:srgbClr val="002060"/>
                </a:solidFill>
              </a:rPr>
              <a:t>els</a:t>
            </a:r>
            <a:r>
              <a:rPr lang="en-US" b="1" dirty="0">
                <a:solidFill>
                  <a:srgbClr val="002060"/>
                </a:solidFill>
              </a:rPr>
              <a:t> = $("div");</a:t>
            </a:r>
          </a:p>
          <a:p>
            <a:r>
              <a:rPr lang="en-US" b="1" dirty="0">
                <a:solidFill>
                  <a:srgbClr val="002060"/>
                </a:solidFill>
              </a:rPr>
              <a:t>	if(</a:t>
            </a:r>
            <a:r>
              <a:rPr lang="en-US" b="1" dirty="0" err="1">
                <a:solidFill>
                  <a:srgbClr val="002060"/>
                </a:solidFill>
              </a:rPr>
              <a:t>els.length</a:t>
            </a:r>
            <a:r>
              <a:rPr lang="en-US" b="1" dirty="0">
                <a:solidFill>
                  <a:srgbClr val="002060"/>
                </a:solidFill>
              </a:rPr>
              <a:t>) {</a:t>
            </a:r>
          </a:p>
          <a:p>
            <a:r>
              <a:rPr lang="en-US" b="1" dirty="0">
                <a:solidFill>
                  <a:srgbClr val="002060"/>
                </a:solidFill>
              </a:rPr>
              <a:t>		...</a:t>
            </a:r>
          </a:p>
          <a:p>
            <a:r>
              <a:rPr lang="en-US" b="1" dirty="0">
                <a:solidFill>
                  <a:srgbClr val="002060"/>
                </a:solidFill>
              </a:rPr>
              <a:t>	}</a:t>
            </a:r>
            <a:endParaRPr lang="ru-RU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70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44624"/>
            <a:ext cx="4680520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Обробник</a:t>
            </a:r>
            <a:r>
              <a:rPr lang="ru-RU" dirty="0"/>
              <a:t> </a:t>
            </a:r>
            <a:r>
              <a:rPr lang="ru-RU" dirty="0" err="1"/>
              <a:t>готовності</a:t>
            </a:r>
            <a:r>
              <a:rPr lang="ru-RU" dirty="0"/>
              <a:t> документа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1203793"/>
            <a:ext cx="8712968" cy="1938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ru-RU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="jquery-min.js"&gt;&lt;/script&gt;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20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$(document).ready( function() 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alert(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We’re starting learn jQuery</a:t>
            </a:r>
            <a:r>
              <a:rPr lang="en-US" sz="2000" b="1" dirty="0">
                <a:latin typeface="Courier New"/>
                <a:cs typeface="Courier New"/>
              </a:rPr>
              <a:t>"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      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772" y="3349441"/>
            <a:ext cx="8704707" cy="1631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використати</a:t>
            </a:r>
            <a:r>
              <a:rPr lang="ru-RU" dirty="0"/>
              <a:t> </a:t>
            </a:r>
            <a:r>
              <a:rPr lang="ru-RU" dirty="0" err="1"/>
              <a:t>скорочений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$(function() { </a:t>
            </a:r>
          </a:p>
          <a:p>
            <a:r>
              <a:rPr lang="en-US" dirty="0">
                <a:solidFill>
                  <a:schemeClr val="accent2"/>
                </a:solidFill>
              </a:rPr>
              <a:t>      </a:t>
            </a:r>
            <a:r>
              <a:rPr lang="en-US" dirty="0"/>
              <a:t>alert(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We’re starting learn jQuery 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      </a:t>
            </a:r>
          </a:p>
          <a:p>
            <a:r>
              <a:rPr lang="en-US" dirty="0">
                <a:solidFill>
                  <a:schemeClr val="accent2"/>
                </a:solidFill>
              </a:rPr>
              <a:t>});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620688"/>
            <a:ext cx="6336704" cy="369332"/>
          </a:xfrm>
          <a:prstGeom prst="rect">
            <a:avLst/>
          </a:prstGeom>
          <a:solidFill>
            <a:srgbClr val="FFFF00">
              <a:alpha val="10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аналог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window.onload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имя_функции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59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07504" y="4233282"/>
            <a:ext cx="871296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‘p’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height: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200px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width:</a:t>
            </a:r>
            <a:r>
              <a:rPr lang="en-US" sz="2400" b="1" dirty="0">
                <a:latin typeface="Courier New"/>
                <a:cs typeface="Courier New"/>
              </a:rPr>
              <a:t>"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300px</a:t>
            </a:r>
            <a:r>
              <a:rPr lang="en-US" sz="3200" b="1" dirty="0">
                <a:latin typeface="Courier New"/>
                <a:cs typeface="Courier New"/>
              </a:rPr>
              <a:t>"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67744" y="4365105"/>
            <a:ext cx="5904656" cy="36004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475656" y="163012"/>
            <a:ext cx="6264696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/>
              <a:t>Загальний</a:t>
            </a:r>
            <a:r>
              <a:rPr lang="ru-RU" dirty="0"/>
              <a:t> </a:t>
            </a:r>
            <a:r>
              <a:rPr lang="ru-RU"/>
              <a:t>порядок виклику методів </a:t>
            </a:r>
            <a:r>
              <a:rPr lang="en-US"/>
              <a:t> </a:t>
            </a:r>
            <a:r>
              <a:rPr lang="ru-RU"/>
              <a:t> </a:t>
            </a:r>
            <a:r>
              <a:rPr lang="en-US"/>
              <a:t>jQuery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929026"/>
            <a:ext cx="89289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ru-RU" sz="4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4000" b="1" dirty="0">
                <a:latin typeface="Courier New"/>
                <a:cs typeface="Courier New"/>
              </a:rPr>
              <a:t>"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ru-RU" sz="4000" b="1" dirty="0">
                <a:latin typeface="Courier New"/>
                <a:cs typeface="Courier New"/>
              </a:rPr>
              <a:t>"</a:t>
            </a:r>
            <a:r>
              <a:rPr lang="ru-RU" sz="4000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4000" b="1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4000" b="1" dirty="0">
                <a:latin typeface="Courier New"/>
                <a:cs typeface="Courier New"/>
              </a:rPr>
              <a:t>"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color</a:t>
            </a:r>
            <a:r>
              <a:rPr lang="ru-RU" sz="4000" b="1" dirty="0">
                <a:latin typeface="Courier New"/>
                <a:cs typeface="Courier New"/>
              </a:rPr>
              <a:t>"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ru-RU" sz="4000" b="1" dirty="0">
                <a:latin typeface="Courier New"/>
                <a:cs typeface="Courier New"/>
              </a:rPr>
              <a:t> "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blue</a:t>
            </a:r>
            <a:r>
              <a:rPr lang="ru-RU" sz="4000" b="1" dirty="0">
                <a:latin typeface="Courier New"/>
                <a:cs typeface="Courier New"/>
              </a:rPr>
              <a:t>"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40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251520" y="909929"/>
            <a:ext cx="1656184" cy="1092536"/>
            <a:chOff x="467544" y="1617815"/>
            <a:chExt cx="1656184" cy="1092536"/>
          </a:xfrm>
        </p:grpSpPr>
        <p:sp>
          <p:nvSpPr>
            <p:cNvPr id="6" name="TextBox 5"/>
            <p:cNvSpPr txBox="1"/>
            <p:nvPr/>
          </p:nvSpPr>
          <p:spPr>
            <a:xfrm>
              <a:off x="647564" y="1617815"/>
              <a:ext cx="1296144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Селектор</a:t>
              </a:r>
            </a:p>
          </p:txBody>
        </p:sp>
        <p:sp>
          <p:nvSpPr>
            <p:cNvPr id="8" name="Правая фигурная скобка 7"/>
            <p:cNvSpPr/>
            <p:nvPr/>
          </p:nvSpPr>
          <p:spPr>
            <a:xfrm rot="16200000">
              <a:off x="1115616" y="1702239"/>
              <a:ext cx="360040" cy="1656184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b="1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2267744" y="909929"/>
            <a:ext cx="1101253" cy="1103521"/>
            <a:chOff x="321450" y="1606830"/>
            <a:chExt cx="1948370" cy="1103521"/>
          </a:xfrm>
        </p:grpSpPr>
        <p:sp>
          <p:nvSpPr>
            <p:cNvPr id="13" name="TextBox 12"/>
            <p:cNvSpPr txBox="1"/>
            <p:nvPr/>
          </p:nvSpPr>
          <p:spPr>
            <a:xfrm>
              <a:off x="321450" y="1606830"/>
              <a:ext cx="194837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Метод</a:t>
              </a:r>
            </a:p>
          </p:txBody>
        </p:sp>
        <p:sp>
          <p:nvSpPr>
            <p:cNvPr id="14" name="Правая фигурная скобка 13"/>
            <p:cNvSpPr/>
            <p:nvPr/>
          </p:nvSpPr>
          <p:spPr>
            <a:xfrm rot="16200000">
              <a:off x="1115616" y="1702239"/>
              <a:ext cx="360040" cy="1656184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b="1"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3851920" y="908498"/>
            <a:ext cx="4104456" cy="1092536"/>
            <a:chOff x="467544" y="1617815"/>
            <a:chExt cx="1656184" cy="1092536"/>
          </a:xfrm>
        </p:grpSpPr>
        <p:sp>
          <p:nvSpPr>
            <p:cNvPr id="16" name="TextBox 15"/>
            <p:cNvSpPr txBox="1"/>
            <p:nvPr/>
          </p:nvSpPr>
          <p:spPr>
            <a:xfrm>
              <a:off x="815484" y="1617815"/>
              <a:ext cx="960304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Аргумент</a:t>
              </a:r>
              <a:r>
                <a:rPr lang="uk-UA" b="1" dirty="0">
                  <a:latin typeface="Courier New" pitchFamily="49" charset="0"/>
                  <a:cs typeface="Courier New" pitchFamily="49" charset="0"/>
                </a:rPr>
                <a:t>и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методу</a:t>
              </a:r>
            </a:p>
          </p:txBody>
        </p:sp>
        <p:sp>
          <p:nvSpPr>
            <p:cNvPr id="17" name="Правая фигурная скобка 16"/>
            <p:cNvSpPr/>
            <p:nvPr/>
          </p:nvSpPr>
          <p:spPr>
            <a:xfrm rot="16200000">
              <a:off x="1115616" y="1702239"/>
              <a:ext cx="360040" cy="1656184"/>
            </a:xfrm>
            <a:prstGeom prst="righ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b="1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07504" y="3356992"/>
            <a:ext cx="885698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Аргументи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передаються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можуть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бути будь-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типу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підтримуються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Java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Script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19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1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84784"/>
            <a:ext cx="8208912" cy="30469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</a:p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elements</a:t>
            </a:r>
            <a:endParaRPr lang="ru-RU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5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20" y="44624"/>
            <a:ext cx="5040560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Відбір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– </a:t>
            </a:r>
            <a:r>
              <a:rPr lang="ru-RU" dirty="0" err="1"/>
              <a:t>базові</a:t>
            </a:r>
            <a:r>
              <a:rPr lang="ru-RU" dirty="0"/>
              <a:t> </a:t>
            </a:r>
            <a:r>
              <a:rPr lang="ru-RU" dirty="0" err="1"/>
              <a:t>селектори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130288"/>
              </p:ext>
            </p:extLst>
          </p:nvPr>
        </p:nvGraphicFramePr>
        <p:xfrm>
          <a:off x="179512" y="764704"/>
          <a:ext cx="871296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селектор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#id</a:t>
                      </a:r>
                      <a:endParaRPr lang="ru-RU" b="1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зазначеним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id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element</a:t>
                      </a:r>
                      <a:endParaRPr lang="ru-RU" b="1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DOM-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вказаного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типу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.class</a:t>
                      </a:r>
                      <a:endParaRPr lang="ru-RU" b="1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DOM-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зазначеним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класом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*</a:t>
                      </a:r>
                      <a:endParaRPr lang="ru-RU" b="1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DOM-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accent2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element.class</a:t>
                      </a:r>
                      <a:endParaRPr lang="ru-RU" b="1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тегу</a:t>
                      </a:r>
                    </a:p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зазначеним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класом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class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51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1800" y="35923"/>
            <a:ext cx="4104456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Відбір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у </a:t>
            </a:r>
            <a:r>
              <a:rPr lang="ru-RU" dirty="0" err="1"/>
              <a:t>контексті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470076"/>
            <a:ext cx="8712968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$(selector, context)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де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context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– </a:t>
            </a:r>
            <a:r>
              <a:rPr lang="uk-UA" sz="2000" b="1" dirty="0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DOM-</a:t>
            </a:r>
            <a:r>
              <a:rPr lang="ru-RU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элемент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-object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контексті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якого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здійснюється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  <a:cs typeface="Courier New" pitchFamily="49" charset="0"/>
              </a:rPr>
              <a:t>відбір</a:t>
            </a:r>
            <a:endParaRPr lang="en-US" sz="20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1549241"/>
            <a:ext cx="3168352" cy="25545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ul  </a:t>
            </a:r>
            <a:r>
              <a:rPr lang="pl-PL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id="u1"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  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&gt;Item 1&lt;/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  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&gt;Item 2&lt;/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ul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ul </a:t>
            </a:r>
            <a:r>
              <a:rPr lang="pl-PL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id="u2"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&gt;Item 1&lt;/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&gt;Item 2&lt;/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li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pl-PL" sz="2000" dirty="0">
                <a:latin typeface="Courier New" pitchFamily="49" charset="0"/>
                <a:cs typeface="Courier New" pitchFamily="49" charset="0"/>
              </a:rPr>
            </a:br>
            <a:r>
              <a:rPr lang="pl-PL" sz="20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l-PL" sz="2000" b="1" dirty="0">
                <a:latin typeface="Courier New" pitchFamily="49" charset="0"/>
                <a:cs typeface="Courier New" pitchFamily="49" charset="0"/>
              </a:rPr>
              <a:t>ul</a:t>
            </a:r>
            <a:r>
              <a:rPr lang="pl-PL" sz="2000" dirty="0">
                <a:latin typeface="Courier New" pitchFamily="49" charset="0"/>
                <a:cs typeface="Courier New" pitchFamily="49" charset="0"/>
              </a:rPr>
              <a:t>&gt;</a:t>
            </a:r>
            <a:endParaRPr lang="en-US" sz="20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1880" y="1556792"/>
            <a:ext cx="54006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Відберемо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всі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li </a:t>
            </a:r>
            <a:endParaRPr lang="en-US" sz="20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$("li").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("color", "red");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1880" y="2564904"/>
            <a:ext cx="554461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Відберем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 </a:t>
            </a:r>
            <a:r>
              <a:rPr lang="ru-RU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елементі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uk-UA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з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id="u2"</a:t>
            </a:r>
          </a:p>
          <a:p>
            <a:endParaRPr lang="en-US" sz="20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const context = $("#u2");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0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$("li", context);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512" y="4221088"/>
            <a:ext cx="8856984" cy="2246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Второй вариант отбора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li 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 </a:t>
            </a:r>
            <a:r>
              <a:rPr lang="en-US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c id="u2"</a:t>
            </a:r>
          </a:p>
          <a:p>
            <a:endParaRPr lang="en-US" sz="20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$("li",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("u2"));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ru-RU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так</a:t>
            </a:r>
            <a:endParaRPr lang="en-US" sz="20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$("li", $("#u2"));</a:t>
            </a:r>
          </a:p>
          <a:p>
            <a:endParaRPr lang="en-US" sz="20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82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9912" y="44624"/>
            <a:ext cx="352839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pPr algn="ctr"/>
            <a:r>
              <a:rPr lang="ru-RU" dirty="0"/>
              <a:t>Работа с стилями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70770"/>
              </p:ext>
            </p:extLst>
          </p:nvPr>
        </p:nvGraphicFramePr>
        <p:xfrm>
          <a:off x="82690" y="620688"/>
          <a:ext cx="8953806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1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hasClass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true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–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обраним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елементам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призначено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false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–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інакше</a:t>
                      </a:r>
                      <a:endParaRPr lang="en-US" sz="16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addClass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endParaRPr lang="ru-RU" sz="1600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removeClass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Видалити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вибраних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endParaRPr lang="ru-RU" sz="1600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toggleClass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належать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класу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то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видалити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його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ні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–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його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toggleClass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cls,sw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Додасть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зазначений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cls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відібраним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елементам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аргумент </a:t>
                      </a:r>
                      <a:r>
                        <a:rPr lang="en-US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sw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дорівнює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true, 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i="0" dirty="0" err="1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sw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дорівнює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false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то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видалити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клас</a:t>
                      </a:r>
                      <a:endParaRPr lang="ru-RU" sz="16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155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4606" y="56388"/>
            <a:ext cx="3528392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pPr algn="ctr"/>
            <a:r>
              <a:rPr lang="ru-RU" dirty="0"/>
              <a:t>Работа с атрибутами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562897"/>
              </p:ext>
            </p:extLst>
          </p:nvPr>
        </p:nvGraphicFramePr>
        <p:xfrm>
          <a:off x="93448" y="620688"/>
          <a:ext cx="9015056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attr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(name)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(рядок) для атрибуту з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name</a:t>
                      </a:r>
                      <a:endParaRPr lang="en-US" sz="1600" b="1" i="0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attr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(name,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value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атрибута з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name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value</a:t>
                      </a:r>
                      <a:endParaRPr lang="ru-RU" sz="16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attr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(name,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16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атрибута з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ім'ям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name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яке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sz="1600" b="1" dirty="0">
                        <a:solidFill>
                          <a:srgbClr val="C0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attr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(setting)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атрибути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вказані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в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setting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в соотв.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вибраних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removeAttr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(name)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Видалити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вказаний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атрибут на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ім'я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name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вибраних</a:t>
                      </a:r>
                      <a:r>
                        <a:rPr lang="ru-RU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6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504" y="4221088"/>
            <a:ext cx="8784976" cy="2554545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Використання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а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ttr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(setting)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$('a').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' http://site.ru', 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	id </a:t>
            </a:r>
            <a:r>
              <a:rPr lang="en-US" sz="2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'd1', </a:t>
            </a:r>
          </a:p>
          <a:p>
            <a:r>
              <a:rPr lang="en-US" sz="28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	...</a:t>
            </a:r>
          </a:p>
          <a:p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  }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68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700808"/>
            <a:ext cx="8208912" cy="30469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Traversing DOM</a:t>
            </a:r>
            <a:endParaRPr lang="ru-RU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72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96" y="35332"/>
            <a:ext cx="525658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Пошук</a:t>
            </a:r>
            <a:r>
              <a:rPr lang="ru-RU" dirty="0"/>
              <a:t> у </a:t>
            </a:r>
            <a:r>
              <a:rPr lang="ru-RU" dirty="0" err="1"/>
              <a:t>відібраному</a:t>
            </a:r>
            <a:r>
              <a:rPr lang="ru-RU" dirty="0"/>
              <a:t> </a:t>
            </a:r>
            <a:r>
              <a:rPr lang="ru-RU" dirty="0" err="1"/>
              <a:t>наборі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11249"/>
              </p:ext>
            </p:extLst>
          </p:nvPr>
        </p:nvGraphicFramePr>
        <p:xfrm>
          <a:off x="114964" y="837912"/>
          <a:ext cx="8993540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1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siblings(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7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r>
                        <a:rPr lang="en-US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відповідає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виразу</a:t>
                      </a:r>
                      <a:r>
                        <a:rPr lang="en-US" sz="17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parent(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прямих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батьків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parents(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ctr"/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sz="17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батьківські</a:t>
                      </a:r>
                      <a:r>
                        <a:rPr lang="ru-RU" sz="17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відповідні</a:t>
                      </a:r>
                      <a:r>
                        <a:rPr lang="en-US" sz="1700" b="1" i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children(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прямі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next(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наступний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endParaRPr lang="ru-RU" sz="17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підходить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nextAll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наступні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prev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попередній</a:t>
                      </a:r>
                      <a:endParaRPr lang="ru-RU" sz="17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підходить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prevAll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7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усі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попередні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7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sibling</a:t>
                      </a:r>
                      <a:r>
                        <a:rPr lang="en-US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7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7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7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0192" y="44624"/>
            <a:ext cx="269882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01_traversing.html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204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9832" y="44624"/>
            <a:ext cx="3024336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Утилітарні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490093"/>
              </p:ext>
            </p:extLst>
          </p:nvPr>
        </p:nvGraphicFramePr>
        <p:xfrm>
          <a:off x="179512" y="620688"/>
          <a:ext cx="8712968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closest(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найближчий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parent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підходить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параметр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  <a:p>
                      <a:pPr algn="l"/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Пошук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здійснюється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поточного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елемента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нагору по </a:t>
                      </a:r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DOM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tree.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contents(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дочірні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вузли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</a:t>
                      </a:r>
                      <a:endParaRPr lang="ru-RU" sz="16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find(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дочірні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sz="16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andSelf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 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Поєднає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поточний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набір</a:t>
                      </a:r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sz="16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попереднім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799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37011"/>
            <a:ext cx="6264695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фільтрації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вже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відібраних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73159"/>
              </p:ext>
            </p:extLst>
          </p:nvPr>
        </p:nvGraphicFramePr>
        <p:xfrm>
          <a:off x="83815" y="620688"/>
          <a:ext cx="8952681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is(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true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якщо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хоча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б один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у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наборі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відповідає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виразу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 ,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де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це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фільтр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(селектор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або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їх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комбінація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not(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не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селектор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eq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(index)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відібраного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відповідним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index.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Індексація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починається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  <a:endParaRPr lang="ru-RU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slice(start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[, end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"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відріже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"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номера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яких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виходять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вказані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межі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  <a:p>
                      <a:pPr algn="l"/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індексом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end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не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включається</a:t>
                      </a:r>
                      <a:r>
                        <a:rPr lang="ru-RU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до набору</a:t>
                      </a:r>
                      <a:endParaRPr lang="ru-RU" b="1" i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filter(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підходять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селектор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expr</a:t>
                      </a:r>
                      <a:endParaRPr lang="ru-RU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filter(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algn="l"/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які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яких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функція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true</a:t>
                      </a:r>
                      <a:endParaRPr lang="ru-RU" b="1" i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470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0372" y="476672"/>
            <a:ext cx="8896124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.is(":visible")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повертає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true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visibility: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visible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opacity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больше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0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5896" y="44624"/>
            <a:ext cx="273630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Особенности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is()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372" y="2060848"/>
            <a:ext cx="8896124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.is(":hidden")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повертає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true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-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display: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none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-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width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height == 0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форми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нього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type="hidden"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батько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hidden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730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32" y="84733"/>
            <a:ext cx="9036496" cy="646331"/>
          </a:xfrm>
          <a:prstGeom prst="rect">
            <a:avLst/>
          </a:prstGeom>
          <a:solidFill>
            <a:srgbClr val="FFFF00">
              <a:alpha val="10000"/>
            </a:srgbClr>
          </a:solidFill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filter(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Fn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)</a:t>
            </a:r>
            <a:r>
              <a:rPr lang="en-US" b="1" dirty="0"/>
              <a:t> 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повертає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відібраних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поверне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true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372" y="2708920"/>
            <a:ext cx="7992888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index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Вказує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DOM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179512" y="1268760"/>
            <a:ext cx="8899516" cy="1440160"/>
            <a:chOff x="179512" y="1268760"/>
            <a:chExt cx="8899516" cy="144016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79512" y="1268760"/>
              <a:ext cx="8899516" cy="648072"/>
            </a:xfrm>
            <a:prstGeom prst="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Як параметр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функція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може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приймати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index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елемента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в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об'єкті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jQuery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(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тобто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його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номер)</a:t>
              </a:r>
            </a:p>
          </p:txBody>
        </p:sp>
        <p:cxnSp>
          <p:nvCxnSpPr>
            <p:cNvPr id="7" name="Прямая со стрелкой 6"/>
            <p:cNvCxnSpPr>
              <a:stCxn id="5" idx="2"/>
            </p:cNvCxnSpPr>
            <p:nvPr/>
          </p:nvCxnSpPr>
          <p:spPr>
            <a:xfrm flipH="1">
              <a:off x="2411760" y="1916832"/>
              <a:ext cx="2217510" cy="7920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Группа 14"/>
          <p:cNvGrpSpPr/>
          <p:nvPr/>
        </p:nvGrpSpPr>
        <p:grpSpPr>
          <a:xfrm>
            <a:off x="179512" y="3573017"/>
            <a:ext cx="8784976" cy="1993935"/>
            <a:chOff x="179512" y="3573017"/>
            <a:chExt cx="8784976" cy="1993935"/>
          </a:xfrm>
        </p:grpSpPr>
        <p:sp>
          <p:nvSpPr>
            <p:cNvPr id="9" name="TextBox 8"/>
            <p:cNvSpPr txBox="1"/>
            <p:nvPr/>
          </p:nvSpPr>
          <p:spPr>
            <a:xfrm>
              <a:off x="179512" y="4366623"/>
              <a:ext cx="8784976" cy="1200329"/>
            </a:xfrm>
            <a:prstGeom prst="rect">
              <a:avLst/>
            </a:prstGeom>
            <a:solidFill>
              <a:srgbClr val="7030A0">
                <a:alpha val="10000"/>
              </a:srgb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Якщо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потрібна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для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обробки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елемента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функціональність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jQuery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, то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використовуємо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його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як 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$(</a:t>
              </a:r>
              <a:r>
                <a:rPr lang="ru-RU" b="1" dirty="0" err="1">
                  <a:latin typeface="Courier New" pitchFamily="49" charset="0"/>
                  <a:cs typeface="Courier New" pitchFamily="49" charset="0"/>
                </a:rPr>
                <a:t>this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r>
                <a:rPr lang="ru-RU" dirty="0">
                  <a:latin typeface="Courier New" pitchFamily="49" charset="0"/>
                  <a:cs typeface="Courier New" pitchFamily="49" charset="0"/>
                </a:rPr>
                <a:t>А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якщо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обробка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буде проводиться за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допомогою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традиційного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JavaScript, то </a:t>
              </a:r>
              <a:r>
                <a:rPr lang="ru-RU" dirty="0" err="1">
                  <a:latin typeface="Courier New" pitchFamily="49" charset="0"/>
                  <a:cs typeface="Courier New" pitchFamily="49" charset="0"/>
                </a:rPr>
                <a:t>використовуємо</a:t>
              </a:r>
              <a:r>
                <a:rPr lang="ru-RU" dirty="0">
                  <a:latin typeface="Courier New" pitchFamily="49" charset="0"/>
                  <a:cs typeface="Courier New" pitchFamily="49" charset="0"/>
                </a:rPr>
                <a:t> просто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this</a:t>
              </a:r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</a:t>
              </a:r>
              <a:endParaRPr lang="ru-RU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1" name="Прямая со стрелкой 10"/>
            <p:cNvCxnSpPr>
              <a:stCxn id="9" idx="0"/>
            </p:cNvCxnSpPr>
            <p:nvPr/>
          </p:nvCxnSpPr>
          <p:spPr>
            <a:xfrm flipH="1" flipV="1">
              <a:off x="1907704" y="3573017"/>
              <a:ext cx="2664296" cy="79360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5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5776" y="44624"/>
            <a:ext cx="4068451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Метод   </a:t>
            </a:r>
            <a:r>
              <a:rPr lang="en-US" dirty="0"/>
              <a:t>each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 </a:t>
            </a:r>
            <a:r>
              <a:rPr lang="en-US" dirty="0"/>
              <a:t>iterator</a:t>
            </a:r>
            <a:r>
              <a:rPr lang="ru-RU" dirty="0"/>
              <a:t> 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511512"/>
            <a:ext cx="8784976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Метод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виконує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обхід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всіх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набору та до кожного з них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застосовує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iterator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Цією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функцією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як параметр неявно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передаються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черзі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набору,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доступні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всередині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через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ключове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слово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2420888"/>
            <a:ext cx="8496944" cy="25853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&lt;p&gt;Параграф №1&lt;/p&gt;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&lt;p&gt;Параграф №2&lt;/p&gt;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&lt;p&gt;Параграф №3&lt;/p&gt;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$('p').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each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function(){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$(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('border', '3px solid red');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alert(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this.innerHTML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});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   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2564904"/>
            <a:ext cx="4104456" cy="1296143"/>
          </a:xfrm>
          <a:prstGeom prst="rect">
            <a:avLst/>
          </a:prstGeom>
          <a:solidFill>
            <a:srgbClr val="FFC000">
              <a:alpha val="7000"/>
            </a:srgb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кожній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ітерації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місце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підставлятися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посилання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поточний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1475656" y="3356992"/>
            <a:ext cx="3096344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19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20" y="72669"/>
            <a:ext cx="4176464" cy="369332"/>
          </a:xfrm>
          <a:prstGeom prst="rect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з контентом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90198"/>
              </p:ext>
            </p:extLst>
          </p:nvPr>
        </p:nvGraphicFramePr>
        <p:xfrm>
          <a:off x="82690" y="620688"/>
          <a:ext cx="9001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text( 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текстовий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вміст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всіх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</a:t>
                      </a:r>
                      <a:endParaRPr lang="en-US" sz="1600" b="1" i="0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text(string)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text(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текстовий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вміст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всіх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string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або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яке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en-US" sz="1600" b="1" i="0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html()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Повертає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html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вміст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першого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елемента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(аналог</a:t>
                      </a:r>
                      <a:r>
                        <a:rPr lang="en-US" sz="16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innerHTML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en-US" sz="1600" b="1" i="0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html(string)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html(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html-вміст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кожного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елемента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набору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відповідне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string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або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яке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поверне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функція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ru-RU" sz="1600" b="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en-US" sz="1600" b="1" i="0" dirty="0">
                        <a:solidFill>
                          <a:schemeClr val="accent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504" y="3933056"/>
            <a:ext cx="892899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Особливості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виконання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text(), html()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функцією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як аргумент 	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"li"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(function(index,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oldText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console.log(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index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console.log("this is old text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oldText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99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508" y="764704"/>
            <a:ext cx="8856984" cy="45243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Move and wrap elements</a:t>
            </a:r>
            <a:endParaRPr lang="ru-RU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51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1920" y="1279788"/>
            <a:ext cx="1224136" cy="40934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ru-R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4652" y="1700808"/>
            <a:ext cx="3734939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$('div').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prepend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что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96" y="2236802"/>
            <a:ext cx="3570208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uk-U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prependTo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('div')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817" y="4077072"/>
            <a:ext cx="3570208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$('div').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что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816" y="4618738"/>
            <a:ext cx="3416320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uk-U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appendTo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('div')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2040" y="188640"/>
            <a:ext cx="3312368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$('div').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что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52360" y="724634"/>
            <a:ext cx="4156144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uk-U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insertBefore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('div')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4048" y="5517232"/>
            <a:ext cx="3312368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$('div').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4368" y="6053226"/>
            <a:ext cx="4084136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uk-U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('div')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4283968" y="1911096"/>
            <a:ext cx="387912" cy="383778"/>
          </a:xfrm>
          <a:prstGeom prst="ellipse">
            <a:avLst/>
          </a:prstGeom>
          <a:solidFill>
            <a:srgbClr val="ABD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4310293" y="881279"/>
            <a:ext cx="347410" cy="3437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stCxn id="9" idx="1"/>
            <a:endCxn id="14" idx="6"/>
          </p:cNvCxnSpPr>
          <p:nvPr/>
        </p:nvCxnSpPr>
        <p:spPr>
          <a:xfrm flipH="1">
            <a:off x="4657703" y="388695"/>
            <a:ext cx="274337" cy="6644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0" idx="1"/>
            <a:endCxn id="14" idx="6"/>
          </p:cNvCxnSpPr>
          <p:nvPr/>
        </p:nvCxnSpPr>
        <p:spPr>
          <a:xfrm flipH="1">
            <a:off x="4657703" y="924689"/>
            <a:ext cx="294657" cy="12844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4211960" y="5556461"/>
            <a:ext cx="347410" cy="3437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>
            <a:stCxn id="11" idx="1"/>
            <a:endCxn id="21" idx="6"/>
          </p:cNvCxnSpPr>
          <p:nvPr/>
        </p:nvCxnSpPr>
        <p:spPr>
          <a:xfrm flipH="1">
            <a:off x="4559370" y="5717287"/>
            <a:ext cx="444678" cy="110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 flipV="1">
            <a:off x="4572000" y="5840211"/>
            <a:ext cx="461600" cy="4544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5" idx="3"/>
            <a:endCxn id="13" idx="2"/>
          </p:cNvCxnSpPr>
          <p:nvPr/>
        </p:nvCxnSpPr>
        <p:spPr>
          <a:xfrm>
            <a:off x="3759591" y="1900863"/>
            <a:ext cx="524377" cy="2021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6" idx="3"/>
          </p:cNvCxnSpPr>
          <p:nvPr/>
        </p:nvCxnSpPr>
        <p:spPr>
          <a:xfrm flipV="1">
            <a:off x="3605704" y="2132856"/>
            <a:ext cx="678264" cy="30400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4184088" y="4303329"/>
            <a:ext cx="387912" cy="383778"/>
          </a:xfrm>
          <a:prstGeom prst="ellipse">
            <a:avLst/>
          </a:prstGeom>
          <a:solidFill>
            <a:srgbClr val="ABD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/>
          <p:cNvCxnSpPr>
            <a:endCxn id="28" idx="2"/>
          </p:cNvCxnSpPr>
          <p:nvPr/>
        </p:nvCxnSpPr>
        <p:spPr>
          <a:xfrm>
            <a:off x="3659711" y="4293096"/>
            <a:ext cx="524377" cy="2021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endCxn id="28" idx="2"/>
          </p:cNvCxnSpPr>
          <p:nvPr/>
        </p:nvCxnSpPr>
        <p:spPr>
          <a:xfrm flipV="1">
            <a:off x="3659712" y="4495218"/>
            <a:ext cx="524376" cy="3338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847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1484784"/>
            <a:ext cx="6624736" cy="15696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  <a:endParaRPr lang="ru-RU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46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83768" y="45587"/>
            <a:ext cx="4102033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helpers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подій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683568" y="548680"/>
          <a:ext cx="2232248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method(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func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blur(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change(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click(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dbclick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focus(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mousedown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mouseout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mousemover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keyup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keypress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keydown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submit(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load(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unload(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94296"/>
              </p:ext>
            </p:extLst>
          </p:nvPr>
        </p:nvGraphicFramePr>
        <p:xfrm>
          <a:off x="6588224" y="519896"/>
          <a:ext cx="2232248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тригери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blur()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change()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click()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dbclick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focus()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keypress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keydown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submit()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978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15008" y="404664"/>
            <a:ext cx="8928992" cy="369331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&lt;input type="button" name="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btn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 value="Click"&gt;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&lt;p&gt;this is paragraph 1&lt;/p&gt;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&lt;p&gt;this is paragraph 2&lt;/p&gt;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$("p").click(function(){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alert("Click on paragraph");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$(input["name=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btn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"]).click(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$("p").click();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42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59832" y="35332"/>
            <a:ext cx="2448272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itchFamily="49" charset="0"/>
                <a:cs typeface="Courier New" pitchFamily="49" charset="0"/>
              </a:rPr>
              <a:t>this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19" y="462181"/>
            <a:ext cx="8928992" cy="92333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функції-обробнику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події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змінна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вказує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DOM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функціональності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jQuery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треба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обернути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$(this)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5008" y="1772816"/>
            <a:ext cx="8928992" cy="258532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&lt;input type="text" name="login"&gt;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$("input").focus(function(){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$(this).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("focus");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});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$("input").blur(function(){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$(this).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("blur");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79224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06" y="44031"/>
            <a:ext cx="2800102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Handler events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320097"/>
              </p:ext>
            </p:extLst>
          </p:nvPr>
        </p:nvGraphicFramePr>
        <p:xfrm>
          <a:off x="43706" y="514358"/>
          <a:ext cx="899279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selector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).</a:t>
                      </a:r>
                      <a:endParaRPr lang="ru-RU" sz="18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bind(event,[data],handler)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обробник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handler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подію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event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кожного з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on(event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[,selector] </a:t>
                      </a: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[, data ],   </a:t>
                      </a: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handler(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evt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 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Встановить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обробник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handler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подію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event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unbind(event, handler)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Видалити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обробник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handler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події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event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для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відібраних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endParaRPr lang="ru-RU" sz="1800" b="0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one(event, [data], handler)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Аналогічний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1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bind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винятком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того,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що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обробник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sz="1800" b="0" i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спрацює</a:t>
                      </a:r>
                      <a:r>
                        <a:rPr lang="ru-RU" sz="1800" b="0" i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один раз</a:t>
                      </a:r>
                      <a:endParaRPr lang="ru-RU" sz="1800" b="1" i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90408" y="35332"/>
            <a:ext cx="144016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LAB 1 - 3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75856" y="44031"/>
            <a:ext cx="414160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file_4_delegate_on_bind.html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8D4868-39EB-1880-69F1-D88E0BAFE8C2}"/>
              </a:ext>
            </a:extLst>
          </p:cNvPr>
          <p:cNvSpPr/>
          <p:nvPr/>
        </p:nvSpPr>
        <p:spPr>
          <a:xfrm>
            <a:off x="107504" y="4293096"/>
            <a:ext cx="6624736" cy="864096"/>
          </a:xfrm>
          <a:prstGeom prst="rect">
            <a:avLst/>
          </a:prstGeom>
          <a:solidFill>
            <a:schemeClr val="accent4">
              <a:alpha val="1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$(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element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).on("click",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fn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  $(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parentElement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).on("click",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element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fn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5557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116632"/>
            <a:ext cx="8928992" cy="424731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$(window).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keydown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(function(e){</a:t>
            </a:r>
          </a:p>
          <a:p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code =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e.keyCode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switch(code){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case 37: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alert("Press key LEFT"); break;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case 38: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alert("Press key UP"); break;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case 39: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alert("Press key RIGHT"); break;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case 40: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alert("Press key DOWN"); break;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4509120"/>
            <a:ext cx="8928992" cy="175432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&lt;div class="result"&gt;&lt;/div&gt;</a:t>
            </a:r>
          </a:p>
          <a:p>
            <a:endParaRPr 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$(window).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mousemove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(function(e){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c = "X = " +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e.pageX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+ ", Y = " + 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e.pageY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$(".result").text(c);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46507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116632"/>
            <a:ext cx="8928992" cy="64633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У метод-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обробник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свій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доступний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через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event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910461"/>
            <a:ext cx="8928992" cy="400109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&lt;div class="result"&gt;&lt;/div&gt;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&lt;input name="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btn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 type="button" value="Click"&gt;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$("[name='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btn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']").on("click", 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{ p1 : "Hello",  p2 : 300}, </a:t>
            </a:r>
            <a:endParaRPr lang="en-US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handlerFunc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 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handlerFunc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evt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p1 =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evt.data.p1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p2 =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evt.data.p2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</a:t>
            </a:r>
          </a:p>
          <a:p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$(".result").text(p1 + ", " + p2);</a:t>
            </a:r>
            <a:b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96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84784"/>
            <a:ext cx="8208912" cy="15696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endParaRPr lang="ru-RU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66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93474"/>
            <a:ext cx="3600400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Courier New" pitchFamily="49" charset="0"/>
                <a:cs typeface="Courier New" pitchFamily="49" charset="0"/>
              </a:rPr>
              <a:t>Анімаційні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ефекти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531182"/>
              </p:ext>
            </p:extLst>
          </p:nvPr>
        </p:nvGraphicFramePr>
        <p:xfrm>
          <a:off x="35496" y="511656"/>
          <a:ext cx="9073008" cy="477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hide()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Сховати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hide(speed [,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Приховати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під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час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після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чого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кожного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викликати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функцію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show()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Показати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show(speed [,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Показати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час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після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чого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кожного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викликати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функцію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toggle()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Приховати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/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Відобразити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endParaRPr lang="ru-RU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toggle( switch 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Приховати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switch = false) /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Відобразити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(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switch = true)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endParaRPr lang="ru-RU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toggle(speed [,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Сховати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/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Відобразити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вибрані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час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після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чого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для кожного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викликати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функцію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30538" y="72856"/>
            <a:ext cx="288032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file_5_effects.html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5517232"/>
            <a:ext cx="8784976" cy="1152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speed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"slow " | "fast"  |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значение в миллисекундах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Хранится в объекте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$.</a:t>
            </a:r>
            <a:r>
              <a:rPr lang="en-US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fx.speeds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60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71800" y="35332"/>
            <a:ext cx="3600400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ourier New" pitchFamily="49" charset="0"/>
                <a:cs typeface="Courier New" pitchFamily="49" charset="0"/>
              </a:rPr>
              <a:t>Анимационные эффекты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78542"/>
              </p:ext>
            </p:extLst>
          </p:nvPr>
        </p:nvGraphicFramePr>
        <p:xfrm>
          <a:off x="35496" y="548680"/>
          <a:ext cx="90010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$(selector).method()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fadeIn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,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[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Сделает элементы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видимыми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набора  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fadeOut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(speed,  [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Сделает элементы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прозрачными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набора  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fadeTo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(speed, opacity, [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Изменит непрозрачность  элементов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до указанной  в аргументе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opacity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набора 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810" y="4802149"/>
            <a:ext cx="8957742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dirty="0">
                <a:latin typeface="Courier New" pitchFamily="49" charset="0"/>
                <a:cs typeface="Courier New" pitchFamily="49" charset="0"/>
              </a:rPr>
              <a:t>При применении этого метода меняется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встроенный  стиль элемента, то есть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style = ‘opacity : 0.5’</a:t>
            </a:r>
          </a:p>
          <a:p>
            <a:pPr>
              <a:defRPr/>
            </a:pPr>
            <a:r>
              <a:rPr lang="ru-RU" dirty="0">
                <a:latin typeface="Courier New" pitchFamily="49" charset="0"/>
                <a:cs typeface="Courier New" pitchFamily="49" charset="0"/>
              </a:rPr>
              <a:t>И чтобы восстановить  непрозрачность элемента до 1 надо целенаправленно менять стиль элемента, например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$(selector).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(‘opacity’,  ‘1’);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06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71800" y="44624"/>
            <a:ext cx="3600400" cy="36933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ourier New" pitchFamily="49" charset="0"/>
                <a:cs typeface="Courier New" pitchFamily="49" charset="0"/>
              </a:rPr>
              <a:t>Анимационные эффекты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99694"/>
              </p:ext>
            </p:extLst>
          </p:nvPr>
        </p:nvGraphicFramePr>
        <p:xfrm>
          <a:off x="51916" y="548680"/>
          <a:ext cx="898458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6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$(selector).method( )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Призначення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slideUp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speed, 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[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Свернет каждый  элемент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набора  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один</a:t>
                      </a:r>
                      <a:r>
                        <a:rPr lang="ru-RU" b="1" i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раз 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slideDown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(speed, 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[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Развернет каждый  элемент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один</a:t>
                      </a:r>
                      <a:r>
                        <a:rPr lang="ru-RU" b="1" i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раз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 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slideToggle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(speed, [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Свернет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/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Развернет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каждый  элемент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набора за время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speed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после чего к каждому элементу набора  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один</a:t>
                      </a:r>
                      <a:r>
                        <a:rPr lang="ru-RU" b="1" i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раз 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применит функцию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Fn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474" y="4653136"/>
            <a:ext cx="889101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При применении этих методов элемент будет или скрыт или отображен путем изменения его высоты</a:t>
            </a:r>
          </a:p>
        </p:txBody>
      </p:sp>
    </p:spTree>
    <p:extLst>
      <p:ext uri="{BB962C8B-B14F-4D97-AF65-F5344CB8AC3E}">
        <p14:creationId xmlns:p14="http://schemas.microsoft.com/office/powerpoint/2010/main" val="22861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525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5035</TotalTime>
  <Words>2686</Words>
  <Application>Microsoft Office PowerPoint</Application>
  <PresentationFormat>Экран (4:3)</PresentationFormat>
  <Paragraphs>390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Calibri</vt:lpstr>
      <vt:lpstr>Courier New</vt:lpstr>
      <vt:lpstr>Lucida Sans Unicode</vt:lpstr>
      <vt:lpstr>Verdana</vt:lpstr>
      <vt:lpstr>Wingdings 2</vt:lpstr>
      <vt:lpstr>Wingdings 3</vt:lpstr>
      <vt:lpstr>Тема1</vt:lpstr>
      <vt:lpstr>Java Script - jQuery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961</cp:revision>
  <dcterms:modified xsi:type="dcterms:W3CDTF">2023-01-13T04:35:40Z</dcterms:modified>
</cp:coreProperties>
</file>