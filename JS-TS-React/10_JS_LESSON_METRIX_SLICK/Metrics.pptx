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8"/>
  </p:notesMasterIdLst>
  <p:sldIdLst>
    <p:sldId id="256" r:id="rId2"/>
    <p:sldId id="343" r:id="rId3"/>
    <p:sldId id="349" r:id="rId4"/>
    <p:sldId id="350" r:id="rId5"/>
    <p:sldId id="351" r:id="rId6"/>
    <p:sldId id="352" r:id="rId7"/>
    <p:sldId id="353" r:id="rId8"/>
    <p:sldId id="345" r:id="rId9"/>
    <p:sldId id="346" r:id="rId10"/>
    <p:sldId id="354" r:id="rId11"/>
    <p:sldId id="355" r:id="rId12"/>
    <p:sldId id="347" r:id="rId13"/>
    <p:sldId id="358" r:id="rId14"/>
    <p:sldId id="357" r:id="rId15"/>
    <p:sldId id="341" r:id="rId16"/>
    <p:sldId id="34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0" autoAdjust="0"/>
    <p:restoredTop sz="94514" autoAdjust="0"/>
  </p:normalViewPr>
  <p:slideViewPr>
    <p:cSldViewPr>
      <p:cViewPr varScale="1">
        <p:scale>
          <a:sx n="104" d="100"/>
          <a:sy n="104" d="100"/>
        </p:scale>
        <p:origin x="1806" y="156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Metrics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06783" cy="6021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71705" y="332656"/>
            <a:ext cx="2892783" cy="258532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clientWidth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/>
              <a:t>ширина </a:t>
            </a:r>
            <a:r>
              <a:rPr lang="ru-RU" b="1" dirty="0" err="1"/>
              <a:t>вмісту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endParaRPr lang="ru-RU" b="1" dirty="0"/>
          </a:p>
          <a:p>
            <a:r>
              <a:rPr lang="ru-RU" b="1" dirty="0" err="1">
                <a:solidFill>
                  <a:srgbClr val="FF0000"/>
                </a:solidFill>
              </a:rPr>
              <a:t>width</a:t>
            </a:r>
            <a:r>
              <a:rPr lang="ru-RU" b="1" dirty="0">
                <a:solidFill>
                  <a:srgbClr val="FF0000"/>
                </a:solidFill>
              </a:rPr>
              <a:t> / </a:t>
            </a:r>
            <a:r>
              <a:rPr lang="ru-RU" b="1" dirty="0" err="1">
                <a:solidFill>
                  <a:srgbClr val="FF0000"/>
                </a:solidFill>
              </a:rPr>
              <a:t>height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разом з полями </a:t>
            </a:r>
            <a:r>
              <a:rPr lang="ru-RU" b="1" dirty="0" err="1">
                <a:solidFill>
                  <a:srgbClr val="FF0000"/>
                </a:solidFill>
              </a:rPr>
              <a:t>padding</a:t>
            </a:r>
            <a:r>
              <a:rPr lang="ru-RU" b="1" dirty="0"/>
              <a:t>, без </a:t>
            </a:r>
            <a:r>
              <a:rPr lang="ru-RU" b="1" dirty="0" err="1"/>
              <a:t>прокручування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812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0232" y="193764"/>
            <a:ext cx="2316719" cy="286232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offsetWidth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offsetHeight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зовнішня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 / height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включаючи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рамки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border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439"/>
            <a:ext cx="6444208" cy="645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9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68144" y="260648"/>
            <a:ext cx="3024336" cy="175432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clientTop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clientLeft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/>
              <a:t>відступ</a:t>
            </a:r>
            <a:r>
              <a:rPr lang="ru-RU" b="1" dirty="0"/>
              <a:t> </a:t>
            </a:r>
            <a:r>
              <a:rPr lang="ru-RU" b="1" dirty="0" err="1"/>
              <a:t>внутрішньої</a:t>
            </a:r>
            <a:r>
              <a:rPr lang="ru-RU" b="1" dirty="0"/>
              <a:t> </a:t>
            </a:r>
            <a:r>
              <a:rPr lang="ru-RU" b="1" dirty="0" err="1"/>
              <a:t>частини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зовнішньої</a:t>
            </a:r>
            <a:r>
              <a:rPr lang="ru-RU" b="1" dirty="0"/>
              <a:t>.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" y="116632"/>
            <a:ext cx="557148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7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68144" y="332656"/>
            <a:ext cx="3096344" cy="59093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scrollWidth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scrollHeight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аналоги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clientWidth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але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урахуванням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Але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clientWidth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відносяться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тільки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видимої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то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scrollWidth</a:t>
            </a:r>
            <a:endParaRPr lang="en-US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scrollHeight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додають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прокручену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область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(яку не видно) 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горизонталі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вертикалі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31" y="22281"/>
            <a:ext cx="5917321" cy="685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5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04248" y="332656"/>
            <a:ext cx="2160240" cy="286232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scrollTop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scrollLeft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solidFill>
                  <a:srgbClr val="0070C0"/>
                </a:solidFill>
              </a:rPr>
              <a:t>ширина/</a:t>
            </a:r>
            <a:r>
              <a:rPr lang="ru-RU" b="1" dirty="0" err="1">
                <a:solidFill>
                  <a:srgbClr val="0070C0"/>
                </a:solidFill>
              </a:rPr>
              <a:t>висота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ru-RU" b="1" dirty="0" err="1"/>
              <a:t>невидимої</a:t>
            </a:r>
            <a:r>
              <a:rPr lang="ru-RU" b="1" dirty="0"/>
              <a:t>, </a:t>
            </a:r>
            <a:r>
              <a:rPr lang="ru-RU" b="1" dirty="0" err="1"/>
              <a:t>прокрученої</a:t>
            </a:r>
            <a:r>
              <a:rPr lang="ru-RU" b="1" dirty="0"/>
              <a:t> в даний момент, </a:t>
            </a:r>
            <a:r>
              <a:rPr lang="ru-RU" b="1" dirty="0" err="1"/>
              <a:t>частини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r>
              <a:rPr lang="ru-RU" b="1" dirty="0"/>
              <a:t> </a:t>
            </a:r>
            <a:r>
              <a:rPr lang="ru-RU" b="1" dirty="0" err="1"/>
              <a:t>зліва</a:t>
            </a:r>
            <a:r>
              <a:rPr lang="ru-RU" b="1" dirty="0"/>
              <a:t> та </a:t>
            </a:r>
            <a:r>
              <a:rPr lang="ru-RU" b="1" dirty="0" err="1"/>
              <a:t>зверху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824"/>
            <a:ext cx="6120680" cy="678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9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10713"/>
            <a:ext cx="5212875" cy="45704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512" y="4293096"/>
            <a:ext cx="8784976" cy="147732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offsetLeft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offsetTop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- </a:t>
            </a:r>
            <a:r>
              <a:rPr lang="ru-RU" b="1" dirty="0" err="1"/>
              <a:t>зміщення</a:t>
            </a:r>
            <a:r>
              <a:rPr lang="ru-RU" b="1" dirty="0"/>
              <a:t> </a:t>
            </a:r>
            <a:r>
              <a:rPr lang="ru-RU" b="1" dirty="0" err="1"/>
              <a:t>щодо</a:t>
            </a:r>
            <a:r>
              <a:rPr lang="ru-RU" b="1" dirty="0"/>
              <a:t> </a:t>
            </a:r>
            <a:r>
              <a:rPr lang="ru-RU" b="1" dirty="0" err="1"/>
              <a:t>найближчого</a:t>
            </a:r>
            <a:r>
              <a:rPr lang="ru-RU" b="1" dirty="0"/>
              <a:t> </a:t>
            </a:r>
            <a:r>
              <a:rPr lang="ru-RU" b="1" dirty="0" err="1"/>
              <a:t>позиціонованого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r>
              <a:rPr lang="ru-RU" b="1" dirty="0"/>
              <a:t> (</a:t>
            </a:r>
            <a:r>
              <a:rPr lang="ru-RU" b="1" dirty="0" err="1"/>
              <a:t>тобто</a:t>
            </a:r>
            <a:r>
              <a:rPr lang="ru-RU" b="1" dirty="0"/>
              <a:t> </a:t>
            </a:r>
            <a:r>
              <a:rPr lang="ru-RU" b="1" dirty="0" err="1"/>
              <a:t>властивість</a:t>
            </a:r>
            <a:r>
              <a:rPr lang="ru-RU" b="1" dirty="0"/>
              <a:t> </a:t>
            </a:r>
            <a:r>
              <a:rPr lang="en-US" b="1" dirty="0"/>
              <a:t>position </a:t>
            </a:r>
            <a:r>
              <a:rPr lang="ru-RU" b="1" dirty="0" err="1"/>
              <a:t>якого</a:t>
            </a:r>
            <a:r>
              <a:rPr lang="ru-RU" b="1" dirty="0"/>
              <a:t> не </a:t>
            </a:r>
            <a:r>
              <a:rPr lang="ru-RU" b="1" dirty="0" err="1"/>
              <a:t>дорівнює</a:t>
            </a:r>
            <a:r>
              <a:rPr lang="ru-RU" b="1" dirty="0"/>
              <a:t> </a:t>
            </a:r>
            <a:r>
              <a:rPr lang="en-US" b="1" dirty="0"/>
              <a:t>static)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en-US" b="1" dirty="0"/>
              <a:t>BODY, </a:t>
            </a:r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ru-RU" b="1" dirty="0" err="1"/>
              <a:t>така</a:t>
            </a:r>
            <a:r>
              <a:rPr lang="ru-RU" b="1" dirty="0"/>
              <a:t> </a:t>
            </a:r>
            <a:r>
              <a:rPr lang="ru-RU" b="1" dirty="0" err="1"/>
              <a:t>відсутня</a:t>
            </a:r>
            <a:endParaRPr lang="en-US" b="1" dirty="0"/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В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offsetParent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знаходиться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посилання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батько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1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266"/>
            <a:ext cx="4650482" cy="22609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504" y="116632"/>
            <a:ext cx="4247901" cy="3693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el.getBoundingClientRect</a:t>
            </a:r>
            <a:r>
              <a:rPr lang="en-US" b="1" dirty="0"/>
              <a:t>();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47569" y="116632"/>
            <a:ext cx="4188927" cy="286232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Повертає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координатами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top,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left,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width,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height, 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bottom,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   right  	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7569" y="3158966"/>
            <a:ext cx="4188927" cy="101566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top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4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щодо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верхнього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лівого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кута порту перегляду</a:t>
            </a:r>
          </a:p>
        </p:txBody>
      </p:sp>
    </p:spTree>
    <p:extLst>
      <p:ext uri="{BB962C8B-B14F-4D97-AF65-F5344CB8AC3E}">
        <p14:creationId xmlns:p14="http://schemas.microsoft.com/office/powerpoint/2010/main" val="361702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00363" y="53916"/>
            <a:ext cx="360040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b="1" dirty="0"/>
              <a:t>Розмір вікна </a:t>
            </a:r>
            <a:r>
              <a:rPr lang="uk-UA" b="1" dirty="0" err="1"/>
              <a:t>браузкра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476672"/>
            <a:ext cx="8928992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HTML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документ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document.documentElement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відповідає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тегу &lt;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html&gt;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1342509"/>
            <a:ext cx="8928992" cy="9233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documentElement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clientWidth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documentElement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– ширина/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висота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видимої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вікна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мінус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4" y="2505670"/>
            <a:ext cx="8928992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window.innerWidth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window.innerHeight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ширина/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висота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вікна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включаючи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770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548680"/>
            <a:ext cx="8928992" cy="230832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document.documentElement.scrollWidth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document.documentElement.scrollHeight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урахуванням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Але в браузерах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Chrome/Safari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та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Opera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відсутності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documentElement.scrollHeight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працює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некоректно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бути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меншим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documentElement.clientHeight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44624"/>
            <a:ext cx="7344816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Ширина/</a:t>
            </a:r>
            <a:r>
              <a:rPr lang="ru-RU" b="1" dirty="0" err="1"/>
              <a:t>висота</a:t>
            </a:r>
            <a:r>
              <a:rPr lang="ru-RU" b="1" dirty="0"/>
              <a:t> </a:t>
            </a:r>
            <a:r>
              <a:rPr lang="ru-RU" b="1" dirty="0" err="1"/>
              <a:t>сторінки</a:t>
            </a:r>
            <a:r>
              <a:rPr lang="ru-RU" b="1" dirty="0"/>
              <a:t> з </a:t>
            </a:r>
            <a:r>
              <a:rPr lang="ru-RU" b="1" dirty="0" err="1"/>
              <a:t>урахуванням</a:t>
            </a:r>
            <a:r>
              <a:rPr lang="ru-RU" b="1" dirty="0"/>
              <a:t> </a:t>
            </a:r>
            <a:r>
              <a:rPr lang="ru-RU" b="1" dirty="0" err="1"/>
              <a:t>прокручування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066" y="3140968"/>
            <a:ext cx="8928992" cy="20313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Тому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сторінки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урахуванням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прокручування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обчислюють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так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scrollHeight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document.documentElement.scrollHeihgt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let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document.documentElement.clientHeihgt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scrollHeight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Math.max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scrollHeight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clientHeight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3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5736" y="0"/>
            <a:ext cx="4176464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Отримання</a:t>
            </a:r>
            <a:r>
              <a:rPr lang="ru-RU" b="1" dirty="0"/>
              <a:t> поточного </a:t>
            </a:r>
            <a:r>
              <a:rPr lang="ru-RU" b="1" dirty="0" err="1"/>
              <a:t>прокручування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204372"/>
            <a:ext cx="8928992" cy="175432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Таким чином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треба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підтримувати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старі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браузери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пишемо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функцію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яка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вважає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поточну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прокрутку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слід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слайд)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треба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підтримувати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старі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браузери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використовуємо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window.pageYOffset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window.pageXOffset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595486"/>
              </p:ext>
            </p:extLst>
          </p:nvPr>
        </p:nvGraphicFramePr>
        <p:xfrm>
          <a:off x="107504" y="548680"/>
          <a:ext cx="878497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>
                  <a:extLst>
                    <a:ext uri="{9D8B030D-6E8A-4147-A177-3AD203B41FA5}">
                      <a16:colId xmlns:a16="http://schemas.microsoft.com/office/drawing/2014/main" val="1190794903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2323277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IE 9+,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*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window.pageYOffset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window.pageXOffset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20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IE 8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document.documentElement.scrollTop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document.documentElement.scrollLeft</a:t>
                      </a:r>
                      <a:endParaRPr lang="ru-RU" b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613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b="1" dirty="0" err="1">
                          <a:solidFill>
                            <a:schemeClr val="tx1"/>
                          </a:solidFill>
                        </a:rPr>
                        <a:t>старые</a:t>
                      </a:r>
                      <a:endParaRPr lang="uk-UA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Webkit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document.body.scrollTop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document.body.scrollLeft</a:t>
                      </a:r>
                      <a:endParaRPr lang="ru-RU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1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Quirks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</a:rPr>
                        <a:t> mode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uk-UA" b="1" dirty="0">
                          <a:solidFill>
                            <a:schemeClr val="tx1"/>
                          </a:solidFill>
                        </a:rPr>
                        <a:t>без 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doctype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document.body.scrollTop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n-US" b="1" dirty="0" err="1">
                          <a:solidFill>
                            <a:srgbClr val="00B050"/>
                          </a:solidFill>
                        </a:rPr>
                        <a:t>document.body.scrollLeft</a:t>
                      </a:r>
                      <a:endParaRPr lang="ru-RU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35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IE 7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uk-UA" b="1" i="1" dirty="0">
                          <a:solidFill>
                            <a:schemeClr val="tx1"/>
                          </a:solidFill>
                        </a:rPr>
                        <a:t>У</a:t>
                      </a:r>
                      <a:r>
                        <a:rPr lang="uk-UA" b="1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baseline="0" dirty="0" err="1">
                          <a:solidFill>
                            <a:schemeClr val="tx1"/>
                          </a:solidFill>
                        </a:rPr>
                        <a:t>него</a:t>
                      </a:r>
                      <a:r>
                        <a:rPr lang="uk-UA" b="1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baseline="0" dirty="0" err="1">
                          <a:solidFill>
                            <a:schemeClr val="tx1"/>
                          </a:solidFill>
                        </a:rPr>
                        <a:t>есть</a:t>
                      </a:r>
                      <a:r>
                        <a:rPr lang="uk-UA" b="1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baseline="0" dirty="0" err="1">
                          <a:solidFill>
                            <a:schemeClr val="tx1"/>
                          </a:solidFill>
                        </a:rPr>
                        <a:t>дополнительный</a:t>
                      </a:r>
                      <a:r>
                        <a:rPr lang="uk-UA" b="1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dirty="0" err="1">
                          <a:solidFill>
                            <a:schemeClr val="tx1"/>
                          </a:solidFill>
                        </a:rPr>
                        <a:t>отступ</a:t>
                      </a:r>
                      <a:r>
                        <a:rPr lang="uk-UA" b="1" i="1" dirty="0">
                          <a:solidFill>
                            <a:schemeClr val="tx1"/>
                          </a:solidFill>
                        </a:rPr>
                        <a:t> и его </a:t>
                      </a:r>
                      <a:r>
                        <a:rPr lang="uk-UA" b="1" i="1" dirty="0" err="1">
                          <a:solidFill>
                            <a:schemeClr val="tx1"/>
                          </a:solidFill>
                        </a:rPr>
                        <a:t>нужно</a:t>
                      </a:r>
                      <a:r>
                        <a:rPr lang="uk-UA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b="1" i="1" dirty="0" err="1">
                          <a:solidFill>
                            <a:schemeClr val="tx1"/>
                          </a:solidFill>
                        </a:rPr>
                        <a:t>вычесть</a:t>
                      </a:r>
                      <a:r>
                        <a:rPr lang="uk-UA" b="1" i="1" dirty="0">
                          <a:solidFill>
                            <a:schemeClr val="tx1"/>
                          </a:solidFill>
                        </a:rPr>
                        <a:t> для </a:t>
                      </a:r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IR</a:t>
                      </a:r>
                      <a:r>
                        <a:rPr lang="en-US" b="1" i="1" baseline="0" dirty="0">
                          <a:solidFill>
                            <a:schemeClr val="tx1"/>
                          </a:solidFill>
                        </a:rPr>
                        <a:t> 7</a:t>
                      </a:r>
                      <a:r>
                        <a:rPr lang="en-US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uk-UA" b="1" i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1" dirty="0" err="1">
                          <a:solidFill>
                            <a:srgbClr val="0070C0"/>
                          </a:solidFill>
                        </a:rPr>
                        <a:t>document.documentElement.clientTop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847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821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7504" y="116632"/>
            <a:ext cx="8928992" cy="397031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function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getCoords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(el) {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window;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= document;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	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el.getBoundingClientRect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sTop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=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.pageYOffset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.documentElement.scrollTop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.pageXOffset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.documentElement.scrollLeft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return 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top: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box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.top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sTop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left: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Math.round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box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.left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43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5736" y="0"/>
            <a:ext cx="4176464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Прокрутка </a:t>
            </a:r>
            <a:r>
              <a:rPr lang="ru-RU" b="1"/>
              <a:t>сторінки</a:t>
            </a:r>
            <a:endParaRPr lang="ru-RU" b="1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175762"/>
              </p:ext>
            </p:extLst>
          </p:nvPr>
        </p:nvGraphicFramePr>
        <p:xfrm>
          <a:off x="107504" y="548680"/>
          <a:ext cx="8784976" cy="503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0">
                  <a:extLst>
                    <a:ext uri="{9D8B030D-6E8A-4147-A177-3AD203B41FA5}">
                      <a16:colId xmlns:a16="http://schemas.microsoft.com/office/drawing/2014/main" val="1190794903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323277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scrollBy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x,y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прокручує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сторінку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щодо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поточних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координат.</a:t>
                      </a:r>
                    </a:p>
                    <a:p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Наприклад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потрібно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прокрутити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dirty="0" err="1">
                          <a:solidFill>
                            <a:schemeClr val="tx1"/>
                          </a:solidFill>
                        </a:rPr>
                        <a:t>сторінку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 на 10px вниз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window.scrollBy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(0, 10)</a:t>
                      </a:r>
                      <a:endParaRPr lang="ru-RU" dirty="0">
                        <a:solidFill>
                          <a:srgbClr val="C00000"/>
                        </a:solidFill>
                      </a:endParaRP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208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scrollTo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(X,Y)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Прокручує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сторінку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до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зазначених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координат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щодо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документа.</a:t>
                      </a:r>
                    </a:p>
                    <a:p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Еквівалентно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встановленню</a:t>
                      </a:r>
                      <a:r>
                        <a:rPr lang="ru-RU" b="1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rgbClr val="002060"/>
                          </a:solidFill>
                        </a:rPr>
                        <a:t>властивостей</a:t>
                      </a:r>
                      <a:endParaRPr lang="en-US" b="1" dirty="0">
                        <a:solidFill>
                          <a:srgbClr val="002060"/>
                        </a:solidFill>
                      </a:endParaRPr>
                    </a:p>
                    <a:p>
                      <a:r>
                        <a:rPr lang="en-US" b="1" dirty="0" err="1">
                          <a:solidFill>
                            <a:srgbClr val="0070C0"/>
                          </a:solidFill>
                        </a:rPr>
                        <a:t>scrollLeft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lang="ru-RU" b="1" dirty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0070C0"/>
                          </a:solidFill>
                        </a:rPr>
                        <a:t>scrollTop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  <a:p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i="1" dirty="0" err="1">
                          <a:solidFill>
                            <a:schemeClr val="tx1"/>
                          </a:solidFill>
                        </a:rPr>
                        <a:t>Наприклад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i="1" dirty="0" err="1">
                          <a:solidFill>
                            <a:schemeClr val="tx1"/>
                          </a:solidFill>
                        </a:rPr>
                        <a:t>потрібно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i="1" dirty="0" err="1">
                          <a:solidFill>
                            <a:schemeClr val="tx1"/>
                          </a:solidFill>
                        </a:rPr>
                        <a:t>прокрутити</a:t>
                      </a:r>
                      <a:r>
                        <a:rPr lang="ru-RU" b="1" i="1" dirty="0">
                          <a:solidFill>
                            <a:schemeClr val="tx1"/>
                          </a:solidFill>
                        </a:rPr>
                        <a:t> на початок документа</a:t>
                      </a:r>
                      <a:endParaRPr lang="en-US" b="1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window.scroll</a:t>
                      </a:r>
                      <a:r>
                        <a:rPr lang="ru-RU" b="1" dirty="0" err="1">
                          <a:solidFill>
                            <a:srgbClr val="C00000"/>
                          </a:solidFill>
                        </a:rPr>
                        <a:t>Ещ</a:t>
                      </a:r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(0, 0)</a:t>
                      </a:r>
                      <a:endParaRPr lang="ru-RU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613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b="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1303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Щоб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заборонити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прокручування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сторінки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достатньо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</a:rPr>
                        <a:t>поставити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ru-RU" b="1" dirty="0" err="1">
                          <a:solidFill>
                            <a:srgbClr val="C00000"/>
                          </a:solidFill>
                        </a:rPr>
                        <a:t>document.body.style.overflow</a:t>
                      </a:r>
                      <a:r>
                        <a:rPr lang="ru-RU" b="1" dirty="0">
                          <a:solidFill>
                            <a:srgbClr val="C00000"/>
                          </a:solidFill>
                        </a:rPr>
                        <a:t> = "</a:t>
                      </a:r>
                      <a:r>
                        <a:rPr lang="ru-RU" b="1" dirty="0" err="1">
                          <a:solidFill>
                            <a:srgbClr val="C00000"/>
                          </a:solidFill>
                        </a:rPr>
                        <a:t>hidden</a:t>
                      </a:r>
                      <a:endParaRPr lang="ru-RU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53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90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313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5974</TotalTime>
  <Words>600</Words>
  <Application>Microsoft Office PowerPoint</Application>
  <PresentationFormat>Экран (4:3)</PresentationFormat>
  <Paragraphs>121</Paragraphs>
  <Slides>16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Calibri</vt:lpstr>
      <vt:lpstr>Courier New</vt:lpstr>
      <vt:lpstr>Verdana</vt:lpstr>
      <vt:lpstr>Wingdings 2</vt:lpstr>
      <vt:lpstr>Wingdings 3</vt:lpstr>
      <vt:lpstr>Тема1</vt:lpstr>
      <vt:lpstr>Metrics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914</cp:revision>
  <dcterms:modified xsi:type="dcterms:W3CDTF">2024-10-16T15:16:54Z</dcterms:modified>
</cp:coreProperties>
</file>