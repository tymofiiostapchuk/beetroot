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4"/>
  </p:notesMasterIdLst>
  <p:sldIdLst>
    <p:sldId id="256" r:id="rId2"/>
    <p:sldId id="348" r:id="rId3"/>
    <p:sldId id="349" r:id="rId4"/>
    <p:sldId id="318" r:id="rId5"/>
    <p:sldId id="351" r:id="rId6"/>
    <p:sldId id="346" r:id="rId7"/>
    <p:sldId id="347" r:id="rId8"/>
    <p:sldId id="350" r:id="rId9"/>
    <p:sldId id="344" r:id="rId10"/>
    <p:sldId id="342" r:id="rId11"/>
    <p:sldId id="352" r:id="rId12"/>
    <p:sldId id="341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C16F"/>
    <a:srgbClr val="D2D715"/>
    <a:srgbClr val="3756F2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4514" autoAdjust="0"/>
  </p:normalViewPr>
  <p:slideViewPr>
    <p:cSldViewPr>
      <p:cViewPr varScale="1">
        <p:scale>
          <a:sx n="93" d="100"/>
          <a:sy n="93" d="100"/>
        </p:scale>
        <p:origin x="1445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6000"/>
            <a:lum/>
          </a:blip>
          <a:srcRect/>
          <a:stretch>
            <a:fillRect l="1000" t="1000" r="65000" b="3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14.07.2023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4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124744"/>
            <a:ext cx="9036496" cy="3312368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66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async JS</a:t>
            </a:r>
            <a:br>
              <a:rPr lang="ru-RU" sz="66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endParaRPr lang="ru-RU" sz="66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2215" y="5733256"/>
            <a:ext cx="83022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https://beetroot.academy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6632"/>
            <a:ext cx="892899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</a:rPr>
              <a:t>Concurrency</a:t>
            </a:r>
            <a:r>
              <a:rPr lang="ru-RU" b="1" dirty="0"/>
              <a:t> -&gt; </a:t>
            </a:r>
            <a:r>
              <a:rPr lang="ru-RU" b="1" dirty="0" err="1"/>
              <a:t>виконання</a:t>
            </a:r>
            <a:r>
              <a:rPr lang="ru-RU" b="1" dirty="0"/>
              <a:t> </a:t>
            </a:r>
            <a:r>
              <a:rPr lang="uk-UA" b="1" dirty="0"/>
              <a:t>де</a:t>
            </a:r>
            <a:r>
              <a:rPr lang="ru-RU" b="1" dirty="0" err="1"/>
              <a:t>кількох</a:t>
            </a:r>
            <a:r>
              <a:rPr lang="ru-RU" b="1" dirty="0"/>
              <a:t> </a:t>
            </a:r>
            <a:r>
              <a:rPr lang="ru-RU" b="1" dirty="0" err="1"/>
              <a:t>завдань</a:t>
            </a:r>
            <a:r>
              <a:rPr lang="ru-RU" b="1" dirty="0"/>
              <a:t> </a:t>
            </a:r>
            <a:r>
              <a:rPr lang="ru-RU" b="1" dirty="0" err="1"/>
              <a:t>одночасно</a:t>
            </a:r>
            <a:r>
              <a:rPr lang="en-US" b="1" dirty="0"/>
              <a:t>.</a:t>
            </a:r>
          </a:p>
          <a:p>
            <a:endParaRPr lang="ru-RU" b="1" dirty="0"/>
          </a:p>
          <a:p>
            <a:r>
              <a:rPr lang="ru-RU" b="1" dirty="0" err="1">
                <a:solidFill>
                  <a:srgbClr val="C00000"/>
                </a:solidFill>
              </a:rPr>
              <a:t>Thread</a:t>
            </a:r>
            <a:r>
              <a:rPr lang="ru-RU" b="1" dirty="0"/>
              <a:t> -&gt; </a:t>
            </a:r>
            <a:r>
              <a:rPr lang="ru-RU" b="1" dirty="0" err="1"/>
              <a:t>потік</a:t>
            </a:r>
            <a:r>
              <a:rPr lang="ru-RU" b="1" dirty="0"/>
              <a:t>. У </a:t>
            </a:r>
            <a:r>
              <a:rPr lang="ru-RU" b="1" dirty="0" err="1"/>
              <a:t>ньому</a:t>
            </a:r>
            <a:r>
              <a:rPr lang="ru-RU" b="1" dirty="0"/>
              <a:t> </a:t>
            </a:r>
            <a:r>
              <a:rPr lang="ru-RU" b="1" dirty="0" err="1"/>
              <a:t>виконується</a:t>
            </a:r>
            <a:r>
              <a:rPr lang="ru-RU" b="1" dirty="0"/>
              <a:t> </a:t>
            </a:r>
            <a:r>
              <a:rPr lang="ru-RU" b="1" dirty="0" err="1"/>
              <a:t>обчислення</a:t>
            </a:r>
            <a:r>
              <a:rPr lang="ru-RU" b="1" dirty="0"/>
              <a:t>. </a:t>
            </a:r>
            <a:r>
              <a:rPr lang="ru-RU" b="1" dirty="0" err="1"/>
              <a:t>Якщо</a:t>
            </a:r>
            <a:r>
              <a:rPr lang="ru-RU" b="1" dirty="0"/>
              <a:t> нам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одночасно</a:t>
            </a:r>
            <a:r>
              <a:rPr lang="ru-RU" b="1" dirty="0"/>
              <a:t> </a:t>
            </a:r>
            <a:r>
              <a:rPr lang="ru-RU" b="1" dirty="0" err="1"/>
              <a:t>виконати</a:t>
            </a:r>
            <a:r>
              <a:rPr lang="ru-RU" b="1" dirty="0"/>
              <a:t> </a:t>
            </a:r>
            <a:r>
              <a:rPr lang="ru-RU" b="1" dirty="0" err="1"/>
              <a:t>кілька</a:t>
            </a:r>
            <a:r>
              <a:rPr lang="ru-RU" b="1" dirty="0"/>
              <a:t> </a:t>
            </a:r>
            <a:r>
              <a:rPr lang="ru-RU" b="1" dirty="0" err="1"/>
              <a:t>завдань</a:t>
            </a:r>
            <a:r>
              <a:rPr lang="ru-RU" b="1" dirty="0"/>
              <a:t>, то для </a:t>
            </a:r>
            <a:r>
              <a:rPr lang="ru-RU" b="1" dirty="0" err="1"/>
              <a:t>цього</a:t>
            </a:r>
            <a:r>
              <a:rPr lang="ru-RU" b="1" dirty="0"/>
              <a:t>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частину</a:t>
            </a:r>
            <a:r>
              <a:rPr lang="ru-RU" b="1" dirty="0"/>
              <a:t> кожного </a:t>
            </a:r>
            <a:r>
              <a:rPr lang="ru-RU" b="1" dirty="0" err="1"/>
              <a:t>завдання</a:t>
            </a:r>
            <a:r>
              <a:rPr lang="ru-RU" b="1" dirty="0"/>
              <a:t> </a:t>
            </a:r>
            <a:r>
              <a:rPr lang="ru-RU" b="1" dirty="0" err="1"/>
              <a:t>виконувати</a:t>
            </a:r>
            <a:r>
              <a:rPr lang="ru-RU" b="1" dirty="0"/>
              <a:t> по </a:t>
            </a:r>
            <a:r>
              <a:rPr lang="ru-RU" b="1" dirty="0" err="1"/>
              <a:t>черзі</a:t>
            </a:r>
            <a:r>
              <a:rPr lang="ru-RU" b="1" dirty="0"/>
              <a:t> (</a:t>
            </a:r>
            <a:r>
              <a:rPr lang="ru-RU" b="1" dirty="0" err="1"/>
              <a:t>переривання</a:t>
            </a:r>
            <a:r>
              <a:rPr lang="ru-RU" b="1" dirty="0"/>
              <a:t>).</a:t>
            </a:r>
            <a:endParaRPr lang="en-US" b="1" dirty="0"/>
          </a:p>
          <a:p>
            <a:r>
              <a:rPr lang="ru-RU" b="1" dirty="0"/>
              <a:t> </a:t>
            </a:r>
          </a:p>
          <a:p>
            <a:r>
              <a:rPr lang="ru-RU" b="1" dirty="0"/>
              <a:t>Абстрактно: </a:t>
            </a:r>
            <a:r>
              <a:rPr lang="ru-RU" b="1" dirty="0" err="1"/>
              <a:t>процесор</a:t>
            </a:r>
            <a:r>
              <a:rPr lang="ru-RU" b="1" dirty="0"/>
              <a:t> з 1 ядром == 1 </a:t>
            </a:r>
            <a:r>
              <a:rPr lang="ru-RU" b="1" dirty="0" err="1"/>
              <a:t>thread</a:t>
            </a:r>
            <a:r>
              <a:rPr lang="ru-RU" b="1" dirty="0"/>
              <a:t> по </a:t>
            </a:r>
            <a:r>
              <a:rPr lang="ru-RU" b="1" dirty="0" err="1"/>
              <a:t>черзі</a:t>
            </a:r>
            <a:r>
              <a:rPr lang="ru-RU" b="1" dirty="0"/>
              <a:t> </a:t>
            </a:r>
            <a:r>
              <a:rPr lang="ru-RU" b="1" dirty="0" err="1"/>
              <a:t>виділяє</a:t>
            </a:r>
            <a:r>
              <a:rPr lang="ru-RU" b="1" dirty="0"/>
              <a:t> квант часу </a:t>
            </a:r>
            <a:r>
              <a:rPr lang="ru-RU" b="1" dirty="0" err="1"/>
              <a:t>виконання</a:t>
            </a:r>
            <a:r>
              <a:rPr lang="ru-RU" b="1" dirty="0"/>
              <a:t> </a:t>
            </a:r>
            <a:r>
              <a:rPr lang="ru-RU" b="1" dirty="0" err="1"/>
              <a:t>певного</a:t>
            </a:r>
            <a:r>
              <a:rPr lang="ru-RU" b="1" dirty="0"/>
              <a:t> </a:t>
            </a:r>
            <a:r>
              <a:rPr lang="ru-RU" b="1" dirty="0" err="1"/>
              <a:t>завдання</a:t>
            </a:r>
            <a:r>
              <a:rPr lang="ru-RU" b="1" dirty="0"/>
              <a:t>.</a:t>
            </a:r>
            <a:endParaRPr lang="da-DK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3086958"/>
            <a:ext cx="892899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</a:rPr>
              <a:t>Parallelism</a:t>
            </a:r>
            <a:r>
              <a:rPr lang="ru-RU" b="1" dirty="0"/>
              <a:t> -&gt; </a:t>
            </a:r>
            <a:r>
              <a:rPr lang="ru-RU" b="1" dirty="0" err="1"/>
              <a:t>теж</a:t>
            </a:r>
            <a:r>
              <a:rPr lang="ru-RU" b="1" dirty="0"/>
              <a:t> </a:t>
            </a:r>
            <a:r>
              <a:rPr lang="ru-RU" b="1" dirty="0" err="1"/>
              <a:t>виконання</a:t>
            </a:r>
            <a:r>
              <a:rPr lang="ru-RU" b="1" dirty="0"/>
              <a:t> </a:t>
            </a:r>
            <a:r>
              <a:rPr lang="ru-RU" b="1" dirty="0" err="1"/>
              <a:t>кількох</a:t>
            </a:r>
            <a:r>
              <a:rPr lang="ru-RU" b="1" dirty="0"/>
              <a:t> </a:t>
            </a:r>
            <a:r>
              <a:rPr lang="ru-RU" b="1" dirty="0" err="1"/>
              <a:t>завдань</a:t>
            </a:r>
            <a:r>
              <a:rPr lang="ru-RU" b="1" dirty="0"/>
              <a:t> </a:t>
            </a:r>
            <a:r>
              <a:rPr lang="ru-RU" b="1" dirty="0" err="1"/>
              <a:t>одночасно</a:t>
            </a:r>
            <a:r>
              <a:rPr lang="ru-RU" b="1" dirty="0"/>
              <a:t> але </a:t>
            </a:r>
            <a:r>
              <a:rPr lang="ru-RU" b="1" dirty="0" err="1"/>
              <a:t>класично</a:t>
            </a:r>
            <a:r>
              <a:rPr lang="ru-RU" b="1" dirty="0"/>
              <a:t> - </a:t>
            </a:r>
            <a:r>
              <a:rPr lang="ru-RU" b="1" dirty="0" err="1"/>
              <a:t>двома</a:t>
            </a:r>
            <a:r>
              <a:rPr lang="ru-RU" b="1" dirty="0"/>
              <a:t> і </a:t>
            </a:r>
            <a:r>
              <a:rPr lang="ru-RU" b="1" dirty="0" err="1"/>
              <a:t>більше</a:t>
            </a:r>
            <a:r>
              <a:rPr lang="ru-RU" b="1" dirty="0"/>
              <a:t> ядрами </a:t>
            </a:r>
            <a:r>
              <a:rPr lang="ru-RU" b="1" dirty="0" err="1"/>
              <a:t>процесора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3734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6632"/>
            <a:ext cx="8928992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Код </a:t>
            </a:r>
            <a:r>
              <a:rPr lang="en-US" b="1" dirty="0"/>
              <a:t>JavaScript </a:t>
            </a:r>
            <a:r>
              <a:rPr lang="ru-RU" b="1" dirty="0" err="1"/>
              <a:t>виконується</a:t>
            </a:r>
            <a:r>
              <a:rPr lang="ru-RU" b="1" dirty="0"/>
              <a:t> </a:t>
            </a:r>
            <a:r>
              <a:rPr lang="ru-RU" b="1" dirty="0">
                <a:solidFill>
                  <a:srgbClr val="C00000"/>
                </a:solidFill>
              </a:rPr>
              <a:t>синхронно</a:t>
            </a:r>
          </a:p>
          <a:p>
            <a:r>
              <a:rPr lang="ru-RU" b="1" dirty="0"/>
              <a:t>- В один </a:t>
            </a:r>
            <a:r>
              <a:rPr lang="ru-RU" b="1" dirty="0" err="1"/>
              <a:t>потік</a:t>
            </a:r>
            <a:r>
              <a:rPr lang="ru-RU" b="1" dirty="0"/>
              <a:t> (</a:t>
            </a:r>
            <a:r>
              <a:rPr lang="en-US" b="1" dirty="0"/>
              <a:t>thread)</a:t>
            </a:r>
          </a:p>
          <a:p>
            <a:r>
              <a:rPr lang="en-US" b="1" dirty="0"/>
              <a:t>- </a:t>
            </a:r>
            <a:r>
              <a:rPr lang="ru-RU" b="1" dirty="0"/>
              <a:t>в один момент </a:t>
            </a:r>
            <a:r>
              <a:rPr lang="ru-RU" b="1" dirty="0" err="1"/>
              <a:t>лише</a:t>
            </a:r>
            <a:r>
              <a:rPr lang="ru-RU" b="1" dirty="0"/>
              <a:t> одна </a:t>
            </a:r>
            <a:r>
              <a:rPr lang="ru-RU" b="1" dirty="0" err="1"/>
              <a:t>операція</a:t>
            </a:r>
            <a:endParaRPr lang="ru-RU" b="1" dirty="0"/>
          </a:p>
          <a:p>
            <a:endParaRPr lang="ru-RU" b="1" dirty="0"/>
          </a:p>
          <a:p>
            <a:r>
              <a:rPr lang="ru-RU" b="1" dirty="0" err="1"/>
              <a:t>Асинхронне</a:t>
            </a:r>
            <a:r>
              <a:rPr lang="ru-RU" b="1" dirty="0"/>
              <a:t> </a:t>
            </a:r>
            <a:r>
              <a:rPr lang="ru-RU" b="1" dirty="0" err="1"/>
              <a:t>програмування</a:t>
            </a:r>
            <a:r>
              <a:rPr lang="ru-RU" b="1" dirty="0"/>
              <a:t> </a:t>
            </a:r>
            <a:r>
              <a:rPr lang="ru-RU" b="1" dirty="0" err="1"/>
              <a:t>своїми</a:t>
            </a:r>
            <a:r>
              <a:rPr lang="ru-RU" b="1" dirty="0"/>
              <a:t> словами – код,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виконується</a:t>
            </a:r>
            <a:r>
              <a:rPr lang="ru-RU" b="1" dirty="0"/>
              <a:t> з </a:t>
            </a:r>
            <a:r>
              <a:rPr lang="ru-RU" b="1" dirty="0" err="1"/>
              <a:t>керованою</a:t>
            </a:r>
            <a:r>
              <a:rPr lang="ru-RU" b="1" dirty="0"/>
              <a:t> </a:t>
            </a:r>
            <a:r>
              <a:rPr lang="ru-RU" b="1" dirty="0" err="1"/>
              <a:t>затримкою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b="1" dirty="0" err="1"/>
              <a:t>Тобто</a:t>
            </a:r>
            <a:r>
              <a:rPr lang="ru-RU" b="1" dirty="0"/>
              <a:t> </a:t>
            </a:r>
            <a:r>
              <a:rPr lang="ru-RU" b="1" dirty="0" err="1"/>
              <a:t>асинхронність</a:t>
            </a:r>
            <a:r>
              <a:rPr lang="ru-RU" b="1" dirty="0"/>
              <a:t> </a:t>
            </a:r>
            <a:r>
              <a:rPr lang="ru-RU" b="1" dirty="0" err="1"/>
              <a:t>дозволяє</a:t>
            </a:r>
            <a:r>
              <a:rPr lang="ru-RU" b="1" dirty="0"/>
              <a:t> </a:t>
            </a:r>
            <a:r>
              <a:rPr lang="ru-RU" b="1" dirty="0" err="1"/>
              <a:t>відкласти</a:t>
            </a:r>
            <a:r>
              <a:rPr lang="ru-RU" b="1" dirty="0"/>
              <a:t> </a:t>
            </a:r>
            <a:r>
              <a:rPr lang="ru-RU" b="1" dirty="0" err="1"/>
              <a:t>виконання</a:t>
            </a:r>
            <a:r>
              <a:rPr lang="ru-RU" b="1" dirty="0"/>
              <a:t> коду на </a:t>
            </a:r>
            <a:r>
              <a:rPr lang="ru-RU" b="1" dirty="0" err="1"/>
              <a:t>невизначений</a:t>
            </a:r>
            <a:r>
              <a:rPr lang="ru-RU" b="1" dirty="0"/>
              <a:t> час (</a:t>
            </a:r>
            <a:r>
              <a:rPr lang="ru-RU" b="1" dirty="0" err="1"/>
              <a:t>наприклад</a:t>
            </a:r>
            <a:r>
              <a:rPr lang="ru-RU" b="1" dirty="0"/>
              <a:t>, </a:t>
            </a:r>
            <a:r>
              <a:rPr lang="ru-RU" b="1" dirty="0" err="1"/>
              <a:t>отримання</a:t>
            </a:r>
            <a:r>
              <a:rPr lang="ru-RU" b="1" dirty="0"/>
              <a:t> </a:t>
            </a:r>
            <a:r>
              <a:rPr lang="ru-RU" b="1" dirty="0" err="1"/>
              <a:t>відповіді</a:t>
            </a:r>
            <a:r>
              <a:rPr lang="ru-RU" b="1" dirty="0"/>
              <a:t> на </a:t>
            </a:r>
            <a:r>
              <a:rPr lang="en-US" b="1" dirty="0"/>
              <a:t>AJAX </a:t>
            </a:r>
            <a:r>
              <a:rPr lang="ru-RU" b="1" dirty="0"/>
              <a:t>запит)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254832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98993"/>
            <a:ext cx="8821488" cy="1169767"/>
          </a:xfrm>
          <a:prstGeom prst="rect">
            <a:avLst/>
          </a:prstGeom>
          <a:noFill/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600" b="1" dirty="0" err="1">
                <a:solidFill>
                  <a:srgbClr val="C00000"/>
                </a:solidFill>
              </a:rPr>
              <a:t>Способи</a:t>
            </a:r>
            <a:r>
              <a:rPr lang="ru-RU" sz="3600" b="1" dirty="0">
                <a:solidFill>
                  <a:srgbClr val="C00000"/>
                </a:solidFill>
              </a:rPr>
              <a:t> </a:t>
            </a:r>
            <a:r>
              <a:rPr lang="ru-RU" sz="3600" b="1" dirty="0" err="1">
                <a:solidFill>
                  <a:srgbClr val="C00000"/>
                </a:solidFill>
              </a:rPr>
              <a:t>написання</a:t>
            </a:r>
            <a:r>
              <a:rPr lang="ru-RU" sz="3600" b="1" dirty="0">
                <a:solidFill>
                  <a:srgbClr val="C00000"/>
                </a:solidFill>
              </a:rPr>
              <a:t> асинхронного коду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1844824"/>
            <a:ext cx="867747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3600" b="1"/>
            </a:lvl1pPr>
          </a:lstStyle>
          <a:p>
            <a:pPr marL="571500" indent="-571500">
              <a:buFont typeface="Wingdings" panose="05000000000000000000" pitchFamily="2" charset="2"/>
              <a:buChar char="ü"/>
            </a:pPr>
            <a:r>
              <a:rPr lang="da-DK" dirty="0"/>
              <a:t>callbacks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da-DK" dirty="0"/>
              <a:t>promises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da-DK" dirty="0"/>
              <a:t>async - await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da-DK" dirty="0"/>
              <a:t>generators, yeild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da-DK" dirty="0"/>
              <a:t>evens, observable</a:t>
            </a:r>
          </a:p>
        </p:txBody>
      </p:sp>
    </p:spTree>
    <p:extLst>
      <p:ext uri="{BB962C8B-B14F-4D97-AF65-F5344CB8AC3E}">
        <p14:creationId xmlns:p14="http://schemas.microsoft.com/office/powerpoint/2010/main" val="4040172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98993"/>
            <a:ext cx="8821488" cy="665711"/>
          </a:xfrm>
          <a:prstGeom prst="rect">
            <a:avLst/>
          </a:prstGeom>
          <a:noFill/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C00000"/>
                </a:solidFill>
              </a:rPr>
              <a:t>Приклад </a:t>
            </a:r>
            <a:r>
              <a:rPr lang="ru-RU" sz="3600" b="1" dirty="0" err="1">
                <a:solidFill>
                  <a:srgbClr val="C00000"/>
                </a:solidFill>
              </a:rPr>
              <a:t>блокуючої</a:t>
            </a:r>
            <a:r>
              <a:rPr lang="ru-RU" sz="3600" b="1" dirty="0">
                <a:solidFill>
                  <a:srgbClr val="C00000"/>
                </a:solidFill>
              </a:rPr>
              <a:t> </a:t>
            </a:r>
            <a:r>
              <a:rPr lang="ru-RU" sz="3600" b="1" dirty="0" err="1">
                <a:solidFill>
                  <a:srgbClr val="C00000"/>
                </a:solidFill>
              </a:rPr>
              <a:t>програми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3200" y="980728"/>
            <a:ext cx="8795792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3600" b="1"/>
            </a:lvl1pPr>
          </a:lstStyle>
          <a:p>
            <a:r>
              <a:rPr lang="en-US" sz="2000" dirty="0"/>
              <a:t>console.log("Before");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console.log("After");</a:t>
            </a:r>
            <a:endParaRPr lang="da-DK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33200" y="1473170"/>
            <a:ext cx="8821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let start = new Date().</a:t>
            </a:r>
            <a:r>
              <a:rPr lang="en-US" b="1" dirty="0" err="1"/>
              <a:t>getTime</a:t>
            </a:r>
            <a:r>
              <a:rPr lang="en-US" b="1" dirty="0"/>
              <a:t>();</a:t>
            </a:r>
          </a:p>
          <a:p>
            <a:r>
              <a:rPr lang="en-US" b="1" dirty="0"/>
              <a:t>while (new Date().</a:t>
            </a:r>
            <a:r>
              <a:rPr lang="en-US" b="1" dirty="0" err="1"/>
              <a:t>getTime</a:t>
            </a:r>
            <a:r>
              <a:rPr lang="en-US" b="1" dirty="0"/>
              <a:t>() - start &lt; 4000);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200" y="1473170"/>
            <a:ext cx="8821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setTimeout</a:t>
            </a:r>
            <a:r>
              <a:rPr lang="en-US" b="1" dirty="0"/>
              <a:t>(() =&gt; {</a:t>
            </a:r>
          </a:p>
          <a:p>
            <a:r>
              <a:rPr lang="en-US" b="1" dirty="0"/>
              <a:t>   console.log("fetching data");</a:t>
            </a:r>
          </a:p>
          <a:p>
            <a:r>
              <a:rPr lang="en-US" b="1" dirty="0"/>
              <a:t>}, 4000)</a:t>
            </a:r>
          </a:p>
        </p:txBody>
      </p:sp>
    </p:spTree>
    <p:extLst>
      <p:ext uri="{BB962C8B-B14F-4D97-AF65-F5344CB8AC3E}">
        <p14:creationId xmlns:p14="http://schemas.microsoft.com/office/powerpoint/2010/main" val="405567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80285" y="620688"/>
            <a:ext cx="3195571" cy="392153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37626" y="1693655"/>
            <a:ext cx="5398469" cy="400896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83660" y="2258942"/>
            <a:ext cx="3048179" cy="400896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0285" y="351552"/>
            <a:ext cx="5427819" cy="258532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console.log("Before");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let s = new Date().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getTime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while(new Date().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getTime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 – s &lt; 4000)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console.log("After");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580112" y="351552"/>
            <a:ext cx="3384376" cy="604867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6804248" y="0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Call stack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5580112" y="5734481"/>
            <a:ext cx="3384376" cy="57606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main()</a:t>
            </a:r>
            <a:endParaRPr lang="ru-RU" b="1" dirty="0">
              <a:solidFill>
                <a:schemeClr val="tx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5048327"/>
            <a:ext cx="550270" cy="576064"/>
          </a:xfrm>
          <a:prstGeom prst="rect">
            <a:avLst/>
          </a:prstGeom>
        </p:spPr>
      </p:pic>
      <p:sp>
        <p:nvSpPr>
          <p:cNvPr id="30" name="Прямоугольник 29"/>
          <p:cNvSpPr/>
          <p:nvPr/>
        </p:nvSpPr>
        <p:spPr>
          <a:xfrm>
            <a:off x="5580112" y="5077285"/>
            <a:ext cx="3368189" cy="57606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console.log("After")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5580112" y="5068738"/>
            <a:ext cx="3384376" cy="57606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console.log(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"Before"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84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2" grpId="0" animBg="1"/>
      <p:bldP spid="22" grpId="1" animBg="1"/>
      <p:bldP spid="33" grpId="0" animBg="1"/>
      <p:bldP spid="33" grpId="1" animBg="1"/>
      <p:bldP spid="10" grpId="0" animBg="1"/>
      <p:bldP spid="10" grpId="1" animBg="1"/>
      <p:bldP spid="30" grpId="0" animBg="1"/>
      <p:bldP spid="30" grpId="1" animBg="1"/>
      <p:bldP spid="32" grpId="0" animBg="1"/>
      <p:bldP spid="3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5622" y="605587"/>
            <a:ext cx="3370251" cy="203132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console.log("Before");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latin typeface="Courier New" pitchFamily="49" charset="0"/>
                <a:cs typeface="Courier New" pitchFamily="49" charset="0"/>
              </a:rPr>
              <a:t>setTimeout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cb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4000)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console.log("After")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99892" y="552479"/>
            <a:ext cx="3420380" cy="262934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923928" y="177230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Call stack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599892" y="2752904"/>
            <a:ext cx="3420380" cy="40137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main()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7236296" y="546562"/>
            <a:ext cx="1800200" cy="263526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6012160" y="3890080"/>
            <a:ext cx="3001006" cy="97908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6948264" y="163377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Browser API</a:t>
            </a:r>
            <a:endParaRPr lang="ru-RU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7100664" y="348706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Queue</a:t>
            </a:r>
            <a:endParaRPr lang="ru-RU" b="1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3599892" y="2302407"/>
            <a:ext cx="3420380" cy="40137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console.log("Before")</a:t>
            </a:r>
            <a:endParaRPr lang="ru-RU" b="1" dirty="0">
              <a:solidFill>
                <a:schemeClr val="tx1"/>
              </a:solidFill>
            </a:endParaRPr>
          </a:p>
        </p:txBody>
      </p:sp>
      <p:grpSp>
        <p:nvGrpSpPr>
          <p:cNvPr id="38" name="Группа 37"/>
          <p:cNvGrpSpPr/>
          <p:nvPr/>
        </p:nvGrpSpPr>
        <p:grpSpPr>
          <a:xfrm>
            <a:off x="7380312" y="692696"/>
            <a:ext cx="1296144" cy="755687"/>
            <a:chOff x="3707904" y="5639586"/>
            <a:chExt cx="1296144" cy="755687"/>
          </a:xfrm>
        </p:grpSpPr>
        <p:sp>
          <p:nvSpPr>
            <p:cNvPr id="39" name="Прямоугольник 38"/>
            <p:cNvSpPr/>
            <p:nvPr/>
          </p:nvSpPr>
          <p:spPr>
            <a:xfrm>
              <a:off x="3707904" y="5639586"/>
              <a:ext cx="1296144" cy="755687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b="1" dirty="0">
                  <a:solidFill>
                    <a:schemeClr val="tx1"/>
                  </a:solidFill>
                </a:rPr>
                <a:t>Timer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   </a:t>
              </a:r>
              <a:r>
                <a:rPr lang="en-US" b="1" dirty="0" err="1">
                  <a:solidFill>
                    <a:schemeClr val="tx1"/>
                  </a:solidFill>
                </a:rPr>
                <a:t>cb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  <p:pic>
          <p:nvPicPr>
            <p:cNvPr id="40" name="Рисунок 3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3779912" y="5852778"/>
              <a:ext cx="369742" cy="452744"/>
            </a:xfrm>
            <a:prstGeom prst="rect">
              <a:avLst/>
            </a:prstGeom>
          </p:spPr>
        </p:pic>
      </p:grpSp>
      <p:sp>
        <p:nvSpPr>
          <p:cNvPr id="45" name="Прямоугольник 44"/>
          <p:cNvSpPr/>
          <p:nvPr/>
        </p:nvSpPr>
        <p:spPr>
          <a:xfrm>
            <a:off x="3635896" y="2307550"/>
            <a:ext cx="3384376" cy="40137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console.log("After")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6" name="Прямоугольник 45"/>
          <p:cNvSpPr/>
          <p:nvPr/>
        </p:nvSpPr>
        <p:spPr>
          <a:xfrm>
            <a:off x="3599891" y="2298297"/>
            <a:ext cx="3420381" cy="40137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setTimeout</a:t>
            </a:r>
            <a:r>
              <a:rPr lang="en-US" sz="2000" b="1" dirty="0">
                <a:solidFill>
                  <a:schemeClr val="tx1"/>
                </a:solidFill>
              </a:rPr>
              <a:t>()</a:t>
            </a:r>
            <a:endParaRPr lang="ru-RU" b="1" dirty="0">
              <a:solidFill>
                <a:schemeClr val="tx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80310" y="3741040"/>
            <a:ext cx="1783379" cy="1683610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83186" y="1963524"/>
            <a:ext cx="3372686" cy="400896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86501" y="888117"/>
            <a:ext cx="3369371" cy="400896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110229" y="1464176"/>
            <a:ext cx="3372686" cy="312108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6217718" y="4091588"/>
            <a:ext cx="802554" cy="47306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cb</a:t>
            </a:r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3609256" y="2667908"/>
            <a:ext cx="3411016" cy="47306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cb</a:t>
            </a:r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1688263" y="1486079"/>
            <a:ext cx="669337" cy="290968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60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8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48148E-6 L -0.2835 -0.20671 L -0.2835 -0.20648 L -0.2835 -0.20671 " pathEditMode="relative" rAng="0" ptsTypes="AAAA">
                                      <p:cBhvr>
                                        <p:cTn id="8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84" y="-10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36" grpId="0" animBg="1"/>
      <p:bldP spid="36" grpId="1" animBg="1"/>
      <p:bldP spid="45" grpId="0" animBg="1"/>
      <p:bldP spid="45" grpId="1" animBg="1"/>
      <p:bldP spid="46" grpId="0" animBg="1"/>
      <p:bldP spid="46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1" grpId="0" animBg="1"/>
      <p:bldP spid="21" grpId="1" animBg="1"/>
      <p:bldP spid="21" grpId="2" animBg="1"/>
      <p:bldP spid="28" grpId="0" animBg="1"/>
      <p:bldP spid="28" grpId="1" animBg="1"/>
      <p:bldP spid="29" grpId="0" animBg="1"/>
      <p:bldP spid="2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03848" y="44624"/>
            <a:ext cx="2520280" cy="360040"/>
          </a:xfrm>
          <a:prstGeom prst="rect">
            <a:avLst/>
          </a:prstGeom>
          <a:noFill/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Promise</a:t>
            </a:r>
            <a:endParaRPr lang="ru-RU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87497" y="548680"/>
            <a:ext cx="8928992" cy="120032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</a:rPr>
              <a:t>Promise</a:t>
            </a:r>
            <a:r>
              <a:rPr lang="en-US" b="1" dirty="0"/>
              <a:t> –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об'єкт</a:t>
            </a:r>
            <a:r>
              <a:rPr lang="ru-RU" b="1" dirty="0"/>
              <a:t>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містить</a:t>
            </a:r>
            <a:r>
              <a:rPr lang="ru-RU" b="1" dirty="0"/>
              <a:t> </a:t>
            </a:r>
            <a:r>
              <a:rPr lang="ru-RU" b="1" dirty="0" err="1"/>
              <a:t>остаточний</a:t>
            </a:r>
            <a:r>
              <a:rPr lang="ru-RU" b="1" dirty="0"/>
              <a:t> результат </a:t>
            </a:r>
            <a:r>
              <a:rPr lang="ru-RU" b="1" dirty="0" err="1"/>
              <a:t>асинхронної</a:t>
            </a:r>
            <a:r>
              <a:rPr lang="ru-RU" b="1" dirty="0"/>
              <a:t> </a:t>
            </a:r>
            <a:r>
              <a:rPr lang="ru-RU" b="1" dirty="0" err="1"/>
              <a:t>операції</a:t>
            </a:r>
            <a:endParaRPr lang="ru-RU" b="1" dirty="0"/>
          </a:p>
          <a:p>
            <a:r>
              <a:rPr lang="ru-RU" b="1" dirty="0"/>
              <a:t>Коли асинхронна </a:t>
            </a:r>
            <a:r>
              <a:rPr lang="ru-RU" b="1" dirty="0" err="1"/>
              <a:t>операція</a:t>
            </a:r>
            <a:r>
              <a:rPr lang="ru-RU" b="1" dirty="0"/>
              <a:t> </a:t>
            </a:r>
            <a:r>
              <a:rPr lang="ru-RU" b="1" dirty="0" err="1"/>
              <a:t>закінчена</a:t>
            </a:r>
            <a:r>
              <a:rPr lang="ru-RU" b="1" dirty="0"/>
              <a:t> результатом </a:t>
            </a:r>
            <a:r>
              <a:rPr lang="ru-RU" b="1" dirty="0" err="1"/>
              <a:t>Promise</a:t>
            </a:r>
            <a:r>
              <a:rPr lang="ru-RU" b="1" dirty="0"/>
              <a:t> </a:t>
            </a:r>
            <a:r>
              <a:rPr lang="ru-RU" b="1" dirty="0" err="1"/>
              <a:t>може</a:t>
            </a:r>
            <a:r>
              <a:rPr lang="ru-RU" b="1" dirty="0"/>
              <a:t> </a:t>
            </a:r>
            <a:r>
              <a:rPr lang="ru-RU" b="1" dirty="0" err="1"/>
              <a:t>або</a:t>
            </a:r>
            <a:r>
              <a:rPr lang="ru-RU" b="1" dirty="0"/>
              <a:t> результат </a:t>
            </a:r>
            <a:r>
              <a:rPr lang="ru-RU" b="1" dirty="0" err="1"/>
              <a:t>чи</a:t>
            </a:r>
            <a:r>
              <a:rPr lang="ru-RU" b="1" dirty="0"/>
              <a:t> </a:t>
            </a:r>
            <a:r>
              <a:rPr lang="ru-RU" b="1" dirty="0" err="1"/>
              <a:t>помилка</a:t>
            </a:r>
            <a:endParaRPr lang="ru-RU" b="1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059832" y="3326451"/>
            <a:ext cx="2584303" cy="810725"/>
          </a:xfrm>
          <a:prstGeom prst="roundRect">
            <a:avLst/>
          </a:prstGeom>
          <a:solidFill>
            <a:srgbClr val="C3C16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Pending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3113622" y="3743273"/>
            <a:ext cx="2808312" cy="0"/>
          </a:xfrm>
          <a:prstGeom prst="straightConnector1">
            <a:avLst/>
          </a:prstGeom>
          <a:ln w="762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кругленный прямоугольник 15"/>
          <p:cNvSpPr/>
          <p:nvPr/>
        </p:nvSpPr>
        <p:spPr>
          <a:xfrm>
            <a:off x="5975724" y="3326450"/>
            <a:ext cx="2638781" cy="810725"/>
          </a:xfrm>
          <a:prstGeom prst="roundRect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Fulfilled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5975724" y="3861048"/>
            <a:ext cx="2638781" cy="8107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Rejected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29862" y="3212976"/>
            <a:ext cx="300595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b="1" dirty="0" err="1"/>
              <a:t>async</a:t>
            </a:r>
            <a:r>
              <a:rPr lang="en-US" sz="2300" b="1" dirty="0"/>
              <a:t> operation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04" y="4771018"/>
            <a:ext cx="8928992" cy="175432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Коли </a:t>
            </a:r>
            <a:r>
              <a:rPr lang="en-US" b="1" dirty="0"/>
              <a:t>Promise </a:t>
            </a:r>
            <a:r>
              <a:rPr lang="ru-RU" b="1" dirty="0" err="1"/>
              <a:t>створюється</a:t>
            </a:r>
            <a:r>
              <a:rPr lang="ru-RU" b="1" dirty="0"/>
              <a:t> </a:t>
            </a:r>
            <a:r>
              <a:rPr lang="ru-RU" b="1" dirty="0" err="1"/>
              <a:t>він</a:t>
            </a:r>
            <a:r>
              <a:rPr lang="ru-RU" b="1" dirty="0"/>
              <a:t> </a:t>
            </a:r>
            <a:r>
              <a:rPr lang="ru-RU" b="1" dirty="0" err="1"/>
              <a:t>перебуває</a:t>
            </a:r>
            <a:r>
              <a:rPr lang="ru-RU" b="1" dirty="0"/>
              <a:t> в </a:t>
            </a:r>
            <a:r>
              <a:rPr lang="ru-RU" b="1" dirty="0" err="1"/>
              <a:t>стані</a:t>
            </a:r>
            <a:r>
              <a:rPr lang="ru-RU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Pending</a:t>
            </a:r>
          </a:p>
          <a:p>
            <a:r>
              <a:rPr lang="ru-RU" b="1" dirty="0"/>
              <a:t>Решта коду </a:t>
            </a:r>
            <a:r>
              <a:rPr lang="ru-RU" b="1" dirty="0" err="1"/>
              <a:t>програми</a:t>
            </a:r>
            <a:r>
              <a:rPr lang="ru-RU" b="1" dirty="0"/>
              <a:t> </a:t>
            </a:r>
            <a:r>
              <a:rPr lang="ru-RU" b="1" dirty="0" err="1"/>
              <a:t>продовжує</a:t>
            </a:r>
            <a:r>
              <a:rPr lang="ru-RU" b="1" dirty="0"/>
              <a:t> </a:t>
            </a:r>
            <a:r>
              <a:rPr lang="ru-RU" b="1" dirty="0" err="1"/>
              <a:t>працювати</a:t>
            </a:r>
            <a:endParaRPr lang="ru-RU" b="1" dirty="0"/>
          </a:p>
          <a:p>
            <a:r>
              <a:rPr lang="ru-RU" b="1" dirty="0"/>
              <a:t>Коли </a:t>
            </a:r>
            <a:r>
              <a:rPr lang="en-US" b="1" dirty="0"/>
              <a:t>async operation </a:t>
            </a:r>
            <a:r>
              <a:rPr lang="ru-RU" b="1" dirty="0" err="1"/>
              <a:t>закінчена</a:t>
            </a:r>
            <a:r>
              <a:rPr lang="ru-RU" b="1" dirty="0"/>
              <a:t>, </a:t>
            </a:r>
            <a:r>
              <a:rPr lang="en-US" b="1" dirty="0"/>
              <a:t>Promise </a:t>
            </a:r>
            <a:r>
              <a:rPr lang="ru-RU" b="1" dirty="0" err="1"/>
              <a:t>перетворюється</a:t>
            </a:r>
            <a:r>
              <a:rPr lang="ru-RU" b="1" dirty="0"/>
              <a:t> на </a:t>
            </a:r>
            <a:r>
              <a:rPr lang="ru-RU" b="1" dirty="0" err="1"/>
              <a:t>одне</a:t>
            </a:r>
            <a:r>
              <a:rPr lang="ru-RU" b="1" dirty="0"/>
              <a:t> з </a:t>
            </a:r>
            <a:r>
              <a:rPr lang="ru-RU" b="1" dirty="0" err="1"/>
              <a:t>станів</a:t>
            </a:r>
            <a:endParaRPr lang="ru-RU" b="1" dirty="0"/>
          </a:p>
          <a:p>
            <a:r>
              <a:rPr lang="ru-RU" b="1" dirty="0"/>
              <a:t>- </a:t>
            </a:r>
            <a:r>
              <a:rPr lang="ru-RU" b="1" dirty="0" err="1">
                <a:solidFill>
                  <a:srgbClr val="00B050"/>
                </a:solidFill>
              </a:rPr>
              <a:t>Fulfil</a:t>
            </a:r>
            <a:r>
              <a:rPr lang="en-US" b="1" dirty="0">
                <a:solidFill>
                  <a:srgbClr val="00B050"/>
                </a:solidFill>
              </a:rPr>
              <a:t>led</a:t>
            </a:r>
            <a:r>
              <a:rPr lang="ru-RU" b="1" dirty="0">
                <a:solidFill>
                  <a:srgbClr val="00B050"/>
                </a:solidFill>
              </a:rPr>
              <a:t>d / </a:t>
            </a:r>
            <a:r>
              <a:rPr lang="ru-RU" b="1" dirty="0" err="1">
                <a:solidFill>
                  <a:srgbClr val="00B050"/>
                </a:solidFill>
              </a:rPr>
              <a:t>Resolved</a:t>
            </a:r>
            <a:r>
              <a:rPr lang="ru-RU" b="1" dirty="0"/>
              <a:t>  та </a:t>
            </a:r>
            <a:r>
              <a:rPr lang="ru-RU" b="1" i="1" dirty="0" err="1">
                <a:solidFill>
                  <a:srgbClr val="FF0000"/>
                </a:solidFill>
              </a:rPr>
              <a:t>поверта</a:t>
            </a:r>
            <a:r>
              <a:rPr lang="ru-RU" b="1" i="1" dirty="0">
                <a:solidFill>
                  <a:srgbClr val="FF0000"/>
                </a:solidFill>
              </a:rPr>
              <a:t> </a:t>
            </a:r>
            <a:r>
              <a:rPr lang="ru-RU" b="1" i="1" dirty="0" err="1">
                <a:solidFill>
                  <a:srgbClr val="FF0000"/>
                </a:solidFill>
              </a:rPr>
              <a:t>новий</a:t>
            </a:r>
            <a:r>
              <a:rPr lang="ru-RU" b="1" i="1" dirty="0">
                <a:solidFill>
                  <a:srgbClr val="FF0000"/>
                </a:solidFill>
              </a:rPr>
              <a:t> </a:t>
            </a:r>
            <a:r>
              <a:rPr lang="ru-RU" b="1" i="1" dirty="0" err="1">
                <a:solidFill>
                  <a:srgbClr val="FF0000"/>
                </a:solidFill>
              </a:rPr>
              <a:t>Promise</a:t>
            </a:r>
            <a:r>
              <a:rPr lang="ru-RU" b="1" i="1" dirty="0">
                <a:solidFill>
                  <a:srgbClr val="FF0000"/>
                </a:solidFill>
              </a:rPr>
              <a:t> </a:t>
            </a:r>
          </a:p>
          <a:p>
            <a:r>
              <a:rPr lang="ru-RU" b="1" dirty="0"/>
              <a:t>-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ru-RU" b="1" dirty="0" err="1"/>
              <a:t>може</a:t>
            </a:r>
            <a:r>
              <a:rPr lang="ru-RU" b="1" dirty="0"/>
              <a:t> бути </a:t>
            </a:r>
            <a:r>
              <a:rPr lang="ru-RU" b="1" dirty="0" err="1">
                <a:solidFill>
                  <a:srgbClr val="C00000"/>
                </a:solidFill>
              </a:rPr>
              <a:t>Reject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11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57 -0.00116 L -0.27257 -0.00116 " pathEditMode="relative" ptsTypes="A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104 -0.07963 L 0.00104 -0.07963 L 0.00104 -0.07963 " pathEditMode="relative" ptsTypes="AAAA">
                                      <p:cBhvr>
                                        <p:cTn id="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6" grpId="0" animBg="1"/>
      <p:bldP spid="16" grpId="1" animBg="1"/>
      <p:bldP spid="19" grpId="0" animBg="1"/>
      <p:bldP spid="13" grpId="0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75856" y="44624"/>
            <a:ext cx="2520280" cy="360040"/>
          </a:xfrm>
          <a:prstGeom prst="rect">
            <a:avLst/>
          </a:prstGeom>
          <a:noFill/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async</a:t>
            </a:r>
            <a:r>
              <a:rPr lang="en-US" b="1" dirty="0"/>
              <a:t> await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562409"/>
            <a:ext cx="892899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C00000"/>
                </a:solidFill>
              </a:rPr>
              <a:t>async</a:t>
            </a:r>
            <a:r>
              <a:rPr lang="da-DK" b="1" dirty="0"/>
              <a:t> function fetchData(url) {</a:t>
            </a:r>
          </a:p>
          <a:p>
            <a:r>
              <a:rPr lang="da-DK" b="1" dirty="0"/>
              <a:t>    const response = </a:t>
            </a:r>
            <a:r>
              <a:rPr lang="da-DK" b="1" dirty="0">
                <a:solidFill>
                  <a:srgbClr val="C00000"/>
                </a:solidFill>
              </a:rPr>
              <a:t>await</a:t>
            </a:r>
            <a:r>
              <a:rPr lang="da-DK" b="1" dirty="0"/>
              <a:t> fetch(url);</a:t>
            </a:r>
          </a:p>
          <a:p>
            <a:r>
              <a:rPr lang="da-DK" b="1" dirty="0"/>
              <a:t>    const data = </a:t>
            </a:r>
            <a:r>
              <a:rPr lang="da-DK" b="1" dirty="0">
                <a:solidFill>
                  <a:srgbClr val="C00000"/>
                </a:solidFill>
              </a:rPr>
              <a:t>await</a:t>
            </a:r>
            <a:r>
              <a:rPr lang="da-DK" b="1" dirty="0"/>
              <a:t> response.json();</a:t>
            </a:r>
          </a:p>
          <a:p>
            <a:r>
              <a:rPr lang="da-DK" b="1" dirty="0"/>
              <a:t>    return data;</a:t>
            </a:r>
          </a:p>
          <a:p>
            <a:r>
              <a:rPr lang="da-DK" b="1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2196764"/>
            <a:ext cx="8928992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FF0000"/>
                </a:solidFill>
              </a:rPr>
              <a:t>Async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r>
              <a:rPr lang="ru-RU" b="1" dirty="0"/>
              <a:t> </a:t>
            </a:r>
            <a:r>
              <a:rPr lang="ru-RU" b="1" dirty="0" err="1"/>
              <a:t>завжди</a:t>
            </a:r>
            <a:r>
              <a:rPr lang="ru-RU" b="1" dirty="0"/>
              <a:t> </a:t>
            </a:r>
            <a:r>
              <a:rPr lang="ru-RU" b="1" dirty="0" err="1"/>
              <a:t>повертають</a:t>
            </a:r>
            <a:r>
              <a:rPr lang="ru-RU" b="1" dirty="0"/>
              <a:t> </a:t>
            </a:r>
            <a:r>
              <a:rPr lang="en-US" b="1" dirty="0"/>
              <a:t>promise</a:t>
            </a:r>
          </a:p>
          <a:p>
            <a:endParaRPr lang="en-US" b="1" dirty="0"/>
          </a:p>
          <a:p>
            <a:r>
              <a:rPr lang="ru-RU" b="1" dirty="0" err="1"/>
              <a:t>ключове</a:t>
            </a:r>
            <a:r>
              <a:rPr lang="ru-RU" b="1" dirty="0"/>
              <a:t> слово </a:t>
            </a:r>
            <a:r>
              <a:rPr lang="en-US" b="1" dirty="0">
                <a:solidFill>
                  <a:srgbClr val="C00000"/>
                </a:solidFill>
              </a:rPr>
              <a:t>await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b="1" dirty="0" err="1"/>
              <a:t>працює</a:t>
            </a:r>
            <a:r>
              <a:rPr lang="ru-RU" b="1" dirty="0"/>
              <a:t> </a:t>
            </a:r>
            <a:r>
              <a:rPr lang="ru-RU" b="1" dirty="0" err="1"/>
              <a:t>тільки</a:t>
            </a:r>
            <a:r>
              <a:rPr lang="ru-RU" b="1" dirty="0"/>
              <a:t> у </a:t>
            </a:r>
            <a:r>
              <a:rPr lang="ru-RU" b="1" dirty="0" err="1"/>
              <a:t>функції</a:t>
            </a:r>
            <a:r>
              <a:rPr lang="ru-RU" b="1" dirty="0"/>
              <a:t> з декоратором </a:t>
            </a:r>
            <a:r>
              <a:rPr lang="en-US" b="1" dirty="0">
                <a:solidFill>
                  <a:srgbClr val="C00000"/>
                </a:solidFill>
              </a:rPr>
              <a:t>async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b="1" dirty="0"/>
              <a:t>ставить на паузу </a:t>
            </a:r>
            <a:r>
              <a:rPr lang="ru-RU" b="1" dirty="0" err="1"/>
              <a:t>виконання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r>
              <a:rPr lang="ru-RU" b="1" dirty="0"/>
              <a:t> та </a:t>
            </a:r>
            <a:r>
              <a:rPr lang="ru-RU" b="1" dirty="0" err="1"/>
              <a:t>чекає</a:t>
            </a:r>
            <a:r>
              <a:rPr lang="ru-RU" b="1" dirty="0"/>
              <a:t> на </a:t>
            </a:r>
          </a:p>
          <a:p>
            <a:r>
              <a:rPr lang="ru-RU" b="1" dirty="0"/>
              <a:t>  </a:t>
            </a:r>
            <a:r>
              <a:rPr lang="en-US" b="1" dirty="0">
                <a:solidFill>
                  <a:srgbClr val="C00000"/>
                </a:solidFill>
              </a:rPr>
              <a:t>resolve of a promise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b="1" dirty="0" err="1"/>
              <a:t>після</a:t>
            </a:r>
            <a:r>
              <a:rPr lang="ru-RU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promise's </a:t>
            </a:r>
            <a:r>
              <a:rPr lang="en-US" b="1" dirty="0" err="1">
                <a:solidFill>
                  <a:srgbClr val="C00000"/>
                </a:solidFill>
              </a:rPr>
              <a:t>resovle</a:t>
            </a:r>
            <a:r>
              <a:rPr lang="en-US" b="1" dirty="0"/>
              <a:t> </a:t>
            </a:r>
            <a:r>
              <a:rPr lang="ru-RU" b="1" dirty="0" err="1"/>
              <a:t>відновлюється</a:t>
            </a:r>
            <a:r>
              <a:rPr lang="ru-RU" b="1" dirty="0"/>
              <a:t> </a:t>
            </a:r>
            <a:r>
              <a:rPr lang="ru-RU" b="1" dirty="0" err="1"/>
              <a:t>виконання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endParaRPr lang="ru-RU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b="1" dirty="0"/>
              <a:t>пауза у </a:t>
            </a:r>
            <a:r>
              <a:rPr lang="ru-RU" b="1" dirty="0" err="1"/>
              <a:t>зупинці</a:t>
            </a:r>
            <a:r>
              <a:rPr lang="ru-RU" b="1" dirty="0"/>
              <a:t> </a:t>
            </a:r>
            <a:r>
              <a:rPr lang="ru-RU" b="1" dirty="0" err="1"/>
              <a:t>виконання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r>
              <a:rPr lang="ru-RU" b="1" dirty="0"/>
              <a:t> не </a:t>
            </a:r>
            <a:r>
              <a:rPr lang="ru-RU" b="1" dirty="0" err="1"/>
              <a:t>блокує</a:t>
            </a:r>
            <a:r>
              <a:rPr lang="ru-RU" b="1" dirty="0"/>
              <a:t> </a:t>
            </a:r>
            <a:r>
              <a:rPr lang="ru-RU" b="1" dirty="0" err="1"/>
              <a:t>виконання</a:t>
            </a:r>
            <a:r>
              <a:rPr lang="ru-RU" b="1" dirty="0"/>
              <a:t> </a:t>
            </a:r>
            <a:r>
              <a:rPr lang="ru-RU" b="1" dirty="0" err="1"/>
              <a:t>решти</a:t>
            </a:r>
            <a:r>
              <a:rPr lang="ru-RU" b="1" dirty="0"/>
              <a:t> коду </a:t>
            </a:r>
            <a:r>
              <a:rPr lang="ru-RU" b="1"/>
              <a:t>програми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1900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91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7544" y="116632"/>
            <a:ext cx="83022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https://beetroot.academy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673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75856" y="44624"/>
            <a:ext cx="2520280" cy="360040"/>
          </a:xfrm>
          <a:prstGeom prst="rect">
            <a:avLst/>
          </a:prstGeom>
          <a:noFill/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_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823792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07340"/>
            <a:ext cx="6048672" cy="369332"/>
          </a:xfrm>
          <a:prstGeom prst="rect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_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203717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844824"/>
            <a:ext cx="8928992" cy="369332"/>
          </a:xfrm>
          <a:prstGeom prst="rect">
            <a:avLst/>
          </a:prstGeom>
          <a:solidFill>
            <a:srgbClr val="92D050">
              <a:alpha val="14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2485931"/>
            <a:ext cx="8928992" cy="369332"/>
          </a:xfrm>
          <a:prstGeom prst="rect">
            <a:avLst/>
          </a:prstGeom>
          <a:solidFill>
            <a:srgbClr val="FFFF00">
              <a:alpha val="16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3127038"/>
            <a:ext cx="8928992" cy="369332"/>
          </a:xfrm>
          <a:prstGeom prst="rect">
            <a:avLst/>
          </a:prstGeom>
          <a:solidFill>
            <a:srgbClr val="00B0F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12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6033</TotalTime>
  <Words>443</Words>
  <Application>Microsoft Office PowerPoint</Application>
  <PresentationFormat>Экран (4:3)</PresentationFormat>
  <Paragraphs>97</Paragraphs>
  <Slides>12</Slides>
  <Notes>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Calibri</vt:lpstr>
      <vt:lpstr>Courier New</vt:lpstr>
      <vt:lpstr>Verdana</vt:lpstr>
      <vt:lpstr>Wingdings</vt:lpstr>
      <vt:lpstr>Wingdings 2</vt:lpstr>
      <vt:lpstr>Wingdings 3</vt:lpstr>
      <vt:lpstr>Тема1</vt:lpstr>
      <vt:lpstr>async JS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934</cp:revision>
  <dcterms:modified xsi:type="dcterms:W3CDTF">2023-07-14T11:08:04Z</dcterms:modified>
</cp:coreProperties>
</file>