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95" r:id="rId2"/>
    <p:sldId id="468" r:id="rId3"/>
    <p:sldId id="470" r:id="rId4"/>
    <p:sldId id="469" r:id="rId5"/>
    <p:sldId id="421" r:id="rId6"/>
    <p:sldId id="413" r:id="rId7"/>
    <p:sldId id="400" r:id="rId8"/>
    <p:sldId id="462" r:id="rId9"/>
    <p:sldId id="464" r:id="rId10"/>
    <p:sldId id="465" r:id="rId11"/>
    <p:sldId id="466" r:id="rId12"/>
    <p:sldId id="475" r:id="rId13"/>
    <p:sldId id="476" r:id="rId14"/>
    <p:sldId id="477" r:id="rId15"/>
    <p:sldId id="425" r:id="rId16"/>
    <p:sldId id="427" r:id="rId17"/>
    <p:sldId id="449" r:id="rId18"/>
    <p:sldId id="426" r:id="rId19"/>
    <p:sldId id="420" r:id="rId20"/>
    <p:sldId id="419" r:id="rId21"/>
    <p:sldId id="430" r:id="rId22"/>
    <p:sldId id="434" r:id="rId23"/>
    <p:sldId id="417" r:id="rId24"/>
    <p:sldId id="472" r:id="rId25"/>
    <p:sldId id="471" r:id="rId26"/>
    <p:sldId id="458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281" autoAdjust="0"/>
  </p:normalViewPr>
  <p:slideViewPr>
    <p:cSldViewPr showGuides="1">
      <p:cViewPr varScale="1">
        <p:scale>
          <a:sx n="107" d="100"/>
          <a:sy n="107" d="100"/>
        </p:scale>
        <p:origin x="1656" y="96"/>
      </p:cViewPr>
      <p:guideLst>
        <p:guide orient="horz" pos="2160"/>
        <p:guide pos="25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571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427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720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48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05.10.2024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goo.gl/pwZOV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aniuse.com/classlis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5008" y="2636912"/>
            <a:ext cx="8533456" cy="15121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</a:p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</a:t>
            </a:r>
            <a:r>
              <a:rPr lang="ru-RU" sz="4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4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Object</a:t>
            </a:r>
            <a:r>
              <a:rPr lang="ru-RU" sz="4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ru-RU" sz="4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353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59632" y="44624"/>
            <a:ext cx="5472608" cy="5040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err="1">
                <a:solidFill>
                  <a:schemeClr val="bg2">
                    <a:lumMod val="50000"/>
                  </a:schemeClr>
                </a:solidFill>
              </a:rPr>
              <a:t>Корисні</a:t>
            </a:r>
            <a:r>
              <a:rPr lang="ru-RU" sz="20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b="1" dirty="0" err="1">
                <a:solidFill>
                  <a:schemeClr val="bg2">
                    <a:lumMod val="50000"/>
                  </a:schemeClr>
                </a:solidFill>
              </a:rPr>
              <a:t>консольні</a:t>
            </a:r>
            <a:r>
              <a:rPr lang="ru-RU" sz="20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2000" b="1" dirty="0" err="1">
                <a:solidFill>
                  <a:schemeClr val="bg2">
                    <a:lumMod val="50000"/>
                  </a:schemeClr>
                </a:solidFill>
              </a:rPr>
              <a:t>команди</a:t>
            </a:r>
            <a:r>
              <a:rPr lang="ru-RU" sz="20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Chrome</a:t>
            </a:r>
            <a:r>
              <a:rPr lang="ru-RU" sz="2000" dirty="0"/>
              <a:t> </a:t>
            </a:r>
            <a:endParaRPr lang="ru-RU" sz="20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620688"/>
            <a:ext cx="8784976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console.log(</a:t>
            </a:r>
            <a:r>
              <a:rPr lang="en-US" sz="2400" b="1" dirty="0">
                <a:solidFill>
                  <a:srgbClr val="0070C0"/>
                </a:solidFill>
              </a:rPr>
              <a:t>"text"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console.info(</a:t>
            </a:r>
            <a:r>
              <a:rPr lang="en-US" sz="2400" b="1" dirty="0">
                <a:solidFill>
                  <a:srgbClr val="0070C0"/>
                </a:solidFill>
              </a:rPr>
              <a:t>"text"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endParaRPr lang="ru-RU" sz="2400" b="1" dirty="0"/>
          </a:p>
          <a:p>
            <a:r>
              <a:rPr lang="en-US" sz="2400" b="1" dirty="0" err="1">
                <a:solidFill>
                  <a:schemeClr val="accent2"/>
                </a:solidFill>
              </a:rPr>
              <a:t>console.warning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"text"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endParaRPr lang="ru-RU" sz="2400" b="1" dirty="0"/>
          </a:p>
          <a:p>
            <a:r>
              <a:rPr lang="en-US" sz="2400" b="1" dirty="0" err="1">
                <a:solidFill>
                  <a:schemeClr val="accent2"/>
                </a:solidFill>
              </a:rPr>
              <a:t>console.error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"text"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endParaRPr lang="ru-RU" sz="2400" b="1" dirty="0"/>
          </a:p>
          <a:p>
            <a:r>
              <a:rPr lang="en-US" sz="2400" b="1" dirty="0" err="1">
                <a:solidFill>
                  <a:schemeClr val="accent2"/>
                </a:solidFill>
              </a:rPr>
              <a:t>console.assert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B050"/>
                </a:solidFill>
              </a:rPr>
              <a:t>expression</a:t>
            </a:r>
            <a:r>
              <a:rPr lang="en-US" sz="2400" b="1" dirty="0">
                <a:solidFill>
                  <a:schemeClr val="accent2"/>
                </a:solidFill>
              </a:rPr>
              <a:t>, </a:t>
            </a:r>
            <a:r>
              <a:rPr lang="en-US" sz="2400" b="1" dirty="0">
                <a:solidFill>
                  <a:srgbClr val="0070C0"/>
                </a:solidFill>
              </a:rPr>
              <a:t>"text"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</a:p>
          <a:p>
            <a:r>
              <a:rPr lang="en-US" sz="2400" b="1" dirty="0" err="1">
                <a:solidFill>
                  <a:schemeClr val="accent2"/>
                </a:solidFill>
              </a:rPr>
              <a:t>console.dir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 err="1">
                <a:solidFill>
                  <a:srgbClr val="00B050"/>
                </a:solidFill>
              </a:rPr>
              <a:t>ob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endParaRPr lang="en-US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3068960"/>
            <a:ext cx="8784976" cy="156966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/>
                </a:solidFill>
              </a:rPr>
              <a:t>console.group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"Title of group"</a:t>
            </a:r>
            <a:r>
              <a:rPr lang="en-US" sz="2400" b="1" dirty="0">
                <a:solidFill>
                  <a:schemeClr val="accent2"/>
                </a:solidFill>
              </a:rPr>
              <a:t>); 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   console.log("text");</a:t>
            </a:r>
          </a:p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    ... </a:t>
            </a:r>
            <a:endParaRPr lang="ru-RU" sz="24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b="1" dirty="0" err="1">
                <a:solidFill>
                  <a:schemeClr val="accent2"/>
                </a:solidFill>
              </a:rPr>
              <a:t>console.groupEnd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"End group"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endParaRPr lang="en-US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7504" y="4811668"/>
            <a:ext cx="8784976" cy="156966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/>
                </a:solidFill>
              </a:rPr>
              <a:t>console.groupCollapsed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"Title of group"</a:t>
            </a:r>
            <a:r>
              <a:rPr lang="en-US" sz="2400" b="1" dirty="0">
                <a:solidFill>
                  <a:schemeClr val="accent2"/>
                </a:solidFill>
              </a:rPr>
              <a:t>); 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   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console.log("text");</a:t>
            </a:r>
          </a:p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    ... </a:t>
            </a:r>
            <a:endParaRPr lang="ru-RU" sz="24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b="1" dirty="0" err="1">
                <a:solidFill>
                  <a:schemeClr val="accent2"/>
                </a:solidFill>
              </a:rPr>
              <a:t>console.groupEnd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"End group"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2341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31148"/>
            <a:ext cx="8784976" cy="193899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/>
                </a:solidFill>
              </a:rPr>
              <a:t>console.time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"Label"</a:t>
            </a:r>
            <a:r>
              <a:rPr lang="en-US" sz="2400" b="1" dirty="0">
                <a:solidFill>
                  <a:schemeClr val="accent2"/>
                </a:solidFill>
              </a:rPr>
              <a:t>); 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   for(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</a:rPr>
              <a:t>var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= 0; 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 &lt; 10000; </a:t>
            </a:r>
            <a:r>
              <a:rPr lang="en-US" sz="2400" b="1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++){} </a:t>
            </a:r>
            <a:endParaRPr lang="ru-RU" sz="2400" b="1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400" b="1" dirty="0">
              <a:solidFill>
                <a:schemeClr val="accent2"/>
              </a:solidFill>
            </a:endParaRPr>
          </a:p>
          <a:p>
            <a:r>
              <a:rPr lang="en-US" sz="2400" b="1" dirty="0" err="1">
                <a:solidFill>
                  <a:schemeClr val="accent2"/>
                </a:solidFill>
              </a:rPr>
              <a:t>console.timeEnd</a:t>
            </a:r>
            <a:r>
              <a:rPr lang="en-US" sz="2400" b="1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rgbClr val="0070C0"/>
                </a:solidFill>
              </a:rPr>
              <a:t>"Label"</a:t>
            </a:r>
            <a:r>
              <a:rPr lang="en-US" sz="2400" b="1" dirty="0">
                <a:solidFill>
                  <a:schemeClr val="accent2"/>
                </a:solidFill>
              </a:rPr>
              <a:t>);</a:t>
            </a:r>
            <a:endParaRPr lang="en-US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644008" y="3068960"/>
            <a:ext cx="410445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/>
              <a:t>!!! </a:t>
            </a:r>
            <a:r>
              <a:rPr lang="uk-UA" b="1" dirty="0" err="1"/>
              <a:t>Метки</a:t>
            </a:r>
            <a:r>
              <a:rPr lang="uk-UA" b="1" dirty="0"/>
              <a:t> мають співпадати</a:t>
            </a:r>
            <a:endParaRPr lang="ru-RU" b="1" dirty="0"/>
          </a:p>
        </p:txBody>
      </p:sp>
      <p:cxnSp>
        <p:nvCxnSpPr>
          <p:cNvPr id="5" name="Прямая со стрелкой 4"/>
          <p:cNvCxnSpPr>
            <a:stCxn id="2" idx="0"/>
          </p:cNvCxnSpPr>
          <p:nvPr/>
        </p:nvCxnSpPr>
        <p:spPr>
          <a:xfrm flipH="1" flipV="1">
            <a:off x="3995738" y="1916832"/>
            <a:ext cx="2700498" cy="115212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 flipV="1">
            <a:off x="3491880" y="548680"/>
            <a:ext cx="3356756" cy="267268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18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44624"/>
            <a:ext cx="8928992" cy="2880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DOM</a:t>
            </a:r>
            <a:r>
              <a:rPr lang="ru-RU" b="1" dirty="0"/>
              <a:t> (</a:t>
            </a:r>
            <a:r>
              <a:rPr lang="en-US" b="1" dirty="0"/>
              <a:t>Document Object</a:t>
            </a:r>
            <a:r>
              <a:rPr lang="ru-RU" b="1" dirty="0"/>
              <a:t> </a:t>
            </a:r>
            <a:r>
              <a:rPr lang="en-US" b="1" dirty="0"/>
              <a:t>Model</a:t>
            </a:r>
            <a:r>
              <a:rPr lang="ru-RU" b="1" dirty="0"/>
              <a:t>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527183"/>
            <a:ext cx="8784976" cy="452431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Document</a:t>
            </a:r>
            <a:r>
              <a:rPr lang="en-US" b="1" dirty="0">
                <a:solidFill>
                  <a:schemeClr val="tx1"/>
                </a:solidFill>
              </a:rPr>
              <a:t> – </a:t>
            </a:r>
            <a:r>
              <a:rPr lang="ru-RU" b="1" dirty="0">
                <a:solidFill>
                  <a:schemeClr val="tx1"/>
                </a:solidFill>
              </a:rPr>
              <a:t>все, </a:t>
            </a:r>
            <a:r>
              <a:rPr lang="ru-RU" b="1" dirty="0" err="1">
                <a:solidFill>
                  <a:schemeClr val="tx1"/>
                </a:solidFill>
              </a:rPr>
              <a:t>що</a:t>
            </a:r>
            <a:r>
              <a:rPr lang="ru-RU" b="1" dirty="0">
                <a:solidFill>
                  <a:schemeClr val="tx1"/>
                </a:solidFill>
              </a:rPr>
              <a:t> браузер </a:t>
            </a:r>
            <a:r>
              <a:rPr lang="ru-RU" b="1" dirty="0" err="1">
                <a:solidFill>
                  <a:schemeClr val="tx1"/>
                </a:solidFill>
              </a:rPr>
              <a:t>відображає</a:t>
            </a:r>
            <a:r>
              <a:rPr lang="ru-RU" b="1" dirty="0">
                <a:solidFill>
                  <a:schemeClr val="tx1"/>
                </a:solidFill>
              </a:rPr>
              <a:t> у </a:t>
            </a:r>
            <a:r>
              <a:rPr lang="ru-RU" b="1" dirty="0" err="1">
                <a:solidFill>
                  <a:schemeClr val="tx1"/>
                </a:solidFill>
              </a:rPr>
              <a:t>вигляді</a:t>
            </a:r>
            <a:r>
              <a:rPr lang="ru-RU" b="1" dirty="0">
                <a:solidFill>
                  <a:schemeClr val="tx1"/>
                </a:solidFill>
              </a:rPr>
              <a:t> веб-</a:t>
            </a:r>
            <a:r>
              <a:rPr lang="ru-RU" b="1" dirty="0" err="1">
                <a:solidFill>
                  <a:schemeClr val="tx1"/>
                </a:solidFill>
              </a:rPr>
              <a:t>сторінки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тобто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html</a:t>
            </a:r>
            <a:r>
              <a:rPr lang="ru-RU" b="1" dirty="0">
                <a:solidFill>
                  <a:schemeClr val="tx1"/>
                </a:solidFill>
              </a:rPr>
              <a:t> - </a:t>
            </a:r>
            <a:r>
              <a:rPr lang="ru-RU" b="1" dirty="0" err="1">
                <a:solidFill>
                  <a:schemeClr val="tx1"/>
                </a:solidFill>
              </a:rPr>
              <a:t>елементи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скрипти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зображення</a:t>
            </a:r>
            <a:endParaRPr lang="en-US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Object</a:t>
            </a:r>
            <a:r>
              <a:rPr lang="ru-RU" b="1" dirty="0">
                <a:solidFill>
                  <a:schemeClr val="tx1"/>
                </a:solidFill>
              </a:rPr>
              <a:t> – </a:t>
            </a:r>
            <a:r>
              <a:rPr lang="ru-RU" b="1" dirty="0" err="1">
                <a:solidFill>
                  <a:schemeClr val="tx1"/>
                </a:solidFill>
              </a:rPr>
              <a:t>Це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елементи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моделі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які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мають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властивості</a:t>
            </a:r>
            <a:r>
              <a:rPr lang="ru-RU" b="1" dirty="0">
                <a:solidFill>
                  <a:schemeClr val="tx1"/>
                </a:solidFill>
              </a:rPr>
              <a:t> та </a:t>
            </a:r>
            <a:r>
              <a:rPr lang="ru-RU" b="1" dirty="0" err="1">
                <a:solidFill>
                  <a:schemeClr val="tx1"/>
                </a:solidFill>
              </a:rPr>
              <a:t>методи</a:t>
            </a:r>
            <a:r>
              <a:rPr lang="ru-RU" b="1" dirty="0">
                <a:solidFill>
                  <a:schemeClr val="tx1"/>
                </a:solidFill>
              </a:rPr>
              <a:t>, </a:t>
            </a:r>
            <a:r>
              <a:rPr lang="ru-RU" b="1" dirty="0" err="1">
                <a:solidFill>
                  <a:schemeClr val="tx1"/>
                </a:solidFill>
              </a:rPr>
              <a:t>якими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можна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керувати</a:t>
            </a:r>
            <a:r>
              <a:rPr lang="ru-RU" b="1" dirty="0">
                <a:solidFill>
                  <a:schemeClr val="tx1"/>
                </a:solidFill>
              </a:rPr>
              <a:t> за </a:t>
            </a:r>
            <a:r>
              <a:rPr lang="ru-RU" b="1" dirty="0" err="1">
                <a:solidFill>
                  <a:schemeClr val="tx1"/>
                </a:solidFill>
              </a:rPr>
              <a:t>допомогою</a:t>
            </a:r>
            <a:r>
              <a:rPr lang="ru-RU" b="1" dirty="0">
                <a:solidFill>
                  <a:schemeClr val="tx1"/>
                </a:solidFill>
              </a:rPr>
              <a:t> JavaScript</a:t>
            </a:r>
            <a:endParaRPr lang="en-US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 err="1">
                <a:solidFill>
                  <a:schemeClr val="tx1"/>
                </a:solidFill>
              </a:rPr>
              <a:t>Такі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елементи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називають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вузлами</a:t>
            </a:r>
            <a:r>
              <a:rPr lang="ru-RU" b="1" dirty="0">
                <a:solidFill>
                  <a:schemeClr val="tx1"/>
                </a:solidFill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&lt;body&gt;, &lt;p&gt;, &lt;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ul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&gt;</a:t>
            </a:r>
            <a:r>
              <a:rPr lang="ru-RU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и т.д. – </a:t>
            </a:r>
            <a:r>
              <a:rPr lang="ru-RU" b="1" dirty="0" err="1">
                <a:solidFill>
                  <a:schemeClr val="tx1"/>
                </a:solidFill>
              </a:rPr>
              <a:t>це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звли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елементи</a:t>
            </a:r>
            <a:r>
              <a:rPr lang="ru-RU" b="1" dirty="0">
                <a:solidFill>
                  <a:schemeClr val="tx1"/>
                </a:solidFill>
              </a:rPr>
              <a:t> з добре</a:t>
            </a:r>
          </a:p>
          <a:p>
            <a:r>
              <a:rPr lang="ru-RU" b="1" dirty="0">
                <a:solidFill>
                  <a:schemeClr val="tx1"/>
                </a:solidFill>
              </a:rPr>
              <a:t>  строится HTML </a:t>
            </a:r>
            <a:r>
              <a:rPr lang="ru-RU" b="1" dirty="0" err="1">
                <a:solidFill>
                  <a:schemeClr val="tx1"/>
                </a:solidFill>
              </a:rPr>
              <a:t>сторінка</a:t>
            </a:r>
            <a:r>
              <a:rPr lang="ru-RU" b="1" dirty="0">
                <a:solidFill>
                  <a:schemeClr val="tx1"/>
                </a:solidFill>
              </a:rPr>
              <a:t> – </a:t>
            </a:r>
            <a:r>
              <a:rPr lang="ru-RU" b="1" dirty="0" err="1">
                <a:solidFill>
                  <a:schemeClr val="tx1"/>
                </a:solidFill>
              </a:rPr>
              <a:t>це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теж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вузли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ru-RU" b="1" dirty="0" err="1">
                <a:solidFill>
                  <a:schemeClr val="tx1"/>
                </a:solidFill>
              </a:rPr>
              <a:t>Елементи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вузла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можуть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містити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інші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вузли</a:t>
            </a:r>
            <a:r>
              <a:rPr lang="ru-RU" b="1" dirty="0">
                <a:solidFill>
                  <a:schemeClr val="tx1"/>
                </a:solidFill>
              </a:rPr>
              <a:t>, і </a:t>
            </a:r>
            <a:r>
              <a:rPr lang="ru-RU" b="1" dirty="0" err="1">
                <a:solidFill>
                  <a:schemeClr val="tx1"/>
                </a:solidFill>
              </a:rPr>
              <a:t>між</a:t>
            </a:r>
            <a:r>
              <a:rPr lang="ru-RU" b="1" dirty="0">
                <a:solidFill>
                  <a:schemeClr val="tx1"/>
                </a:solidFill>
              </a:rPr>
              <a:t> ними </a:t>
            </a:r>
            <a:r>
              <a:rPr lang="ru-RU" b="1" dirty="0" err="1">
                <a:solidFill>
                  <a:schemeClr val="tx1"/>
                </a:solidFill>
              </a:rPr>
              <a:t>існують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пов’язані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зв’язки</a:t>
            </a:r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– </a:t>
            </a:r>
            <a:r>
              <a:rPr lang="en-US" b="1" dirty="0">
                <a:solidFill>
                  <a:schemeClr val="tx1"/>
                </a:solidFill>
              </a:rPr>
              <a:t>parent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- child </a:t>
            </a:r>
          </a:p>
          <a:p>
            <a:r>
              <a:rPr lang="en-US" b="1" dirty="0">
                <a:solidFill>
                  <a:schemeClr val="tx1"/>
                </a:solidFill>
              </a:rPr>
              <a:t> - sibling</a:t>
            </a:r>
            <a:endParaRPr lang="ru-R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967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2880320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000" b="1" dirty="0"/>
              <a:t>Document</a:t>
            </a:r>
            <a:endParaRPr lang="ru-RU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548680"/>
            <a:ext cx="5112568" cy="369332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FF0000"/>
                </a:solidFill>
              </a:rPr>
              <a:t>Document</a:t>
            </a:r>
            <a:r>
              <a:rPr lang="en-US" dirty="0"/>
              <a:t> – </a:t>
            </a:r>
            <a:r>
              <a:rPr lang="uk-UA" dirty="0"/>
              <a:t>це</a:t>
            </a:r>
            <a:r>
              <a:rPr lang="ru-RU" dirty="0"/>
              <a:t> </a:t>
            </a:r>
            <a:r>
              <a:rPr lang="en-US" dirty="0"/>
              <a:t>web-</a:t>
            </a:r>
            <a:r>
              <a:rPr lang="ru-RU" dirty="0" err="1"/>
              <a:t>сторінка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5003884"/>
            <a:ext cx="8928992" cy="369332"/>
          </a:xfrm>
          <a:prstGeom prst="rect">
            <a:avLst/>
          </a:prstGeom>
          <a:solidFill>
            <a:schemeClr val="accent1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FF0000"/>
                </a:solidFill>
              </a:rPr>
              <a:t>Model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побудова</a:t>
            </a:r>
            <a:r>
              <a:rPr lang="ru-RU" dirty="0"/>
              <a:t> </a:t>
            </a:r>
            <a:r>
              <a:rPr lang="ru-RU" dirty="0" err="1"/>
              <a:t>об’єктів</a:t>
            </a:r>
            <a:r>
              <a:rPr lang="ru-RU" dirty="0"/>
              <a:t> на </a:t>
            </a:r>
            <a:r>
              <a:rPr lang="ru-RU" dirty="0" err="1"/>
              <a:t>сторінці</a:t>
            </a:r>
            <a:r>
              <a:rPr lang="ru-RU" dirty="0"/>
              <a:t> (</a:t>
            </a:r>
            <a:r>
              <a:rPr lang="en-US" dirty="0"/>
              <a:t>tree elements</a:t>
            </a:r>
            <a:r>
              <a:rPr lang="ru-RU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115452"/>
            <a:ext cx="5328592" cy="369332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FF0000"/>
                </a:solidFill>
              </a:rPr>
              <a:t>Object</a:t>
            </a:r>
            <a:r>
              <a:rPr lang="en-US" dirty="0"/>
              <a:t>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сторінки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7504" y="1475492"/>
            <a:ext cx="5328592" cy="3416320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it-IT" dirty="0"/>
          </a:p>
          <a:p>
            <a:r>
              <a:rPr lang="it-IT" dirty="0"/>
              <a:t> &lt;ul id="results"&gt;&lt;/ul&gt;</a:t>
            </a:r>
          </a:p>
          <a:p>
            <a:endParaRPr lang="ru-RU" dirty="0"/>
          </a:p>
          <a:p>
            <a:r>
              <a:rPr lang="it-IT" dirty="0"/>
              <a:t> &lt;div id="wrap"&gt;</a:t>
            </a:r>
          </a:p>
          <a:p>
            <a:endParaRPr lang="ru-RU" dirty="0"/>
          </a:p>
          <a:p>
            <a:r>
              <a:rPr lang="it-IT" dirty="0"/>
              <a:t>    &lt;ul&gt;</a:t>
            </a:r>
          </a:p>
          <a:p>
            <a:r>
              <a:rPr lang="it-IT" dirty="0"/>
              <a:t>       &lt;li&gt;&lt;a href="#"&gt;First&lt;/a&gt;&lt;/li&gt;</a:t>
            </a:r>
          </a:p>
          <a:p>
            <a:r>
              <a:rPr lang="it-IT" dirty="0"/>
              <a:t>       &lt;li&gt;&lt;a href="#"&gt;Two&lt;/a&gt;&lt;/li&gt;</a:t>
            </a:r>
          </a:p>
          <a:p>
            <a:r>
              <a:rPr lang="it-IT" dirty="0"/>
              <a:t>       &lt;li&gt;&lt;a href="#"&gt;Three&lt;/a&gt;&lt;/li&gt;</a:t>
            </a:r>
          </a:p>
          <a:p>
            <a:r>
              <a:rPr lang="it-IT" dirty="0"/>
              <a:t>    &lt;/ul&gt; </a:t>
            </a:r>
          </a:p>
          <a:p>
            <a:endParaRPr lang="ru-RU" dirty="0"/>
          </a:p>
          <a:p>
            <a:r>
              <a:rPr lang="en-US" dirty="0"/>
              <a:t> &lt;/div&gt;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99580" y="1754344"/>
            <a:ext cx="3240360" cy="360040"/>
          </a:xfrm>
          <a:prstGeom prst="roundRect">
            <a:avLst/>
          </a:prstGeom>
          <a:noFill/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83568" y="2852936"/>
            <a:ext cx="4536504" cy="1512168"/>
          </a:xfrm>
          <a:prstGeom prst="roundRect">
            <a:avLst/>
          </a:prstGeom>
          <a:noFill/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51048" y="2276872"/>
            <a:ext cx="5184576" cy="2520280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39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9" y="2708920"/>
            <a:ext cx="7744437" cy="403244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983" y="44624"/>
            <a:ext cx="4121993" cy="369332"/>
          </a:xfrm>
          <a:prstGeom prst="rect">
            <a:avLst/>
          </a:prstGeom>
          <a:solidFill>
            <a:schemeClr val="accent1">
              <a:alpha val="11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DOM – document object model</a:t>
            </a:r>
            <a:endParaRPr lang="ru-R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148064" y="58716"/>
            <a:ext cx="3965710" cy="3416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</a:t>
            </a:r>
            <a:r>
              <a:rPr lang="ru-RU" dirty="0"/>
              <a:t> </a:t>
            </a:r>
            <a:r>
              <a:rPr lang="en-US" dirty="0"/>
              <a:t> &lt;title&gt;</a:t>
            </a:r>
            <a:r>
              <a:rPr lang="en-US" dirty="0">
                <a:solidFill>
                  <a:srgbClr val="FF0000"/>
                </a:solidFill>
              </a:rPr>
              <a:t>Title</a:t>
            </a:r>
            <a:r>
              <a:rPr lang="ru-RU" dirty="0"/>
              <a:t>&lt;/</a:t>
            </a:r>
            <a:r>
              <a:rPr lang="en-US" dirty="0"/>
              <a:t>title&gt;</a:t>
            </a:r>
          </a:p>
          <a:p>
            <a:r>
              <a:rPr lang="en-US" dirty="0"/>
              <a:t>    &lt;/head&gt;</a:t>
            </a:r>
          </a:p>
          <a:p>
            <a:r>
              <a:rPr lang="en-US" b="1" dirty="0"/>
              <a:t>    &lt;body&gt;</a:t>
            </a:r>
            <a:endParaRPr lang="ru-RU" b="1" dirty="0"/>
          </a:p>
          <a:p>
            <a:r>
              <a:rPr lang="ru-RU" dirty="0">
                <a:solidFill>
                  <a:srgbClr val="FF000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Hello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en-US" dirty="0"/>
              <a:t>       </a:t>
            </a:r>
            <a:r>
              <a:rPr lang="ru-RU" dirty="0"/>
              <a:t>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r>
              <a:rPr lang="ru-RU" dirty="0"/>
              <a:t>	</a:t>
            </a:r>
            <a:r>
              <a:rPr lang="en-US" dirty="0"/>
              <a:t>    </a:t>
            </a:r>
            <a:r>
              <a:rPr lang="en-US" b="1" dirty="0"/>
              <a:t>&lt;li&gt;</a:t>
            </a:r>
            <a:r>
              <a:rPr lang="en-US" b="1" dirty="0">
                <a:solidFill>
                  <a:srgbClr val="FF0000"/>
                </a:solidFill>
              </a:rPr>
              <a:t>First</a:t>
            </a:r>
            <a:r>
              <a:rPr lang="ru-RU" b="1" dirty="0"/>
              <a:t>&lt;/</a:t>
            </a:r>
            <a:r>
              <a:rPr lang="en-US" b="1" dirty="0"/>
              <a:t>li&gt;</a:t>
            </a:r>
          </a:p>
          <a:p>
            <a:r>
              <a:rPr lang="en-US" b="1" dirty="0"/>
              <a:t>           &lt;li&gt;</a:t>
            </a:r>
            <a:r>
              <a:rPr lang="en-US" b="1" dirty="0">
                <a:solidFill>
                  <a:srgbClr val="FF0000"/>
                </a:solidFill>
              </a:rPr>
              <a:t>Second</a:t>
            </a:r>
            <a:r>
              <a:rPr lang="ru-RU" b="1" dirty="0"/>
              <a:t>&lt;/</a:t>
            </a:r>
            <a:r>
              <a:rPr lang="en-US" b="1" dirty="0"/>
              <a:t>li&gt;</a:t>
            </a:r>
          </a:p>
          <a:p>
            <a:r>
              <a:rPr lang="en-US" dirty="0"/>
              <a:t>       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r>
              <a:rPr lang="en-US" dirty="0"/>
              <a:t>    </a:t>
            </a:r>
            <a:r>
              <a:rPr lang="en-US" b="1" dirty="0"/>
              <a:t>&lt;/body&gt;</a:t>
            </a:r>
          </a:p>
          <a:p>
            <a:r>
              <a:rPr lang="en-US" b="1" dirty="0"/>
              <a:t>&lt;/html&gt;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5496" y="476672"/>
            <a:ext cx="5040560" cy="1077218"/>
          </a:xfrm>
          <a:prstGeom prst="rect">
            <a:avLst/>
          </a:prstGeom>
          <a:solidFill>
            <a:srgbClr val="FFFF00">
              <a:alpha val="13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b="1" u="sng" dirty="0" err="1">
                <a:solidFill>
                  <a:srgbClr val="C00000"/>
                </a:solidFill>
              </a:rPr>
              <a:t>Відносини</a:t>
            </a:r>
            <a:r>
              <a:rPr lang="ru-RU" sz="1600" b="1" u="sng" dirty="0">
                <a:solidFill>
                  <a:srgbClr val="C00000"/>
                </a:solidFill>
              </a:rPr>
              <a:t> </a:t>
            </a:r>
            <a:r>
              <a:rPr lang="ru-RU" sz="1600" b="1" u="sng" dirty="0" err="1">
                <a:solidFill>
                  <a:srgbClr val="C00000"/>
                </a:solidFill>
              </a:rPr>
              <a:t>між</a:t>
            </a:r>
            <a:r>
              <a:rPr lang="ru-RU" sz="1600" b="1" u="sng" dirty="0">
                <a:solidFill>
                  <a:srgbClr val="C00000"/>
                </a:solidFill>
              </a:rPr>
              <a:t> </a:t>
            </a:r>
            <a:r>
              <a:rPr lang="en-US" sz="1600" b="1" u="sng" dirty="0">
                <a:solidFill>
                  <a:srgbClr val="C00000"/>
                </a:solidFill>
              </a:rPr>
              <a:t>nodes</a:t>
            </a:r>
            <a:endParaRPr lang="ru-RU" sz="1600" b="1" u="sng" dirty="0">
              <a:solidFill>
                <a:srgbClr val="C00000"/>
              </a:solidFill>
            </a:endParaRPr>
          </a:p>
          <a:p>
            <a:r>
              <a:rPr lang="en-US" sz="1600" b="1" dirty="0"/>
              <a:t>parent - child</a:t>
            </a:r>
            <a:endParaRPr lang="ru-RU" sz="1600" b="1" dirty="0"/>
          </a:p>
          <a:p>
            <a:r>
              <a:rPr lang="en-US" sz="1600" b="1" dirty="0"/>
              <a:t>ancestor - descendant</a:t>
            </a:r>
            <a:endParaRPr lang="ru-RU" sz="1600" b="1" dirty="0"/>
          </a:p>
          <a:p>
            <a:r>
              <a:rPr lang="en-US" sz="1600" b="1" dirty="0"/>
              <a:t>sibling</a:t>
            </a:r>
            <a:endParaRPr lang="ru-RU" sz="1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496" y="1628800"/>
            <a:ext cx="4968552" cy="923330"/>
          </a:xfrm>
          <a:prstGeom prst="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ancestor ['</a:t>
            </a:r>
            <a:r>
              <a:rPr lang="en-US" b="1" dirty="0" err="1"/>
              <a:t>ænsestə</a:t>
            </a:r>
            <a:r>
              <a:rPr lang="en-US" b="1" dirty="0"/>
              <a:t>] (parent)</a:t>
            </a:r>
          </a:p>
          <a:p>
            <a:r>
              <a:rPr lang="en-US" b="1" dirty="0"/>
              <a:t>descendant [</a:t>
            </a:r>
            <a:r>
              <a:rPr lang="en-US" b="1" dirty="0" err="1"/>
              <a:t>di'sendənt</a:t>
            </a:r>
            <a:r>
              <a:rPr lang="en-US" b="1" dirty="0"/>
              <a:t>] (child)</a:t>
            </a:r>
          </a:p>
          <a:p>
            <a:r>
              <a:rPr lang="en-US" b="1" dirty="0"/>
              <a:t>sibling</a:t>
            </a:r>
            <a:r>
              <a:rPr lang="en-US" dirty="0"/>
              <a:t> </a:t>
            </a:r>
            <a:r>
              <a:rPr lang="en-US" b="1" dirty="0"/>
              <a:t>[′</a:t>
            </a:r>
            <a:r>
              <a:rPr lang="en-US" b="1" dirty="0" err="1"/>
              <a:t>sibliŋ</a:t>
            </a:r>
            <a:r>
              <a:rPr lang="en-US" b="1" dirty="0"/>
              <a:t>]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13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476672"/>
            <a:ext cx="8856984" cy="40011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&lt;</a:t>
            </a:r>
            <a:r>
              <a:rPr lang="ru-RU" sz="2000" b="1" dirty="0">
                <a:solidFill>
                  <a:schemeClr val="tx1"/>
                </a:solidFill>
              </a:rPr>
              <a:t>а </a:t>
            </a:r>
            <a:r>
              <a:rPr lang="en-US" sz="2000" b="1" dirty="0" err="1">
                <a:solidFill>
                  <a:srgbClr val="0070C0"/>
                </a:solidFill>
              </a:rPr>
              <a:t>href</a:t>
            </a:r>
            <a:r>
              <a:rPr lang="en-US" sz="2000" b="1" dirty="0">
                <a:solidFill>
                  <a:srgbClr val="0070C0"/>
                </a:solidFill>
              </a:rPr>
              <a:t>="google.com"</a:t>
            </a:r>
            <a:r>
              <a:rPr lang="en-US" sz="2000" b="1" dirty="0">
                <a:solidFill>
                  <a:srgbClr val="00B050"/>
                </a:solidFill>
              </a:rPr>
              <a:t> target="_blank"</a:t>
            </a:r>
            <a:r>
              <a:rPr lang="en-US" sz="2000" b="1" dirty="0">
                <a:solidFill>
                  <a:schemeClr val="tx1"/>
                </a:solidFill>
              </a:rPr>
              <a:t>&gt;text&lt;/a&gt; 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4067780"/>
            <a:ext cx="8784976" cy="923330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en-US" dirty="0"/>
              <a:t>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attributes (</a:t>
            </a:r>
            <a:r>
              <a:rPr lang="en-US" dirty="0" err="1"/>
              <a:t>href</a:t>
            </a:r>
            <a:r>
              <a:rPr lang="en-US" dirty="0"/>
              <a:t>, target)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node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771800" y="44624"/>
            <a:ext cx="314861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ru-RU" b="1" dirty="0" err="1"/>
              <a:t>Атрібут</a:t>
            </a:r>
            <a:r>
              <a:rPr lang="uk-UA" b="1" dirty="0"/>
              <a:t>и</a:t>
            </a:r>
            <a:r>
              <a:rPr lang="ru-RU" b="1" dirty="0"/>
              <a:t> </a:t>
            </a:r>
            <a:r>
              <a:rPr lang="ru-RU" b="1" dirty="0" err="1"/>
              <a:t>елементів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07504" y="1052736"/>
            <a:ext cx="8856984" cy="187220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635896" y="1124744"/>
            <a:ext cx="1368152" cy="5760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1"/>
                </a:solidFill>
              </a:rPr>
              <a:t>а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1115616" y="2204864"/>
            <a:ext cx="1368152" cy="5760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href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366336" y="2204864"/>
            <a:ext cx="1944216" cy="5760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target</a:t>
            </a:r>
            <a:endParaRPr lang="ru-RU" sz="2000" b="1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012160" y="2204864"/>
            <a:ext cx="2543436" cy="5760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text</a:t>
            </a:r>
            <a:endParaRPr lang="ru-RU" sz="2400" b="1" dirty="0">
              <a:solidFill>
                <a:schemeClr val="tx1"/>
              </a:solidFill>
            </a:endParaRPr>
          </a:p>
        </p:txBody>
      </p:sp>
      <p:cxnSp>
        <p:nvCxnSpPr>
          <p:cNvPr id="15" name="Прямая соединительная линия 14"/>
          <p:cNvCxnSpPr>
            <a:stCxn id="10" idx="2"/>
            <a:endCxn id="17" idx="0"/>
          </p:cNvCxnSpPr>
          <p:nvPr/>
        </p:nvCxnSpPr>
        <p:spPr>
          <a:xfrm flipH="1">
            <a:off x="1799692" y="1700808"/>
            <a:ext cx="2520280" cy="50405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2"/>
            <a:endCxn id="19" idx="0"/>
          </p:cNvCxnSpPr>
          <p:nvPr/>
        </p:nvCxnSpPr>
        <p:spPr>
          <a:xfrm>
            <a:off x="4319972" y="1700808"/>
            <a:ext cx="2963906" cy="50405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10" idx="2"/>
            <a:endCxn id="18" idx="0"/>
          </p:cNvCxnSpPr>
          <p:nvPr/>
        </p:nvCxnSpPr>
        <p:spPr>
          <a:xfrm>
            <a:off x="4319972" y="1700808"/>
            <a:ext cx="18472" cy="50405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H="1" flipV="1">
            <a:off x="4149085" y="2799649"/>
            <a:ext cx="278899" cy="134943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 flipV="1">
            <a:off x="1799692" y="2826293"/>
            <a:ext cx="2628292" cy="132278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6523035" y="2826293"/>
            <a:ext cx="641253" cy="13227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73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496" y="101615"/>
            <a:ext cx="4608512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Типи </a:t>
            </a:r>
            <a:r>
              <a:rPr lang="en-US" sz="2000" b="1" dirty="0"/>
              <a:t>node (</a:t>
            </a:r>
            <a:r>
              <a:rPr lang="ru-RU" sz="2000" b="1" dirty="0"/>
              <a:t>свойство </a:t>
            </a:r>
            <a:r>
              <a:rPr lang="en-US" sz="2000" b="1" dirty="0" err="1">
                <a:solidFill>
                  <a:schemeClr val="accent2"/>
                </a:solidFill>
              </a:rPr>
              <a:t>nodeType</a:t>
            </a:r>
            <a:r>
              <a:rPr lang="en-US" sz="2000" b="1" dirty="0"/>
              <a:t>)</a:t>
            </a:r>
            <a:endParaRPr lang="ru-RU" sz="2000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518061"/>
              </p:ext>
            </p:extLst>
          </p:nvPr>
        </p:nvGraphicFramePr>
        <p:xfrm>
          <a:off x="4940586" y="93725"/>
          <a:ext cx="40505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Node.</a:t>
                      </a: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ELEMENT_NODE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Node.</a:t>
                      </a: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ATTRIBUTE_NODE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Node.</a:t>
                      </a:r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TEXT_NODE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Node.COMMENT_NODE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Node.DOCUMENT_NODE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Node.DOCUMENT_TYPE_NODE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1E1469-615B-1FC1-F09A-5C5DC633A324}"/>
              </a:ext>
            </a:extLst>
          </p:cNvPr>
          <p:cNvSpPr txBox="1"/>
          <p:nvPr/>
        </p:nvSpPr>
        <p:spPr>
          <a:xfrm>
            <a:off x="107504" y="2780208"/>
            <a:ext cx="8928992" cy="25853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chemeClr val="accent2"/>
                </a:solidFill>
              </a:rPr>
              <a:t>Для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ru-RU" dirty="0">
                <a:solidFill>
                  <a:schemeClr val="accent2"/>
                </a:solidFill>
              </a:rPr>
              <a:t>элемент</a:t>
            </a:r>
            <a:r>
              <a:rPr lang="uk-UA" dirty="0" err="1">
                <a:solidFill>
                  <a:schemeClr val="accent2"/>
                </a:solidFill>
              </a:rPr>
              <a:t>ів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(</a:t>
            </a:r>
            <a:r>
              <a:rPr lang="ru-RU" dirty="0" err="1"/>
              <a:t>тобто</a:t>
            </a:r>
            <a:r>
              <a:rPr lang="ru-RU" dirty="0"/>
              <a:t> для </a:t>
            </a:r>
            <a:r>
              <a:rPr lang="en-US" dirty="0" err="1">
                <a:solidFill>
                  <a:srgbClr val="0070C0"/>
                </a:solidFill>
              </a:rPr>
              <a:t>Node.ELEMENT_NODE</a:t>
            </a:r>
            <a:r>
              <a:rPr lang="ru-RU" dirty="0"/>
              <a:t>)</a:t>
            </a:r>
          </a:p>
          <a:p>
            <a:pPr lvl="1"/>
            <a:r>
              <a:rPr lang="en-US" b="1" dirty="0" err="1">
                <a:solidFill>
                  <a:srgbClr val="7030A0"/>
                </a:solidFill>
              </a:rPr>
              <a:t>nodeName</a:t>
            </a:r>
            <a:r>
              <a:rPr lang="ru-RU" b="1" dirty="0"/>
              <a:t> </a:t>
            </a:r>
            <a:r>
              <a:rPr lang="ru-RU" b="1" dirty="0" err="1"/>
              <a:t>завжди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/>
              <a:t>назву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endParaRPr lang="ru-RU" b="1" dirty="0"/>
          </a:p>
          <a:p>
            <a:pPr lvl="1"/>
            <a:r>
              <a:rPr lang="en-US" b="1" dirty="0" err="1">
                <a:solidFill>
                  <a:srgbClr val="7030A0"/>
                </a:solidFill>
              </a:rPr>
              <a:t>nodeValue</a:t>
            </a:r>
            <a:r>
              <a:rPr lang="en-US" b="1" dirty="0"/>
              <a:t> </a:t>
            </a:r>
            <a:r>
              <a:rPr lang="ru-RU" b="1" dirty="0" err="1"/>
              <a:t>завжди</a:t>
            </a:r>
            <a:r>
              <a:rPr lang="ru-RU" b="1" dirty="0"/>
              <a:t> </a:t>
            </a:r>
            <a:r>
              <a:rPr lang="en-US" b="1" dirty="0"/>
              <a:t>null.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attributes</a:t>
            </a:r>
            <a:r>
              <a:rPr lang="en-US" b="1" dirty="0"/>
              <a:t> - </a:t>
            </a:r>
            <a:r>
              <a:rPr lang="ru-RU" b="1" dirty="0"/>
              <a:t> </a:t>
            </a:r>
            <a:r>
              <a:rPr lang="ru-RU" b="1" dirty="0" err="1"/>
              <a:t>масив</a:t>
            </a:r>
            <a:r>
              <a:rPr lang="ru-RU" b="1" dirty="0"/>
              <a:t> </a:t>
            </a:r>
            <a:r>
              <a:rPr lang="ru-RU" b="1" dirty="0" err="1"/>
              <a:t>атрибутів</a:t>
            </a:r>
            <a:r>
              <a:rPr lang="en-US" b="1" dirty="0"/>
              <a:t> </a:t>
            </a:r>
            <a:endParaRPr lang="ru-RU" b="1" dirty="0"/>
          </a:p>
          <a:p>
            <a:pPr lvl="1"/>
            <a:r>
              <a:rPr lang="en-US" b="1" dirty="0" err="1">
                <a:solidFill>
                  <a:srgbClr val="7030A0"/>
                </a:solidFill>
              </a:rPr>
              <a:t>nodeType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/>
              <a:t>– </a:t>
            </a:r>
            <a:r>
              <a:rPr lang="ru-RU" b="1" dirty="0"/>
              <a:t>тип </a:t>
            </a:r>
            <a:r>
              <a:rPr lang="en-US" b="1" dirty="0"/>
              <a:t>node</a:t>
            </a:r>
            <a:endParaRPr lang="ru-RU" b="1" dirty="0"/>
          </a:p>
          <a:p>
            <a:endParaRPr lang="en-US" dirty="0"/>
          </a:p>
          <a:p>
            <a:r>
              <a:rPr lang="ru-RU" dirty="0">
                <a:solidFill>
                  <a:schemeClr val="accent2"/>
                </a:solidFill>
              </a:rPr>
              <a:t>А для </a:t>
            </a:r>
            <a:r>
              <a:rPr lang="en-US" dirty="0">
                <a:solidFill>
                  <a:schemeClr val="accent2"/>
                </a:solidFill>
              </a:rPr>
              <a:t>text node</a:t>
            </a:r>
            <a:r>
              <a:rPr lang="ru-RU" dirty="0">
                <a:solidFill>
                  <a:schemeClr val="accent2"/>
                </a:solidFill>
              </a:rPr>
              <a:t> </a:t>
            </a:r>
          </a:p>
          <a:p>
            <a:r>
              <a:rPr lang="en-US" dirty="0">
                <a:solidFill>
                  <a:srgbClr val="7030A0"/>
                </a:solidFill>
              </a:rPr>
              <a:t>    </a:t>
            </a:r>
            <a:r>
              <a:rPr lang="en-US" dirty="0" err="1">
                <a:solidFill>
                  <a:srgbClr val="7030A0"/>
                </a:solidFill>
              </a:rPr>
              <a:t>nodeName</a:t>
            </a:r>
            <a:r>
              <a:rPr lang="ru-RU" dirty="0"/>
              <a:t> </a:t>
            </a:r>
            <a:r>
              <a:rPr lang="ru-RU" b="1" dirty="0" err="1"/>
              <a:t>завжди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en-US" dirty="0"/>
              <a:t> </a:t>
            </a:r>
            <a:r>
              <a:rPr lang="ru-RU" dirty="0" err="1"/>
              <a:t>значен</a:t>
            </a:r>
            <a:r>
              <a:rPr lang="uk-UA" dirty="0"/>
              <a:t>ня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#text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    </a:t>
            </a:r>
            <a:r>
              <a:rPr lang="en-US" dirty="0" err="1">
                <a:solidFill>
                  <a:srgbClr val="7030A0"/>
                </a:solidFill>
              </a:rPr>
              <a:t>nodeValue</a:t>
            </a:r>
            <a:r>
              <a:rPr lang="en-US" dirty="0"/>
              <a:t> 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сам тек</a:t>
            </a:r>
            <a:r>
              <a:rPr lang="en-US" dirty="0"/>
              <a:t>c</a:t>
            </a:r>
            <a:r>
              <a:rPr lang="ru-RU" dirty="0"/>
              <a:t>т, та </a:t>
            </a:r>
            <a:r>
              <a:rPr lang="ru-RU" dirty="0" err="1"/>
              <a:t>його</a:t>
            </a:r>
            <a:r>
              <a:rPr lang="ru-RU" dirty="0"/>
              <a:t> можно </a:t>
            </a:r>
            <a:r>
              <a:rPr lang="ru-RU" dirty="0" err="1"/>
              <a:t>змінювати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62311-CD76-D784-596B-D7839E408EF6}"/>
              </a:ext>
            </a:extLst>
          </p:cNvPr>
          <p:cNvSpPr txBox="1"/>
          <p:nvPr/>
        </p:nvSpPr>
        <p:spPr>
          <a:xfrm>
            <a:off x="107504" y="6021288"/>
            <a:ext cx="8928992" cy="369332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child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nodes</a:t>
            </a:r>
            <a:r>
              <a:rPr lang="ru-RU" dirty="0"/>
              <a:t> </a:t>
            </a:r>
            <a:r>
              <a:rPr lang="ru-RU" dirty="0" err="1"/>
              <a:t>вибраного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DFFD6B5-B7AA-E84B-8C9E-F5D7E21E5AAE}"/>
              </a:ext>
            </a:extLst>
          </p:cNvPr>
          <p:cNvSpPr txBox="1">
            <a:spLocks/>
          </p:cNvSpPr>
          <p:nvPr/>
        </p:nvSpPr>
        <p:spPr>
          <a:xfrm>
            <a:off x="2123728" y="5456134"/>
            <a:ext cx="4464496" cy="360040"/>
          </a:xfrm>
          <a:prstGeom prst="rect">
            <a:avLst/>
          </a:prstGeom>
          <a:ln w="25400" cap="flat" cmpd="sng" algn="ctr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Свойство 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childNodes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F67A29A-D4DE-87ED-869C-3F5C253564C8}"/>
              </a:ext>
            </a:extLst>
          </p:cNvPr>
          <p:cNvSpPr txBox="1">
            <a:spLocks/>
          </p:cNvSpPr>
          <p:nvPr/>
        </p:nvSpPr>
        <p:spPr>
          <a:xfrm>
            <a:off x="179512" y="2276872"/>
            <a:ext cx="4464496" cy="360040"/>
          </a:xfrm>
          <a:prstGeom prst="rect">
            <a:avLst/>
          </a:prstGeom>
          <a:ln w="25400" cap="flat" cmpd="sng" algn="ctr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/>
              <a:t>Свойства </a:t>
            </a:r>
            <a:r>
              <a:rPr lang="en-US" sz="2000" b="1"/>
              <a:t> </a:t>
            </a:r>
            <a:r>
              <a:rPr lang="en-US" sz="2000" b="1">
                <a:solidFill>
                  <a:schemeClr val="accent2"/>
                </a:solidFill>
              </a:rPr>
              <a:t>nodeName</a:t>
            </a:r>
            <a:r>
              <a:rPr lang="en-US" sz="2000" b="1"/>
              <a:t> </a:t>
            </a:r>
            <a:r>
              <a:rPr lang="ru-RU" sz="2000" b="1"/>
              <a:t>и </a:t>
            </a:r>
            <a:r>
              <a:rPr lang="en-US" sz="2000" b="1">
                <a:solidFill>
                  <a:schemeClr val="accent2"/>
                </a:solidFill>
              </a:rPr>
              <a:t> nodeValue </a:t>
            </a:r>
            <a:endParaRPr lang="ru-RU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83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39752" y="116632"/>
            <a:ext cx="3888432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000" b="1" dirty="0"/>
              <a:t>Moving</a:t>
            </a:r>
            <a:r>
              <a:rPr lang="ru-RU" sz="2000" b="1" dirty="0"/>
              <a:t> </a:t>
            </a:r>
            <a:r>
              <a:rPr lang="en-US" sz="2000" b="1" dirty="0"/>
              <a:t>through</a:t>
            </a:r>
            <a:r>
              <a:rPr lang="ru-RU" sz="2000" b="1" dirty="0"/>
              <a:t> </a:t>
            </a:r>
            <a:r>
              <a:rPr lang="en-US" sz="2000" b="1" dirty="0"/>
              <a:t>DOM</a:t>
            </a:r>
            <a:endParaRPr lang="ru-RU" sz="2000" b="1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036312"/>
              </p:ext>
            </p:extLst>
          </p:nvPr>
        </p:nvGraphicFramePr>
        <p:xfrm>
          <a:off x="107504" y="692696"/>
          <a:ext cx="8856984" cy="461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childNodes</a:t>
                      </a:r>
                      <a:endParaRPr lang="ru-RU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масив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усіх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дочірніх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вузлів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firstChild</a:t>
                      </a:r>
                      <a:endParaRPr lang="ru-RU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перший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chid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nodes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lastChild</a:t>
                      </a:r>
                      <a:endParaRPr lang="ru-RU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останній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chid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nodes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nextSibling</a:t>
                      </a:r>
                      <a:endParaRPr lang="ru-RU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наступний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node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розташований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на тому ж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рівні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що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й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поточний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previousSibling</a:t>
                      </a:r>
                      <a:endParaRPr lang="ru-RU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попередній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node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розташований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на тому ж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рівні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що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й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поточний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parentNode</a:t>
                      </a:r>
                      <a:endParaRPr lang="ru-RU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parent node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для поточного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елемента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firstElementChild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перший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chid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node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типу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lastElementChild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останній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chid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node</a:t>
                      </a: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типу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children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колекція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chid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nodes</a:t>
                      </a: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типу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previousElementSibling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попередній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node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типу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2"/>
                          </a:solidFill>
                        </a:rPr>
                        <a:t>nextElementSibling</a:t>
                      </a:r>
                      <a:endParaRPr lang="ru-RU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наступний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node 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типу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</a:rPr>
                        <a:t> 1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504" y="5491039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3"/>
              </a:rPr>
              <a:t>http://goo.gl/pwZOVp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1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Робота з атрибутами </a:t>
            </a:r>
            <a:r>
              <a:rPr lang="ru-RU" sz="2000" b="1" dirty="0" err="1"/>
              <a:t>вузла</a:t>
            </a:r>
            <a:endParaRPr lang="ru-RU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1268760"/>
            <a:ext cx="8928992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getAttrubute</a:t>
            </a:r>
            <a:r>
              <a:rPr lang="en-US" dirty="0"/>
              <a:t>(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 err="1">
                <a:cs typeface="Courier New"/>
              </a:rPr>
              <a:t>attr_name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);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get attribute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setAttrubute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 err="1">
                <a:cs typeface="Courier New"/>
              </a:rPr>
              <a:t>attr_name</a:t>
            </a:r>
            <a:r>
              <a:rPr lang="en-US" dirty="0">
                <a:cs typeface="Courier New"/>
              </a:rPr>
              <a:t>", "</a:t>
            </a:r>
            <a:r>
              <a:rPr lang="en-US" dirty="0" err="1">
                <a:cs typeface="Courier New"/>
              </a:rPr>
              <a:t>attr_value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);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// set attribute</a:t>
            </a:r>
            <a:endParaRPr lang="ru-RU" dirty="0"/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removeAttrubute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 err="1">
                <a:cs typeface="Courier New"/>
              </a:rPr>
              <a:t>attr_name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);</a:t>
            </a:r>
            <a:r>
              <a:rPr lang="ru-RU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delete attribute</a:t>
            </a:r>
            <a:endParaRPr lang="en-US" dirty="0"/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hasAttrubute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 err="1">
                <a:cs typeface="Courier New"/>
              </a:rPr>
              <a:t>attr_name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);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// true/false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102" y="2965467"/>
            <a:ext cx="8928992" cy="2308324"/>
          </a:xfrm>
          <a:prstGeom prst="rect">
            <a:avLst/>
          </a:prstGeom>
          <a:solidFill>
            <a:srgbClr val="00B0F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&lt;div id="</a:t>
            </a:r>
            <a:r>
              <a:rPr lang="en-US" dirty="0" err="1">
                <a:solidFill>
                  <a:schemeClr val="accent2"/>
                </a:solidFill>
              </a:rPr>
              <a:t>abc</a:t>
            </a:r>
            <a:r>
              <a:rPr lang="en-US" dirty="0">
                <a:solidFill>
                  <a:schemeClr val="accent2"/>
                </a:solidFill>
              </a:rPr>
              <a:t>"&gt;&lt;/div&gt;</a:t>
            </a:r>
          </a:p>
          <a:p>
            <a:endParaRPr lang="en-US" dirty="0"/>
          </a:p>
          <a:p>
            <a:r>
              <a:rPr lang="en-US" dirty="0" err="1"/>
              <a:t>var</a:t>
            </a:r>
            <a:r>
              <a:rPr lang="en-US" dirty="0"/>
              <a:t> el = </a:t>
            </a:r>
            <a:r>
              <a:rPr lang="en-US" dirty="0" err="1"/>
              <a:t>document.getElementById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en-US" dirty="0" err="1">
                <a:solidFill>
                  <a:srgbClr val="00B050"/>
                </a:solidFill>
              </a:rPr>
              <a:t>abc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en-US" dirty="0"/>
              <a:t>);</a:t>
            </a:r>
          </a:p>
          <a:p>
            <a:r>
              <a:rPr lang="en-US" dirty="0" err="1"/>
              <a:t>el.</a:t>
            </a:r>
            <a:r>
              <a:rPr lang="en-US" dirty="0" err="1">
                <a:solidFill>
                  <a:srgbClr val="0070C0"/>
                </a:solidFill>
              </a:rPr>
              <a:t>setAttribute</a:t>
            </a:r>
            <a:r>
              <a:rPr lang="en-US" dirty="0"/>
              <a:t>("style", "whidth:300px;border:1px solid red");</a:t>
            </a:r>
            <a:endParaRPr lang="ru-RU" dirty="0"/>
          </a:p>
          <a:p>
            <a:r>
              <a:rPr lang="en-US" dirty="0" err="1"/>
              <a:t>el.</a:t>
            </a:r>
            <a:r>
              <a:rPr lang="en-US" dirty="0" err="1">
                <a:solidFill>
                  <a:srgbClr val="0070C0"/>
                </a:solidFill>
              </a:rPr>
              <a:t>setAttribute</a:t>
            </a:r>
            <a:r>
              <a:rPr lang="en-US" dirty="0"/>
              <a:t>("class", "wrap");</a:t>
            </a:r>
          </a:p>
          <a:p>
            <a:endParaRPr lang="en-US" dirty="0"/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attributes</a:t>
            </a:r>
            <a:r>
              <a:rPr lang="en-US" dirty="0"/>
              <a:t>["class"];  // read attribute</a:t>
            </a: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attributes</a:t>
            </a:r>
            <a:r>
              <a:rPr lang="en-US" dirty="0" err="1"/>
              <a:t>.class</a:t>
            </a:r>
            <a:r>
              <a:rPr lang="en-US" dirty="0"/>
              <a:t>;  </a:t>
            </a:r>
            <a:r>
              <a:rPr lang="ru-RU" dirty="0"/>
              <a:t>   </a:t>
            </a:r>
            <a:r>
              <a:rPr lang="en-US" dirty="0"/>
              <a:t>//  </a:t>
            </a:r>
            <a:r>
              <a:rPr lang="ru-RU" dirty="0"/>
              <a:t> можно так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512" y="5585503"/>
            <a:ext cx="243760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labs/lab_1.html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611396"/>
            <a:ext cx="892899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el</a:t>
            </a:r>
            <a:r>
              <a:rPr lang="en-US" dirty="0" err="1">
                <a:solidFill>
                  <a:schemeClr val="accent2"/>
                </a:solidFill>
              </a:rPr>
              <a:t>.attributes</a:t>
            </a:r>
            <a:r>
              <a:rPr lang="en-US" dirty="0"/>
              <a:t> – </a:t>
            </a:r>
            <a:r>
              <a:rPr lang="ru-RU" dirty="0" err="1"/>
              <a:t>колекція</a:t>
            </a:r>
            <a:r>
              <a:rPr lang="ru-RU" dirty="0"/>
              <a:t> </a:t>
            </a:r>
            <a:r>
              <a:rPr lang="ru-RU" dirty="0" err="1"/>
              <a:t>атрибутів</a:t>
            </a:r>
            <a:r>
              <a:rPr lang="ru-RU" dirty="0"/>
              <a:t> </a:t>
            </a:r>
            <a:r>
              <a:rPr lang="en-US" dirty="0"/>
              <a:t>chosen node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763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91680" y="44624"/>
            <a:ext cx="4464496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Робота з </a:t>
            </a:r>
            <a:r>
              <a:rPr lang="ru-RU" sz="2000" b="1" dirty="0" err="1"/>
              <a:t>класами</a:t>
            </a:r>
            <a:r>
              <a:rPr lang="ru-RU" sz="2000" b="1" dirty="0"/>
              <a:t> </a:t>
            </a:r>
            <a:r>
              <a:rPr lang="ru-RU" sz="2000" b="1" dirty="0" err="1"/>
              <a:t>елементів</a:t>
            </a:r>
            <a:endParaRPr lang="ru-RU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8582" y="861879"/>
            <a:ext cx="8928992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classList.add</a:t>
            </a:r>
            <a:r>
              <a:rPr lang="en-US" dirty="0"/>
              <a:t>(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ru-RU" dirty="0" err="1">
                <a:cs typeface="Courier New"/>
              </a:rPr>
              <a:t>имя_класса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); 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classList.remove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ru-RU" dirty="0" err="1">
                <a:cs typeface="Courier New"/>
              </a:rPr>
              <a:t>имя_класса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); 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classList.toggle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ru-RU" dirty="0" err="1">
                <a:cs typeface="Courier New"/>
              </a:rPr>
              <a:t>имя_класса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); 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classList.length</a:t>
            </a:r>
            <a:r>
              <a:rPr lang="en-US" dirty="0"/>
              <a:t>; </a:t>
            </a:r>
            <a:r>
              <a:rPr lang="ru-RU" dirty="0"/>
              <a:t>             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classList.contains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ru-RU" dirty="0" err="1">
                <a:cs typeface="Courier New"/>
              </a:rPr>
              <a:t>имя_класса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);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102" y="404664"/>
            <a:ext cx="4144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3"/>
              </a:rPr>
              <a:t>http://caniuse.com/classlist</a:t>
            </a:r>
            <a:endParaRPr lang="en-US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482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315894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Робота з атрибутами </a:t>
            </a:r>
            <a:r>
              <a:rPr lang="ru-RU" sz="2000" b="1" dirty="0" err="1"/>
              <a:t>користувача</a:t>
            </a:r>
            <a:r>
              <a:rPr lang="ru-RU" sz="2000" b="1" dirty="0"/>
              <a:t> </a:t>
            </a:r>
            <a:r>
              <a:rPr lang="ru-RU" sz="2000" b="1" dirty="0" err="1"/>
              <a:t>елементів</a:t>
            </a:r>
            <a:endParaRPr lang="ru-RU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8582" y="861879"/>
            <a:ext cx="892899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&lt;div id="el" </a:t>
            </a:r>
            <a:r>
              <a:rPr lang="en-US" dirty="0">
                <a:solidFill>
                  <a:srgbClr val="7030A0"/>
                </a:solidFill>
              </a:rPr>
              <a:t>data-el="</a:t>
            </a:r>
            <a:r>
              <a:rPr lang="en-US" dirty="0" err="1">
                <a:solidFill>
                  <a:srgbClr val="7030A0"/>
                </a:solidFill>
              </a:rPr>
              <a:t>userattr</a:t>
            </a:r>
            <a:r>
              <a:rPr lang="en-US" dirty="0">
                <a:solidFill>
                  <a:srgbClr val="7030A0"/>
                </a:solidFill>
              </a:rPr>
              <a:t>"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data-area="#links"</a:t>
            </a:r>
            <a:r>
              <a:rPr lang="en-US" dirty="0"/>
              <a:t>&gt;test&lt;/div&gt;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36" y="1431752"/>
            <a:ext cx="8928992" cy="25853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let el = </a:t>
            </a:r>
            <a:r>
              <a:rPr lang="en-US" dirty="0" err="1"/>
              <a:t>document.getElementById</a:t>
            </a:r>
            <a:r>
              <a:rPr lang="en-US" dirty="0"/>
              <a:t>("el");</a:t>
            </a:r>
          </a:p>
          <a:p>
            <a:endParaRPr lang="en-US" dirty="0"/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uk-UA" i="1" dirty="0">
                <a:solidFill>
                  <a:schemeClr val="bg1">
                    <a:lumMod val="50000"/>
                  </a:schemeClr>
                </a:solidFill>
              </a:rPr>
              <a:t>получить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атрибуты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dataset.</a:t>
            </a:r>
            <a:r>
              <a:rPr lang="en-US" dirty="0" err="1">
                <a:solidFill>
                  <a:srgbClr val="7030A0"/>
                </a:solidFill>
              </a:rPr>
              <a:t>el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i="1" dirty="0" err="1">
                <a:solidFill>
                  <a:schemeClr val="bg1">
                    <a:lumMod val="75000"/>
                  </a:schemeClr>
                </a:solidFill>
              </a:rPr>
              <a:t>userattr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dataset.</a:t>
            </a:r>
            <a:r>
              <a:rPr lang="en-US" dirty="0" err="1">
                <a:solidFill>
                  <a:srgbClr val="0070C0"/>
                </a:solidFill>
              </a:rPr>
              <a:t>area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// #links</a:t>
            </a:r>
          </a:p>
          <a:p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назначить</a:t>
            </a:r>
            <a:r>
              <a:rPr lang="uk-UA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</a:rPr>
              <a:t>атрибуты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 err="1"/>
              <a:t>el.</a:t>
            </a:r>
            <a:r>
              <a:rPr lang="en-US" dirty="0" err="1">
                <a:solidFill>
                  <a:schemeClr val="accent2"/>
                </a:solidFill>
              </a:rPr>
              <a:t>dataset.</a:t>
            </a:r>
            <a:r>
              <a:rPr lang="en-US" dirty="0" err="1">
                <a:solidFill>
                  <a:srgbClr val="7030A0"/>
                </a:solidFill>
              </a:rPr>
              <a:t>el</a:t>
            </a:r>
            <a:r>
              <a:rPr lang="ru-RU" dirty="0">
                <a:solidFill>
                  <a:srgbClr val="7030A0"/>
                </a:solidFill>
              </a:rPr>
              <a:t> = </a:t>
            </a:r>
            <a:r>
              <a:rPr lang="en-US" dirty="0">
                <a:solidFill>
                  <a:srgbClr val="7030A0"/>
                </a:solidFill>
              </a:rPr>
              <a:t>"</a:t>
            </a:r>
            <a:r>
              <a:rPr lang="en-US" dirty="0" err="1">
                <a:solidFill>
                  <a:srgbClr val="7030A0"/>
                </a:solidFill>
              </a:rPr>
              <a:t>newattr</a:t>
            </a:r>
            <a:r>
              <a:rPr lang="en-US" dirty="0">
                <a:solidFill>
                  <a:srgbClr val="7030A0"/>
                </a:solidFill>
              </a:rPr>
              <a:t>";</a:t>
            </a:r>
            <a:endParaRPr lang="ru-RU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221088"/>
            <a:ext cx="8928992" cy="25853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>
                <a:solidFill>
                  <a:srgbClr val="C00000"/>
                </a:solidFill>
              </a:rPr>
              <a:t>завдання</a:t>
            </a:r>
          </a:p>
          <a:p>
            <a:r>
              <a:rPr lang="uk-UA" dirty="0"/>
              <a:t>У файлі </a:t>
            </a:r>
            <a:r>
              <a:rPr lang="en-US" dirty="0" err="1">
                <a:solidFill>
                  <a:srgbClr val="C00000"/>
                </a:solidFill>
              </a:rPr>
              <a:t>dom</a:t>
            </a:r>
            <a:r>
              <a:rPr lang="en-US" dirty="0">
                <a:solidFill>
                  <a:srgbClr val="C00000"/>
                </a:solidFill>
              </a:rPr>
              <a:t>/index.htm</a:t>
            </a:r>
            <a:r>
              <a:rPr lang="en-US" dirty="0"/>
              <a:t>l </a:t>
            </a:r>
            <a:r>
              <a:rPr lang="uk-UA" dirty="0"/>
              <a:t>у статті 2 є посилання на клас 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open-conten</a:t>
            </a:r>
            <a:r>
              <a:rPr lang="en-US" dirty="0"/>
              <a:t>t. </a:t>
            </a:r>
            <a:r>
              <a:rPr lang="uk-UA" dirty="0"/>
              <a:t>При натисканні на це посилання елементи повинні відкриватися (закриватися).</a:t>
            </a:r>
          </a:p>
          <a:p>
            <a:r>
              <a:rPr lang="uk-UA" dirty="0"/>
              <a:t>- вміст </a:t>
            </a:r>
            <a:r>
              <a:rPr lang="en-US" dirty="0">
                <a:solidFill>
                  <a:srgbClr val="0070C0"/>
                </a:solidFill>
              </a:rPr>
              <a:t>div</a:t>
            </a:r>
            <a:r>
              <a:rPr lang="en-US" dirty="0"/>
              <a:t> c </a:t>
            </a:r>
            <a:r>
              <a:rPr lang="uk-UA" dirty="0"/>
              <a:t>за цим посиланням</a:t>
            </a:r>
          </a:p>
          <a:p>
            <a:pPr marL="285750" indent="-285750">
              <a:buFontTx/>
              <a:buChar char="-"/>
            </a:pPr>
            <a:r>
              <a:rPr lang="uk-UA" dirty="0"/>
              <a:t>елемент з </a:t>
            </a:r>
            <a:r>
              <a:rPr lang="en-US" dirty="0">
                <a:solidFill>
                  <a:srgbClr val="0070C0"/>
                </a:solidFill>
              </a:rPr>
              <a:t>id="hide-text" </a:t>
            </a:r>
            <a:r>
              <a:rPr lang="en-US" dirty="0"/>
              <a:t>(</a:t>
            </a:r>
            <a:r>
              <a:rPr lang="uk-UA" dirty="0"/>
              <a:t>у лівій колонці)</a:t>
            </a:r>
            <a:endParaRPr lang="en-US" dirty="0"/>
          </a:p>
          <a:p>
            <a:pPr marL="285750" indent="-285750">
              <a:buFontTx/>
              <a:buChar char="-"/>
            </a:pPr>
            <a:endParaRPr lang="uk-UA" dirty="0"/>
          </a:p>
          <a:p>
            <a:r>
              <a:rPr lang="uk-UA" dirty="0"/>
              <a:t>При цьому відповідно заголовок посилання потрібно змінити на </a:t>
            </a:r>
            <a:r>
              <a:rPr lang="en-US" dirty="0">
                <a:solidFill>
                  <a:srgbClr val="0070C0"/>
                </a:solidFill>
              </a:rPr>
              <a:t>Open more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- Close more</a:t>
            </a:r>
            <a:endParaRPr lang="ru-RU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340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315894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Зміна</a:t>
            </a:r>
            <a:r>
              <a:rPr lang="ru-RU" sz="2000" b="1" dirty="0"/>
              <a:t> </a:t>
            </a:r>
            <a:r>
              <a:rPr lang="ru-RU" sz="2000" b="1" dirty="0" err="1"/>
              <a:t>вмісту</a:t>
            </a:r>
            <a:r>
              <a:rPr lang="ru-RU" sz="2000" b="1" dirty="0"/>
              <a:t> </a:t>
            </a:r>
            <a:r>
              <a:rPr lang="ru-RU" sz="2000" b="1" dirty="0" err="1"/>
              <a:t>елемента</a:t>
            </a:r>
            <a:endParaRPr lang="ru-RU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2405787"/>
            <a:ext cx="2837234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en-US" dirty="0"/>
          </a:p>
          <a:p>
            <a:r>
              <a:rPr lang="en-US" dirty="0"/>
              <a:t>&lt;p&gt; 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text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text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 </a:t>
            </a:r>
          </a:p>
          <a:p>
            <a:r>
              <a:rPr lang="en-US" dirty="0"/>
              <a:t>&lt;/p&gt;</a:t>
            </a:r>
          </a:p>
          <a:p>
            <a:endParaRPr lang="ru-R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747665"/>
            <a:ext cx="8318226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let el = </a:t>
            </a:r>
            <a:r>
              <a:rPr lang="en-US" dirty="0" err="1"/>
              <a:t>document.querySelectro</a:t>
            </a:r>
            <a:r>
              <a:rPr lang="en-US" dirty="0"/>
              <a:t>("p");</a:t>
            </a:r>
          </a:p>
          <a:p>
            <a:endParaRPr lang="en-US" dirty="0"/>
          </a:p>
          <a:p>
            <a:r>
              <a:rPr lang="en-US" dirty="0" err="1"/>
              <a:t>p.insertAdjacentHTML</a:t>
            </a:r>
            <a:r>
              <a:rPr lang="en-US" dirty="0"/>
              <a:t>(</a:t>
            </a:r>
            <a:r>
              <a:rPr lang="en-US" dirty="0">
                <a:solidFill>
                  <a:schemeClr val="accent2"/>
                </a:solidFill>
              </a:rPr>
              <a:t>position</a:t>
            </a:r>
            <a:r>
              <a:rPr lang="en-US" dirty="0"/>
              <a:t>, "&lt;span&gt;Hello&lt;/span&gt;");</a:t>
            </a:r>
          </a:p>
          <a:p>
            <a:endParaRPr lang="ru-RU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57178" y="2405787"/>
            <a:ext cx="496855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position 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002060"/>
                </a:solidFill>
              </a:rPr>
              <a:t>'</a:t>
            </a:r>
            <a:r>
              <a:rPr lang="en-US" dirty="0" err="1">
                <a:solidFill>
                  <a:srgbClr val="002060"/>
                </a:solidFill>
              </a:rPr>
              <a:t>beforebegin</a:t>
            </a:r>
            <a:r>
              <a:rPr lang="en-US" dirty="0">
                <a:solidFill>
                  <a:srgbClr val="002060"/>
                </a:solidFill>
              </a:rPr>
              <a:t>'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afterbegin</a:t>
            </a:r>
            <a:r>
              <a:rPr lang="en-US" dirty="0">
                <a:solidFill>
                  <a:srgbClr val="00B050"/>
                </a:solidFill>
              </a:rPr>
              <a:t>'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   </a:t>
            </a:r>
            <a:r>
              <a:rPr lang="ru-RU" dirty="0">
                <a:solidFill>
                  <a:srgbClr val="0070C0"/>
                </a:solidFill>
              </a:rPr>
              <a:t>'</a:t>
            </a:r>
            <a:r>
              <a:rPr lang="en-US" dirty="0" err="1">
                <a:solidFill>
                  <a:srgbClr val="0070C0"/>
                </a:solidFill>
              </a:rPr>
              <a:t>beforeend</a:t>
            </a:r>
            <a:r>
              <a:rPr lang="en-US" dirty="0">
                <a:solidFill>
                  <a:srgbClr val="0070C0"/>
                </a:solidFill>
              </a:rPr>
              <a:t>'</a:t>
            </a:r>
          </a:p>
          <a:p>
            <a:r>
              <a:rPr lang="en-US" dirty="0"/>
              <a:t>   </a:t>
            </a:r>
            <a:r>
              <a:rPr lang="ru-RU" dirty="0">
                <a:solidFill>
                  <a:srgbClr val="7030A0"/>
                </a:solidFill>
              </a:rPr>
              <a:t>'</a:t>
            </a:r>
            <a:r>
              <a:rPr lang="en-US" dirty="0" err="1">
                <a:solidFill>
                  <a:srgbClr val="7030A0"/>
                </a:solidFill>
              </a:rPr>
              <a:t>afterend</a:t>
            </a:r>
            <a:r>
              <a:rPr lang="en-US" dirty="0">
                <a:solidFill>
                  <a:srgbClr val="7030A0"/>
                </a:solidFill>
              </a:rPr>
              <a:t>'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 flipH="1" flipV="1">
            <a:off x="467545" y="2636912"/>
            <a:ext cx="3657946" cy="189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467544" y="3124135"/>
            <a:ext cx="3593170" cy="1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619944" y="3667491"/>
            <a:ext cx="3303984" cy="121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>
            <a:off x="467544" y="3966114"/>
            <a:ext cx="3456384" cy="208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504" y="4509120"/>
            <a:ext cx="8928992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>
                <a:solidFill>
                  <a:schemeClr val="accent2"/>
                </a:solidFill>
              </a:rPr>
              <a:t>Завдання</a:t>
            </a:r>
          </a:p>
          <a:p>
            <a:r>
              <a:rPr lang="uk-UA" dirty="0"/>
              <a:t>В файлі </a:t>
            </a:r>
            <a:r>
              <a:rPr lang="en-US" dirty="0" err="1">
                <a:solidFill>
                  <a:srgbClr val="7030A0"/>
                </a:solidFill>
              </a:rPr>
              <a:t>dom</a:t>
            </a:r>
            <a:r>
              <a:rPr lang="en-US" dirty="0">
                <a:solidFill>
                  <a:srgbClr val="7030A0"/>
                </a:solidFill>
              </a:rPr>
              <a:t>/index.html</a:t>
            </a:r>
            <a:r>
              <a:rPr lang="en-US" dirty="0"/>
              <a:t> </a:t>
            </a:r>
            <a:r>
              <a:rPr lang="uk-UA" dirty="0"/>
              <a:t>використовуючи елемент</a:t>
            </a:r>
          </a:p>
          <a:p>
            <a:r>
              <a:rPr lang="en-US" dirty="0"/>
              <a:t>   </a:t>
            </a:r>
            <a:r>
              <a:rPr lang="uk-UA" dirty="0">
                <a:solidFill>
                  <a:srgbClr val="0070C0"/>
                </a:solidFill>
              </a:rPr>
              <a:t>  </a:t>
            </a:r>
            <a:r>
              <a:rPr lang="en-US" dirty="0">
                <a:solidFill>
                  <a:srgbClr val="0070C0"/>
                </a:solidFill>
              </a:rPr>
              <a:t>&lt;article  id="first-article"</a:t>
            </a:r>
            <a:r>
              <a:rPr lang="uk-UA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...&gt;</a:t>
            </a:r>
            <a:r>
              <a:rPr lang="uk-UA" dirty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uk-UA" dirty="0"/>
              <a:t>перевірити працездатність </a:t>
            </a:r>
            <a:r>
              <a:rPr lang="en-US" dirty="0" err="1">
                <a:solidFill>
                  <a:srgbClr val="00B050"/>
                </a:solidFill>
              </a:rPr>
              <a:t>insertAdjacentHTML</a:t>
            </a:r>
            <a:endParaRPr lang="ru-RU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94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116632"/>
            <a:ext cx="3672408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Зміна</a:t>
            </a:r>
            <a:r>
              <a:rPr lang="ru-RU" sz="2000" b="1" dirty="0"/>
              <a:t> </a:t>
            </a:r>
            <a:r>
              <a:rPr lang="ru-RU" sz="2000" b="1" dirty="0" err="1"/>
              <a:t>вмісту</a:t>
            </a:r>
            <a:r>
              <a:rPr lang="ru-RU" sz="2000" b="1" dirty="0"/>
              <a:t> </a:t>
            </a:r>
            <a:r>
              <a:rPr lang="ru-RU" sz="2000" b="1" dirty="0" err="1"/>
              <a:t>елемента</a:t>
            </a:r>
            <a:endParaRPr lang="ru-RU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620688"/>
            <a:ext cx="8318226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const el = </a:t>
            </a:r>
            <a:r>
              <a:rPr lang="en-US" dirty="0" err="1"/>
              <a:t>document.querySelectro</a:t>
            </a:r>
            <a:r>
              <a:rPr lang="en-US" dirty="0"/>
              <a:t>("p");</a:t>
            </a:r>
          </a:p>
          <a:p>
            <a:endParaRPr lang="en-US" dirty="0"/>
          </a:p>
          <a:p>
            <a:r>
              <a:rPr lang="en-US" dirty="0" err="1"/>
              <a:t>p.textContent</a:t>
            </a:r>
            <a:r>
              <a:rPr lang="en-US" dirty="0"/>
              <a:t> = "text </a:t>
            </a:r>
            <a:r>
              <a:rPr lang="en-US" dirty="0" err="1"/>
              <a:t>text</a:t>
            </a:r>
            <a:r>
              <a:rPr lang="en-US" dirty="0"/>
              <a:t> ...";</a:t>
            </a:r>
            <a:endParaRPr lang="ru-RU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22C32-6C22-406F-3DE6-3A6BAA727B4B}"/>
              </a:ext>
            </a:extLst>
          </p:cNvPr>
          <p:cNvSpPr txBox="1"/>
          <p:nvPr/>
        </p:nvSpPr>
        <p:spPr>
          <a:xfrm>
            <a:off x="206402" y="2189762"/>
            <a:ext cx="8291336" cy="1477328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div</a:t>
            </a:r>
            <a:r>
              <a:rPr lang="en-US" dirty="0"/>
              <a:t> = </a:t>
            </a:r>
            <a:r>
              <a:rPr lang="en-US" dirty="0" err="1"/>
              <a:t>document.</a:t>
            </a:r>
            <a:r>
              <a:rPr lang="en-US" dirty="0" err="1">
                <a:solidFill>
                  <a:schemeClr val="accent2"/>
                </a:solidFill>
              </a:rPr>
              <a:t>createElement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div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div</a:t>
            </a:r>
            <a:r>
              <a:rPr lang="en-US" dirty="0"/>
              <a:t>.id = </a:t>
            </a:r>
            <a:r>
              <a:rPr lang="en-US" dirty="0">
                <a:cs typeface="Courier New"/>
              </a:rPr>
              <a:t>"</a:t>
            </a:r>
            <a:r>
              <a:rPr lang="en-US" dirty="0" err="1"/>
              <a:t>myNewDiv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;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div</a:t>
            </a:r>
            <a:r>
              <a:rPr lang="en-US" dirty="0" err="1"/>
              <a:t>.className</a:t>
            </a:r>
            <a:r>
              <a:rPr lang="en-US" dirty="0"/>
              <a:t> =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box</a:t>
            </a:r>
            <a:r>
              <a:rPr lang="en-US" dirty="0">
                <a:cs typeface="Courier New"/>
              </a:rPr>
              <a:t>";</a:t>
            </a:r>
          </a:p>
          <a:p>
            <a:r>
              <a:rPr lang="en-US" dirty="0" err="1">
                <a:cs typeface="Courier New"/>
              </a:rPr>
              <a:t>document.body.</a:t>
            </a:r>
            <a:r>
              <a:rPr lang="en-US" dirty="0" err="1">
                <a:solidFill>
                  <a:schemeClr val="accent2"/>
                </a:solidFill>
                <a:cs typeface="Courier New"/>
              </a:rPr>
              <a:t>appendChild</a:t>
            </a:r>
            <a:r>
              <a:rPr lang="en-US" dirty="0">
                <a:cs typeface="Courier New"/>
              </a:rPr>
              <a:t>(</a:t>
            </a:r>
            <a:r>
              <a:rPr lang="en-US" dirty="0">
                <a:solidFill>
                  <a:schemeClr val="accent2"/>
                </a:solidFill>
                <a:cs typeface="Courier New"/>
              </a:rPr>
              <a:t>div</a:t>
            </a:r>
            <a:r>
              <a:rPr lang="en-US" dirty="0">
                <a:cs typeface="Courier New"/>
              </a:rPr>
              <a:t>);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C64A4A-9309-8305-3423-10C9527540CD}"/>
              </a:ext>
            </a:extLst>
          </p:cNvPr>
          <p:cNvSpPr txBox="1">
            <a:spLocks/>
          </p:cNvSpPr>
          <p:nvPr/>
        </p:nvSpPr>
        <p:spPr>
          <a:xfrm>
            <a:off x="202922" y="1665968"/>
            <a:ext cx="3384376" cy="3600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/>
              <a:t>Створення елементів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C01DB29-6C81-41AC-3955-1494E5465777}"/>
              </a:ext>
            </a:extLst>
          </p:cNvPr>
          <p:cNvSpPr txBox="1">
            <a:spLocks/>
          </p:cNvSpPr>
          <p:nvPr/>
        </p:nvSpPr>
        <p:spPr>
          <a:xfrm>
            <a:off x="202922" y="3830844"/>
            <a:ext cx="4983410" cy="3600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/>
              <a:t>Створення текстових вузлів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CBB12-49D1-3D98-3D29-2D29D3FD8BCA}"/>
              </a:ext>
            </a:extLst>
          </p:cNvPr>
          <p:cNvSpPr txBox="1"/>
          <p:nvPr/>
        </p:nvSpPr>
        <p:spPr>
          <a:xfrm>
            <a:off x="189530" y="4354638"/>
            <a:ext cx="8291336" cy="2308324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const div = </a:t>
            </a:r>
            <a:r>
              <a:rPr lang="en-US" dirty="0" err="1"/>
              <a:t>document.</a:t>
            </a:r>
            <a:r>
              <a:rPr lang="en-US" dirty="0" err="1">
                <a:solidFill>
                  <a:srgbClr val="0070C0"/>
                </a:solidFill>
              </a:rPr>
              <a:t>createElement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div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);</a:t>
            </a:r>
          </a:p>
          <a:p>
            <a:r>
              <a:rPr lang="en-US" dirty="0"/>
              <a:t>const </a:t>
            </a:r>
            <a:r>
              <a:rPr lang="en-US" dirty="0">
                <a:solidFill>
                  <a:schemeClr val="accent2"/>
                </a:solidFill>
              </a:rPr>
              <a:t>text</a:t>
            </a:r>
            <a:r>
              <a:rPr lang="en-US" dirty="0"/>
              <a:t> = </a:t>
            </a:r>
            <a:r>
              <a:rPr lang="en-US" dirty="0" err="1"/>
              <a:t>document.</a:t>
            </a:r>
            <a:r>
              <a:rPr lang="en-US" dirty="0" err="1">
                <a:solidFill>
                  <a:schemeClr val="accent2"/>
                </a:solidFill>
              </a:rPr>
              <a:t>createTextNode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this is text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);</a:t>
            </a:r>
          </a:p>
          <a:p>
            <a:r>
              <a:rPr lang="en-US" dirty="0" err="1"/>
              <a:t>div.appendChild</a:t>
            </a:r>
            <a:r>
              <a:rPr lang="en-US" dirty="0"/>
              <a:t>(</a:t>
            </a:r>
            <a:r>
              <a:rPr lang="en-US" dirty="0">
                <a:solidFill>
                  <a:schemeClr val="accent2"/>
                </a:solidFill>
              </a:rPr>
              <a:t>text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div.id = </a:t>
            </a:r>
            <a:r>
              <a:rPr lang="en-US" dirty="0">
                <a:cs typeface="Courier New"/>
              </a:rPr>
              <a:t>"</a:t>
            </a:r>
            <a:r>
              <a:rPr lang="en-US" dirty="0" err="1"/>
              <a:t>myNewDiv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;</a:t>
            </a:r>
          </a:p>
          <a:p>
            <a:r>
              <a:rPr lang="en-US" dirty="0" err="1"/>
              <a:t>div.className</a:t>
            </a:r>
            <a:r>
              <a:rPr lang="en-US" dirty="0"/>
              <a:t> =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box</a:t>
            </a:r>
            <a:r>
              <a:rPr lang="en-US" dirty="0">
                <a:cs typeface="Courier New"/>
              </a:rPr>
              <a:t>";</a:t>
            </a:r>
          </a:p>
          <a:p>
            <a:endParaRPr lang="en-US" dirty="0">
              <a:cs typeface="Courier New"/>
            </a:endParaRPr>
          </a:p>
          <a:p>
            <a:r>
              <a:rPr lang="en-US" dirty="0" err="1">
                <a:cs typeface="Courier New"/>
              </a:rPr>
              <a:t>document.body.</a:t>
            </a:r>
            <a:r>
              <a:rPr lang="en-US" dirty="0" err="1">
                <a:solidFill>
                  <a:srgbClr val="0070C0"/>
                </a:solidFill>
                <a:cs typeface="Courier New"/>
              </a:rPr>
              <a:t>appendChild</a:t>
            </a:r>
            <a:r>
              <a:rPr lang="en-US" dirty="0">
                <a:cs typeface="Courier New"/>
              </a:rPr>
              <a:t>(div);</a:t>
            </a:r>
          </a:p>
        </p:txBody>
      </p:sp>
    </p:spTree>
    <p:extLst>
      <p:ext uri="{BB962C8B-B14F-4D97-AF65-F5344CB8AC3E}">
        <p14:creationId xmlns:p14="http://schemas.microsoft.com/office/powerpoint/2010/main" val="722786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7504" y="548680"/>
            <a:ext cx="8928992" cy="1754326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div</a:t>
            </a:r>
            <a:r>
              <a:rPr lang="en-US" dirty="0"/>
              <a:t> = </a:t>
            </a:r>
            <a:r>
              <a:rPr lang="en-US" dirty="0" err="1"/>
              <a:t>document.</a:t>
            </a:r>
            <a:r>
              <a:rPr lang="en-US" dirty="0" err="1">
                <a:solidFill>
                  <a:schemeClr val="accent2"/>
                </a:solidFill>
              </a:rPr>
              <a:t>createElement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div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div</a:t>
            </a:r>
            <a:r>
              <a:rPr lang="en-US" dirty="0"/>
              <a:t>.id = </a:t>
            </a:r>
            <a:r>
              <a:rPr lang="en-US" dirty="0">
                <a:cs typeface="Courier New"/>
              </a:rPr>
              <a:t>"</a:t>
            </a:r>
            <a:r>
              <a:rPr lang="en-US" dirty="0" err="1"/>
              <a:t>myNewDiv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;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div</a:t>
            </a:r>
            <a:r>
              <a:rPr lang="en-US" dirty="0" err="1"/>
              <a:t>.className</a:t>
            </a:r>
            <a:r>
              <a:rPr lang="en-US" dirty="0"/>
              <a:t> =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box</a:t>
            </a:r>
            <a:r>
              <a:rPr lang="en-US" dirty="0">
                <a:cs typeface="Courier New"/>
              </a:rPr>
              <a:t>";</a:t>
            </a:r>
          </a:p>
          <a:p>
            <a:endParaRPr lang="en-US" dirty="0">
              <a:cs typeface="Courier New"/>
            </a:endParaRPr>
          </a:p>
          <a:p>
            <a:r>
              <a:rPr lang="en-US" dirty="0" err="1">
                <a:cs typeface="Courier New"/>
              </a:rPr>
              <a:t>document.body.</a:t>
            </a:r>
            <a:r>
              <a:rPr lang="en-US" dirty="0" err="1">
                <a:solidFill>
                  <a:schemeClr val="accent2"/>
                </a:solidFill>
                <a:cs typeface="Courier New"/>
              </a:rPr>
              <a:t>appendChild</a:t>
            </a:r>
            <a:r>
              <a:rPr lang="en-US" dirty="0">
                <a:cs typeface="Courier New"/>
              </a:rPr>
              <a:t>(</a:t>
            </a:r>
            <a:r>
              <a:rPr lang="en-US" dirty="0">
                <a:solidFill>
                  <a:schemeClr val="accent2"/>
                </a:solidFill>
                <a:cs typeface="Courier New"/>
              </a:rPr>
              <a:t>div</a:t>
            </a:r>
            <a:r>
              <a:rPr lang="en-US" dirty="0">
                <a:cs typeface="Courier New"/>
              </a:rPr>
              <a:t>);</a:t>
            </a:r>
          </a:p>
        </p:txBody>
      </p:sp>
      <p:sp>
        <p:nvSpPr>
          <p:cNvPr id="11" name="Заголовок 1"/>
          <p:cNvSpPr>
            <a:spLocks noGrp="1"/>
          </p:cNvSpPr>
          <p:nvPr>
            <p:ph type="ctrTitle"/>
          </p:nvPr>
        </p:nvSpPr>
        <p:spPr>
          <a:xfrm>
            <a:off x="2612926" y="44624"/>
            <a:ext cx="3384376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Додавання</a:t>
            </a:r>
            <a:r>
              <a:rPr lang="ru-RU" sz="2000" b="1" dirty="0"/>
              <a:t> </a:t>
            </a:r>
            <a:r>
              <a:rPr lang="ru-RU" sz="2000" b="1" dirty="0" err="1"/>
              <a:t>елементів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16" y="2447022"/>
            <a:ext cx="8928992" cy="1754326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>
                <a:cs typeface="Courier New"/>
              </a:rPr>
              <a:t>el.</a:t>
            </a:r>
            <a:r>
              <a:rPr lang="en-US" dirty="0" err="1">
                <a:solidFill>
                  <a:srgbClr val="0070C0"/>
                </a:solidFill>
                <a:cs typeface="Courier New"/>
              </a:rPr>
              <a:t>appendChild</a:t>
            </a:r>
            <a:r>
              <a:rPr lang="en-US" dirty="0">
                <a:cs typeface="Courier New"/>
              </a:rPr>
              <a:t>(</a:t>
            </a:r>
            <a:r>
              <a:rPr lang="en-US" dirty="0" err="1">
                <a:cs typeface="Courier New"/>
              </a:rPr>
              <a:t>newElement</a:t>
            </a:r>
            <a:r>
              <a:rPr lang="en-US" dirty="0">
                <a:cs typeface="Courier New"/>
              </a:rPr>
              <a:t>)</a:t>
            </a:r>
            <a:endParaRPr lang="ru-RU" dirty="0">
              <a:cs typeface="Courier New"/>
            </a:endParaRPr>
          </a:p>
          <a:p>
            <a:r>
              <a:rPr lang="en-US" dirty="0">
                <a:cs typeface="Courier New"/>
              </a:rPr>
              <a:t>– </a:t>
            </a:r>
            <a:r>
              <a:rPr lang="ru-RU" dirty="0" err="1">
                <a:cs typeface="Courier New"/>
              </a:rPr>
              <a:t>Додає</a:t>
            </a:r>
            <a:r>
              <a:rPr lang="ru-RU" dirty="0">
                <a:cs typeface="Courier New"/>
              </a:rPr>
              <a:t> </a:t>
            </a:r>
            <a:r>
              <a:rPr lang="en-US" dirty="0">
                <a:cs typeface="Courier New"/>
              </a:rPr>
              <a:t>node</a:t>
            </a:r>
            <a:r>
              <a:rPr lang="ru-RU" dirty="0">
                <a:cs typeface="Courier New"/>
              </a:rPr>
              <a:t> у </a:t>
            </a:r>
            <a:r>
              <a:rPr lang="ru-RU" dirty="0" err="1">
                <a:cs typeface="Courier New"/>
              </a:rPr>
              <a:t>кінець</a:t>
            </a:r>
            <a:r>
              <a:rPr lang="ru-RU" dirty="0">
                <a:cs typeface="Courier New"/>
              </a:rPr>
              <a:t> списку </a:t>
            </a:r>
            <a:r>
              <a:rPr lang="en-US" dirty="0">
                <a:cs typeface="Courier New"/>
              </a:rPr>
              <a:t>child nodes </a:t>
            </a:r>
            <a:r>
              <a:rPr lang="ru-RU" dirty="0" err="1">
                <a:cs typeface="Courier New"/>
              </a:rPr>
              <a:t>елемента</a:t>
            </a:r>
            <a:r>
              <a:rPr lang="ru-RU" dirty="0">
                <a:cs typeface="Courier New"/>
              </a:rPr>
              <a:t> </a:t>
            </a:r>
            <a:r>
              <a:rPr lang="en-US" dirty="0" err="1">
                <a:solidFill>
                  <a:srgbClr val="0070C0"/>
                </a:solidFill>
                <a:cs typeface="Courier New"/>
              </a:rPr>
              <a:t>el</a:t>
            </a:r>
            <a:endParaRPr lang="en-US" dirty="0">
              <a:cs typeface="Courier New"/>
            </a:endParaRPr>
          </a:p>
          <a:p>
            <a:endParaRPr lang="en-US" dirty="0">
              <a:cs typeface="Courier New"/>
            </a:endParaRPr>
          </a:p>
          <a:p>
            <a:r>
              <a:rPr lang="en-US" dirty="0" err="1">
                <a:solidFill>
                  <a:srgbClr val="0070C0"/>
                </a:solidFill>
                <a:cs typeface="Courier New"/>
              </a:rPr>
              <a:t>el</a:t>
            </a:r>
            <a:r>
              <a:rPr lang="en-US" dirty="0" err="1">
                <a:cs typeface="Courier New"/>
              </a:rPr>
              <a:t>.</a:t>
            </a:r>
            <a:r>
              <a:rPr lang="en-US" dirty="0" err="1">
                <a:solidFill>
                  <a:schemeClr val="accent2"/>
                </a:solidFill>
                <a:cs typeface="Courier New"/>
              </a:rPr>
              <a:t>insertBefore</a:t>
            </a:r>
            <a:r>
              <a:rPr lang="en-US" dirty="0">
                <a:cs typeface="Courier New"/>
              </a:rPr>
              <a:t>(</a:t>
            </a:r>
            <a:r>
              <a:rPr lang="en-US" dirty="0" err="1">
                <a:cs typeface="Courier New"/>
              </a:rPr>
              <a:t>newElement</a:t>
            </a:r>
            <a:r>
              <a:rPr lang="en-US" dirty="0">
                <a:cs typeface="Courier New"/>
              </a:rPr>
              <a:t>, </a:t>
            </a:r>
            <a:r>
              <a:rPr lang="en-US" dirty="0" err="1">
                <a:solidFill>
                  <a:srgbClr val="00B050"/>
                </a:solidFill>
                <a:cs typeface="Courier New"/>
              </a:rPr>
              <a:t>existingElement</a:t>
            </a:r>
            <a:r>
              <a:rPr lang="en-US" dirty="0">
                <a:cs typeface="Courier New"/>
              </a:rPr>
              <a:t>)</a:t>
            </a:r>
            <a:endParaRPr lang="ru-RU" dirty="0">
              <a:cs typeface="Courier New"/>
            </a:endParaRPr>
          </a:p>
          <a:p>
            <a:r>
              <a:rPr lang="en-US" dirty="0">
                <a:cs typeface="Courier New"/>
              </a:rPr>
              <a:t>– </a:t>
            </a:r>
            <a:r>
              <a:rPr lang="ru-RU" dirty="0" err="1">
                <a:cs typeface="Courier New"/>
              </a:rPr>
              <a:t>додає</a:t>
            </a:r>
            <a:r>
              <a:rPr lang="ru-RU" dirty="0">
                <a:cs typeface="Courier New"/>
              </a:rPr>
              <a:t> </a:t>
            </a:r>
            <a:r>
              <a:rPr lang="en-US" dirty="0">
                <a:cs typeface="Courier New"/>
              </a:rPr>
              <a:t>node </a:t>
            </a:r>
            <a:r>
              <a:rPr lang="uk-UA" dirty="0">
                <a:cs typeface="Courier New"/>
              </a:rPr>
              <a:t>перед існуючим елементом </a:t>
            </a:r>
            <a:r>
              <a:rPr lang="en-US" dirty="0" err="1">
                <a:solidFill>
                  <a:srgbClr val="00B050"/>
                </a:solidFill>
                <a:cs typeface="Courier New"/>
              </a:rPr>
              <a:t>existingElement</a:t>
            </a:r>
            <a:r>
              <a:rPr lang="ru-RU" dirty="0">
                <a:cs typeface="Courier New"/>
              </a:rPr>
              <a:t>, </a:t>
            </a:r>
            <a:r>
              <a:rPr lang="ru-RU" dirty="0" err="1">
                <a:cs typeface="Courier New"/>
              </a:rPr>
              <a:t>який</a:t>
            </a:r>
            <a:r>
              <a:rPr lang="ru-RU" dirty="0">
                <a:cs typeface="Courier New"/>
              </a:rPr>
              <a:t> є </a:t>
            </a:r>
            <a:r>
              <a:rPr lang="en-US" dirty="0">
                <a:cs typeface="Courier New"/>
              </a:rPr>
              <a:t>child node </a:t>
            </a:r>
            <a:r>
              <a:rPr lang="uk-UA" dirty="0">
                <a:cs typeface="Courier New"/>
              </a:rPr>
              <a:t>елемента </a:t>
            </a:r>
            <a:r>
              <a:rPr lang="en-US" dirty="0" err="1">
                <a:solidFill>
                  <a:srgbClr val="0070C0"/>
                </a:solidFill>
                <a:cs typeface="Courier New"/>
              </a:rPr>
              <a:t>el</a:t>
            </a:r>
            <a:endParaRPr lang="en-US" dirty="0"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57418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7504" y="476672"/>
            <a:ext cx="8928992" cy="2031325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const </a:t>
            </a:r>
            <a:r>
              <a:rPr lang="en-US" dirty="0" err="1">
                <a:solidFill>
                  <a:srgbClr val="0070C0"/>
                </a:solidFill>
              </a:rPr>
              <a:t>attr</a:t>
            </a:r>
            <a:r>
              <a:rPr lang="en-US" dirty="0"/>
              <a:t> = </a:t>
            </a:r>
            <a:r>
              <a:rPr lang="en-US" dirty="0" err="1"/>
              <a:t>document.</a:t>
            </a:r>
            <a:r>
              <a:rPr lang="en-US" dirty="0" err="1">
                <a:solidFill>
                  <a:schemeClr val="accent2"/>
                </a:solidFill>
              </a:rPr>
              <a:t>createAttribute</a:t>
            </a:r>
            <a:r>
              <a:rPr lang="en-US" dirty="0"/>
              <a:t>(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class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);</a:t>
            </a:r>
          </a:p>
          <a:p>
            <a:r>
              <a:rPr lang="en-US" dirty="0"/>
              <a:t>const class = </a:t>
            </a:r>
            <a:r>
              <a:rPr lang="en-US" dirty="0">
                <a:cs typeface="Courier New"/>
              </a:rPr>
              <a:t>"</a:t>
            </a:r>
            <a:r>
              <a:rPr lang="en-US" dirty="0" err="1">
                <a:cs typeface="Courier New"/>
              </a:rPr>
              <a:t>myClass</a:t>
            </a:r>
            <a:r>
              <a:rPr lang="en-US" dirty="0">
                <a:cs typeface="Courier New"/>
              </a:rPr>
              <a:t>";</a:t>
            </a:r>
          </a:p>
          <a:p>
            <a:endParaRPr lang="en-US" dirty="0">
              <a:cs typeface="Courier New"/>
            </a:endParaRPr>
          </a:p>
          <a:p>
            <a:r>
              <a:rPr lang="en-US" dirty="0" err="1">
                <a:solidFill>
                  <a:srgbClr val="0070C0"/>
                </a:solidFill>
                <a:cs typeface="Courier New"/>
              </a:rPr>
              <a:t>attr</a:t>
            </a:r>
            <a:r>
              <a:rPr lang="en-US" dirty="0" err="1">
                <a:cs typeface="Courier New"/>
              </a:rPr>
              <a:t>.nodeValue</a:t>
            </a:r>
            <a:r>
              <a:rPr lang="en-US" dirty="0">
                <a:cs typeface="Courier New"/>
              </a:rPr>
              <a:t> = class;</a:t>
            </a:r>
            <a:endParaRPr lang="en-US" dirty="0"/>
          </a:p>
          <a:p>
            <a:endParaRPr lang="en-US" dirty="0">
              <a:cs typeface="Courier New"/>
            </a:endParaRPr>
          </a:p>
          <a:p>
            <a:endParaRPr lang="en-US" dirty="0">
              <a:cs typeface="Courier New"/>
            </a:endParaRPr>
          </a:p>
          <a:p>
            <a:r>
              <a:rPr lang="en-US" dirty="0" err="1">
                <a:solidFill>
                  <a:srgbClr val="7030A0"/>
                </a:solidFill>
                <a:cs typeface="Courier New"/>
              </a:rPr>
              <a:t>el</a:t>
            </a:r>
            <a:r>
              <a:rPr lang="en-US" dirty="0" err="1">
                <a:cs typeface="Courier New"/>
              </a:rPr>
              <a:t>.</a:t>
            </a:r>
            <a:r>
              <a:rPr lang="en-US" dirty="0" err="1">
                <a:solidFill>
                  <a:schemeClr val="accent2"/>
                </a:solidFill>
                <a:cs typeface="Courier New"/>
              </a:rPr>
              <a:t>setAttributeNode</a:t>
            </a:r>
            <a:r>
              <a:rPr lang="en-US" dirty="0">
                <a:cs typeface="Courier New"/>
              </a:rPr>
              <a:t>(</a:t>
            </a:r>
            <a:r>
              <a:rPr lang="en-US" dirty="0" err="1">
                <a:solidFill>
                  <a:srgbClr val="0070C0"/>
                </a:solidFill>
                <a:cs typeface="Courier New"/>
              </a:rPr>
              <a:t>attr</a:t>
            </a:r>
            <a:r>
              <a:rPr lang="en-US" dirty="0">
                <a:cs typeface="Courier New"/>
              </a:rPr>
              <a:t>);</a:t>
            </a:r>
          </a:p>
        </p:txBody>
      </p:sp>
      <p:sp>
        <p:nvSpPr>
          <p:cNvPr id="11" name="Заголовок 1"/>
          <p:cNvSpPr>
            <a:spLocks noGrp="1"/>
          </p:cNvSpPr>
          <p:nvPr>
            <p:ph type="ctrTitle"/>
          </p:nvPr>
        </p:nvSpPr>
        <p:spPr>
          <a:xfrm>
            <a:off x="2612926" y="44624"/>
            <a:ext cx="3384376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Створення</a:t>
            </a:r>
            <a:r>
              <a:rPr lang="ru-RU" sz="2000" b="1" dirty="0"/>
              <a:t> </a:t>
            </a:r>
            <a:r>
              <a:rPr lang="ru-RU" sz="2000" b="1" dirty="0" err="1"/>
              <a:t>атрибутів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3140968"/>
            <a:ext cx="8928992" cy="1200329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Можно так</a:t>
            </a:r>
            <a:endParaRPr lang="en-US" dirty="0"/>
          </a:p>
          <a:p>
            <a:r>
              <a:rPr lang="en-US" dirty="0"/>
              <a:t>const </a:t>
            </a:r>
            <a:r>
              <a:rPr lang="en-US" dirty="0" err="1">
                <a:solidFill>
                  <a:srgbClr val="0070C0"/>
                </a:solidFill>
              </a:rPr>
              <a:t>attr</a:t>
            </a:r>
            <a:r>
              <a:rPr lang="en-US" dirty="0"/>
              <a:t> = </a:t>
            </a:r>
            <a:r>
              <a:rPr lang="en-US" dirty="0">
                <a:cs typeface="Courier New"/>
              </a:rPr>
              <a:t>"</a:t>
            </a:r>
            <a:r>
              <a:rPr lang="en-US" dirty="0" err="1">
                <a:cs typeface="Courier New"/>
              </a:rPr>
              <a:t>myClass</a:t>
            </a:r>
            <a:r>
              <a:rPr lang="en-US" dirty="0">
                <a:cs typeface="Courier New"/>
              </a:rPr>
              <a:t>";</a:t>
            </a:r>
          </a:p>
          <a:p>
            <a:endParaRPr lang="en-US" dirty="0">
              <a:cs typeface="Courier New"/>
            </a:endParaRPr>
          </a:p>
          <a:p>
            <a:r>
              <a:rPr lang="en-US" dirty="0" err="1">
                <a:solidFill>
                  <a:srgbClr val="7030A0"/>
                </a:solidFill>
                <a:cs typeface="Courier New"/>
              </a:rPr>
              <a:t>el</a:t>
            </a:r>
            <a:r>
              <a:rPr lang="en-US" dirty="0" err="1">
                <a:cs typeface="Courier New"/>
              </a:rPr>
              <a:t>.</a:t>
            </a:r>
            <a:r>
              <a:rPr lang="en-US" dirty="0" err="1">
                <a:solidFill>
                  <a:schemeClr val="accent2"/>
                </a:solidFill>
                <a:cs typeface="Courier New"/>
              </a:rPr>
              <a:t>setAttribute</a:t>
            </a:r>
            <a:r>
              <a:rPr lang="en-US" dirty="0">
                <a:cs typeface="Courier New"/>
              </a:rPr>
              <a:t>(class, </a:t>
            </a:r>
            <a:r>
              <a:rPr lang="en-US" dirty="0" err="1">
                <a:solidFill>
                  <a:srgbClr val="0070C0"/>
                </a:solidFill>
                <a:cs typeface="Courier New"/>
              </a:rPr>
              <a:t>attr</a:t>
            </a:r>
            <a:r>
              <a:rPr lang="en-US" dirty="0">
                <a:cs typeface="Courier New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13725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9260" y="2348880"/>
            <a:ext cx="8928992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cs typeface="Courier New"/>
              </a:rPr>
              <a:t>const container = </a:t>
            </a:r>
            <a:r>
              <a:rPr lang="en-US" dirty="0" err="1">
                <a:cs typeface="Courier New"/>
              </a:rPr>
              <a:t>document.getElementById</a:t>
            </a:r>
            <a:r>
              <a:rPr lang="en-US" dirty="0">
                <a:cs typeface="Courier New"/>
              </a:rPr>
              <a:t>(</a:t>
            </a:r>
            <a:r>
              <a:rPr lang="it-IT" dirty="0">
                <a:solidFill>
                  <a:srgbClr val="00B050"/>
                </a:solidFill>
                <a:cs typeface="Courier New"/>
              </a:rPr>
              <a:t>"</a:t>
            </a:r>
            <a:r>
              <a:rPr lang="it-IT" dirty="0">
                <a:solidFill>
                  <a:srgbClr val="00B050"/>
                </a:solidFill>
              </a:rPr>
              <a:t>list</a:t>
            </a:r>
            <a:r>
              <a:rPr lang="it-IT" dirty="0">
                <a:solidFill>
                  <a:srgbClr val="00B050"/>
                </a:solidFill>
                <a:cs typeface="Courier New"/>
              </a:rPr>
              <a:t>"</a:t>
            </a:r>
            <a:r>
              <a:rPr lang="en-US" dirty="0">
                <a:cs typeface="Courier New"/>
              </a:rPr>
              <a:t>);</a:t>
            </a:r>
          </a:p>
          <a:p>
            <a:r>
              <a:rPr lang="en-US" dirty="0">
                <a:cs typeface="Courier New"/>
              </a:rPr>
              <a:t>const </a:t>
            </a:r>
            <a:r>
              <a:rPr lang="en-US" dirty="0">
                <a:solidFill>
                  <a:srgbClr val="0070C0"/>
                </a:solidFill>
                <a:cs typeface="Courier New"/>
              </a:rPr>
              <a:t>el</a:t>
            </a:r>
            <a:r>
              <a:rPr lang="en-US" dirty="0">
                <a:cs typeface="Courier New"/>
              </a:rPr>
              <a:t> = </a:t>
            </a:r>
            <a:r>
              <a:rPr lang="en-US" dirty="0" err="1">
                <a:cs typeface="Courier New"/>
              </a:rPr>
              <a:t>container.getElementsByTagName</a:t>
            </a:r>
            <a:r>
              <a:rPr lang="en-US" dirty="0">
                <a:cs typeface="Courier New"/>
              </a:rPr>
              <a:t>(</a:t>
            </a:r>
            <a:r>
              <a:rPr lang="it-IT" dirty="0">
                <a:solidFill>
                  <a:srgbClr val="00B050"/>
                </a:solidFill>
                <a:cs typeface="Courier New"/>
              </a:rPr>
              <a:t>"</a:t>
            </a:r>
            <a:r>
              <a:rPr lang="it-IT" dirty="0">
                <a:solidFill>
                  <a:srgbClr val="00B050"/>
                </a:solidFill>
              </a:rPr>
              <a:t>li</a:t>
            </a:r>
            <a:r>
              <a:rPr lang="it-IT" dirty="0">
                <a:solidFill>
                  <a:srgbClr val="00B050"/>
                </a:solidFill>
                <a:cs typeface="Courier New"/>
              </a:rPr>
              <a:t>"</a:t>
            </a:r>
            <a:r>
              <a:rPr lang="en-US" dirty="0">
                <a:cs typeface="Courier New"/>
              </a:rPr>
              <a:t>);</a:t>
            </a:r>
          </a:p>
          <a:p>
            <a:r>
              <a:rPr lang="en-US" dirty="0" err="1">
                <a:cs typeface="Courier New"/>
              </a:rPr>
              <a:t>container.</a:t>
            </a:r>
            <a:r>
              <a:rPr lang="en-US" dirty="0" err="1">
                <a:solidFill>
                  <a:schemeClr val="accent2"/>
                </a:solidFill>
                <a:cs typeface="Courier New"/>
              </a:rPr>
              <a:t>removeChild</a:t>
            </a:r>
            <a:r>
              <a:rPr lang="en-US" dirty="0">
                <a:solidFill>
                  <a:schemeClr val="accent2"/>
                </a:solidFill>
                <a:cs typeface="Courier New"/>
              </a:rPr>
              <a:t>(</a:t>
            </a:r>
            <a:r>
              <a:rPr lang="en-US" dirty="0">
                <a:solidFill>
                  <a:srgbClr val="0070C0"/>
                </a:solidFill>
                <a:cs typeface="Courier New"/>
              </a:rPr>
              <a:t>el</a:t>
            </a:r>
            <a:r>
              <a:rPr lang="en-US" dirty="0">
                <a:solidFill>
                  <a:schemeClr val="accent2"/>
                </a:solidFill>
                <a:cs typeface="Courier New"/>
              </a:rPr>
              <a:t>)</a:t>
            </a:r>
            <a:r>
              <a:rPr lang="en-US" dirty="0">
                <a:cs typeface="Courier New"/>
              </a:rPr>
              <a:t>; </a:t>
            </a:r>
          </a:p>
        </p:txBody>
      </p:sp>
      <p:sp>
        <p:nvSpPr>
          <p:cNvPr id="11" name="Заголовок 1"/>
          <p:cNvSpPr>
            <a:spLocks noGrp="1"/>
          </p:cNvSpPr>
          <p:nvPr>
            <p:ph type="ctrTitle"/>
          </p:nvPr>
        </p:nvSpPr>
        <p:spPr>
          <a:xfrm>
            <a:off x="2627784" y="75417"/>
            <a:ext cx="3384376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 err="1"/>
              <a:t>Видалення</a:t>
            </a:r>
            <a:r>
              <a:rPr lang="ru-RU" sz="2000" b="1" dirty="0"/>
              <a:t> </a:t>
            </a:r>
            <a:r>
              <a:rPr lang="ru-RU" sz="2000" b="1" dirty="0" err="1"/>
              <a:t>елементів</a:t>
            </a:r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620688"/>
            <a:ext cx="3044157" cy="1477328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it-IT" dirty="0"/>
              <a:t>&lt;ul </a:t>
            </a:r>
            <a:r>
              <a:rPr lang="it-IT" dirty="0">
                <a:solidFill>
                  <a:srgbClr val="00B050"/>
                </a:solidFill>
              </a:rPr>
              <a:t>id=</a:t>
            </a:r>
            <a:r>
              <a:rPr lang="it-IT" dirty="0">
                <a:solidFill>
                  <a:srgbClr val="00B050"/>
                </a:solidFill>
                <a:cs typeface="Courier New"/>
              </a:rPr>
              <a:t>"</a:t>
            </a:r>
            <a:r>
              <a:rPr lang="it-IT" dirty="0">
                <a:solidFill>
                  <a:srgbClr val="00B050"/>
                </a:solidFill>
              </a:rPr>
              <a:t>list</a:t>
            </a:r>
            <a:r>
              <a:rPr lang="it-IT" dirty="0">
                <a:solidFill>
                  <a:srgbClr val="00B050"/>
                </a:solidFill>
                <a:latin typeface="Courier New"/>
                <a:cs typeface="Courier New"/>
              </a:rPr>
              <a:t>"</a:t>
            </a:r>
            <a:r>
              <a:rPr lang="it-IT" dirty="0"/>
              <a:t>&gt;</a:t>
            </a:r>
          </a:p>
          <a:p>
            <a:r>
              <a:rPr lang="it-IT" dirty="0"/>
              <a:t>   &lt;li&gt;</a:t>
            </a:r>
            <a:r>
              <a:rPr lang="en-US" dirty="0">
                <a:solidFill>
                  <a:srgbClr val="0070C0"/>
                </a:solidFill>
              </a:rPr>
              <a:t>One</a:t>
            </a:r>
            <a:r>
              <a:rPr lang="it-IT" dirty="0"/>
              <a:t>&lt;/li&gt;</a:t>
            </a:r>
          </a:p>
          <a:p>
            <a:r>
              <a:rPr lang="it-IT" dirty="0"/>
              <a:t>   &lt;li&gt;</a:t>
            </a:r>
            <a:r>
              <a:rPr lang="it-IT" dirty="0">
                <a:solidFill>
                  <a:srgbClr val="0070C0"/>
                </a:solidFill>
              </a:rPr>
              <a:t>Two</a:t>
            </a:r>
            <a:r>
              <a:rPr lang="it-IT" dirty="0"/>
              <a:t>&lt;/li&gt;</a:t>
            </a:r>
          </a:p>
          <a:p>
            <a:r>
              <a:rPr lang="it-IT" dirty="0"/>
              <a:t>   &lt;li&gt;</a:t>
            </a:r>
            <a:r>
              <a:rPr lang="it-IT" dirty="0">
                <a:solidFill>
                  <a:srgbClr val="0070C0"/>
                </a:solidFill>
              </a:rPr>
              <a:t>Three</a:t>
            </a:r>
            <a:r>
              <a:rPr lang="it-IT" dirty="0"/>
              <a:t>&lt;/li&gt;</a:t>
            </a:r>
          </a:p>
          <a:p>
            <a:r>
              <a:rPr lang="it-IT" dirty="0"/>
              <a:t>&lt;/ul&gt;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4931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79512" y="188640"/>
            <a:ext cx="2304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labs/lab_2.html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90178" y="1268760"/>
            <a:ext cx="2304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labs/lab_3.html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92473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2736304" cy="360040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Робота з формами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548680"/>
            <a:ext cx="8928992" cy="1200329"/>
          </a:xfrm>
          <a:prstGeom prst="rect">
            <a:avLst/>
          </a:prstGeom>
          <a:solidFill>
            <a:schemeClr val="bg2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&lt;form name="</a:t>
            </a:r>
            <a:r>
              <a:rPr lang="en-US" dirty="0" err="1"/>
              <a:t>myform</a:t>
            </a:r>
            <a:r>
              <a:rPr lang="en-US" dirty="0"/>
              <a:t>"&gt;</a:t>
            </a:r>
          </a:p>
          <a:p>
            <a:r>
              <a:rPr lang="en-US" dirty="0"/>
              <a:t>	&lt;input type="text" name="login"&gt;&lt;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	&lt;input type="text" name="password"&gt;</a:t>
            </a:r>
          </a:p>
          <a:p>
            <a:r>
              <a:rPr lang="en-US" dirty="0"/>
              <a:t>&lt;/form&gt;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1868631"/>
            <a:ext cx="8928992" cy="2585323"/>
          </a:xfrm>
          <a:prstGeom prst="rect">
            <a:avLst/>
          </a:prstGeom>
          <a:solidFill>
            <a:schemeClr val="bg2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	</a:t>
            </a:r>
            <a:r>
              <a:rPr lang="ru-RU" dirty="0"/>
              <a:t>Доступ до </a:t>
            </a:r>
            <a:r>
              <a:rPr lang="ru-RU" dirty="0" err="1"/>
              <a:t>форми</a:t>
            </a:r>
            <a:endParaRPr lang="en-US" dirty="0"/>
          </a:p>
          <a:p>
            <a:r>
              <a:rPr lang="en-US" dirty="0" err="1"/>
              <a:t>document.</a:t>
            </a:r>
            <a:r>
              <a:rPr lang="en-US" dirty="0" err="1">
                <a:solidFill>
                  <a:schemeClr val="accent2"/>
                </a:solidFill>
              </a:rPr>
              <a:t>forms</a:t>
            </a:r>
            <a:r>
              <a:rPr lang="en-US" dirty="0"/>
              <a:t>.</a:t>
            </a:r>
            <a:r>
              <a:rPr lang="ru-RU" dirty="0" err="1">
                <a:solidFill>
                  <a:srgbClr val="0070C0"/>
                </a:solidFill>
              </a:rPr>
              <a:t>имя_формы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en-US" dirty="0"/>
              <a:t>	</a:t>
            </a:r>
            <a:r>
              <a:rPr lang="ru-RU" dirty="0"/>
              <a:t> Доступ до поля</a:t>
            </a:r>
          </a:p>
          <a:p>
            <a:r>
              <a:rPr lang="en-US" dirty="0" err="1"/>
              <a:t>document.</a:t>
            </a:r>
            <a:r>
              <a:rPr lang="en-US" dirty="0" err="1">
                <a:solidFill>
                  <a:schemeClr val="accent2"/>
                </a:solidFill>
              </a:rPr>
              <a:t>forms</a:t>
            </a:r>
            <a:r>
              <a:rPr lang="en-US" dirty="0"/>
              <a:t>.</a:t>
            </a:r>
            <a:r>
              <a:rPr lang="ru-RU" dirty="0" err="1">
                <a:solidFill>
                  <a:srgbClr val="0070C0"/>
                </a:solidFill>
              </a:rPr>
              <a:t>имя_формы</a:t>
            </a:r>
            <a:r>
              <a:rPr lang="en-US" dirty="0"/>
              <a:t>.</a:t>
            </a:r>
            <a:r>
              <a:rPr lang="ru-RU" dirty="0" err="1">
                <a:solidFill>
                  <a:srgbClr val="00B050"/>
                </a:solidFill>
              </a:rPr>
              <a:t>имя_поля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en-US" dirty="0"/>
              <a:t>	</a:t>
            </a:r>
            <a:r>
              <a:rPr lang="ru-RU" dirty="0"/>
              <a:t>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текстового поля</a:t>
            </a:r>
          </a:p>
          <a:p>
            <a:r>
              <a:rPr lang="en-US" dirty="0" err="1"/>
              <a:t>document.</a:t>
            </a:r>
            <a:r>
              <a:rPr lang="en-US" dirty="0" err="1">
                <a:solidFill>
                  <a:schemeClr val="accent2"/>
                </a:solidFill>
              </a:rPr>
              <a:t>forms</a:t>
            </a:r>
            <a:r>
              <a:rPr lang="en-US" dirty="0"/>
              <a:t>.</a:t>
            </a:r>
            <a:r>
              <a:rPr lang="ru-RU" dirty="0" err="1">
                <a:solidFill>
                  <a:srgbClr val="0070C0"/>
                </a:solidFill>
              </a:rPr>
              <a:t>имя_формы</a:t>
            </a:r>
            <a:r>
              <a:rPr lang="en-US" dirty="0"/>
              <a:t>.</a:t>
            </a:r>
            <a:r>
              <a:rPr lang="ru-RU" dirty="0" err="1">
                <a:solidFill>
                  <a:srgbClr val="00B050"/>
                </a:solidFill>
              </a:rPr>
              <a:t>имя_поля</a:t>
            </a:r>
            <a:r>
              <a:rPr lang="en-US" dirty="0">
                <a:solidFill>
                  <a:srgbClr val="7030A0"/>
                </a:solidFill>
              </a:rPr>
              <a:t>.value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4653136"/>
            <a:ext cx="8928992" cy="1477328"/>
          </a:xfrm>
          <a:prstGeom prst="rect">
            <a:avLst/>
          </a:prstGeom>
          <a:solidFill>
            <a:schemeClr val="bg2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Подія</a:t>
            </a:r>
            <a:r>
              <a:rPr lang="ru-RU" dirty="0"/>
              <a:t> для </a:t>
            </a:r>
            <a:r>
              <a:rPr lang="ru-RU" dirty="0" err="1"/>
              <a:t>елемента</a:t>
            </a:r>
            <a:r>
              <a:rPr lang="ru-RU" dirty="0"/>
              <a:t> </a:t>
            </a:r>
            <a:r>
              <a:rPr lang="en-US" dirty="0"/>
              <a:t>form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onsubmit</a:t>
            </a:r>
            <a:r>
              <a:rPr lang="en-US" dirty="0"/>
              <a:t>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відправлення</a:t>
            </a:r>
            <a:r>
              <a:rPr lang="ru-RU" dirty="0"/>
              <a:t> </a:t>
            </a:r>
            <a:r>
              <a:rPr lang="ru-RU" dirty="0" err="1"/>
              <a:t>форми</a:t>
            </a:r>
            <a:r>
              <a:rPr lang="ru-RU" dirty="0"/>
              <a:t> на сервер</a:t>
            </a:r>
          </a:p>
          <a:p>
            <a:endParaRPr lang="ru-RU" dirty="0"/>
          </a:p>
          <a:p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заборонити</a:t>
            </a:r>
            <a:r>
              <a:rPr lang="ru-RU" dirty="0"/>
              <a:t> </a:t>
            </a:r>
            <a:r>
              <a:rPr lang="ru-RU" dirty="0" err="1"/>
              <a:t>відправку</a:t>
            </a:r>
            <a:r>
              <a:rPr lang="ru-RU" dirty="0"/>
              <a:t> </a:t>
            </a:r>
            <a:r>
              <a:rPr lang="ru-RU" dirty="0" err="1"/>
              <a:t>форми</a:t>
            </a:r>
            <a:r>
              <a:rPr lang="ru-RU" dirty="0"/>
              <a:t> в </a:t>
            </a:r>
            <a:r>
              <a:rPr lang="ru-RU" dirty="0" err="1"/>
              <a:t>обробнику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onsubmit</a:t>
            </a:r>
            <a:r>
              <a:rPr lang="ru-RU" dirty="0"/>
              <a:t> треба в </a:t>
            </a:r>
            <a:r>
              <a:rPr lang="ru-RU" dirty="0" err="1"/>
              <a:t>функції-обробнику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e.prevetnDefault</a:t>
            </a:r>
            <a:r>
              <a:rPr lang="en-US" dirty="0">
                <a:solidFill>
                  <a:srgbClr val="0070C0"/>
                </a:solidFill>
              </a:rPr>
              <a:t>()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828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125" y="51976"/>
            <a:ext cx="309634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ru-RU" dirty="0"/>
              <a:t>Свойство </a:t>
            </a:r>
            <a:r>
              <a:rPr lang="en-US" b="1" dirty="0"/>
              <a:t>value</a:t>
            </a:r>
            <a:endParaRPr lang="ru-R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476672"/>
            <a:ext cx="8928992" cy="286232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форм,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наприклад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як</a:t>
            </a:r>
            <a:endParaRPr lang="en-US" dirty="0"/>
          </a:p>
          <a:p>
            <a:endParaRPr lang="ru-RU" dirty="0"/>
          </a:p>
          <a:p>
            <a:r>
              <a:rPr lang="en-US" dirty="0"/>
              <a:t>&lt;input type =</a:t>
            </a:r>
            <a:r>
              <a:rPr lang="en-US" dirty="0">
                <a:latin typeface="Courier New"/>
                <a:cs typeface="Courier New"/>
              </a:rPr>
              <a:t>"</a:t>
            </a:r>
            <a:r>
              <a:rPr lang="en-US" dirty="0"/>
              <a:t>…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&gt;</a:t>
            </a:r>
            <a:endParaRPr lang="ru-RU" dirty="0"/>
          </a:p>
          <a:p>
            <a:endParaRPr lang="ru-RU" dirty="0"/>
          </a:p>
          <a:p>
            <a:r>
              <a:rPr lang="en-US" dirty="0"/>
              <a:t>&lt;select&gt;</a:t>
            </a:r>
          </a:p>
          <a:p>
            <a:r>
              <a:rPr lang="en-US" dirty="0"/>
              <a:t>   &lt;option value=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index.html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&gt;</a:t>
            </a:r>
          </a:p>
          <a:p>
            <a:r>
              <a:rPr lang="en-US" dirty="0"/>
              <a:t>&lt;/select &gt;</a:t>
            </a:r>
          </a:p>
          <a:p>
            <a:endParaRPr lang="ru-RU" dirty="0"/>
          </a:p>
          <a:p>
            <a:r>
              <a:rPr lang="ru-RU" dirty="0"/>
              <a:t>и т.д.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501008"/>
            <a:ext cx="8609544" cy="1200329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&lt;form&gt;</a:t>
            </a:r>
          </a:p>
          <a:p>
            <a:r>
              <a:rPr lang="ru-RU" dirty="0"/>
              <a:t>   </a:t>
            </a:r>
            <a:r>
              <a:rPr lang="en-US" dirty="0"/>
              <a:t>&lt;input type="text" </a:t>
            </a:r>
            <a:r>
              <a:rPr lang="ru-RU" dirty="0"/>
              <a:t> </a:t>
            </a:r>
            <a:r>
              <a:rPr lang="en-US" dirty="0"/>
              <a:t>id="d1"&gt;</a:t>
            </a:r>
          </a:p>
          <a:p>
            <a:r>
              <a:rPr lang="en-US" dirty="0"/>
              <a:t>   &lt;input   type="button" value="</a:t>
            </a:r>
            <a:r>
              <a:rPr lang="ru-RU" dirty="0"/>
              <a:t>Добавить" </a:t>
            </a:r>
            <a:r>
              <a:rPr lang="en-US" dirty="0"/>
              <a:t> id="add"&gt;</a:t>
            </a:r>
          </a:p>
          <a:p>
            <a:r>
              <a:rPr lang="en-US" dirty="0"/>
              <a:t>&lt;/form&gt;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5253007"/>
            <a:ext cx="860954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var</a:t>
            </a:r>
            <a:r>
              <a:rPr lang="en-US" b="1" dirty="0"/>
              <a:t>  text =   </a:t>
            </a:r>
            <a:r>
              <a:rPr lang="en-US" b="1" dirty="0" err="1"/>
              <a:t>document.getElementById</a:t>
            </a:r>
            <a:r>
              <a:rPr lang="en-US" b="1" dirty="0"/>
              <a:t>("</a:t>
            </a:r>
            <a:r>
              <a:rPr lang="en-US" b="1" dirty="0">
                <a:solidFill>
                  <a:schemeClr val="accent2"/>
                </a:solidFill>
              </a:rPr>
              <a:t>d1</a:t>
            </a:r>
            <a:r>
              <a:rPr lang="en-US" b="1" dirty="0"/>
              <a:t>")</a:t>
            </a:r>
            <a:r>
              <a:rPr lang="en-US" b="1" dirty="0">
                <a:solidFill>
                  <a:srgbClr val="FF0000"/>
                </a:solidFill>
              </a:rPr>
              <a:t>.value</a:t>
            </a:r>
            <a:r>
              <a:rPr lang="en-US" b="1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2108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Поля типу </a:t>
            </a:r>
            <a:r>
              <a:rPr lang="en-US" sz="2000" b="1" dirty="0"/>
              <a:t>text </a:t>
            </a:r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8928992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&lt;input type="text" name="login"&gt;</a:t>
            </a:r>
          </a:p>
          <a:p>
            <a:endParaRPr lang="en-US" dirty="0"/>
          </a:p>
          <a:p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форм </a:t>
            </a:r>
            <a:r>
              <a:rPr lang="ru-RU" dirty="0" err="1"/>
              <a:t>мають</a:t>
            </a:r>
            <a:r>
              <a:rPr lang="ru-RU" dirty="0"/>
              <a:t>:</a:t>
            </a:r>
          </a:p>
          <a:p>
            <a:r>
              <a:rPr lang="ru-RU" dirty="0"/>
              <a:t>- Свойством </a:t>
            </a:r>
            <a:r>
              <a:rPr lang="en-US" dirty="0">
                <a:solidFill>
                  <a:schemeClr val="accent2"/>
                </a:solidFill>
              </a:rPr>
              <a:t>value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ru-RU" dirty="0"/>
              <a:t>- </a:t>
            </a:r>
            <a:r>
              <a:rPr lang="ru-RU" dirty="0" err="1"/>
              <a:t>подіями</a:t>
            </a:r>
            <a:r>
              <a:rPr lang="ru-RU" dirty="0"/>
              <a:t>  </a:t>
            </a:r>
            <a:r>
              <a:rPr lang="en-US" dirty="0" err="1">
                <a:solidFill>
                  <a:schemeClr val="accent2"/>
                </a:solidFill>
              </a:rPr>
              <a:t>onfocus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onblur,onchange</a:t>
            </a:r>
            <a:r>
              <a:rPr lang="en-US" dirty="0">
                <a:solidFill>
                  <a:schemeClr val="accent2"/>
                </a:solidFill>
              </a:rPr>
              <a:t>,</a:t>
            </a:r>
          </a:p>
          <a:p>
            <a:r>
              <a:rPr lang="ru-RU" dirty="0">
                <a:solidFill>
                  <a:schemeClr val="accent2"/>
                </a:solidFill>
              </a:rPr>
              <a:t>         </a:t>
            </a:r>
            <a:r>
              <a:rPr lang="en-US" dirty="0">
                <a:solidFill>
                  <a:schemeClr val="accent2"/>
                </a:solidFill>
              </a:rPr>
              <a:t>  </a:t>
            </a:r>
            <a:r>
              <a:rPr lang="en-US" dirty="0" err="1">
                <a:solidFill>
                  <a:schemeClr val="accent2"/>
                </a:solidFill>
              </a:rPr>
              <a:t>onkeydown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onkeyup,onkeypress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07504" y="2564904"/>
            <a:ext cx="4464496" cy="360040"/>
          </a:xfrm>
          <a:prstGeom prst="rect">
            <a:avLst/>
          </a:prstGeom>
          <a:ln w="25400" cap="flat" cmpd="sng" algn="ctr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/>
              <a:t>Поля типу </a:t>
            </a:r>
            <a:r>
              <a:rPr lang="en-US" sz="2000" b="1" dirty="0"/>
              <a:t>radio, </a:t>
            </a:r>
            <a:r>
              <a:rPr lang="en-US" sz="2000" b="1" dirty="0" err="1"/>
              <a:t>chreckbox</a:t>
            </a:r>
            <a:r>
              <a:rPr lang="en-US" sz="2000" b="1" dirty="0"/>
              <a:t> 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7504" y="3068960"/>
            <a:ext cx="8928992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&lt;input type="radio" name= "</a:t>
            </a:r>
            <a:r>
              <a:rPr lang="en-US" dirty="0" err="1"/>
              <a:t>lang</a:t>
            </a:r>
            <a:r>
              <a:rPr lang="en-US" dirty="0"/>
              <a:t>"</a:t>
            </a:r>
            <a:r>
              <a:rPr lang="ru-RU" dirty="0"/>
              <a:t> </a:t>
            </a:r>
            <a:r>
              <a:rPr lang="en-US" dirty="0"/>
              <a:t>value="1"&gt;</a:t>
            </a:r>
          </a:p>
          <a:p>
            <a:r>
              <a:rPr lang="en-US" dirty="0"/>
              <a:t>&lt;input type="radio" name= "</a:t>
            </a:r>
            <a:r>
              <a:rPr lang="en-US" dirty="0" err="1"/>
              <a:t>lang</a:t>
            </a:r>
            <a:r>
              <a:rPr lang="en-US" dirty="0"/>
              <a:t>"</a:t>
            </a:r>
            <a:r>
              <a:rPr lang="ru-RU" dirty="0"/>
              <a:t> </a:t>
            </a:r>
            <a:r>
              <a:rPr lang="en-US" dirty="0"/>
              <a:t>value="2"&gt;</a:t>
            </a:r>
          </a:p>
          <a:p>
            <a:endParaRPr lang="en-US" dirty="0"/>
          </a:p>
          <a:p>
            <a:r>
              <a:rPr lang="ru-RU" dirty="0" err="1"/>
              <a:t>Додатково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: </a:t>
            </a:r>
            <a:endParaRPr lang="en-US" dirty="0"/>
          </a:p>
          <a:p>
            <a:r>
              <a:rPr lang="ru-RU" dirty="0"/>
              <a:t>- свойство </a:t>
            </a:r>
            <a:r>
              <a:rPr lang="en-US" dirty="0">
                <a:solidFill>
                  <a:schemeClr val="accent2"/>
                </a:solidFill>
              </a:rPr>
              <a:t>checked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</a:t>
            </a:r>
            <a:r>
              <a:rPr lang="en-US" dirty="0">
                <a:solidFill>
                  <a:srgbClr val="0070C0"/>
                </a:solidFill>
              </a:rPr>
              <a:t> true </a:t>
            </a:r>
            <a:r>
              <a:rPr lang="uk-UA" dirty="0"/>
              <a:t>або</a:t>
            </a:r>
            <a:r>
              <a:rPr lang="en-US" dirty="0">
                <a:solidFill>
                  <a:srgbClr val="0070C0"/>
                </a:solidFill>
              </a:rPr>
              <a:t> false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ru-RU" dirty="0"/>
              <a:t>- </a:t>
            </a:r>
            <a:r>
              <a:rPr lang="ru-RU" dirty="0" err="1"/>
              <a:t>події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onclick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onchange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246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sz="2000" b="1" dirty="0"/>
              <a:t>Поля  </a:t>
            </a:r>
            <a:r>
              <a:rPr lang="en-US" sz="2000" b="1" dirty="0"/>
              <a:t>select </a:t>
            </a:r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483637"/>
            <a:ext cx="8928992" cy="563231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&lt;select name="</a:t>
            </a:r>
            <a:r>
              <a:rPr lang="en-US" dirty="0" err="1"/>
              <a:t>sel</a:t>
            </a:r>
            <a:r>
              <a:rPr lang="en-US" dirty="0"/>
              <a:t>"</a:t>
            </a:r>
            <a:r>
              <a:rPr lang="uk-UA" dirty="0"/>
              <a:t> </a:t>
            </a:r>
            <a:r>
              <a:rPr lang="en-US" dirty="0">
                <a:solidFill>
                  <a:srgbClr val="0070C0"/>
                </a:solidFill>
              </a:rPr>
              <a:t>select-multiple</a:t>
            </a:r>
            <a:r>
              <a:rPr lang="en-US" dirty="0"/>
              <a:t>&gt;</a:t>
            </a:r>
          </a:p>
          <a:p>
            <a:r>
              <a:rPr lang="en-US" dirty="0"/>
              <a:t>		&lt;option value="one"&gt;One&lt;/option&gt;</a:t>
            </a:r>
          </a:p>
          <a:p>
            <a:r>
              <a:rPr lang="en-US" dirty="0"/>
              <a:t>		&lt;option value="two"&gt;Two&lt;/option&gt;</a:t>
            </a:r>
          </a:p>
          <a:p>
            <a:r>
              <a:rPr lang="en-US" dirty="0"/>
              <a:t>		&lt;option value="three"&gt;Three&lt;/option&gt;</a:t>
            </a:r>
          </a:p>
          <a:p>
            <a:r>
              <a:rPr lang="en-US" dirty="0"/>
              <a:t>	&lt;/select&gt;</a:t>
            </a:r>
          </a:p>
          <a:p>
            <a:endParaRPr lang="uk-UA" dirty="0"/>
          </a:p>
          <a:p>
            <a:r>
              <a:rPr lang="ru-RU" dirty="0"/>
              <a:t>-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onchange</a:t>
            </a:r>
            <a:endParaRPr lang="uk-UA" dirty="0"/>
          </a:p>
          <a:p>
            <a:endParaRPr lang="en-US" dirty="0"/>
          </a:p>
          <a:p>
            <a:r>
              <a:rPr lang="en-US" dirty="0"/>
              <a:t>- </a:t>
            </a:r>
            <a:r>
              <a:rPr lang="ru-RU" dirty="0"/>
              <a:t>свойство </a:t>
            </a:r>
            <a:r>
              <a:rPr lang="en-US" dirty="0">
                <a:solidFill>
                  <a:srgbClr val="0070C0"/>
                </a:solidFill>
              </a:rPr>
              <a:t>select-one</a:t>
            </a:r>
            <a:r>
              <a:rPr lang="en-US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select-multiple</a:t>
            </a:r>
          </a:p>
          <a:p>
            <a:endParaRPr lang="en-US" dirty="0"/>
          </a:p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встановлено</a:t>
            </a:r>
            <a:r>
              <a:rPr lang="ru-RU" dirty="0"/>
              <a:t> свойство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select-one </a:t>
            </a:r>
            <a:r>
              <a:rPr lang="ru-RU" dirty="0"/>
              <a:t>то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свойства </a:t>
            </a:r>
            <a:r>
              <a:rPr lang="en-US" dirty="0" err="1">
                <a:solidFill>
                  <a:schemeClr val="accent2"/>
                </a:solidFill>
              </a:rPr>
              <a:t>selectedIndex</a:t>
            </a:r>
            <a:r>
              <a:rPr lang="en-US" dirty="0"/>
              <a:t>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вибраний</a:t>
            </a:r>
            <a:r>
              <a:rPr lang="ru-RU" dirty="0"/>
              <a:t> 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option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встановлено</a:t>
            </a:r>
            <a:r>
              <a:rPr lang="ru-RU" dirty="0"/>
              <a:t> свойство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select-multiple </a:t>
            </a:r>
            <a:r>
              <a:rPr lang="ru-RU" dirty="0"/>
              <a:t>то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 свойства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>
                <a:solidFill>
                  <a:schemeClr val="accent2"/>
                </a:solidFill>
              </a:rPr>
              <a:t>options[x].selected  - </a:t>
            </a:r>
            <a:r>
              <a:rPr lang="en-US" dirty="0">
                <a:solidFill>
                  <a:srgbClr val="0070C0"/>
                </a:solidFill>
              </a:rPr>
              <a:t>true</a:t>
            </a:r>
            <a:r>
              <a:rPr lang="en-US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false</a:t>
            </a:r>
          </a:p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вибраних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option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	     	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395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107504" y="1772816"/>
            <a:ext cx="8856984" cy="1477328"/>
            <a:chOff x="107504" y="1772816"/>
            <a:chExt cx="8856984" cy="1477328"/>
          </a:xfrm>
        </p:grpSpPr>
        <p:sp>
          <p:nvSpPr>
            <p:cNvPr id="4" name="TextBox 3"/>
            <p:cNvSpPr txBox="1"/>
            <p:nvPr/>
          </p:nvSpPr>
          <p:spPr>
            <a:xfrm>
              <a:off x="107504" y="1772816"/>
              <a:ext cx="8856984" cy="1477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&lt;select</a:t>
              </a:r>
              <a:r>
                <a:rPr lang="ru-RU" dirty="0"/>
                <a:t> </a:t>
              </a:r>
              <a:r>
                <a:rPr lang="en-US" dirty="0"/>
                <a:t>id="</a:t>
              </a:r>
              <a:r>
                <a:rPr lang="en-US" b="1" dirty="0"/>
                <a:t>list</a:t>
              </a:r>
              <a:r>
                <a:rPr lang="en-US" dirty="0"/>
                <a:t>"&gt;</a:t>
              </a:r>
            </a:p>
            <a:p>
              <a:r>
                <a:rPr lang="en-US" dirty="0"/>
                <a:t>      </a:t>
              </a:r>
              <a:r>
                <a:rPr lang="ru-RU" dirty="0"/>
                <a:t>  </a:t>
              </a:r>
              <a:r>
                <a:rPr lang="en-US" dirty="0"/>
                <a:t>&lt;option </a:t>
              </a:r>
              <a:r>
                <a:rPr lang="en-US" b="1" dirty="0">
                  <a:solidFill>
                    <a:srgbClr val="FF0000"/>
                  </a:solidFill>
                </a:rPr>
                <a:t>value</a:t>
              </a:r>
              <a:r>
                <a:rPr lang="en-US" dirty="0"/>
                <a:t>="</a:t>
              </a:r>
              <a:r>
                <a:rPr lang="en-US" b="1" dirty="0"/>
                <a:t>1</a:t>
              </a:r>
              <a:r>
                <a:rPr lang="en-US" dirty="0"/>
                <a:t>"&gt;</a:t>
              </a:r>
              <a:r>
                <a:rPr lang="ru-RU" dirty="0"/>
                <a:t>Пункт 1&lt;/</a:t>
              </a:r>
              <a:r>
                <a:rPr lang="en-US" dirty="0"/>
                <a:t>option&gt;</a:t>
              </a:r>
            </a:p>
            <a:p>
              <a:r>
                <a:rPr lang="en-US" dirty="0"/>
                <a:t>        &lt;option </a:t>
              </a:r>
              <a:r>
                <a:rPr lang="en-US" b="1" dirty="0">
                  <a:solidFill>
                    <a:srgbClr val="FF0000"/>
                  </a:solidFill>
                </a:rPr>
                <a:t>value</a:t>
              </a:r>
              <a:r>
                <a:rPr lang="en-US" dirty="0"/>
                <a:t>="</a:t>
              </a:r>
              <a:r>
                <a:rPr lang="en-US" b="1" dirty="0"/>
                <a:t>2</a:t>
              </a:r>
              <a:r>
                <a:rPr lang="en-US" dirty="0"/>
                <a:t>"&gt;</a:t>
              </a:r>
              <a:r>
                <a:rPr lang="ru-RU" dirty="0"/>
                <a:t>Пункт 2&lt;/</a:t>
              </a:r>
              <a:r>
                <a:rPr lang="en-US" dirty="0"/>
                <a:t>option&gt;</a:t>
              </a:r>
            </a:p>
            <a:p>
              <a:r>
                <a:rPr lang="en-US" dirty="0"/>
                <a:t>        &lt;option </a:t>
              </a:r>
              <a:r>
                <a:rPr lang="en-US" b="1" dirty="0">
                  <a:solidFill>
                    <a:srgbClr val="FF0000"/>
                  </a:solidFill>
                </a:rPr>
                <a:t>value</a:t>
              </a:r>
              <a:r>
                <a:rPr lang="en-US" dirty="0"/>
                <a:t>="</a:t>
              </a:r>
              <a:r>
                <a:rPr lang="en-US" b="1" dirty="0"/>
                <a:t>3</a:t>
              </a:r>
              <a:r>
                <a:rPr lang="en-US" dirty="0"/>
                <a:t>"&gt;</a:t>
              </a:r>
              <a:r>
                <a:rPr lang="ru-RU" dirty="0"/>
                <a:t>Пункт 3&lt;/</a:t>
              </a:r>
              <a:r>
                <a:rPr lang="en-US" dirty="0"/>
                <a:t>option&gt;</a:t>
              </a:r>
            </a:p>
            <a:p>
              <a:r>
                <a:rPr lang="en-US" dirty="0"/>
                <a:t>&lt;/select&gt;</a:t>
              </a:r>
            </a:p>
          </p:txBody>
        </p:sp>
        <p:sp>
          <p:nvSpPr>
            <p:cNvPr id="8" name="Левая фигурная скобка 7"/>
            <p:cNvSpPr/>
            <p:nvPr/>
          </p:nvSpPr>
          <p:spPr>
            <a:xfrm>
              <a:off x="1043608" y="2115436"/>
              <a:ext cx="216024" cy="792088"/>
            </a:xfrm>
            <a:prstGeom prst="leftBrac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254870" y="66690"/>
            <a:ext cx="179086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select.html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65951" y="3861048"/>
            <a:ext cx="4104457" cy="954107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000" dirty="0" err="1"/>
              <a:t>container</a:t>
            </a:r>
            <a:r>
              <a:rPr lang="en-US" sz="2000" dirty="0" err="1">
                <a:solidFill>
                  <a:schemeClr val="accent2"/>
                </a:solidFill>
              </a:rPr>
              <a:t>.options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масив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en-US" dirty="0"/>
              <a:t> options</a:t>
            </a:r>
            <a:r>
              <a:rPr lang="ru-RU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2040" y="3861048"/>
            <a:ext cx="4104456" cy="98488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/>
            </a:lvl1pPr>
          </a:lstStyle>
          <a:p>
            <a:r>
              <a:rPr lang="en-US" dirty="0" err="1"/>
              <a:t>container.</a:t>
            </a:r>
            <a:r>
              <a:rPr lang="en-US" dirty="0" err="1">
                <a:solidFill>
                  <a:schemeClr val="accent2"/>
                </a:solidFill>
              </a:rPr>
              <a:t>selectedIndex</a:t>
            </a:r>
            <a:endParaRPr lang="ru-RU" dirty="0">
              <a:solidFill>
                <a:schemeClr val="accent2"/>
              </a:solidFill>
            </a:endParaRPr>
          </a:p>
          <a:p>
            <a:endParaRPr lang="ru-RU" dirty="0"/>
          </a:p>
          <a:p>
            <a:r>
              <a:rPr lang="ru-RU" sz="1800" dirty="0" err="1"/>
              <a:t>Це</a:t>
            </a:r>
            <a:r>
              <a:rPr lang="ru-RU" sz="1800" dirty="0"/>
              <a:t> </a:t>
            </a:r>
            <a:r>
              <a:rPr lang="ru-RU" sz="1800" dirty="0" err="1"/>
              <a:t>вибраний</a:t>
            </a:r>
            <a:r>
              <a:rPr lang="ru-RU" sz="1800" dirty="0"/>
              <a:t> </a:t>
            </a:r>
            <a:r>
              <a:rPr lang="ru-RU" sz="1800" dirty="0" err="1"/>
              <a:t>елемент</a:t>
            </a:r>
            <a:r>
              <a:rPr lang="ru-RU" sz="1800" dirty="0"/>
              <a:t> </a:t>
            </a:r>
            <a:r>
              <a:rPr lang="en-US" sz="1800" dirty="0"/>
              <a:t>option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136193" y="764704"/>
            <a:ext cx="8799606" cy="646331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const container = </a:t>
            </a:r>
            <a:r>
              <a:rPr lang="en-US" dirty="0" err="1"/>
              <a:t>document.getElementById</a:t>
            </a:r>
            <a:r>
              <a:rPr lang="en-US" dirty="0"/>
              <a:t>('list');</a:t>
            </a:r>
          </a:p>
          <a:p>
            <a:r>
              <a:rPr lang="en-US" dirty="0"/>
              <a:t>const  </a:t>
            </a:r>
            <a:r>
              <a:rPr lang="en-US" dirty="0" err="1"/>
              <a:t>val</a:t>
            </a:r>
            <a:r>
              <a:rPr lang="en-US" dirty="0"/>
              <a:t> = </a:t>
            </a:r>
            <a:r>
              <a:rPr lang="en-US" dirty="0" err="1">
                <a:solidFill>
                  <a:srgbClr val="0070C0"/>
                </a:solidFill>
              </a:rPr>
              <a:t>container.options</a:t>
            </a:r>
            <a:r>
              <a:rPr lang="en-US" dirty="0"/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container.selectedIndex</a:t>
            </a:r>
            <a:r>
              <a:rPr lang="en-US" dirty="0"/>
              <a:t>].</a:t>
            </a:r>
            <a:r>
              <a:rPr lang="en-US" dirty="0">
                <a:solidFill>
                  <a:schemeClr val="accent2"/>
                </a:solidFill>
              </a:rPr>
              <a:t>value</a:t>
            </a:r>
            <a:r>
              <a:rPr lang="en-US" dirty="0"/>
              <a:t>;</a:t>
            </a:r>
            <a:endParaRPr lang="ru-RU" dirty="0"/>
          </a:p>
        </p:txBody>
      </p:sp>
      <p:grpSp>
        <p:nvGrpSpPr>
          <p:cNvPr id="38" name="Группа 37"/>
          <p:cNvGrpSpPr/>
          <p:nvPr/>
        </p:nvGrpSpPr>
        <p:grpSpPr>
          <a:xfrm>
            <a:off x="251520" y="2511480"/>
            <a:ext cx="1656184" cy="1421576"/>
            <a:chOff x="251520" y="2511480"/>
            <a:chExt cx="1656184" cy="1421576"/>
          </a:xfrm>
        </p:grpSpPr>
        <p:cxnSp>
          <p:nvCxnSpPr>
            <p:cNvPr id="20" name="Прямая соединительная линия 19"/>
            <p:cNvCxnSpPr/>
            <p:nvPr/>
          </p:nvCxnSpPr>
          <p:spPr>
            <a:xfrm flipH="1" flipV="1">
              <a:off x="251520" y="2511480"/>
              <a:ext cx="1656184" cy="1421576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/>
            <p:cNvCxnSpPr/>
            <p:nvPr/>
          </p:nvCxnSpPr>
          <p:spPr>
            <a:xfrm>
              <a:off x="251520" y="2511480"/>
              <a:ext cx="72008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9" name="Группа 38"/>
          <p:cNvGrpSpPr/>
          <p:nvPr/>
        </p:nvGrpSpPr>
        <p:grpSpPr>
          <a:xfrm>
            <a:off x="6732240" y="2511480"/>
            <a:ext cx="648072" cy="1421576"/>
            <a:chOff x="1259632" y="2511480"/>
            <a:chExt cx="648072" cy="1421576"/>
          </a:xfrm>
        </p:grpSpPr>
        <p:cxnSp>
          <p:nvCxnSpPr>
            <p:cNvPr id="40" name="Прямая соединительная линия 39"/>
            <p:cNvCxnSpPr/>
            <p:nvPr/>
          </p:nvCxnSpPr>
          <p:spPr>
            <a:xfrm flipV="1">
              <a:off x="1907704" y="2511480"/>
              <a:ext cx="0" cy="1421576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/>
            <p:nvPr/>
          </p:nvCxnSpPr>
          <p:spPr>
            <a:xfrm flipH="1">
              <a:off x="1259632" y="2522366"/>
              <a:ext cx="648072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241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100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44624"/>
            <a:ext cx="4464496" cy="360040"/>
          </a:xfr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11396"/>
            <a:ext cx="89289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5805264"/>
            <a:ext cx="8928992" cy="369332"/>
          </a:xfrm>
          <a:prstGeom prst="rect">
            <a:avLst/>
          </a:prstGeom>
          <a:solidFill>
            <a:srgbClr val="7030A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6381328"/>
            <a:ext cx="8928992" cy="369332"/>
          </a:xfrm>
          <a:prstGeom prst="rect">
            <a:avLst/>
          </a:prstGeom>
          <a:solidFill>
            <a:schemeClr val="accent6"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804248" y="31496"/>
            <a:ext cx="223224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files/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75955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871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2486</TotalTime>
  <Words>1792</Words>
  <Application>Microsoft Office PowerPoint</Application>
  <PresentationFormat>Экран (4:3)</PresentationFormat>
  <Paragraphs>343</Paragraphs>
  <Slides>26</Slides>
  <Notes>17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Document</vt:lpstr>
      <vt:lpstr>Презентация PowerPoint</vt:lpstr>
      <vt:lpstr>Презентация PowerPoint</vt:lpstr>
      <vt:lpstr>Типи node (свойство nodeType)</vt:lpstr>
      <vt:lpstr>Moving through DOM</vt:lpstr>
      <vt:lpstr>Робота з атрибутами вузла</vt:lpstr>
      <vt:lpstr>Робота з класами елементів</vt:lpstr>
      <vt:lpstr>Робота з атрибутами користувача елементів</vt:lpstr>
      <vt:lpstr>Зміна вмісту елемента</vt:lpstr>
      <vt:lpstr>Зміна вмісту елемента</vt:lpstr>
      <vt:lpstr>Додавання елементів</vt:lpstr>
      <vt:lpstr>Створення атрибутів</vt:lpstr>
      <vt:lpstr>Видалення елементів</vt:lpstr>
      <vt:lpstr>Презентация PowerPoint</vt:lpstr>
      <vt:lpstr>Робота з формами</vt:lpstr>
      <vt:lpstr>Презентация PowerPoint</vt:lpstr>
      <vt:lpstr>Поля типу text </vt:lpstr>
      <vt:lpstr>Поля  select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457</cp:revision>
  <dcterms:created xsi:type="dcterms:W3CDTF">2012-03-08T07:38:11Z</dcterms:created>
  <dcterms:modified xsi:type="dcterms:W3CDTF">2024-10-05T06:32:47Z</dcterms:modified>
</cp:coreProperties>
</file>