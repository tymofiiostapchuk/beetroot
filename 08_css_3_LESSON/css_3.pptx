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1" r:id="rId2"/>
    <p:sldId id="307" r:id="rId3"/>
    <p:sldId id="272" r:id="rId4"/>
    <p:sldId id="411" r:id="rId5"/>
    <p:sldId id="308" r:id="rId6"/>
    <p:sldId id="275" r:id="rId7"/>
    <p:sldId id="276" r:id="rId8"/>
    <p:sldId id="353" r:id="rId9"/>
    <p:sldId id="269" r:id="rId10"/>
    <p:sldId id="278" r:id="rId11"/>
    <p:sldId id="317" r:id="rId12"/>
    <p:sldId id="367" r:id="rId13"/>
    <p:sldId id="360" r:id="rId14"/>
    <p:sldId id="361" r:id="rId15"/>
    <p:sldId id="362" r:id="rId16"/>
    <p:sldId id="364" r:id="rId17"/>
    <p:sldId id="363" r:id="rId18"/>
    <p:sldId id="372" r:id="rId19"/>
    <p:sldId id="373" r:id="rId20"/>
    <p:sldId id="413" r:id="rId21"/>
    <p:sldId id="374" r:id="rId22"/>
    <p:sldId id="286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6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99" autoAdjust="0"/>
    <p:restoredTop sz="94638" autoAdjust="0"/>
  </p:normalViewPr>
  <p:slideViewPr>
    <p:cSldViewPr>
      <p:cViewPr varScale="1">
        <p:scale>
          <a:sx n="84" d="100"/>
          <a:sy n="84" d="100"/>
        </p:scale>
        <p:origin x="941" y="56"/>
      </p:cViewPr>
      <p:guideLst>
        <p:guide orient="horz" pos="2160"/>
        <p:guide pos="16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dirty="0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6EF158-505A-45E0-A8F6-08FACAFEA132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5D9F737-6F4C-4E50-B13D-61E5D76B0FF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TR/#tr_CSS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hslpicker.com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44624"/>
            <a:ext cx="4464496" cy="369332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ru-RU" dirty="0" err="1"/>
              <a:t>Особливості</a:t>
            </a:r>
            <a:r>
              <a:rPr lang="ru-RU" dirty="0"/>
              <a:t> </a:t>
            </a:r>
            <a:r>
              <a:rPr lang="en-US" dirty="0"/>
              <a:t>CSS 3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5496" y="548680"/>
            <a:ext cx="8841826" cy="266429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CSS 3</a:t>
            </a:r>
            <a:r>
              <a:rPr lang="ru-RU" b="1" dirty="0">
                <a:solidFill>
                  <a:schemeClr val="tx1"/>
                </a:solidFill>
              </a:rPr>
              <a:t> – модульный. </a:t>
            </a:r>
            <a:r>
              <a:rPr lang="ru-RU" b="1" dirty="0" err="1">
                <a:solidFill>
                  <a:schemeClr val="tx1"/>
                </a:solidFill>
              </a:rPr>
              <a:t>Кожен</a:t>
            </a:r>
            <a:r>
              <a:rPr lang="ru-RU" b="1" dirty="0">
                <a:solidFill>
                  <a:schemeClr val="tx1"/>
                </a:solidFill>
              </a:rPr>
              <a:t> модуль </a:t>
            </a:r>
            <a:r>
              <a:rPr lang="ru-RU" b="1" dirty="0" err="1">
                <a:solidFill>
                  <a:schemeClr val="tx1"/>
                </a:solidFill>
              </a:rPr>
              <a:t>розробляється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окремою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групою</a:t>
            </a:r>
            <a:r>
              <a:rPr lang="ru-RU" b="1" dirty="0">
                <a:solidFill>
                  <a:schemeClr val="tx1"/>
                </a:solidFill>
              </a:rPr>
              <a:t> на</a:t>
            </a:r>
            <a:r>
              <a:rPr lang="en-US" dirty="0">
                <a:solidFill>
                  <a:schemeClr val="tx1"/>
                </a:solidFill>
              </a:rPr>
              <a:t>W3C.</a:t>
            </a:r>
          </a:p>
          <a:p>
            <a:r>
              <a:rPr lang="en-US" b="1" dirty="0">
                <a:solidFill>
                  <a:schemeClr val="tx1"/>
                </a:solidFill>
                <a:hlinkClick r:id="rId2"/>
              </a:rPr>
              <a:t>http://www.w3.org/TR/#tr_CSS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У </a:t>
            </a:r>
            <a:r>
              <a:rPr lang="ru-RU" dirty="0" err="1">
                <a:solidFill>
                  <a:schemeClr val="tx1"/>
                </a:solidFill>
              </a:rPr>
              <a:t>процесі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розробки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його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специфікації</a:t>
            </a:r>
            <a:r>
              <a:rPr lang="ru-RU" dirty="0">
                <a:solidFill>
                  <a:schemeClr val="tx1"/>
                </a:solidFill>
              </a:rPr>
              <a:t> для </a:t>
            </a:r>
            <a:r>
              <a:rPr lang="ru-RU" dirty="0" err="1">
                <a:solidFill>
                  <a:schemeClr val="tx1"/>
                </a:solidFill>
              </a:rPr>
              <a:t>певного</a:t>
            </a:r>
            <a:r>
              <a:rPr lang="ru-RU" dirty="0">
                <a:solidFill>
                  <a:schemeClr val="tx1"/>
                </a:solidFill>
              </a:rPr>
              <a:t> модуля є так </a:t>
            </a:r>
            <a:r>
              <a:rPr lang="ru-RU" dirty="0" err="1">
                <a:solidFill>
                  <a:schemeClr val="tx1"/>
                </a:solidFill>
              </a:rPr>
              <a:t>звані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стани</a:t>
            </a:r>
            <a:r>
              <a:rPr lang="ru-RU" dirty="0">
                <a:solidFill>
                  <a:schemeClr val="tx1"/>
                </a:solidFill>
              </a:rPr>
              <a:t> - </a:t>
            </a:r>
            <a:r>
              <a:rPr lang="en-US" b="1" dirty="0">
                <a:solidFill>
                  <a:schemeClr val="tx1"/>
                </a:solidFill>
              </a:rPr>
              <a:t>module’s status</a:t>
            </a:r>
            <a:endParaRPr lang="ru-RU" b="1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21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44624"/>
            <a:ext cx="4464496" cy="369332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консорціуму</a:t>
            </a:r>
            <a:r>
              <a:rPr lang="ru-RU" dirty="0"/>
              <a:t> </a:t>
            </a:r>
            <a:r>
              <a:rPr lang="en-US" dirty="0"/>
              <a:t>W3C</a:t>
            </a:r>
            <a:endParaRPr lang="ru-RU" dirty="0"/>
          </a:p>
        </p:txBody>
      </p:sp>
      <p:grpSp>
        <p:nvGrpSpPr>
          <p:cNvPr id="15" name="Группа 14"/>
          <p:cNvGrpSpPr/>
          <p:nvPr/>
        </p:nvGrpSpPr>
        <p:grpSpPr>
          <a:xfrm>
            <a:off x="179511" y="548680"/>
            <a:ext cx="8856985" cy="5832648"/>
            <a:chOff x="179512" y="797894"/>
            <a:chExt cx="8856985" cy="5832648"/>
          </a:xfrm>
        </p:grpSpPr>
        <p:sp>
          <p:nvSpPr>
            <p:cNvPr id="9" name="Стрелка вправо 8"/>
            <p:cNvSpPr/>
            <p:nvPr/>
          </p:nvSpPr>
          <p:spPr>
            <a:xfrm rot="5400000">
              <a:off x="4427984" y="2547478"/>
              <a:ext cx="360040" cy="317256"/>
            </a:xfrm>
            <a:prstGeom prst="rightArrow">
              <a:avLst/>
            </a:prstGeom>
            <a:solidFill>
              <a:srgbClr val="92D05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194670" y="797894"/>
              <a:ext cx="8841826" cy="679430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rgbClr val="FF0000"/>
                  </a:solidFill>
                </a:rPr>
                <a:t>Working Draft </a:t>
              </a:r>
              <a:r>
                <a:rPr lang="en-US" dirty="0">
                  <a:solidFill>
                    <a:schemeClr val="tx1"/>
                  </a:solidFill>
                </a:rPr>
                <a:t>- </a:t>
              </a:r>
              <a:r>
                <a:rPr lang="ru-RU" dirty="0">
                  <a:solidFill>
                    <a:schemeClr val="tx1"/>
                  </a:solidFill>
                </a:rPr>
                <a:t>документ </a:t>
              </a:r>
              <a:r>
                <a:rPr lang="ru-RU" dirty="0" err="1">
                  <a:solidFill>
                    <a:schemeClr val="tx1"/>
                  </a:solidFill>
                </a:rPr>
                <a:t>опублікований</a:t>
              </a:r>
              <a:r>
                <a:rPr lang="ru-RU" dirty="0">
                  <a:solidFill>
                    <a:schemeClr val="tx1"/>
                  </a:solidFill>
                </a:rPr>
                <a:t> та </a:t>
              </a:r>
              <a:r>
                <a:rPr lang="ru-RU" dirty="0" err="1">
                  <a:solidFill>
                    <a:schemeClr val="tx1"/>
                  </a:solidFill>
                </a:rPr>
                <a:t>готовий</a:t>
              </a:r>
              <a:r>
                <a:rPr lang="ru-RU" dirty="0">
                  <a:solidFill>
                    <a:schemeClr val="tx1"/>
                  </a:solidFill>
                </a:rPr>
                <a:t> до </a:t>
              </a:r>
              <a:r>
                <a:rPr lang="ru-RU" dirty="0" err="1">
                  <a:solidFill>
                    <a:schemeClr val="tx1"/>
                  </a:solidFill>
                </a:rPr>
                <a:t>рецензування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серед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творців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браузерів</a:t>
              </a:r>
              <a:r>
                <a:rPr lang="ru-RU" dirty="0">
                  <a:solidFill>
                    <a:schemeClr val="tx1"/>
                  </a:solidFill>
                </a:rPr>
                <a:t>, </a:t>
              </a:r>
              <a:r>
                <a:rPr lang="ru-RU" dirty="0" err="1">
                  <a:solidFill>
                    <a:schemeClr val="tx1"/>
                  </a:solidFill>
                </a:rPr>
                <a:t>робочих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груп</a:t>
              </a:r>
              <a:r>
                <a:rPr lang="ru-RU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182314" y="1865572"/>
              <a:ext cx="8854182" cy="660514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LastCall</a:t>
              </a:r>
              <a:r>
                <a:rPr lang="ru-RU" dirty="0">
                  <a:solidFill>
                    <a:schemeClr val="tx1"/>
                  </a:solidFill>
                </a:rPr>
                <a:t> - </a:t>
              </a:r>
              <a:r>
                <a:rPr lang="ru-RU" dirty="0" err="1">
                  <a:solidFill>
                    <a:schemeClr val="tx1"/>
                  </a:solidFill>
                </a:rPr>
                <a:t>розгляд</a:t>
              </a:r>
              <a:r>
                <a:rPr lang="ru-RU" dirty="0">
                  <a:solidFill>
                    <a:schemeClr val="tx1"/>
                  </a:solidFill>
                </a:rPr>
                <a:t> документа </a:t>
              </a:r>
              <a:r>
                <a:rPr lang="ru-RU" dirty="0" err="1">
                  <a:solidFill>
                    <a:schemeClr val="tx1"/>
                  </a:solidFill>
                </a:rPr>
                <a:t>майже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закінчено</a:t>
              </a:r>
              <a:r>
                <a:rPr lang="ru-RU" dirty="0">
                  <a:solidFill>
                    <a:schemeClr val="tx1"/>
                  </a:solidFill>
                </a:rPr>
                <a:t> і </a:t>
              </a:r>
              <a:r>
                <a:rPr lang="ru-RU" dirty="0" err="1">
                  <a:solidFill>
                    <a:schemeClr val="tx1"/>
                  </a:solidFill>
                </a:rPr>
                <a:t>він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готовий</a:t>
              </a:r>
              <a:r>
                <a:rPr lang="ru-RU" dirty="0">
                  <a:solidFill>
                    <a:schemeClr val="tx1"/>
                  </a:solidFill>
                </a:rPr>
                <a:t> для переходу на </a:t>
              </a:r>
              <a:r>
                <a:rPr lang="ru-RU" dirty="0" err="1">
                  <a:solidFill>
                    <a:schemeClr val="tx1"/>
                  </a:solidFill>
                </a:rPr>
                <a:t>наступний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рівень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8" name="Прямоугольник 7"/>
            <p:cNvSpPr/>
            <p:nvPr/>
          </p:nvSpPr>
          <p:spPr>
            <a:xfrm>
              <a:off x="179512" y="2934384"/>
              <a:ext cx="8856984" cy="117587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rgbClr val="FF0000"/>
                  </a:solidFill>
                </a:rPr>
                <a:t>Candidate Recommendation </a:t>
              </a:r>
              <a:r>
                <a:rPr lang="en-US" dirty="0">
                  <a:solidFill>
                    <a:schemeClr val="tx1"/>
                  </a:solidFill>
                </a:rPr>
                <a:t>- </a:t>
              </a:r>
              <a:r>
                <a:rPr lang="ru-RU" dirty="0">
                  <a:solidFill>
                    <a:schemeClr val="tx1"/>
                  </a:solidFill>
                </a:rPr>
                <a:t>у W3C </a:t>
              </a:r>
              <a:r>
                <a:rPr lang="ru-RU" dirty="0" err="1">
                  <a:solidFill>
                    <a:schemeClr val="tx1"/>
                  </a:solidFill>
                </a:rPr>
                <a:t>визнали</a:t>
              </a:r>
              <a:r>
                <a:rPr lang="ru-RU" dirty="0">
                  <a:solidFill>
                    <a:schemeClr val="tx1"/>
                  </a:solidFill>
                </a:rPr>
                <a:t> документ </a:t>
              </a:r>
              <a:r>
                <a:rPr lang="ru-RU" dirty="0" err="1">
                  <a:solidFill>
                    <a:schemeClr val="tx1"/>
                  </a:solidFill>
                </a:rPr>
                <a:t>осмисленим</a:t>
              </a:r>
              <a:r>
                <a:rPr lang="ru-RU" dirty="0">
                  <a:solidFill>
                    <a:schemeClr val="tx1"/>
                  </a:solidFill>
                </a:rPr>
                <a:t>, рецензентам не </a:t>
              </a:r>
              <a:r>
                <a:rPr lang="ru-RU" dirty="0" err="1">
                  <a:solidFill>
                    <a:schemeClr val="tx1"/>
                  </a:solidFill>
                </a:rPr>
                <a:t>вдалося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знайти</a:t>
              </a:r>
              <a:r>
                <a:rPr lang="ru-RU" dirty="0">
                  <a:solidFill>
                    <a:schemeClr val="tx1"/>
                  </a:solidFill>
                </a:rPr>
                <a:t> в </a:t>
              </a:r>
              <a:r>
                <a:rPr lang="ru-RU" dirty="0" err="1">
                  <a:solidFill>
                    <a:schemeClr val="tx1"/>
                  </a:solidFill>
                </a:rPr>
                <a:t>ньому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істотних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похибок</a:t>
              </a:r>
              <a:r>
                <a:rPr lang="ru-RU" dirty="0">
                  <a:solidFill>
                    <a:schemeClr val="tx1"/>
                  </a:solidFill>
                </a:rPr>
                <a:t>, і </a:t>
              </a:r>
              <a:r>
                <a:rPr lang="ru-RU" dirty="0" err="1">
                  <a:solidFill>
                    <a:schemeClr val="tx1"/>
                  </a:solidFill>
                </a:rPr>
                <a:t>всі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технічні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вимоги</a:t>
              </a:r>
              <a:r>
                <a:rPr lang="ru-RU" dirty="0">
                  <a:solidFill>
                    <a:schemeClr val="tx1"/>
                  </a:solidFill>
                </a:rPr>
                <a:t> в </a:t>
              </a:r>
              <a:r>
                <a:rPr lang="ru-RU" dirty="0" err="1">
                  <a:solidFill>
                    <a:schemeClr val="tx1"/>
                  </a:solidFill>
                </a:rPr>
                <a:t>ньому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дотримані</a:t>
              </a:r>
              <a:r>
                <a:rPr lang="ru-RU" dirty="0">
                  <a:solidFill>
                    <a:schemeClr val="tx1"/>
                  </a:solidFill>
                </a:rPr>
                <a:t>, </a:t>
              </a:r>
              <a:r>
                <a:rPr lang="ru-RU" dirty="0" err="1">
                  <a:solidFill>
                    <a:schemeClr val="tx1"/>
                  </a:solidFill>
                </a:rPr>
                <a:t>виробники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можуть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реалізовувати</a:t>
              </a:r>
              <a:r>
                <a:rPr lang="ru-RU" dirty="0">
                  <a:solidFill>
                    <a:schemeClr val="tx1"/>
                  </a:solidFill>
                </a:rPr>
                <a:t> модуль у </a:t>
              </a:r>
              <a:r>
                <a:rPr lang="ru-RU" dirty="0" err="1">
                  <a:solidFill>
                    <a:schemeClr val="tx1"/>
                  </a:solidFill>
                </a:rPr>
                <a:t>своїх</a:t>
              </a:r>
              <a:r>
                <a:rPr lang="ru-RU" dirty="0">
                  <a:solidFill>
                    <a:schemeClr val="tx1"/>
                  </a:solidFill>
                </a:rPr>
                <a:t> браузерах.</a:t>
              </a: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179512" y="4532064"/>
              <a:ext cx="8856984" cy="1234382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tx1"/>
                  </a:solidFill>
                </a:rPr>
                <a:t>Proposed Recommendation</a:t>
              </a:r>
              <a:r>
                <a:rPr lang="ru-RU" dirty="0">
                  <a:solidFill>
                    <a:schemeClr val="tx1"/>
                  </a:solidFill>
                </a:rPr>
                <a:t> - модуль </a:t>
              </a:r>
              <a:r>
                <a:rPr lang="ru-RU" dirty="0" err="1">
                  <a:solidFill>
                    <a:schemeClr val="tx1"/>
                  </a:solidFill>
                </a:rPr>
                <a:t>реалізований</a:t>
              </a:r>
              <a:r>
                <a:rPr lang="ru-RU" dirty="0">
                  <a:solidFill>
                    <a:schemeClr val="tx1"/>
                  </a:solidFill>
                </a:rPr>
                <a:t> не </a:t>
              </a:r>
              <a:r>
                <a:rPr lang="ru-RU" dirty="0" err="1">
                  <a:solidFill>
                    <a:schemeClr val="tx1"/>
                  </a:solidFill>
                </a:rPr>
                <a:t>менш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ніж</a:t>
              </a:r>
              <a:r>
                <a:rPr lang="ru-RU" dirty="0">
                  <a:solidFill>
                    <a:schemeClr val="tx1"/>
                  </a:solidFill>
                </a:rPr>
                <a:t> у 2-х браузерах та проблем не </a:t>
              </a:r>
              <a:r>
                <a:rPr lang="ru-RU" dirty="0" err="1">
                  <a:solidFill>
                    <a:schemeClr val="tx1"/>
                  </a:solidFill>
                </a:rPr>
                <a:t>виявлено</a:t>
              </a:r>
              <a:r>
                <a:rPr lang="ru-RU" dirty="0">
                  <a:solidFill>
                    <a:schemeClr val="tx1"/>
                  </a:solidFill>
                </a:rPr>
                <a:t>. Документ </a:t>
              </a:r>
              <a:r>
                <a:rPr lang="ru-RU" dirty="0" err="1">
                  <a:solidFill>
                    <a:schemeClr val="tx1"/>
                  </a:solidFill>
                </a:rPr>
                <a:t>посилається</a:t>
              </a:r>
              <a:r>
                <a:rPr lang="ru-RU" dirty="0">
                  <a:solidFill>
                    <a:schemeClr val="tx1"/>
                  </a:solidFill>
                </a:rPr>
                <a:t> на </a:t>
              </a:r>
              <a:r>
                <a:rPr lang="ru-RU" dirty="0" err="1">
                  <a:solidFill>
                    <a:schemeClr val="tx1"/>
                  </a:solidFill>
                </a:rPr>
                <a:t>схвалення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en-US" b="1" dirty="0">
                  <a:solidFill>
                    <a:srgbClr val="0070C0"/>
                  </a:solidFill>
                </a:rPr>
                <a:t>W3C Advisory Committee</a:t>
              </a:r>
              <a:r>
                <a:rPr lang="ru-RU" b="1" dirty="0">
                  <a:solidFill>
                    <a:srgbClr val="0070C0"/>
                  </a:solidFill>
                </a:rPr>
                <a:t> </a:t>
              </a:r>
              <a:r>
                <a:rPr lang="ru-RU" dirty="0">
                  <a:solidFill>
                    <a:schemeClr val="tx1"/>
                  </a:solidFill>
                </a:rPr>
                <a:t>(</a:t>
              </a:r>
              <a:r>
                <a:rPr lang="ru-RU" dirty="0" err="1">
                  <a:solidFill>
                    <a:schemeClr val="tx1"/>
                  </a:solidFill>
                </a:rPr>
                <a:t>Консультативний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комітет</a:t>
              </a:r>
              <a:r>
                <a:rPr lang="ru-RU" dirty="0">
                  <a:solidFill>
                    <a:schemeClr val="tx1"/>
                  </a:solidFill>
                </a:rPr>
                <a:t> W3C) </a:t>
              </a:r>
              <a:r>
                <a:rPr lang="ru-RU" dirty="0" err="1">
                  <a:solidFill>
                    <a:schemeClr val="tx1"/>
                  </a:solidFill>
                </a:rPr>
                <a:t>Якщо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комітет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схвалив</a:t>
              </a:r>
              <a:r>
                <a:rPr lang="ru-RU" dirty="0">
                  <a:solidFill>
                    <a:schemeClr val="tx1"/>
                  </a:solidFill>
                </a:rPr>
                <a:t> модуль – </a:t>
              </a:r>
              <a:r>
                <a:rPr lang="ru-RU" dirty="0" err="1">
                  <a:solidFill>
                    <a:schemeClr val="tx1"/>
                  </a:solidFill>
                </a:rPr>
                <a:t>перехід</a:t>
              </a:r>
              <a:r>
                <a:rPr lang="ru-RU" dirty="0">
                  <a:solidFill>
                    <a:schemeClr val="tx1"/>
                  </a:solidFill>
                </a:rPr>
                <a:t> на </a:t>
              </a:r>
              <a:r>
                <a:rPr lang="ru-RU" dirty="0" err="1">
                  <a:solidFill>
                    <a:schemeClr val="tx1"/>
                  </a:solidFill>
                </a:rPr>
                <a:t>наступний</a:t>
              </a:r>
              <a:r>
                <a:rPr lang="ru-RU" dirty="0">
                  <a:solidFill>
                    <a:schemeClr val="tx1"/>
                  </a:solidFill>
                </a:rPr>
                <a:t> </a:t>
              </a:r>
              <a:r>
                <a:rPr lang="ru-RU" dirty="0" err="1">
                  <a:solidFill>
                    <a:schemeClr val="tx1"/>
                  </a:solidFill>
                </a:rPr>
                <a:t>рівень</a:t>
              </a:r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1" name="Стрелка вправо 10"/>
            <p:cNvSpPr/>
            <p:nvPr/>
          </p:nvSpPr>
          <p:spPr>
            <a:xfrm rot="5400000">
              <a:off x="4392262" y="4158549"/>
              <a:ext cx="413830" cy="317256"/>
            </a:xfrm>
            <a:prstGeom prst="rightArrow">
              <a:avLst/>
            </a:prstGeom>
            <a:solidFill>
              <a:srgbClr val="92D05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193233" y="6198494"/>
              <a:ext cx="8843264" cy="432048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Recommendation</a:t>
              </a:r>
              <a:endParaRPr lang="ru-RU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Стрелка вправо 12"/>
            <p:cNvSpPr/>
            <p:nvPr/>
          </p:nvSpPr>
          <p:spPr>
            <a:xfrm rot="5400000">
              <a:off x="4426953" y="5795634"/>
              <a:ext cx="344448" cy="317256"/>
            </a:xfrm>
            <a:prstGeom prst="rightArrow">
              <a:avLst/>
            </a:prstGeom>
            <a:solidFill>
              <a:srgbClr val="92D05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Стрелка вправо 13"/>
            <p:cNvSpPr/>
            <p:nvPr/>
          </p:nvSpPr>
          <p:spPr>
            <a:xfrm rot="5400000">
              <a:off x="4391479" y="1515699"/>
              <a:ext cx="379086" cy="317256"/>
            </a:xfrm>
            <a:prstGeom prst="rightArrow">
              <a:avLst/>
            </a:prstGeom>
            <a:solidFill>
              <a:srgbClr val="92D050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782786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40960" cy="432048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/>
              <a:t>Приставки до </a:t>
            </a:r>
            <a:r>
              <a:rPr lang="ru-RU" sz="1800" dirty="0" err="1"/>
              <a:t>властивостей</a:t>
            </a:r>
            <a:r>
              <a:rPr lang="ru-RU" sz="1800" dirty="0"/>
              <a:t> CSS для </a:t>
            </a:r>
            <a:r>
              <a:rPr lang="ru-RU" sz="1800" dirty="0" err="1"/>
              <a:t>браузерів</a:t>
            </a:r>
            <a:r>
              <a:rPr lang="en-US" sz="1800" dirty="0"/>
              <a:t>(</a:t>
            </a:r>
            <a:r>
              <a:rPr lang="ru-RU" sz="1800" dirty="0"/>
              <a:t> </a:t>
            </a:r>
            <a:r>
              <a:rPr lang="en-US" sz="1800" dirty="0"/>
              <a:t>vendor prefix )</a:t>
            </a:r>
            <a:endParaRPr lang="ru-RU" sz="1800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348863"/>
              </p:ext>
            </p:extLst>
          </p:nvPr>
        </p:nvGraphicFramePr>
        <p:xfrm>
          <a:off x="251520" y="692696"/>
          <a:ext cx="46085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3332099276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540265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webkit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66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moz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19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359529"/>
                  </a:ext>
                </a:extLst>
              </a:tr>
            </a:tbl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237" y="603465"/>
            <a:ext cx="1008112" cy="100811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349" y="688584"/>
            <a:ext cx="922993" cy="922993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72" y="746975"/>
            <a:ext cx="807475" cy="807475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007" y="1628800"/>
            <a:ext cx="802127" cy="828183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72" y="2636912"/>
            <a:ext cx="966965" cy="100562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130" y="2633828"/>
            <a:ext cx="1040654" cy="10822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76056" y="688584"/>
            <a:ext cx="3816424" cy="2246769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При </a:t>
            </a:r>
            <a:r>
              <a:rPr lang="ru-RU" dirty="0" err="1"/>
              <a:t>застосуванні</a:t>
            </a:r>
            <a:r>
              <a:rPr lang="ru-RU" dirty="0"/>
              <a:t> приставок </a:t>
            </a:r>
            <a:r>
              <a:rPr lang="ru-RU" dirty="0" err="1"/>
              <a:t>спочатку</a:t>
            </a:r>
            <a:r>
              <a:rPr lang="ru-RU" dirty="0"/>
              <a:t> </a:t>
            </a:r>
            <a:r>
              <a:rPr lang="ru-RU" dirty="0" err="1"/>
              <a:t>перераховуються</a:t>
            </a:r>
            <a:r>
              <a:rPr lang="ru-RU" dirty="0"/>
              <a:t> </a:t>
            </a:r>
            <a:r>
              <a:rPr lang="ru-RU" dirty="0" err="1"/>
              <a:t>властивості</a:t>
            </a:r>
            <a:r>
              <a:rPr lang="ru-RU" dirty="0"/>
              <a:t> з приставками,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без приставки, </a:t>
            </a:r>
            <a:r>
              <a:rPr lang="ru-RU" dirty="0" err="1"/>
              <a:t>наприклад</a:t>
            </a:r>
            <a:endParaRPr lang="ru-RU" dirty="0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34811"/>
            <a:ext cx="5544616" cy="25667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8507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97716" y="116632"/>
            <a:ext cx="2088232" cy="418058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</a:rPr>
              <a:t>Colors CSS 3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79512" y="692696"/>
            <a:ext cx="8892480" cy="1631216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#ff00ff;</a:t>
            </a:r>
          </a:p>
          <a:p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rgb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(255, 0, 0);</a:t>
            </a:r>
          </a:p>
          <a:p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(255, 0, 0, 0.5);</a:t>
            </a:r>
          </a:p>
          <a:p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hsl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(160, 40%, 60%);</a:t>
            </a:r>
          </a:p>
          <a:p>
            <a:r>
              <a:rPr lang="en-US" sz="20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hsla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(160, 40%, 60%, 0.4);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D0001766-521E-FCFF-D17F-EFDA9328D2E0}"/>
              </a:ext>
            </a:extLst>
          </p:cNvPr>
          <p:cNvSpPr txBox="1">
            <a:spLocks/>
          </p:cNvSpPr>
          <p:nvPr/>
        </p:nvSpPr>
        <p:spPr>
          <a:xfrm>
            <a:off x="107504" y="2420888"/>
            <a:ext cx="5904656" cy="418058"/>
          </a:xfrm>
          <a:prstGeom prst="rect">
            <a:avLst/>
          </a:prstGeom>
          <a:solidFill>
            <a:schemeClr val="lt1"/>
          </a:solidFill>
          <a:ln w="28575" cap="flat" cmpd="thickThin" algn="ctr">
            <a:solidFill>
              <a:srgbClr val="7030A0"/>
            </a:solidFill>
            <a:prstDash val="solid"/>
          </a:ln>
          <a:effectLst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  <a:extLst/>
          </a:lstStyle>
          <a:p>
            <a:r>
              <a:rPr lang="en-US" sz="1800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  <a:effectLst/>
              </a:rPr>
              <a:t>HSL (Hue, Saturation, Lightness )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C79D46-6CD9-40D1-5B37-3B70E4B337AC}"/>
              </a:ext>
            </a:extLst>
          </p:cNvPr>
          <p:cNvSpPr/>
          <p:nvPr/>
        </p:nvSpPr>
        <p:spPr>
          <a:xfrm>
            <a:off x="179512" y="2996952"/>
            <a:ext cx="8892480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.foo {</a:t>
            </a:r>
          </a:p>
          <a:p>
            <a:r>
              <a:rPr lang="en-US" sz="2000" b="1" dirty="0"/>
              <a:t>	background-color: </a:t>
            </a:r>
            <a:r>
              <a:rPr lang="en-US" sz="2000" b="1" dirty="0" err="1"/>
              <a:t>hsla</a:t>
            </a:r>
            <a:r>
              <a:rPr lang="en-US" sz="2000" b="1" dirty="0"/>
              <a:t>(190, 30%, 94%, 1); 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12C2A-4FDE-FA5B-4BB1-18E2A3B52DB9}"/>
              </a:ext>
            </a:extLst>
          </p:cNvPr>
          <p:cNvSpPr txBox="1"/>
          <p:nvPr/>
        </p:nvSpPr>
        <p:spPr>
          <a:xfrm>
            <a:off x="193304" y="6248867"/>
            <a:ext cx="525658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Генератор  </a:t>
            </a:r>
            <a:r>
              <a:rPr lang="en-US" b="1" dirty="0"/>
              <a:t>HSLA </a:t>
            </a:r>
            <a:r>
              <a:rPr lang="en-US" b="1" dirty="0">
                <a:hlinkClick r:id="rId2"/>
              </a:rPr>
              <a:t>http://hslpicker.com</a:t>
            </a:r>
            <a:r>
              <a:rPr lang="en-US" b="1" dirty="0"/>
              <a:t> </a:t>
            </a:r>
            <a:endParaRPr lang="ru-RU" b="1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CF28DC2-EF38-CC21-7637-C8F80A6D4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446297"/>
              </p:ext>
            </p:extLst>
          </p:nvPr>
        </p:nvGraphicFramePr>
        <p:xfrm>
          <a:off x="193304" y="4170621"/>
          <a:ext cx="885698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Hue</a:t>
                      </a:r>
                    </a:p>
                    <a:p>
                      <a:r>
                        <a:rPr kumimoji="0" lang="ru-RU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оттенок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Это по сути цветовой</a:t>
                      </a:r>
                      <a:r>
                        <a:rPr kumimoji="0" lang="ru-RU" b="1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круг от </a:t>
                      </a:r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b="1" i="0" kern="12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ru-RU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 </a:t>
                      </a:r>
                      <a:r>
                        <a:rPr kumimoji="0" lang="en-US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360</a:t>
                      </a:r>
                      <a:r>
                        <a:rPr kumimoji="0" lang="en-US" b="1" i="0" kern="12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ru-RU" b="1" i="0" kern="12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Saturation</a:t>
                      </a:r>
                      <a:endParaRPr kumimoji="0" lang="ru-RU" b="1" i="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ru-RU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насыщенность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 </a:t>
                      </a:r>
                      <a:r>
                        <a:rPr kumimoji="0" lang="ru-RU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grayscale</a:t>
                      </a:r>
                      <a:endParaRPr kumimoji="0" lang="ru-RU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 </a:t>
                      </a:r>
                      <a:r>
                        <a:rPr kumimoji="0" lang="ru-RU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color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Lightness</a:t>
                      </a:r>
                      <a:endParaRPr kumimoji="0" lang="ru-RU" b="1" i="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b="1" dirty="0">
                          <a:solidFill>
                            <a:schemeClr val="tx1"/>
                          </a:solidFill>
                        </a:rPr>
                        <a:t>яркость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0% </a:t>
                      </a:r>
                      <a:r>
                        <a:rPr kumimoji="0" lang="ru-RU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black</a:t>
                      </a:r>
                      <a:r>
                        <a:rPr kumimoji="0" lang="ru-RU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 </a:t>
                      </a:r>
                      <a:r>
                        <a:rPr kumimoji="0" lang="ru-RU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en-US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white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95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116632"/>
            <a:ext cx="2160240" cy="418058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/>
              <a:t> </a:t>
            </a:r>
            <a:r>
              <a:rPr lang="en-US" sz="1800" dirty="0" err="1"/>
              <a:t>rgba</a:t>
            </a:r>
            <a:r>
              <a:rPr lang="en-US" sz="1800" dirty="0"/>
              <a:t> ()</a:t>
            </a: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677529"/>
            <a:ext cx="5328592" cy="400110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  0,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0,   0,    0.5  );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403648" y="1124745"/>
            <a:ext cx="576064" cy="1043720"/>
            <a:chOff x="3275856" y="1700809"/>
            <a:chExt cx="576064" cy="1043720"/>
          </a:xfrm>
        </p:grpSpPr>
        <p:sp>
          <p:nvSpPr>
            <p:cNvPr id="5" name="TextBox 4"/>
            <p:cNvSpPr txBox="1"/>
            <p:nvPr/>
          </p:nvSpPr>
          <p:spPr>
            <a:xfrm>
              <a:off x="3275856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R</a:t>
              </a:r>
              <a:endParaRPr lang="ru-RU" b="1" dirty="0"/>
            </a:p>
          </p:txBody>
        </p:sp>
        <p:cxnSp>
          <p:nvCxnSpPr>
            <p:cNvPr id="7" name="Прямая со стрелкой 6"/>
            <p:cNvCxnSpPr>
              <a:stCxn id="5" idx="0"/>
            </p:cNvCxnSpPr>
            <p:nvPr/>
          </p:nvCxnSpPr>
          <p:spPr>
            <a:xfrm flipH="1" flipV="1">
              <a:off x="3543436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14" name="Группа 13"/>
          <p:cNvGrpSpPr/>
          <p:nvPr/>
        </p:nvGrpSpPr>
        <p:grpSpPr>
          <a:xfrm>
            <a:off x="2195736" y="1124744"/>
            <a:ext cx="576064" cy="1043720"/>
            <a:chOff x="1259632" y="1700809"/>
            <a:chExt cx="576064" cy="1043720"/>
          </a:xfrm>
        </p:grpSpPr>
        <p:sp>
          <p:nvSpPr>
            <p:cNvPr id="15" name="TextBox 14"/>
            <p:cNvSpPr txBox="1"/>
            <p:nvPr/>
          </p:nvSpPr>
          <p:spPr>
            <a:xfrm>
              <a:off x="1259632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G</a:t>
              </a:r>
              <a:endParaRPr lang="ru-RU" b="1" dirty="0"/>
            </a:p>
          </p:txBody>
        </p:sp>
        <p:cxnSp>
          <p:nvCxnSpPr>
            <p:cNvPr id="16" name="Прямая со стрелкой 15"/>
            <p:cNvCxnSpPr>
              <a:stCxn id="15" idx="0"/>
            </p:cNvCxnSpPr>
            <p:nvPr/>
          </p:nvCxnSpPr>
          <p:spPr>
            <a:xfrm flipH="1" flipV="1">
              <a:off x="1527212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24" name="Группа 23"/>
          <p:cNvGrpSpPr/>
          <p:nvPr/>
        </p:nvGrpSpPr>
        <p:grpSpPr>
          <a:xfrm>
            <a:off x="3707904" y="1124744"/>
            <a:ext cx="1440160" cy="1043720"/>
            <a:chOff x="5508104" y="1700808"/>
            <a:chExt cx="1440160" cy="1043720"/>
          </a:xfrm>
        </p:grpSpPr>
        <p:sp>
          <p:nvSpPr>
            <p:cNvPr id="18" name="TextBox 17"/>
            <p:cNvSpPr txBox="1"/>
            <p:nvPr/>
          </p:nvSpPr>
          <p:spPr>
            <a:xfrm>
              <a:off x="5508104" y="2375196"/>
              <a:ext cx="144016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dirty="0"/>
                <a:t> </a:t>
              </a:r>
              <a:r>
                <a:rPr lang="en-US" b="1" dirty="0"/>
                <a:t>opacity</a:t>
              </a:r>
              <a:endParaRPr lang="ru-RU" b="1" dirty="0"/>
            </a:p>
          </p:txBody>
        </p:sp>
        <p:cxnSp>
          <p:nvCxnSpPr>
            <p:cNvPr id="19" name="Прямая со стрелкой 18"/>
            <p:cNvCxnSpPr/>
            <p:nvPr/>
          </p:nvCxnSpPr>
          <p:spPr>
            <a:xfrm flipV="1">
              <a:off x="6170664" y="1700808"/>
              <a:ext cx="0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20" name="Группа 19"/>
          <p:cNvGrpSpPr/>
          <p:nvPr/>
        </p:nvGrpSpPr>
        <p:grpSpPr>
          <a:xfrm>
            <a:off x="2987824" y="1124744"/>
            <a:ext cx="576064" cy="1043720"/>
            <a:chOff x="1259632" y="1700809"/>
            <a:chExt cx="576064" cy="1043720"/>
          </a:xfrm>
        </p:grpSpPr>
        <p:sp>
          <p:nvSpPr>
            <p:cNvPr id="21" name="TextBox 20"/>
            <p:cNvSpPr txBox="1"/>
            <p:nvPr/>
          </p:nvSpPr>
          <p:spPr>
            <a:xfrm>
              <a:off x="1259632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B</a:t>
              </a:r>
              <a:endParaRPr lang="ru-RU" b="1" dirty="0"/>
            </a:p>
          </p:txBody>
        </p:sp>
        <p:cxnSp>
          <p:nvCxnSpPr>
            <p:cNvPr id="27" name="Прямая со стрелкой 26"/>
            <p:cNvCxnSpPr>
              <a:stCxn id="21" idx="0"/>
            </p:cNvCxnSpPr>
            <p:nvPr/>
          </p:nvCxnSpPr>
          <p:spPr>
            <a:xfrm flipH="1" flipV="1">
              <a:off x="1527212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9" name="Прямоугольник 8"/>
          <p:cNvSpPr/>
          <p:nvPr/>
        </p:nvSpPr>
        <p:spPr>
          <a:xfrm>
            <a:off x="144016" y="3140968"/>
            <a:ext cx="8892480" cy="1323439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.foo {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moz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-box-shadow :10px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10px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30px 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(255, 0,  0, 0.8);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box-shadow : 3px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3px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10px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(255, 0,  0,  0.8);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0272" y="44624"/>
            <a:ext cx="20162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border.html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6396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116632"/>
            <a:ext cx="2376264" cy="418058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/>
              <a:t> box-shadow</a:t>
            </a:r>
            <a:endParaRPr lang="ru-RU" sz="1800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107504" y="1988840"/>
            <a:ext cx="8352928" cy="1479480"/>
            <a:chOff x="107504" y="764704"/>
            <a:chExt cx="8352928" cy="1479480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107504" y="764704"/>
              <a:ext cx="8352928" cy="400110"/>
            </a:xfrm>
            <a:prstGeom prst="rect">
              <a:avLst/>
            </a:prstGeom>
            <a:solidFill>
              <a:srgbClr val="92D050">
                <a:alpha val="18000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box-shadow : </a:t>
              </a:r>
              <a:r>
                <a:rPr lang="ru-RU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3px </a:t>
              </a:r>
              <a:r>
                <a:rPr lang="ru-RU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3px </a:t>
              </a:r>
              <a:r>
                <a:rPr lang="ru-RU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10px </a:t>
              </a:r>
              <a:r>
                <a:rPr lang="ru-RU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sz="20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rPr>
                <a:t> [5px]   black;</a:t>
              </a:r>
              <a:endPara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13" name="Группа 12"/>
            <p:cNvGrpSpPr/>
            <p:nvPr/>
          </p:nvGrpSpPr>
          <p:grpSpPr>
            <a:xfrm>
              <a:off x="2422518" y="1196752"/>
              <a:ext cx="576064" cy="1043720"/>
              <a:chOff x="3275856" y="1700809"/>
              <a:chExt cx="576064" cy="1043720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3275856" y="2375197"/>
                <a:ext cx="576064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dirty="0"/>
                  <a:t> </a:t>
                </a:r>
                <a:r>
                  <a:rPr lang="en-US" b="1" dirty="0"/>
                  <a:t>X</a:t>
                </a:r>
                <a:endParaRPr lang="ru-RU" b="1" dirty="0"/>
              </a:p>
            </p:txBody>
          </p:sp>
          <p:cxnSp>
            <p:nvCxnSpPr>
              <p:cNvPr id="7" name="Прямая со стрелкой 6"/>
              <p:cNvCxnSpPr>
                <a:stCxn id="5" idx="0"/>
              </p:cNvCxnSpPr>
              <p:nvPr/>
            </p:nvCxnSpPr>
            <p:spPr>
              <a:xfrm flipH="1" flipV="1">
                <a:off x="3543436" y="1700809"/>
                <a:ext cx="20452" cy="6743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  <p:grpSp>
          <p:nvGrpSpPr>
            <p:cNvPr id="14" name="Группа 13"/>
            <p:cNvGrpSpPr/>
            <p:nvPr/>
          </p:nvGrpSpPr>
          <p:grpSpPr>
            <a:xfrm>
              <a:off x="3491880" y="1196752"/>
              <a:ext cx="576064" cy="1043720"/>
              <a:chOff x="3275856" y="1700809"/>
              <a:chExt cx="576064" cy="104372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3275856" y="2375197"/>
                <a:ext cx="576064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dirty="0"/>
                  <a:t> </a:t>
                </a:r>
                <a:r>
                  <a:rPr lang="en-US" b="1" dirty="0"/>
                  <a:t>Y</a:t>
                </a:r>
                <a:endParaRPr lang="ru-RU" b="1" dirty="0"/>
              </a:p>
            </p:txBody>
          </p:sp>
          <p:cxnSp>
            <p:nvCxnSpPr>
              <p:cNvPr id="16" name="Прямая со стрелкой 15"/>
              <p:cNvCxnSpPr>
                <a:stCxn id="15" idx="0"/>
              </p:cNvCxnSpPr>
              <p:nvPr/>
            </p:nvCxnSpPr>
            <p:spPr>
              <a:xfrm flipH="1" flipV="1">
                <a:off x="3543436" y="1700809"/>
                <a:ext cx="20452" cy="6743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  <p:grpSp>
          <p:nvGrpSpPr>
            <p:cNvPr id="24" name="Группа 23"/>
            <p:cNvGrpSpPr/>
            <p:nvPr/>
          </p:nvGrpSpPr>
          <p:grpSpPr>
            <a:xfrm>
              <a:off x="4283968" y="1200464"/>
              <a:ext cx="1080120" cy="1043720"/>
              <a:chOff x="5508104" y="1700808"/>
              <a:chExt cx="1080120" cy="1043720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5508104" y="2375196"/>
                <a:ext cx="1080120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dirty="0"/>
                  <a:t> </a:t>
                </a:r>
                <a:r>
                  <a:rPr lang="en-US" b="1" dirty="0"/>
                  <a:t>blur</a:t>
                </a:r>
                <a:endParaRPr lang="ru-RU" b="1" dirty="0"/>
              </a:p>
            </p:txBody>
          </p:sp>
          <p:cxnSp>
            <p:nvCxnSpPr>
              <p:cNvPr id="19" name="Прямая со стрелкой 18"/>
              <p:cNvCxnSpPr>
                <a:stCxn id="18" idx="0"/>
              </p:cNvCxnSpPr>
              <p:nvPr/>
            </p:nvCxnSpPr>
            <p:spPr>
              <a:xfrm flipV="1">
                <a:off x="6048164" y="1700808"/>
                <a:ext cx="0" cy="6743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  <p:grpSp>
          <p:nvGrpSpPr>
            <p:cNvPr id="25" name="Группа 24"/>
            <p:cNvGrpSpPr/>
            <p:nvPr/>
          </p:nvGrpSpPr>
          <p:grpSpPr>
            <a:xfrm>
              <a:off x="5652120" y="1200464"/>
              <a:ext cx="1008112" cy="1043720"/>
              <a:chOff x="6876256" y="1700808"/>
              <a:chExt cx="1008112" cy="1043720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6876256" y="2375196"/>
                <a:ext cx="1008112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spread</a:t>
                </a:r>
                <a:endParaRPr lang="ru-RU" b="1" dirty="0"/>
              </a:p>
            </p:txBody>
          </p:sp>
          <p:cxnSp>
            <p:nvCxnSpPr>
              <p:cNvPr id="23" name="Прямая со стрелкой 22"/>
              <p:cNvCxnSpPr>
                <a:stCxn id="22" idx="0"/>
              </p:cNvCxnSpPr>
              <p:nvPr/>
            </p:nvCxnSpPr>
            <p:spPr>
              <a:xfrm flipV="1">
                <a:off x="7380312" y="1700808"/>
                <a:ext cx="0" cy="6743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  <p:grpSp>
          <p:nvGrpSpPr>
            <p:cNvPr id="20" name="Группа 19"/>
            <p:cNvGrpSpPr/>
            <p:nvPr/>
          </p:nvGrpSpPr>
          <p:grpSpPr>
            <a:xfrm>
              <a:off x="6948264" y="1196752"/>
              <a:ext cx="1008112" cy="1043720"/>
              <a:chOff x="6876256" y="1700808"/>
              <a:chExt cx="1008112" cy="1043720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6876256" y="2375196"/>
                <a:ext cx="1008112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ru-RU" dirty="0"/>
                  <a:t> </a:t>
                </a:r>
                <a:r>
                  <a:rPr lang="en-US" b="1" dirty="0"/>
                  <a:t>color</a:t>
                </a:r>
                <a:endParaRPr lang="ru-RU" b="1" dirty="0"/>
              </a:p>
            </p:txBody>
          </p:sp>
          <p:cxnSp>
            <p:nvCxnSpPr>
              <p:cNvPr id="28" name="Прямая со стрелкой 27"/>
              <p:cNvCxnSpPr/>
              <p:nvPr/>
            </p:nvCxnSpPr>
            <p:spPr>
              <a:xfrm flipV="1">
                <a:off x="7348038" y="1700808"/>
                <a:ext cx="0" cy="6743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</p:cxnSp>
        </p:grpSp>
      </p:grpSp>
      <p:sp>
        <p:nvSpPr>
          <p:cNvPr id="6" name="TextBox 5"/>
          <p:cNvSpPr txBox="1"/>
          <p:nvPr/>
        </p:nvSpPr>
        <p:spPr>
          <a:xfrm>
            <a:off x="107504" y="764704"/>
            <a:ext cx="8784976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box-shadow:</a:t>
            </a:r>
            <a:r>
              <a:rPr lang="en-US" b="1" dirty="0">
                <a:solidFill>
                  <a:schemeClr val="accent2"/>
                </a:solidFill>
              </a:rPr>
              <a:t> none | &lt;shadow&gt; [,&lt;shadow&gt;]*</a:t>
            </a:r>
            <a:r>
              <a:rPr lang="en-US" dirty="0"/>
              <a:t>  </a:t>
            </a:r>
          </a:p>
          <a:p>
            <a:r>
              <a:rPr lang="ru-RU" b="1" dirty="0"/>
              <a:t>де  </a:t>
            </a:r>
            <a:r>
              <a:rPr lang="en-US" b="1" dirty="0"/>
              <a:t>shadow</a:t>
            </a:r>
            <a:r>
              <a:rPr lang="ru-RU" b="1" dirty="0"/>
              <a:t>  </a:t>
            </a: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inset? &amp;&amp; [ &lt;x&gt; &lt;y&gt; &lt;blur-radius&gt;? &lt;spread-radius&gt;? &lt;color&gt;? ]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1466" y="4674227"/>
            <a:ext cx="8784976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ru-RU" b="1" dirty="0" err="1">
                <a:solidFill>
                  <a:srgbClr val="FF0000"/>
                </a:solidFill>
              </a:rPr>
              <a:t>nset</a:t>
            </a:r>
            <a:r>
              <a:rPr lang="ru-RU" b="1" dirty="0"/>
              <a:t> - за </a:t>
            </a:r>
            <a:r>
              <a:rPr lang="ru-RU" b="1" dirty="0" err="1"/>
              <a:t>замовчуванням</a:t>
            </a:r>
            <a:r>
              <a:rPr lang="ru-RU" b="1" dirty="0"/>
              <a:t> не заданий і </a:t>
            </a:r>
            <a:r>
              <a:rPr lang="ru-RU" b="1" dirty="0" err="1"/>
              <a:t>тінь</a:t>
            </a:r>
            <a:r>
              <a:rPr lang="ru-RU" b="1" dirty="0"/>
              <a:t> буде </a:t>
            </a:r>
            <a:r>
              <a:rPr lang="ru-RU" b="1" dirty="0" err="1"/>
              <a:t>зовні</a:t>
            </a:r>
            <a:r>
              <a:rPr lang="ru-RU" b="1" dirty="0"/>
              <a:t> </a:t>
            </a:r>
            <a:r>
              <a:rPr lang="ru-RU" b="1" dirty="0" err="1"/>
              <a:t>елемента</a:t>
            </a:r>
            <a:r>
              <a:rPr lang="ru-RU" b="1" dirty="0"/>
              <a:t> При </a:t>
            </a:r>
            <a:r>
              <a:rPr lang="ru-RU" b="1" dirty="0" err="1"/>
              <a:t>наявності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C00000"/>
                </a:solidFill>
              </a:rPr>
              <a:t>inset</a:t>
            </a:r>
            <a:r>
              <a:rPr lang="ru-RU" b="1" dirty="0"/>
              <a:t>, </a:t>
            </a:r>
            <a:r>
              <a:rPr lang="ru-RU" b="1" dirty="0" err="1"/>
              <a:t>тінь</a:t>
            </a:r>
            <a:r>
              <a:rPr lang="ru-RU" b="1" dirty="0"/>
              <a:t> </a:t>
            </a:r>
            <a:r>
              <a:rPr lang="ru-RU" b="1" dirty="0" err="1"/>
              <a:t>падатиме</a:t>
            </a:r>
            <a:r>
              <a:rPr lang="ru-RU" b="1" dirty="0"/>
              <a:t> </a:t>
            </a:r>
            <a:r>
              <a:rPr lang="ru-RU" b="1" dirty="0" err="1"/>
              <a:t>всередині</a:t>
            </a:r>
            <a:r>
              <a:rPr lang="ru-RU" b="1" dirty="0"/>
              <a:t> блоку і створить </a:t>
            </a:r>
            <a:r>
              <a:rPr lang="ru-RU" b="1" dirty="0" err="1"/>
              <a:t>ефект</a:t>
            </a:r>
            <a:r>
              <a:rPr lang="ru-RU" b="1" dirty="0"/>
              <a:t> </a:t>
            </a:r>
            <a:r>
              <a:rPr lang="ru-RU" b="1" dirty="0" err="1"/>
              <a:t>вдавленості</a:t>
            </a:r>
            <a:r>
              <a:rPr lang="ru-RU" b="1" dirty="0"/>
              <a:t>.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9512" y="5695113"/>
            <a:ext cx="8784976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spread</a:t>
            </a:r>
            <a:r>
              <a:rPr lang="ru-RU" b="1" dirty="0"/>
              <a:t> – </a:t>
            </a:r>
            <a:r>
              <a:rPr lang="ru-RU" b="1" dirty="0" err="1"/>
              <a:t>може</a:t>
            </a:r>
            <a:r>
              <a:rPr lang="ru-RU" b="1" dirty="0"/>
              <a:t> </a:t>
            </a:r>
            <a:r>
              <a:rPr lang="ru-RU" b="1" dirty="0" err="1"/>
              <a:t>приймати</a:t>
            </a:r>
            <a:r>
              <a:rPr lang="ru-RU" b="1" dirty="0"/>
              <a:t> </a:t>
            </a:r>
            <a:r>
              <a:rPr lang="ru-RU" b="1" dirty="0" err="1"/>
              <a:t>негативні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при </a:t>
            </a:r>
            <a:r>
              <a:rPr lang="ru-RU" b="1" dirty="0" err="1"/>
              <a:t>цьому</a:t>
            </a:r>
            <a:r>
              <a:rPr lang="ru-RU" b="1" dirty="0"/>
              <a:t> </a:t>
            </a:r>
            <a:r>
              <a:rPr lang="ru-RU" b="1" dirty="0" err="1"/>
              <a:t>тінь</a:t>
            </a:r>
            <a:r>
              <a:rPr lang="ru-RU" b="1" dirty="0"/>
              <a:t> </a:t>
            </a:r>
            <a:r>
              <a:rPr lang="ru-RU" b="1" dirty="0" err="1"/>
              <a:t>зменшуватиметься</a:t>
            </a:r>
            <a:r>
              <a:rPr lang="ru-RU" b="1" dirty="0"/>
              <a:t> у </a:t>
            </a:r>
            <a:r>
              <a:rPr lang="ru-RU" b="1" dirty="0" err="1"/>
              <a:t>розмірах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20272" y="44624"/>
            <a:ext cx="20162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border.html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948398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8562" y="116632"/>
            <a:ext cx="2363198" cy="418058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/>
              <a:t> text-shadow</a:t>
            </a: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2852936"/>
            <a:ext cx="7272808" cy="400110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text-shadow :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3px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3px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10px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black;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2411760" y="3372160"/>
            <a:ext cx="576064" cy="1043720"/>
            <a:chOff x="3275856" y="1700809"/>
            <a:chExt cx="576064" cy="1043720"/>
          </a:xfrm>
        </p:grpSpPr>
        <p:sp>
          <p:nvSpPr>
            <p:cNvPr id="5" name="TextBox 4"/>
            <p:cNvSpPr txBox="1"/>
            <p:nvPr/>
          </p:nvSpPr>
          <p:spPr>
            <a:xfrm>
              <a:off x="3275856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X</a:t>
              </a:r>
              <a:endParaRPr lang="ru-RU" b="1" dirty="0"/>
            </a:p>
          </p:txBody>
        </p:sp>
        <p:cxnSp>
          <p:nvCxnSpPr>
            <p:cNvPr id="7" name="Прямая со стрелкой 6"/>
            <p:cNvCxnSpPr>
              <a:stCxn id="5" idx="0"/>
            </p:cNvCxnSpPr>
            <p:nvPr/>
          </p:nvCxnSpPr>
          <p:spPr>
            <a:xfrm flipH="1" flipV="1">
              <a:off x="3543436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14" name="Группа 13"/>
          <p:cNvGrpSpPr/>
          <p:nvPr/>
        </p:nvGrpSpPr>
        <p:grpSpPr>
          <a:xfrm>
            <a:off x="3419872" y="3372159"/>
            <a:ext cx="576064" cy="1043720"/>
            <a:chOff x="3275856" y="1700809"/>
            <a:chExt cx="576064" cy="1043720"/>
          </a:xfrm>
        </p:grpSpPr>
        <p:sp>
          <p:nvSpPr>
            <p:cNvPr id="15" name="TextBox 14"/>
            <p:cNvSpPr txBox="1"/>
            <p:nvPr/>
          </p:nvSpPr>
          <p:spPr>
            <a:xfrm>
              <a:off x="3275856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Y</a:t>
              </a:r>
              <a:endParaRPr lang="ru-RU" b="1" dirty="0"/>
            </a:p>
          </p:txBody>
        </p:sp>
        <p:cxnSp>
          <p:nvCxnSpPr>
            <p:cNvPr id="16" name="Прямая со стрелкой 15"/>
            <p:cNvCxnSpPr>
              <a:stCxn id="15" idx="0"/>
            </p:cNvCxnSpPr>
            <p:nvPr/>
          </p:nvCxnSpPr>
          <p:spPr>
            <a:xfrm flipH="1" flipV="1">
              <a:off x="3543436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24" name="Группа 23"/>
          <p:cNvGrpSpPr/>
          <p:nvPr/>
        </p:nvGrpSpPr>
        <p:grpSpPr>
          <a:xfrm>
            <a:off x="4355976" y="3372160"/>
            <a:ext cx="1008112" cy="1043719"/>
            <a:chOff x="5436096" y="1700809"/>
            <a:chExt cx="1008112" cy="1043719"/>
          </a:xfrm>
        </p:grpSpPr>
        <p:sp>
          <p:nvSpPr>
            <p:cNvPr id="18" name="TextBox 17"/>
            <p:cNvSpPr txBox="1"/>
            <p:nvPr/>
          </p:nvSpPr>
          <p:spPr>
            <a:xfrm>
              <a:off x="5436096" y="2375196"/>
              <a:ext cx="1008112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/>
                <a:t> blur</a:t>
              </a:r>
              <a:endParaRPr lang="ru-RU" b="1" dirty="0"/>
            </a:p>
          </p:txBody>
        </p:sp>
        <p:cxnSp>
          <p:nvCxnSpPr>
            <p:cNvPr id="19" name="Прямая со стрелкой 18"/>
            <p:cNvCxnSpPr>
              <a:stCxn id="18" idx="0"/>
            </p:cNvCxnSpPr>
            <p:nvPr/>
          </p:nvCxnSpPr>
          <p:spPr>
            <a:xfrm flipV="1">
              <a:off x="5940152" y="1700809"/>
              <a:ext cx="0" cy="6743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25" name="Группа 24"/>
          <p:cNvGrpSpPr/>
          <p:nvPr/>
        </p:nvGrpSpPr>
        <p:grpSpPr>
          <a:xfrm>
            <a:off x="5796136" y="3372160"/>
            <a:ext cx="1080120" cy="1043719"/>
            <a:chOff x="6876256" y="1700809"/>
            <a:chExt cx="1080120" cy="1043719"/>
          </a:xfrm>
        </p:grpSpPr>
        <p:sp>
          <p:nvSpPr>
            <p:cNvPr id="22" name="TextBox 21"/>
            <p:cNvSpPr txBox="1"/>
            <p:nvPr/>
          </p:nvSpPr>
          <p:spPr>
            <a:xfrm>
              <a:off x="6876256" y="2375196"/>
              <a:ext cx="108012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color</a:t>
              </a:r>
              <a:endParaRPr lang="ru-RU" b="1" dirty="0"/>
            </a:p>
          </p:txBody>
        </p:sp>
        <p:cxnSp>
          <p:nvCxnSpPr>
            <p:cNvPr id="23" name="Прямая со стрелкой 22"/>
            <p:cNvCxnSpPr>
              <a:stCxn id="22" idx="0"/>
            </p:cNvCxnSpPr>
            <p:nvPr/>
          </p:nvCxnSpPr>
          <p:spPr>
            <a:xfrm flipV="1">
              <a:off x="7416316" y="1700809"/>
              <a:ext cx="0" cy="6743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0" y="4631904"/>
            <a:ext cx="878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.box{ text-shadow: 1px </a:t>
            </a:r>
            <a:r>
              <a:rPr lang="en-US" b="1" dirty="0" err="1"/>
              <a:t>1px</a:t>
            </a:r>
            <a:r>
              <a:rPr lang="en-US" b="1" dirty="0"/>
              <a:t> 3px #777; }</a:t>
            </a:r>
            <a:endParaRPr lang="ru-RU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07504" y="5423992"/>
            <a:ext cx="878497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.box{ text-shadow: </a:t>
            </a:r>
            <a:r>
              <a:rPr lang="en-US" b="1" dirty="0" err="1"/>
              <a:t>rgba</a:t>
            </a:r>
            <a:r>
              <a:rPr lang="en-US" b="1" dirty="0"/>
              <a:t>(0,0,0, .4); </a:t>
            </a:r>
            <a:r>
              <a:rPr lang="ru-RU" b="1" dirty="0"/>
              <a:t> </a:t>
            </a:r>
            <a:r>
              <a:rPr lang="en-US" b="1" dirty="0"/>
              <a:t>0 0 5px }</a:t>
            </a:r>
            <a:endParaRPr lang="ru-RU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107504" y="620688"/>
            <a:ext cx="8784976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text-shadow</a:t>
            </a:r>
            <a:r>
              <a:rPr lang="en-US" b="1" dirty="0">
                <a:solidFill>
                  <a:schemeClr val="accent2"/>
                </a:solidFill>
              </a:rPr>
              <a:t>: none | [&lt;shadow&gt;,]* &lt;shadow&gt;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ru-RU" b="1" dirty="0"/>
              <a:t>где  </a:t>
            </a:r>
            <a:r>
              <a:rPr lang="en-US" b="1" dirty="0"/>
              <a:t>shadow </a:t>
            </a:r>
          </a:p>
          <a:p>
            <a:r>
              <a:rPr lang="en-US" b="1" dirty="0"/>
              <a:t>1-</a:t>
            </a:r>
            <a:r>
              <a:rPr lang="ru-RU" b="1" dirty="0"/>
              <a:t>й вариант </a:t>
            </a:r>
            <a:endParaRPr lang="en-US" b="1" dirty="0"/>
          </a:p>
          <a:p>
            <a:r>
              <a:rPr lang="ru-RU" dirty="0"/>
              <a:t>	</a:t>
            </a:r>
            <a:r>
              <a:rPr lang="en-US" b="1" dirty="0">
                <a:solidFill>
                  <a:schemeClr val="accent2"/>
                </a:solidFill>
              </a:rPr>
              <a:t>color&gt;? &lt;offset-x&gt; &lt;offset-y&gt; &lt;blur-radius&gt;?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</a:p>
          <a:p>
            <a:r>
              <a:rPr lang="ru-RU" b="1" dirty="0"/>
              <a:t>2</a:t>
            </a:r>
            <a:r>
              <a:rPr lang="en-US" b="1" dirty="0"/>
              <a:t>-</a:t>
            </a:r>
            <a:r>
              <a:rPr lang="ru-RU" b="1" dirty="0"/>
              <a:t>й вариант</a:t>
            </a:r>
            <a:endParaRPr lang="ru-RU" dirty="0"/>
          </a:p>
          <a:p>
            <a:r>
              <a:rPr lang="en-US" dirty="0"/>
              <a:t> </a:t>
            </a:r>
            <a:r>
              <a:rPr lang="ru-RU" dirty="0"/>
              <a:t>	</a:t>
            </a:r>
            <a:r>
              <a:rPr lang="en-US" b="1" dirty="0">
                <a:solidFill>
                  <a:schemeClr val="accent2"/>
                </a:solidFill>
              </a:rPr>
              <a:t>&lt;offset-x&gt;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&lt;offset-y&gt; &lt;blur-radius&gt;? &lt;color&gt;? 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20272" y="44624"/>
            <a:ext cx="20162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border.html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61186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2758276"/>
            <a:ext cx="6048672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.box{</a:t>
            </a:r>
          </a:p>
          <a:p>
            <a:r>
              <a:rPr lang="en-US" sz="2400" b="1" dirty="0"/>
              <a:t>	font:100px </a:t>
            </a:r>
            <a:r>
              <a:rPr lang="en-US" sz="2400" b="1" dirty="0" err="1"/>
              <a:t>arial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	color:#333;</a:t>
            </a:r>
          </a:p>
          <a:p>
            <a:r>
              <a:rPr lang="en-US" sz="2400" b="1" dirty="0"/>
              <a:t>	</a:t>
            </a:r>
            <a:r>
              <a:rPr lang="en-US" sz="2400" b="1" dirty="0" err="1"/>
              <a:t>text-align:center</a:t>
            </a:r>
            <a:r>
              <a:rPr lang="en-US" sz="2400" b="1" dirty="0"/>
              <a:t>;</a:t>
            </a:r>
          </a:p>
          <a:p>
            <a:r>
              <a:rPr lang="en-US" sz="2400" b="1" dirty="0"/>
              <a:t>	background:#565656;</a:t>
            </a:r>
          </a:p>
          <a:p>
            <a:r>
              <a:rPr lang="en-US" sz="2400" b="1" dirty="0"/>
              <a:t>	</a:t>
            </a:r>
            <a:r>
              <a:rPr lang="en-US" sz="2400" b="1" dirty="0">
                <a:solidFill>
                  <a:schemeClr val="accent2"/>
                </a:solidFill>
              </a:rPr>
              <a:t>text-shadow: 0 1px 0 #777,</a:t>
            </a:r>
          </a:p>
          <a:p>
            <a:r>
              <a:rPr lang="en-US" sz="2400" b="1" dirty="0">
                <a:solidFill>
                  <a:schemeClr val="accent2"/>
                </a:solidFill>
              </a:rPr>
              <a:t>		        0 -1px 0 #000;</a:t>
            </a:r>
          </a:p>
          <a:p>
            <a:r>
              <a:rPr lang="en-US" sz="2400" b="1" dirty="0"/>
              <a:t> }</a:t>
            </a:r>
            <a:endParaRPr lang="ru-R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188640"/>
            <a:ext cx="8784976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Свойство </a:t>
            </a:r>
            <a:r>
              <a:rPr lang="en-US" b="1" dirty="0">
                <a:solidFill>
                  <a:schemeClr val="accent2"/>
                </a:solidFill>
              </a:rPr>
              <a:t>text-shadow</a:t>
            </a:r>
            <a:r>
              <a:rPr lang="en-US" b="1" dirty="0"/>
              <a:t> </a:t>
            </a:r>
            <a:r>
              <a:rPr lang="ru-RU" b="1" dirty="0" err="1"/>
              <a:t>може</a:t>
            </a:r>
            <a:r>
              <a:rPr lang="ru-RU" b="1" dirty="0"/>
              <a:t> </a:t>
            </a:r>
            <a:r>
              <a:rPr lang="ru-RU" b="1" dirty="0" err="1"/>
              <a:t>дозволяє</a:t>
            </a:r>
            <a:r>
              <a:rPr lang="ru-RU" b="1" dirty="0"/>
              <a:t> </a:t>
            </a:r>
            <a:r>
              <a:rPr lang="ru-RU" b="1" dirty="0" err="1"/>
              <a:t>додавати</a:t>
            </a:r>
            <a:r>
              <a:rPr lang="ru-RU" b="1" dirty="0"/>
              <a:t> до текстового </a:t>
            </a:r>
            <a:r>
              <a:rPr lang="ru-RU" b="1" dirty="0" err="1"/>
              <a:t>вузла</a:t>
            </a:r>
            <a:r>
              <a:rPr lang="ru-RU" b="1" dirty="0"/>
              <a:t> </a:t>
            </a:r>
            <a:r>
              <a:rPr lang="ru-RU" b="1" dirty="0" err="1"/>
              <a:t>кілька</a:t>
            </a:r>
            <a:r>
              <a:rPr lang="ru-RU" b="1" dirty="0"/>
              <a:t> </a:t>
            </a:r>
            <a:r>
              <a:rPr lang="ru-RU" b="1" dirty="0" err="1"/>
              <a:t>тіней</a:t>
            </a:r>
            <a:r>
              <a:rPr lang="ru-RU" b="1" dirty="0"/>
              <a:t>, </a:t>
            </a:r>
            <a:r>
              <a:rPr lang="ru-RU" b="1" dirty="0" err="1"/>
              <a:t>вказавши</a:t>
            </a:r>
            <a:r>
              <a:rPr lang="ru-RU" b="1" dirty="0"/>
              <a:t> </a:t>
            </a:r>
            <a:r>
              <a:rPr lang="ru-RU" b="1" dirty="0" err="1"/>
              <a:t>додаткові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через кому: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504" y="1209526"/>
            <a:ext cx="8784976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b="1" dirty="0"/>
              <a:t>Е {</a:t>
            </a:r>
          </a:p>
          <a:p>
            <a:r>
              <a:rPr lang="ru-RU" sz="2400" b="1" dirty="0"/>
              <a:t>  </a:t>
            </a:r>
            <a:r>
              <a:rPr lang="ru-RU" sz="2400" b="1" dirty="0" err="1"/>
              <a:t>text-shadow</a:t>
            </a:r>
            <a:r>
              <a:rPr lang="ru-RU" sz="2400" b="1" dirty="0"/>
              <a:t>:</a:t>
            </a:r>
            <a:r>
              <a:rPr lang="en-US" sz="2400" b="1" dirty="0"/>
              <a:t> value</a:t>
            </a:r>
            <a:r>
              <a:rPr lang="ru-RU" sz="2400" b="1" dirty="0"/>
              <a:t>, </a:t>
            </a:r>
            <a:r>
              <a:rPr lang="en-US" sz="2400" b="1" dirty="0"/>
              <a:t>value</a:t>
            </a:r>
            <a:r>
              <a:rPr lang="ru-RU" sz="2400" b="1" dirty="0"/>
              <a:t> </a:t>
            </a:r>
            <a:r>
              <a:rPr lang="en-US" sz="2400" b="1" dirty="0"/>
              <a:t>value</a:t>
            </a:r>
            <a:r>
              <a:rPr lang="ru-RU" sz="2400" b="1" dirty="0"/>
              <a:t>; </a:t>
            </a:r>
          </a:p>
          <a:p>
            <a:r>
              <a:rPr lang="ru-RU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6537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16632"/>
            <a:ext cx="8964488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background: linear-gradient(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[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to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side(corner)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|| </a:t>
            </a:r>
            <a:r>
              <a:rPr lang="en-US" sz="2000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angle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,]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?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color-stop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[, </a:t>
            </a:r>
            <a:r>
              <a:rPr lang="en-US" sz="2000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color-stop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]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*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)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8642" y="3140968"/>
                <a:ext cx="8943350" cy="34470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  <a:latin typeface="Courier New" pitchFamily="49" charset="0"/>
                    <a:cs typeface="Courier New" pitchFamily="49" charset="0"/>
                  </a:rPr>
                  <a:t>side</a:t>
                </a:r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 –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напрям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градієнта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,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задається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аналогічно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властивості</a:t>
                </a:r>
                <a:endParaRPr lang="ru-RU" dirty="0">
                  <a:latin typeface="Courier New" pitchFamily="49" charset="0"/>
                  <a:cs typeface="Courier New" pitchFamily="49" charset="0"/>
                </a:endParaRPr>
              </a:p>
              <a:p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       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background-position,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тобто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top, bottom, left, right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  <a:latin typeface="Courier New" pitchFamily="49" charset="0"/>
                    <a:cs typeface="Courier New" pitchFamily="49" charset="0"/>
                  </a:rPr>
                  <a:t>side -  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например – </a:t>
                </a:r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top center, left bottom</a:t>
                </a:r>
                <a:r>
                  <a:rPr lang="en-US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и т.д.</a:t>
                </a:r>
                <a:endParaRPr lang="en-US" dirty="0">
                  <a:latin typeface="Courier New" pitchFamily="49" charset="0"/>
                  <a:cs typeface="Courier New" pitchFamily="49" charset="0"/>
                </a:endParaRPr>
              </a:p>
              <a:p>
                <a:r>
                  <a:rPr lang="ru-RU" b="1" dirty="0">
                    <a:solidFill>
                      <a:srgbClr val="0070C0"/>
                    </a:solidFill>
                    <a:latin typeface="Courier New" pitchFamily="49" charset="0"/>
                    <a:cs typeface="Courier New" pitchFamily="49" charset="0"/>
                  </a:rPr>
                  <a:t>а</a:t>
                </a:r>
                <a:r>
                  <a:rPr lang="en-US" b="1" dirty="0" err="1">
                    <a:solidFill>
                      <a:srgbClr val="0070C0"/>
                    </a:solidFill>
                    <a:latin typeface="Courier New" pitchFamily="49" charset="0"/>
                    <a:cs typeface="Courier New" pitchFamily="49" charset="0"/>
                  </a:rPr>
                  <a:t>ngle</a:t>
                </a:r>
                <a:r>
                  <a:rPr lang="ru-RU" b="1" dirty="0">
                    <a:solidFill>
                      <a:srgbClr val="0070C0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b="1" dirty="0">
                    <a:latin typeface="Courier New" pitchFamily="49" charset="0"/>
                    <a:cs typeface="Courier New" pitchFamily="49" charset="0"/>
                  </a:rPr>
                  <a:t>– 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кут –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куди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спрямований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градієнт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, </a:t>
                </a:r>
                <a:r>
                  <a:rPr lang="ru-RU" dirty="0" err="1">
                    <a:latin typeface="Courier New" pitchFamily="49" charset="0"/>
                    <a:cs typeface="Courier New" pitchFamily="49" charset="0"/>
                  </a:rPr>
                  <a:t>задається</a:t>
                </a:r>
                <a:r>
                  <a:rPr lang="ru-RU" dirty="0">
                    <a:latin typeface="Courier New" pitchFamily="49" charset="0"/>
                    <a:cs typeface="Courier New" pitchFamily="49" charset="0"/>
                  </a:rPr>
                  <a:t> як</a:t>
                </a:r>
                <a:r>
                  <a:rPr lang="ru-RU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				</a:t>
                </a:r>
                <a:r>
                  <a:rPr lang="en-US" sz="2000" b="1" dirty="0" err="1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deg</a:t>
                </a:r>
                <a:r>
                  <a:rPr lang="en-US" sz="2000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sz="2000" b="1" dirty="0">
                    <a:latin typeface="Courier New" pitchFamily="49" charset="0"/>
                    <a:cs typeface="Courier New" pitchFamily="49" charset="0"/>
                  </a:rPr>
                  <a:t>  –  градусы </a:t>
                </a:r>
              </a:p>
              <a:p>
                <a:r>
                  <a:rPr lang="ru-RU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				</a:t>
                </a:r>
                <a:r>
                  <a:rPr lang="en-US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grad</a:t>
                </a:r>
                <a:r>
                  <a:rPr lang="en-US" sz="2000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sz="2000" b="1" dirty="0">
                    <a:latin typeface="Courier New" pitchFamily="49" charset="0"/>
                    <a:cs typeface="Courier New" pitchFamily="49" charset="0"/>
                  </a:rPr>
                  <a:t> - </a:t>
                </a:r>
                <a:r>
                  <a:rPr lang="en-US" sz="2000" b="1" dirty="0">
                    <a:latin typeface="Courier New" pitchFamily="49" charset="0"/>
                    <a:cs typeface="Courier New" pitchFamily="49" charset="0"/>
                  </a:rPr>
                  <a:t> 6.2832</a:t>
                </a:r>
                <a:endParaRPr lang="ru-RU" sz="2000" b="1" dirty="0">
                  <a:latin typeface="Courier New" pitchFamily="49" charset="0"/>
                  <a:cs typeface="Courier New" pitchFamily="49" charset="0"/>
                </a:endParaRPr>
              </a:p>
              <a:p>
                <a:r>
                  <a:rPr lang="ru-RU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				</a:t>
                </a:r>
                <a:r>
                  <a:rPr lang="en-US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rad</a:t>
                </a:r>
                <a:r>
                  <a:rPr lang="en-US" sz="2000" b="1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ru-RU" sz="2000" b="1" dirty="0">
                    <a:latin typeface="Courier New" pitchFamily="49" charset="0"/>
                    <a:cs typeface="Courier New" pitchFamily="49" charset="0"/>
                  </a:rPr>
                  <a:t>  -  радианы</a:t>
                </a:r>
              </a:p>
              <a:p>
                <a:r>
                  <a:rPr lang="ru-RU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				</a:t>
                </a:r>
                <a:r>
                  <a:rPr lang="en-US" sz="2000" b="1" dirty="0">
                    <a:solidFill>
                      <a:srgbClr val="7030A0"/>
                    </a:solidFill>
                    <a:latin typeface="Courier New" pitchFamily="49" charset="0"/>
                    <a:cs typeface="Courier New" pitchFamily="49" charset="0"/>
                  </a:rPr>
                  <a:t>turn</a:t>
                </a:r>
                <a:r>
                  <a:rPr lang="ru-RU" sz="2000" b="1" dirty="0">
                    <a:latin typeface="Courier New" pitchFamily="49" charset="0"/>
                    <a:cs typeface="Courier New" pitchFamily="49" charset="0"/>
                  </a:rPr>
                  <a:t>  –  оборот</a:t>
                </a:r>
              </a:p>
              <a:p>
                <a:endParaRPr lang="ru-RU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endParaRPr>
              </a:p>
              <a:p>
                <a:r>
                  <a:rPr lang="ru-RU" sz="24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1 </a:t>
                </a:r>
                <a:r>
                  <a:rPr lang="en-US" sz="24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turn = 360</a:t>
                </a:r>
                <a:r>
                  <a:rPr lang="en-US" sz="2400" b="1" dirty="0">
                    <a:solidFill>
                      <a:schemeClr val="tx1"/>
                    </a:solidFill>
                    <a:latin typeface="Courier New"/>
                    <a:cs typeface="Courier New"/>
                  </a:rPr>
                  <a:t>° = 2</a:t>
                </a:r>
                <a14:m>
                  <m:oMath xmlns:m="http://schemas.openxmlformats.org/officeDocument/2006/math">
                    <m:r>
                      <a:rPr lang="el-GR" sz="2400" b="1" i="1" smtClean="0">
                        <a:solidFill>
                          <a:schemeClr val="tx1"/>
                        </a:solidFill>
                        <a:latin typeface="Cambria Math"/>
                        <a:cs typeface="Courier New"/>
                      </a:rPr>
                      <m:t>𝝅</m:t>
                    </m:r>
                  </m:oMath>
                </a14:m>
                <a:endParaRPr lang="ru-RU" sz="2400" b="1" dirty="0">
                  <a:solidFill>
                    <a:srgbClr val="0070C0"/>
                  </a:solidFill>
                </a:endParaRPr>
              </a:p>
              <a:p>
                <a:r>
                  <a:rPr lang="en-US" sz="2400" b="1" dirty="0">
                    <a:latin typeface="Courier New" pitchFamily="49" charset="0"/>
                    <a:cs typeface="Courier New" pitchFamily="49" charset="0"/>
                  </a:rPr>
                  <a:t>1 grad = 1/400turn</a:t>
                </a:r>
                <a:endParaRPr lang="ru-RU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42" y="3140968"/>
                <a:ext cx="8943350" cy="3447098"/>
              </a:xfrm>
              <a:prstGeom prst="rect">
                <a:avLst/>
              </a:prstGeom>
              <a:blipFill>
                <a:blip r:embed="rId2"/>
                <a:stretch>
                  <a:fillRect l="-953" t="-704" b="-36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u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07504" y="1196752"/>
            <a:ext cx="8964488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Обозначения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||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або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те,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дужках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може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повторюватися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0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1 раз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?</a:t>
            </a:r>
            <a:r>
              <a:rPr lang="ru-RU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- те,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дужках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може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повторюватися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0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багато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разів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[]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то что в квадратных скобках может в записи не </a:t>
            </a:r>
          </a:p>
          <a:p>
            <a:r>
              <a:rPr lang="ru-RU" dirty="0">
                <a:latin typeface="Courier New" pitchFamily="49" charset="0"/>
                <a:cs typeface="Courier New" pitchFamily="49" charset="0"/>
              </a:rPr>
              <a:t>     присутствовать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85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964" y="95204"/>
            <a:ext cx="957532" cy="95753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9995" y="663275"/>
            <a:ext cx="622609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stop - color  [ &lt;percentage&gt;  | &lt;length&gt; ]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9477" y="2051556"/>
            <a:ext cx="7714891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Градієнт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починається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правого боку,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спрямований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вліво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120" y="2780928"/>
            <a:ext cx="564300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Градієнт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починається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червоного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кольору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120" y="3501008"/>
            <a:ext cx="87393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Перехід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синій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колір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максимум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відстоятиме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лівого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краю блоку на 30%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ширини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цього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6095" y="67158"/>
            <a:ext cx="228755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gradients.html</a:t>
            </a:r>
            <a:endParaRPr lang="ru-RU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46107" y="1196752"/>
            <a:ext cx="881838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linear-gradient(to left, </a:t>
            </a:r>
            <a:r>
              <a:rPr lang="ru-RU" sz="2400" b="1" dirty="0"/>
              <a:t> </a:t>
            </a:r>
            <a:r>
              <a:rPr lang="en-US" sz="2400" b="1" dirty="0"/>
              <a:t>red, blue 30%, green)</a:t>
            </a:r>
            <a:endParaRPr lang="ru-RU" sz="2400" b="1" dirty="0"/>
          </a:p>
        </p:txBody>
      </p:sp>
      <p:grpSp>
        <p:nvGrpSpPr>
          <p:cNvPr id="22" name="Группа 21"/>
          <p:cNvGrpSpPr/>
          <p:nvPr/>
        </p:nvGrpSpPr>
        <p:grpSpPr>
          <a:xfrm>
            <a:off x="2123728" y="1139552"/>
            <a:ext cx="2431568" cy="912004"/>
            <a:chOff x="2123728" y="1139552"/>
            <a:chExt cx="2431568" cy="912004"/>
          </a:xfrm>
        </p:grpSpPr>
        <p:sp>
          <p:nvSpPr>
            <p:cNvPr id="3" name="Овал 2"/>
            <p:cNvSpPr/>
            <p:nvPr/>
          </p:nvSpPr>
          <p:spPr>
            <a:xfrm>
              <a:off x="3033447" y="1139552"/>
              <a:ext cx="1521849" cy="57606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0" name="Прямая со стрелкой 19"/>
            <p:cNvCxnSpPr>
              <a:stCxn id="3" idx="4"/>
            </p:cNvCxnSpPr>
            <p:nvPr/>
          </p:nvCxnSpPr>
          <p:spPr>
            <a:xfrm flipH="1">
              <a:off x="2123728" y="1715616"/>
              <a:ext cx="1670644" cy="33594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Группа 22"/>
          <p:cNvGrpSpPr/>
          <p:nvPr/>
        </p:nvGrpSpPr>
        <p:grpSpPr>
          <a:xfrm>
            <a:off x="3609512" y="1052736"/>
            <a:ext cx="2114616" cy="1584176"/>
            <a:chOff x="9112" y="-297034"/>
            <a:chExt cx="2114616" cy="1584176"/>
          </a:xfrm>
        </p:grpSpPr>
        <p:sp>
          <p:nvSpPr>
            <p:cNvPr id="24" name="Овал 23"/>
            <p:cNvSpPr/>
            <p:nvPr/>
          </p:nvSpPr>
          <p:spPr>
            <a:xfrm>
              <a:off x="1263399" y="-297034"/>
              <a:ext cx="860329" cy="74403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25" name="Прямая со стрелкой 24"/>
            <p:cNvCxnSpPr>
              <a:stCxn id="24" idx="4"/>
            </p:cNvCxnSpPr>
            <p:nvPr/>
          </p:nvCxnSpPr>
          <p:spPr>
            <a:xfrm flipH="1">
              <a:off x="9112" y="447000"/>
              <a:ext cx="1684452" cy="840142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Группа 28"/>
          <p:cNvGrpSpPr/>
          <p:nvPr/>
        </p:nvGrpSpPr>
        <p:grpSpPr>
          <a:xfrm>
            <a:off x="5786455" y="1124744"/>
            <a:ext cx="1665865" cy="2376264"/>
            <a:chOff x="3033447" y="1139552"/>
            <a:chExt cx="1665865" cy="2376264"/>
          </a:xfrm>
        </p:grpSpPr>
        <p:sp>
          <p:nvSpPr>
            <p:cNvPr id="30" name="Овал 29"/>
            <p:cNvSpPr/>
            <p:nvPr/>
          </p:nvSpPr>
          <p:spPr>
            <a:xfrm>
              <a:off x="3033447" y="1139552"/>
              <a:ext cx="1665865" cy="57606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1" name="Прямая со стрелкой 30"/>
            <p:cNvCxnSpPr>
              <a:stCxn id="30" idx="4"/>
            </p:cNvCxnSpPr>
            <p:nvPr/>
          </p:nvCxnSpPr>
          <p:spPr>
            <a:xfrm flipH="1">
              <a:off x="3115136" y="1715616"/>
              <a:ext cx="751244" cy="180020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Группа 34"/>
          <p:cNvGrpSpPr/>
          <p:nvPr/>
        </p:nvGrpSpPr>
        <p:grpSpPr>
          <a:xfrm>
            <a:off x="7308304" y="1124744"/>
            <a:ext cx="1584176" cy="3458125"/>
            <a:chOff x="2827104" y="1139552"/>
            <a:chExt cx="1584176" cy="3458125"/>
          </a:xfrm>
        </p:grpSpPr>
        <p:sp>
          <p:nvSpPr>
            <p:cNvPr id="36" name="Овал 35"/>
            <p:cNvSpPr/>
            <p:nvPr/>
          </p:nvSpPr>
          <p:spPr>
            <a:xfrm>
              <a:off x="3177463" y="1139552"/>
              <a:ext cx="1233817" cy="576064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37" name="Прямая со стрелкой 36"/>
            <p:cNvCxnSpPr>
              <a:stCxn id="36" idx="4"/>
            </p:cNvCxnSpPr>
            <p:nvPr/>
          </p:nvCxnSpPr>
          <p:spPr>
            <a:xfrm flipH="1">
              <a:off x="2827104" y="1715616"/>
              <a:ext cx="967268" cy="2882061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81120" y="4582869"/>
            <a:ext cx="873935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Синій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колір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перетворюється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зелений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Максимум зеленого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кольору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буде на правому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краї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блоку.</a:t>
            </a:r>
          </a:p>
        </p:txBody>
      </p:sp>
    </p:spTree>
    <p:extLst>
      <p:ext uri="{BB962C8B-B14F-4D97-AF65-F5344CB8AC3E}">
        <p14:creationId xmlns:p14="http://schemas.microsoft.com/office/powerpoint/2010/main" val="373859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6" grpId="0" animBg="1"/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635896" y="44624"/>
            <a:ext cx="1800200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/>
              <a:t>Приклади</a:t>
            </a:r>
            <a:endParaRPr lang="ru-RU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30406" y="465555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 </a:t>
            </a:r>
            <a:r>
              <a:rPr lang="en-US" dirty="0"/>
              <a:t>background: linear-gradient(</a:t>
            </a:r>
            <a:r>
              <a:rPr lang="en-US" dirty="0">
                <a:solidFill>
                  <a:srgbClr val="FF0000"/>
                </a:solidFill>
              </a:rPr>
              <a:t>white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black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30407" y="1084674"/>
            <a:ext cx="8906089" cy="400110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background: linear-gradient(</a:t>
            </a:r>
            <a:r>
              <a:rPr lang="en-US" dirty="0">
                <a:solidFill>
                  <a:srgbClr val="002060"/>
                </a:solidFill>
              </a:rPr>
              <a:t>to bottom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yellow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blue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30405" y="1700808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background: linear-gradient(</a:t>
            </a:r>
            <a:r>
              <a:rPr lang="en-US" dirty="0">
                <a:solidFill>
                  <a:srgbClr val="002060"/>
                </a:solidFill>
              </a:rPr>
              <a:t>180deg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white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black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42817" y="2348880"/>
            <a:ext cx="8906089" cy="400110"/>
          </a:xfrm>
          <a:prstGeom prst="rect">
            <a:avLst/>
          </a:prstGeom>
          <a:solidFill>
            <a:srgbClr val="00B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background: linear-gradient(</a:t>
            </a:r>
            <a:r>
              <a:rPr lang="en-US" dirty="0">
                <a:solidFill>
                  <a:srgbClr val="FF0000"/>
                </a:solidFill>
              </a:rPr>
              <a:t>yellow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blue 20%,</a:t>
            </a:r>
            <a:r>
              <a:rPr lang="en-US" dirty="0">
                <a:solidFill>
                  <a:srgbClr val="002060"/>
                </a:solidFill>
              </a:rPr>
              <a:t> #0f0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202415" y="2924944"/>
            <a:ext cx="8906089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background: linear-gradient(</a:t>
            </a:r>
          </a:p>
          <a:p>
            <a:r>
              <a:rPr lang="en-US" dirty="0">
                <a:solidFill>
                  <a:srgbClr val="002060"/>
                </a:solidFill>
              </a:rPr>
              <a:t>               to top right</a:t>
            </a:r>
            <a:r>
              <a:rPr lang="en-US" dirty="0"/>
              <a:t>, red, </a:t>
            </a:r>
            <a:r>
              <a:rPr lang="en-US" dirty="0">
                <a:solidFill>
                  <a:srgbClr val="FF0000"/>
                </a:solidFill>
              </a:rPr>
              <a:t>white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blue</a:t>
            </a:r>
          </a:p>
          <a:p>
            <a:r>
              <a:rPr lang="en-US" dirty="0">
                <a:solidFill>
                  <a:srgbClr val="0070C0"/>
                </a:solidFill>
              </a:rPr>
              <a:t>     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068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552" y="116632"/>
            <a:ext cx="7848872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/>
              <a:t>Загальна</a:t>
            </a:r>
            <a:r>
              <a:rPr lang="ru-RU" sz="1800" dirty="0"/>
              <a:t> форма записи </a:t>
            </a:r>
            <a:r>
              <a:rPr lang="en-US" sz="1800" dirty="0"/>
              <a:t>radial-gradient</a:t>
            </a:r>
            <a:endParaRPr lang="ru-RU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44015" y="574229"/>
            <a:ext cx="8953995" cy="135421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 : radial-gradient( </a:t>
            </a:r>
          </a:p>
          <a:p>
            <a:r>
              <a:rPr lang="en-US" b="1" dirty="0"/>
              <a:t>	</a:t>
            </a:r>
            <a:r>
              <a:rPr lang="en-US" sz="2800" b="1" dirty="0">
                <a:solidFill>
                  <a:srgbClr val="0070C0"/>
                </a:solidFill>
              </a:rPr>
              <a:t>&lt;shape&gt; &lt;size&gt; </a:t>
            </a:r>
            <a:r>
              <a:rPr lang="en-US" sz="2800" b="1" dirty="0">
                <a:solidFill>
                  <a:schemeClr val="accent2"/>
                </a:solidFill>
              </a:rPr>
              <a:t>at</a:t>
            </a:r>
            <a:r>
              <a:rPr lang="en-US" sz="2800" b="1" dirty="0">
                <a:solidFill>
                  <a:srgbClr val="0070C0"/>
                </a:solidFill>
              </a:rPr>
              <a:t> &lt;position&gt;</a:t>
            </a:r>
          </a:p>
          <a:p>
            <a:r>
              <a:rPr lang="en-US" b="1" dirty="0"/>
              <a:t>);</a:t>
            </a:r>
          </a:p>
          <a:p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69019" y="2523668"/>
            <a:ext cx="8928992" cy="3785652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position </a:t>
            </a:r>
            <a:r>
              <a:rPr lang="en-US" dirty="0"/>
              <a:t>– </a:t>
            </a:r>
            <a:r>
              <a:rPr lang="ru-RU" dirty="0" err="1"/>
              <a:t>визначає</a:t>
            </a:r>
            <a:r>
              <a:rPr lang="ru-RU" dirty="0"/>
              <a:t> центр </a:t>
            </a:r>
            <a:r>
              <a:rPr lang="ru-RU" dirty="0" err="1"/>
              <a:t>градієнта</a:t>
            </a:r>
            <a:r>
              <a:rPr lang="ru-RU" dirty="0"/>
              <a:t>, </a:t>
            </a:r>
            <a:r>
              <a:rPr lang="ru-RU" dirty="0" err="1"/>
              <a:t>аналогічний</a:t>
            </a:r>
            <a:endParaRPr lang="ru-RU" dirty="0"/>
          </a:p>
          <a:p>
            <a:r>
              <a:rPr lang="ru-RU" dirty="0"/>
              <a:t>            </a:t>
            </a:r>
            <a:r>
              <a:rPr lang="en-US" dirty="0">
                <a:solidFill>
                  <a:srgbClr val="7030A0"/>
                </a:solidFill>
              </a:rPr>
              <a:t>background-position</a:t>
            </a:r>
            <a:r>
              <a:rPr lang="ru-RU" dirty="0"/>
              <a:t> 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shape</a:t>
            </a:r>
            <a:r>
              <a:rPr lang="en-US" dirty="0"/>
              <a:t> – </a:t>
            </a:r>
            <a:r>
              <a:rPr lang="ru-RU" dirty="0" err="1"/>
              <a:t>форми</a:t>
            </a:r>
            <a:r>
              <a:rPr lang="ru-RU" dirty="0"/>
              <a:t> </a:t>
            </a:r>
            <a:r>
              <a:rPr lang="ru-RU" dirty="0" err="1"/>
              <a:t>радіального</a:t>
            </a:r>
            <a:r>
              <a:rPr lang="ru-RU" dirty="0"/>
              <a:t> </a:t>
            </a:r>
            <a:r>
              <a:rPr lang="ru-RU" dirty="0" err="1"/>
              <a:t>градієнта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	 	</a:t>
            </a:r>
            <a:r>
              <a:rPr lang="ru-RU" dirty="0" err="1">
                <a:solidFill>
                  <a:srgbClr val="FF0000"/>
                </a:solidFill>
              </a:rPr>
              <a:t>circle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</a:t>
            </a:r>
            <a:r>
              <a:rPr lang="ru-RU" dirty="0"/>
              <a:t>к</a:t>
            </a:r>
            <a:r>
              <a:rPr lang="uk-UA" dirty="0" err="1"/>
              <a:t>оло</a:t>
            </a:r>
            <a:r>
              <a:rPr lang="en-US" dirty="0"/>
              <a:t>)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/>
              <a:t>– </a:t>
            </a:r>
            <a:r>
              <a:rPr lang="ru-RU" dirty="0"/>
              <a:t>за </a:t>
            </a:r>
            <a:r>
              <a:rPr lang="ru-RU" dirty="0" err="1"/>
              <a:t>замовчуванням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		</a:t>
            </a:r>
            <a:r>
              <a:rPr lang="ru-RU" dirty="0" err="1">
                <a:solidFill>
                  <a:srgbClr val="FF0000"/>
                </a:solidFill>
              </a:rPr>
              <a:t>ellipse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(</a:t>
            </a:r>
            <a:r>
              <a:rPr lang="ru-RU" dirty="0" err="1"/>
              <a:t>еліпс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size</a:t>
            </a:r>
            <a:r>
              <a:rPr lang="en-US" dirty="0"/>
              <a:t> - </a:t>
            </a:r>
            <a:r>
              <a:rPr lang="ru-RU" dirty="0" err="1"/>
              <a:t>задає</a:t>
            </a:r>
            <a:r>
              <a:rPr lang="ru-RU" dirty="0"/>
              <a:t> </a:t>
            </a:r>
            <a:r>
              <a:rPr lang="ru-RU" dirty="0" err="1"/>
              <a:t>розташування</a:t>
            </a:r>
            <a:r>
              <a:rPr lang="ru-RU" dirty="0"/>
              <a:t> </a:t>
            </a:r>
            <a:r>
              <a:rPr lang="ru-RU" dirty="0" err="1"/>
              <a:t>градієнта</a:t>
            </a:r>
            <a:r>
              <a:rPr lang="ru-RU" dirty="0"/>
              <a:t> </a:t>
            </a:r>
            <a:r>
              <a:rPr lang="ru-RU" dirty="0" err="1"/>
              <a:t>щодо</a:t>
            </a:r>
            <a:endParaRPr lang="ru-RU" dirty="0"/>
          </a:p>
          <a:p>
            <a:r>
              <a:rPr lang="ru-RU" dirty="0"/>
              <a:t>       </a:t>
            </a:r>
            <a:r>
              <a:rPr lang="ru-RU" dirty="0" err="1"/>
              <a:t>сторін</a:t>
            </a:r>
            <a:r>
              <a:rPr lang="ru-RU" dirty="0"/>
              <a:t> та </a:t>
            </a:r>
            <a:r>
              <a:rPr lang="ru-RU" dirty="0" err="1"/>
              <a:t>кутів</a:t>
            </a:r>
            <a:r>
              <a:rPr lang="ru-RU" dirty="0"/>
              <a:t> блоку. </a:t>
            </a:r>
          </a:p>
          <a:p>
            <a:r>
              <a:rPr lang="ru-RU" dirty="0"/>
              <a:t>        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closest-side </a:t>
            </a:r>
            <a:r>
              <a:rPr lang="en-US" dirty="0"/>
              <a:t>- </a:t>
            </a:r>
            <a:r>
              <a:rPr lang="ru-RU" dirty="0" err="1"/>
              <a:t>ближня</a:t>
            </a:r>
            <a:r>
              <a:rPr lang="ru-RU" dirty="0"/>
              <a:t> сторона,</a:t>
            </a:r>
          </a:p>
          <a:p>
            <a:r>
              <a:rPr lang="ru-RU" dirty="0"/>
              <a:t>        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closest-corner</a:t>
            </a:r>
            <a:r>
              <a:rPr lang="en-US" dirty="0"/>
              <a:t> - </a:t>
            </a:r>
            <a:r>
              <a:rPr lang="ru-RU" dirty="0" err="1"/>
              <a:t>ближній</a:t>
            </a:r>
            <a:r>
              <a:rPr lang="ru-RU" dirty="0"/>
              <a:t> кут,</a:t>
            </a:r>
          </a:p>
          <a:p>
            <a:r>
              <a:rPr lang="ru-RU" dirty="0"/>
              <a:t>        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farthest-side</a:t>
            </a:r>
            <a:r>
              <a:rPr lang="en-US" dirty="0"/>
              <a:t> - </a:t>
            </a:r>
            <a:r>
              <a:rPr lang="ru-RU" dirty="0"/>
              <a:t>дальня сторона,</a:t>
            </a:r>
          </a:p>
          <a:p>
            <a:r>
              <a:rPr lang="ru-RU" dirty="0"/>
              <a:t>        </a:t>
            </a: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farthest-corner </a:t>
            </a:r>
            <a:r>
              <a:rPr lang="en-US" dirty="0"/>
              <a:t>- </a:t>
            </a:r>
            <a:r>
              <a:rPr lang="ru-RU" dirty="0" err="1"/>
              <a:t>дальній</a:t>
            </a:r>
            <a:r>
              <a:rPr lang="ru-RU" dirty="0"/>
              <a:t> кут</a:t>
            </a:r>
            <a:endParaRPr lang="en-US" dirty="0"/>
          </a:p>
          <a:p>
            <a:r>
              <a:rPr lang="en-US" dirty="0"/>
              <a:t> </a:t>
            </a:r>
            <a:r>
              <a:rPr lang="ru-RU" dirty="0" err="1"/>
              <a:t>або</a:t>
            </a:r>
            <a:r>
              <a:rPr lang="ru-RU" dirty="0"/>
              <a:t> просто </a:t>
            </a:r>
            <a:r>
              <a:rPr lang="ru-RU" dirty="0" err="1"/>
              <a:t>задається</a:t>
            </a:r>
            <a:r>
              <a:rPr lang="ru-RU" dirty="0"/>
              <a:t> в </a:t>
            </a:r>
            <a:r>
              <a:rPr lang="en-US" dirty="0" err="1"/>
              <a:t>px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0679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867" y="2092786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radial-gradient(at 100px, white, black);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1414" y="1556792"/>
            <a:ext cx="8906089" cy="400110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radial-gradient(white, black);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6182" y="485378"/>
            <a:ext cx="8904668" cy="95410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      </a:t>
            </a:r>
            <a:r>
              <a:rPr lang="en-US" b="1" dirty="0">
                <a:solidFill>
                  <a:srgbClr val="0070C0"/>
                </a:solidFill>
              </a:rPr>
              <a:t>      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[ at &lt;position&gt; ] 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ru-RU" b="1" dirty="0"/>
              <a:t>Де </a:t>
            </a:r>
            <a:r>
              <a:rPr lang="ru-RU" b="1" dirty="0" err="1"/>
              <a:t>знаходиться</a:t>
            </a:r>
            <a:r>
              <a:rPr lang="ru-RU" b="1" dirty="0"/>
              <a:t> центр </a:t>
            </a:r>
            <a:r>
              <a:rPr lang="ru-RU" b="1" dirty="0" err="1"/>
              <a:t>градієнта</a:t>
            </a:r>
            <a:r>
              <a:rPr lang="ru-RU" b="1" dirty="0"/>
              <a:t>? </a:t>
            </a:r>
            <a:r>
              <a:rPr lang="ru-RU" b="1" dirty="0" err="1"/>
              <a:t>Це</a:t>
            </a:r>
            <a:r>
              <a:rPr lang="ru-RU" b="1" dirty="0"/>
              <a:t> по </a:t>
            </a:r>
            <a:r>
              <a:rPr lang="ru-RU" b="1" dirty="0" err="1"/>
              <a:t>суті</a:t>
            </a:r>
            <a:endParaRPr lang="ru-RU" b="1" dirty="0"/>
          </a:p>
          <a:p>
            <a:r>
              <a:rPr lang="ru-RU" b="1" dirty="0"/>
              <a:t>  </a:t>
            </a:r>
            <a:r>
              <a:rPr lang="en-US" dirty="0"/>
              <a:t> </a:t>
            </a:r>
            <a:r>
              <a:rPr lang="en-US" b="1" dirty="0">
                <a:solidFill>
                  <a:srgbClr val="0070C0"/>
                </a:solidFill>
              </a:rPr>
              <a:t>background-position</a:t>
            </a:r>
            <a:r>
              <a:rPr lang="en-US" dirty="0"/>
              <a:t> </a:t>
            </a:r>
            <a:r>
              <a:rPr lang="uk-UA" b="1" dirty="0"/>
              <a:t>або</a:t>
            </a:r>
            <a:r>
              <a:rPr lang="ru-RU" dirty="0"/>
              <a:t> </a:t>
            </a:r>
            <a:r>
              <a:rPr lang="en-US" b="1" dirty="0">
                <a:solidFill>
                  <a:srgbClr val="0070C0"/>
                </a:solidFill>
              </a:rPr>
              <a:t> transform-origin.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Заголовок 2"/>
          <p:cNvSpPr>
            <a:spLocks noGrp="1"/>
          </p:cNvSpPr>
          <p:nvPr>
            <p:ph type="title"/>
          </p:nvPr>
        </p:nvSpPr>
        <p:spPr>
          <a:xfrm>
            <a:off x="3642412" y="44624"/>
            <a:ext cx="1937700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/>
              <a:t>Вар</a:t>
            </a:r>
            <a:r>
              <a:rPr lang="uk-UA" sz="1800" dirty="0" err="1"/>
              <a:t>іа</a:t>
            </a:r>
            <a:r>
              <a:rPr lang="ru-RU" sz="1800" dirty="0" err="1"/>
              <a:t>нт</a:t>
            </a:r>
            <a:r>
              <a:rPr lang="ru-RU" sz="1800" dirty="0"/>
              <a:t>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07" y="2740858"/>
            <a:ext cx="8906089" cy="400110"/>
          </a:xfrm>
          <a:prstGeom prst="rect">
            <a:avLst/>
          </a:prstGeom>
          <a:solidFill>
            <a:schemeClr val="bg2">
              <a:lumMod val="50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radial-gradient(at top right, aqua, </a:t>
            </a:r>
            <a:r>
              <a:rPr lang="en-US" dirty="0" err="1"/>
              <a:t>darkblue</a:t>
            </a:r>
            <a:r>
              <a:rPr lang="en-US" dirty="0"/>
              <a:t>);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52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867" y="2308810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radial-gradient(circle, white, black);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1030" y="2852936"/>
            <a:ext cx="8906089" cy="400110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radial-gradient(100px, white, black);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3866" y="488320"/>
            <a:ext cx="8904668" cy="123110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</a:rPr>
              <a:t>      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[ circle || &lt;length&gt; ] [ at &lt;position&gt; ]?</a:t>
            </a:r>
          </a:p>
          <a:p>
            <a:endParaRPr lang="ru-RU" b="1" dirty="0">
              <a:solidFill>
                <a:srgbClr val="002060"/>
              </a:solidFill>
            </a:endParaRPr>
          </a:p>
          <a:p>
            <a:r>
              <a:rPr lang="ru-RU" b="1" dirty="0" err="1"/>
              <a:t>Якщо</a:t>
            </a:r>
            <a:r>
              <a:rPr lang="ru-RU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shape</a:t>
            </a:r>
            <a:r>
              <a:rPr lang="en-US" b="1" dirty="0"/>
              <a:t> </a:t>
            </a:r>
            <a:r>
              <a:rPr lang="ru-RU" b="1" dirty="0"/>
              <a:t>не </a:t>
            </a:r>
            <a:r>
              <a:rPr lang="ru-RU" b="1" dirty="0" err="1"/>
              <a:t>вказано</a:t>
            </a:r>
            <a:r>
              <a:rPr lang="ru-RU" b="1" dirty="0"/>
              <a:t> </a:t>
            </a:r>
            <a:r>
              <a:rPr lang="ru-RU" b="1" dirty="0" err="1"/>
              <a:t>або</a:t>
            </a:r>
            <a:r>
              <a:rPr lang="ru-RU" b="1" dirty="0"/>
              <a:t> для </a:t>
            </a:r>
            <a:r>
              <a:rPr lang="en-US" b="1" dirty="0">
                <a:solidFill>
                  <a:srgbClr val="C00000"/>
                </a:solidFill>
              </a:rPr>
              <a:t>shape</a:t>
            </a:r>
            <a:r>
              <a:rPr lang="en-US" b="1" dirty="0"/>
              <a:t> </a:t>
            </a:r>
            <a:r>
              <a:rPr lang="ru-RU" b="1" dirty="0"/>
              <a:t>типу </a:t>
            </a:r>
            <a:r>
              <a:rPr lang="en-US" b="1" dirty="0">
                <a:solidFill>
                  <a:srgbClr val="C00000"/>
                </a:solidFill>
              </a:rPr>
              <a:t>circle</a:t>
            </a:r>
            <a:r>
              <a:rPr lang="en-US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вказати</a:t>
            </a:r>
            <a:endParaRPr lang="ru-RU" b="1" dirty="0"/>
          </a:p>
          <a:p>
            <a:r>
              <a:rPr lang="ru-RU" b="1" dirty="0" err="1"/>
              <a:t>радіус</a:t>
            </a:r>
            <a:r>
              <a:rPr lang="ru-RU" b="1" dirty="0"/>
              <a:t> </a:t>
            </a:r>
            <a:r>
              <a:rPr lang="ru-RU" b="1" dirty="0" err="1"/>
              <a:t>градієнта</a:t>
            </a:r>
            <a:r>
              <a:rPr lang="ru-RU" b="1" dirty="0"/>
              <a:t> - </a:t>
            </a:r>
            <a:r>
              <a:rPr lang="ru-RU" b="1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[ </a:t>
            </a:r>
            <a:r>
              <a:rPr lang="en-US" b="1" dirty="0">
                <a:solidFill>
                  <a:srgbClr val="C00000"/>
                </a:solidFill>
              </a:rPr>
              <a:t>circle ||</a:t>
            </a:r>
            <a:r>
              <a:rPr lang="en-US" b="1" dirty="0">
                <a:solidFill>
                  <a:schemeClr val="accent2"/>
                </a:solidFill>
              </a:rPr>
              <a:t> &lt;length&gt; ]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532946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radial-gradient(circle 50px, white, black); </a:t>
            </a:r>
            <a:endParaRPr lang="ru-RU" dirty="0"/>
          </a:p>
        </p:txBody>
      </p:sp>
      <p:sp>
        <p:nvSpPr>
          <p:cNvPr id="13" name="Заголовок 2"/>
          <p:cNvSpPr>
            <a:spLocks noGrp="1"/>
          </p:cNvSpPr>
          <p:nvPr>
            <p:ph type="title"/>
          </p:nvPr>
        </p:nvSpPr>
        <p:spPr>
          <a:xfrm>
            <a:off x="3642412" y="44624"/>
            <a:ext cx="1937700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/>
              <a:t>Вар</a:t>
            </a:r>
            <a:r>
              <a:rPr lang="uk-UA" sz="1800" dirty="0" err="1"/>
              <a:t>іа</a:t>
            </a:r>
            <a:r>
              <a:rPr lang="ru-RU" sz="1800" dirty="0" err="1"/>
              <a:t>нт</a:t>
            </a:r>
            <a:r>
              <a:rPr lang="ru-RU" sz="1800" dirty="0"/>
              <a:t> </a:t>
            </a:r>
            <a:r>
              <a:rPr lang="en-US" sz="1800" dirty="0"/>
              <a:t>2</a:t>
            </a:r>
            <a:endParaRPr lang="ru-RU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107504" y="4181018"/>
            <a:ext cx="8906089" cy="400110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radial-gradient(100px</a:t>
            </a:r>
            <a:r>
              <a:rPr lang="ru-RU" dirty="0"/>
              <a:t> </a:t>
            </a:r>
            <a:r>
              <a:rPr lang="en-US" dirty="0"/>
              <a:t>at 30px 50%, white, black);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958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867" y="2557353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radial-gradient(ellipse, white, black);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1030" y="3717032"/>
            <a:ext cx="8906089" cy="400110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radial-gradient(100px 200px, white, black);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3866" y="488320"/>
            <a:ext cx="8904668" cy="1846659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[ ellipse || [&lt;length&gt; | &lt;percentage&gt; ]{2}] [at &lt;position&gt; ]?</a:t>
            </a:r>
          </a:p>
          <a:p>
            <a:endParaRPr lang="en-US" sz="1600" b="1" dirty="0">
              <a:solidFill>
                <a:srgbClr val="C00000"/>
              </a:solidFill>
            </a:endParaRPr>
          </a:p>
          <a:p>
            <a:r>
              <a:rPr lang="ru-RU" sz="1600" b="1" dirty="0" err="1"/>
              <a:t>Можна</a:t>
            </a:r>
            <a:r>
              <a:rPr lang="ru-RU" sz="1600" b="1" dirty="0"/>
              <a:t> </a:t>
            </a:r>
            <a:r>
              <a:rPr lang="ru-RU" sz="1600" b="1" dirty="0" err="1"/>
              <a:t>вказати</a:t>
            </a:r>
            <a:r>
              <a:rPr lang="ru-RU" sz="1600" b="1" dirty="0"/>
              <a:t> </a:t>
            </a:r>
            <a:r>
              <a:rPr lang="ru-RU" sz="1600" b="1" dirty="0" err="1"/>
              <a:t>або</a:t>
            </a:r>
            <a:r>
              <a:rPr lang="ru-RU" sz="1600" b="1" dirty="0"/>
              <a:t> </a:t>
            </a:r>
            <a:r>
              <a:rPr lang="ru-RU" sz="1600" b="1" dirty="0" err="1"/>
              <a:t>ellipse</a:t>
            </a:r>
            <a:r>
              <a:rPr lang="ru-RU" sz="1600" b="1" dirty="0"/>
              <a:t> </a:t>
            </a:r>
            <a:r>
              <a:rPr lang="ru-RU" sz="1600" b="1" dirty="0" err="1"/>
              <a:t>або</a:t>
            </a:r>
            <a:r>
              <a:rPr lang="ru-RU" sz="1600" b="1" dirty="0"/>
              <a:t> </a:t>
            </a:r>
            <a:r>
              <a:rPr lang="ru-RU" sz="1600" b="1" dirty="0" err="1"/>
              <a:t>розмір</a:t>
            </a:r>
            <a:r>
              <a:rPr lang="ru-RU" sz="1600" b="1" dirty="0"/>
              <a:t> </a:t>
            </a:r>
            <a:r>
              <a:rPr lang="ru-RU" sz="1600" b="1" dirty="0" err="1"/>
              <a:t>фігури</a:t>
            </a:r>
            <a:r>
              <a:rPr lang="ru-RU" sz="1600" b="1" dirty="0"/>
              <a:t>					 </a:t>
            </a:r>
            <a:r>
              <a:rPr lang="en-US" sz="1600" b="1" dirty="0">
                <a:solidFill>
                  <a:schemeClr val="accent2"/>
                </a:solidFill>
              </a:rPr>
              <a:t>[ &lt;length&gt; | &lt;percentage&gt; ]{2} ]</a:t>
            </a:r>
            <a:endParaRPr lang="ru-RU" sz="1600" b="1" dirty="0">
              <a:solidFill>
                <a:schemeClr val="accent2"/>
              </a:solidFill>
            </a:endParaRPr>
          </a:p>
          <a:p>
            <a:r>
              <a:rPr lang="ru-RU" sz="1600" b="1" dirty="0"/>
              <a:t>Перша цифра </a:t>
            </a:r>
            <a:r>
              <a:rPr lang="ru-RU" sz="1600" b="1" dirty="0" err="1"/>
              <a:t>представляє</a:t>
            </a:r>
            <a:r>
              <a:rPr lang="ru-RU" sz="1600" b="1" dirty="0"/>
              <a:t> </a:t>
            </a:r>
            <a:r>
              <a:rPr lang="en-US" sz="1600" b="1" dirty="0"/>
              <a:t>horizontal radius,</a:t>
            </a:r>
          </a:p>
          <a:p>
            <a:r>
              <a:rPr lang="ru-RU" sz="1600" b="1" dirty="0"/>
              <a:t>Друга цифра </a:t>
            </a:r>
            <a:r>
              <a:rPr lang="ru-RU" sz="1600" b="1" dirty="0" err="1"/>
              <a:t>представляє</a:t>
            </a:r>
            <a:r>
              <a:rPr lang="ru-RU" sz="1600" b="1" dirty="0"/>
              <a:t> </a:t>
            </a:r>
            <a:r>
              <a:rPr lang="en-US" sz="1600" b="1" dirty="0"/>
              <a:t>vertical radius.</a:t>
            </a:r>
          </a:p>
          <a:p>
            <a:r>
              <a:rPr lang="ru-RU" sz="1600" b="1" dirty="0"/>
              <a:t>В </a:t>
            </a:r>
            <a:r>
              <a:rPr lang="ru-RU" sz="1600" b="1" dirty="0" err="1"/>
              <a:t>обох</a:t>
            </a:r>
            <a:r>
              <a:rPr lang="ru-RU" sz="1600" b="1" dirty="0"/>
              <a:t> </a:t>
            </a:r>
            <a:r>
              <a:rPr lang="ru-RU" sz="1600" b="1" dirty="0" err="1"/>
              <a:t>випадках</a:t>
            </a:r>
            <a:r>
              <a:rPr lang="ru-RU" sz="1600" b="1" dirty="0"/>
              <a:t> </a:t>
            </a:r>
            <a:r>
              <a:rPr lang="ru-RU" sz="1600" b="1" dirty="0" err="1"/>
              <a:t>можна</a:t>
            </a:r>
            <a:r>
              <a:rPr lang="ru-RU" sz="1600" b="1" dirty="0"/>
              <a:t> </a:t>
            </a:r>
            <a:r>
              <a:rPr lang="ru-RU" sz="1600" b="1" dirty="0" err="1"/>
              <a:t>також</a:t>
            </a:r>
            <a:r>
              <a:rPr lang="ru-RU" sz="1600" b="1" dirty="0"/>
              <a:t> </a:t>
            </a:r>
            <a:r>
              <a:rPr lang="ru-RU" sz="1600" b="1" dirty="0" err="1"/>
              <a:t>вказати</a:t>
            </a:r>
            <a:r>
              <a:rPr lang="ru-RU" sz="1600" b="1" dirty="0"/>
              <a:t> </a:t>
            </a:r>
            <a:r>
              <a:rPr lang="ru-RU" sz="1600" b="1" dirty="0" err="1"/>
              <a:t>позицію</a:t>
            </a:r>
            <a:r>
              <a:rPr lang="ru-RU" sz="1600" b="1" dirty="0"/>
              <a:t> центру </a:t>
            </a:r>
            <a:r>
              <a:rPr lang="ru-RU" sz="1600" b="1" dirty="0" err="1"/>
              <a:t>фігури</a:t>
            </a:r>
            <a:endParaRPr lang="en-US" sz="1600" b="1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397042"/>
            <a:ext cx="9029956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radial-gradient(100px 200px at bottom left, white, black); </a:t>
            </a:r>
            <a:endParaRPr lang="ru-RU" dirty="0"/>
          </a:p>
        </p:txBody>
      </p:sp>
      <p:sp>
        <p:nvSpPr>
          <p:cNvPr id="10" name="Заголовок 2"/>
          <p:cNvSpPr>
            <a:spLocks noGrp="1"/>
          </p:cNvSpPr>
          <p:nvPr>
            <p:ph type="title"/>
          </p:nvPr>
        </p:nvSpPr>
        <p:spPr>
          <a:xfrm>
            <a:off x="3642412" y="44624"/>
            <a:ext cx="1937700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/>
              <a:t>Вар</a:t>
            </a:r>
            <a:r>
              <a:rPr lang="uk-UA" sz="1800" dirty="0" err="1"/>
              <a:t>іа</a:t>
            </a:r>
            <a:r>
              <a:rPr lang="ru-RU" sz="1800" dirty="0" err="1"/>
              <a:t>нт</a:t>
            </a:r>
            <a:r>
              <a:rPr lang="ru-RU" sz="1800" dirty="0"/>
              <a:t>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04" y="4973106"/>
            <a:ext cx="8906089" cy="400110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radial-gradient(10% 30%, white, black); 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07504" y="5581689"/>
            <a:ext cx="8906089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</a:t>
            </a:r>
          </a:p>
          <a:p>
            <a:r>
              <a:rPr lang="en-US" dirty="0"/>
              <a:t>   100px 200px at bottom left, white, black</a:t>
            </a:r>
          </a:p>
          <a:p>
            <a:r>
              <a:rPr lang="en-US" dirty="0"/>
              <a:t>); 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30407" y="3100898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radial-gradient(ellipse</a:t>
            </a:r>
            <a:r>
              <a:rPr lang="ru-RU" dirty="0"/>
              <a:t> </a:t>
            </a:r>
            <a:r>
              <a:rPr lang="en-US" dirty="0"/>
              <a:t>at 30px 40px, white, black);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731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1" grpId="0" animBg="1"/>
      <p:bldP spid="12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9552" y="116632"/>
            <a:ext cx="7848872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/>
              <a:t>Загальна</a:t>
            </a:r>
            <a:r>
              <a:rPr lang="ru-RU" sz="1800" dirty="0"/>
              <a:t> форма </a:t>
            </a:r>
            <a:r>
              <a:rPr lang="ru-RU" sz="1800" dirty="0" err="1"/>
              <a:t>запису</a:t>
            </a:r>
            <a:r>
              <a:rPr lang="ru-RU" sz="1800" dirty="0"/>
              <a:t> правила для </a:t>
            </a:r>
            <a:r>
              <a:rPr lang="ru-RU" sz="1800" dirty="0" err="1"/>
              <a:t>радіального</a:t>
            </a:r>
            <a:r>
              <a:rPr lang="ru-RU" sz="1800" dirty="0"/>
              <a:t> </a:t>
            </a:r>
            <a:r>
              <a:rPr lang="ru-RU" sz="1800" dirty="0" err="1"/>
              <a:t>градієнта</a:t>
            </a:r>
            <a:endParaRPr lang="ru-RU" sz="1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1" y="3861048"/>
            <a:ext cx="9057794" cy="187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04048" y="5877272"/>
            <a:ext cx="3824075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files/gradients_sides.html</a:t>
            </a:r>
            <a:endParaRPr lang="ru-RU" b="1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266363"/>
              </p:ext>
            </p:extLst>
          </p:nvPr>
        </p:nvGraphicFramePr>
        <p:xfrm>
          <a:off x="66714" y="692696"/>
          <a:ext cx="8945274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closest-side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/>
                        <a:t>градієнт</a:t>
                      </a:r>
                      <a:r>
                        <a:rPr lang="ru-RU" b="1" dirty="0"/>
                        <a:t> доходить до </a:t>
                      </a:r>
                      <a:r>
                        <a:rPr lang="ru-RU" b="1" dirty="0" err="1"/>
                        <a:t>найближчої</a:t>
                      </a:r>
                      <a:r>
                        <a:rPr lang="ru-RU" b="1" dirty="0"/>
                        <a:t> до </a:t>
                      </a:r>
                      <a:r>
                        <a:rPr lang="ru-RU" b="1" dirty="0" err="1"/>
                        <a:t>його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радіусу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сторони</a:t>
                      </a:r>
                      <a:r>
                        <a:rPr lang="ru-RU" b="1" dirty="0"/>
                        <a:t> поля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closest-corner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/>
                        <a:t>зупинка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градієнта</a:t>
                      </a:r>
                      <a:r>
                        <a:rPr lang="ru-RU" b="1" dirty="0"/>
                        <a:t> в </a:t>
                      </a:r>
                      <a:r>
                        <a:rPr lang="ru-RU" b="1" dirty="0" err="1"/>
                        <a:t>найближчому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від</a:t>
                      </a:r>
                      <a:r>
                        <a:rPr lang="ru-RU" b="1" dirty="0"/>
                        <a:t> центру кута </a:t>
                      </a:r>
                      <a:r>
                        <a:rPr lang="ru-RU" b="1" dirty="0" err="1"/>
                        <a:t>елемента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farthest-side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/>
                        <a:t>зупинка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градієнта</a:t>
                      </a:r>
                      <a:r>
                        <a:rPr lang="ru-RU" b="1" dirty="0"/>
                        <a:t> на </a:t>
                      </a:r>
                      <a:r>
                        <a:rPr lang="ru-RU" b="1" dirty="0" err="1"/>
                        <a:t>далечині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від</a:t>
                      </a:r>
                      <a:r>
                        <a:rPr lang="ru-RU" b="1" dirty="0"/>
                        <a:t> центру </a:t>
                      </a:r>
                      <a:r>
                        <a:rPr lang="ru-RU" b="1" dirty="0" err="1"/>
                        <a:t>елемента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rgbClr val="FF0000"/>
                          </a:solidFill>
                        </a:rPr>
                        <a:t>farthest-corner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/>
                        <a:t>зупинка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градієнта</a:t>
                      </a:r>
                      <a:r>
                        <a:rPr lang="ru-RU" b="1" dirty="0"/>
                        <a:t> в </a:t>
                      </a:r>
                      <a:r>
                        <a:rPr lang="ru-RU" b="1" dirty="0" err="1"/>
                        <a:t>найдальшому</a:t>
                      </a:r>
                      <a:r>
                        <a:rPr lang="ru-RU" b="1" dirty="0"/>
                        <a:t> </a:t>
                      </a:r>
                      <a:r>
                        <a:rPr lang="ru-RU" b="1" dirty="0" err="1"/>
                        <a:t>від</a:t>
                      </a:r>
                      <a:r>
                        <a:rPr lang="ru-RU" b="1" dirty="0"/>
                        <a:t> центру кута </a:t>
                      </a:r>
                      <a:r>
                        <a:rPr lang="ru-RU" b="1" dirty="0" err="1"/>
                        <a:t>елемента</a:t>
                      </a:r>
                      <a:endParaRPr lang="ru-RU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174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867" y="1084674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radial-gradient(ellipse closest-side, white, black);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91030" y="1660738"/>
            <a:ext cx="8906089" cy="1015663"/>
          </a:xfrm>
          <a:prstGeom prst="rect">
            <a:avLst/>
          </a:prstGeom>
          <a:solidFill>
            <a:schemeClr val="bg1">
              <a:lumMod val="8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</a:t>
            </a:r>
          </a:p>
          <a:p>
            <a:r>
              <a:rPr lang="en-US" dirty="0"/>
              <a:t>   circle farthest-side </a:t>
            </a:r>
            <a:r>
              <a:rPr lang="en-US" dirty="0">
                <a:solidFill>
                  <a:srgbClr val="002060"/>
                </a:solidFill>
              </a:rPr>
              <a:t>at 100px</a:t>
            </a:r>
            <a:r>
              <a:rPr lang="en-US" dirty="0"/>
              <a:t> 200px, white, black</a:t>
            </a:r>
          </a:p>
          <a:p>
            <a:r>
              <a:rPr lang="en-US" dirty="0"/>
              <a:t>);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3866" y="488320"/>
            <a:ext cx="8904668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[ [ circle | ellipse ] || &lt;extent-keyword&gt; ] [ at &lt;position&gt; ]?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2917393"/>
            <a:ext cx="8906089" cy="400110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radial-gradient(closest-corner at 100px, white, black); </a:t>
            </a:r>
            <a:endParaRPr lang="ru-RU" dirty="0"/>
          </a:p>
        </p:txBody>
      </p:sp>
      <p:sp>
        <p:nvSpPr>
          <p:cNvPr id="9" name="Заголовок 2"/>
          <p:cNvSpPr>
            <a:spLocks noGrp="1"/>
          </p:cNvSpPr>
          <p:nvPr>
            <p:ph type="title"/>
          </p:nvPr>
        </p:nvSpPr>
        <p:spPr>
          <a:xfrm>
            <a:off x="3642412" y="44624"/>
            <a:ext cx="1937700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/>
              <a:t>Вар</a:t>
            </a:r>
            <a:r>
              <a:rPr lang="uk-UA" sz="1800" dirty="0" err="1"/>
              <a:t>іа</a:t>
            </a:r>
            <a:r>
              <a:rPr lang="ru-RU" sz="1800" dirty="0" err="1"/>
              <a:t>нт</a:t>
            </a:r>
            <a:r>
              <a:rPr lang="ru-RU" sz="1800" dirty="0"/>
              <a:t> </a:t>
            </a:r>
            <a:r>
              <a:rPr lang="en-US" sz="1800" dirty="0"/>
              <a:t>4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9029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5751" y="116632"/>
            <a:ext cx="3320746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/>
              <a:t>transparent gradient</a:t>
            </a:r>
            <a:endParaRPr lang="ru-RU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144016" y="574229"/>
            <a:ext cx="8820472" cy="126188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body { </a:t>
            </a:r>
          </a:p>
          <a:p>
            <a:r>
              <a:rPr lang="en-US" b="1" dirty="0"/>
              <a:t>   </a:t>
            </a:r>
            <a:r>
              <a:rPr lang="en-US" sz="2000" b="1" dirty="0"/>
              <a:t>background: linear-gradient(</a:t>
            </a:r>
          </a:p>
          <a:p>
            <a:r>
              <a:rPr lang="en-US" sz="2000" b="1" dirty="0"/>
              <a:t>           </a:t>
            </a:r>
            <a:r>
              <a:rPr lang="en-US" sz="2000" b="1" dirty="0" err="1"/>
              <a:t>hsl</a:t>
            </a:r>
            <a:r>
              <a:rPr lang="en-US" sz="2000" b="1" dirty="0"/>
              <a:t>(228,51%,32%), transparent) 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44016" y="1916832"/>
            <a:ext cx="8820472" cy="9233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Ми </a:t>
            </a:r>
            <a:r>
              <a:rPr lang="ru-RU" b="1" dirty="0" err="1"/>
              <a:t>побачимо</a:t>
            </a:r>
            <a:r>
              <a:rPr lang="ru-RU" b="1" dirty="0"/>
              <a:t>, </a:t>
            </a:r>
            <a:r>
              <a:rPr lang="ru-RU" b="1" dirty="0" err="1"/>
              <a:t>що</a:t>
            </a:r>
            <a:r>
              <a:rPr lang="ru-RU" b="1" dirty="0"/>
              <a:t> </a:t>
            </a:r>
            <a:r>
              <a:rPr lang="ru-RU" b="1" dirty="0" err="1"/>
              <a:t>градієнт</a:t>
            </a:r>
            <a:r>
              <a:rPr lang="ru-RU" b="1" dirty="0"/>
              <a:t> </a:t>
            </a:r>
            <a:r>
              <a:rPr lang="ru-RU" b="1" dirty="0" err="1"/>
              <a:t>повторюється</a:t>
            </a:r>
            <a:r>
              <a:rPr lang="ru-RU" b="1" dirty="0"/>
              <a:t>. </a:t>
            </a:r>
            <a:r>
              <a:rPr lang="ru-RU" b="1" dirty="0" err="1"/>
              <a:t>Щоб</a:t>
            </a:r>
            <a:r>
              <a:rPr lang="ru-RU" b="1" dirty="0"/>
              <a:t> </a:t>
            </a:r>
            <a:r>
              <a:rPr lang="ru-RU" b="1" dirty="0" err="1"/>
              <a:t>зробити</a:t>
            </a:r>
            <a:r>
              <a:rPr lang="ru-RU" b="1" dirty="0"/>
              <a:t> </a:t>
            </a:r>
            <a:r>
              <a:rPr lang="ru-RU" b="1" dirty="0" err="1"/>
              <a:t>суцільний</a:t>
            </a:r>
            <a:r>
              <a:rPr lang="ru-RU" b="1" dirty="0"/>
              <a:t> </a:t>
            </a:r>
            <a:r>
              <a:rPr lang="ru-RU" b="1" dirty="0" err="1"/>
              <a:t>градієнт</a:t>
            </a:r>
            <a:r>
              <a:rPr lang="ru-RU" b="1" dirty="0"/>
              <a:t> у </a:t>
            </a:r>
            <a:r>
              <a:rPr lang="ru-RU" b="1" dirty="0" err="1"/>
              <a:t>всій</a:t>
            </a:r>
            <a:r>
              <a:rPr lang="ru-RU" b="1" dirty="0"/>
              <a:t> </a:t>
            </a:r>
            <a:r>
              <a:rPr lang="ru-RU" b="1" dirty="0" err="1"/>
              <a:t>висоті</a:t>
            </a:r>
            <a:r>
              <a:rPr lang="ru-RU" b="1" dirty="0"/>
              <a:t> </a:t>
            </a:r>
            <a:r>
              <a:rPr lang="ru-RU" b="1" dirty="0" err="1"/>
              <a:t>вікна</a:t>
            </a:r>
            <a:r>
              <a:rPr lang="ru-RU" b="1" dirty="0"/>
              <a:t> браузера, </a:t>
            </a:r>
            <a:r>
              <a:rPr lang="ru-RU" b="1" dirty="0" err="1"/>
              <a:t>потрібно</a:t>
            </a:r>
            <a:r>
              <a:rPr lang="ru-RU" b="1" dirty="0"/>
              <a:t> </a:t>
            </a:r>
            <a:r>
              <a:rPr lang="ru-RU" b="1" dirty="0" err="1"/>
              <a:t>написати</a:t>
            </a:r>
            <a:r>
              <a:rPr lang="ru-RU" b="1" dirty="0"/>
              <a:t> правило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3528" y="3429000"/>
            <a:ext cx="8820472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Завдання</a:t>
            </a:r>
            <a:r>
              <a:rPr lang="ru-RU" b="1" dirty="0"/>
              <a:t> – </a:t>
            </a:r>
            <a:r>
              <a:rPr lang="ru-RU" b="1" dirty="0" err="1"/>
              <a:t>додати</a:t>
            </a:r>
            <a:r>
              <a:rPr lang="ru-RU" b="1" dirty="0"/>
              <a:t> до </a:t>
            </a:r>
            <a:r>
              <a:rPr lang="ru-RU" b="1" dirty="0" err="1"/>
              <a:t>body</a:t>
            </a:r>
            <a:r>
              <a:rPr lang="ru-RU" b="1" dirty="0"/>
              <a:t> </a:t>
            </a:r>
            <a:r>
              <a:rPr lang="ru-RU" b="1" dirty="0" err="1"/>
              <a:t>фонове</a:t>
            </a:r>
            <a:r>
              <a:rPr lang="ru-RU" b="1" dirty="0"/>
              <a:t> </a:t>
            </a:r>
            <a:r>
              <a:rPr lang="ru-RU" b="1" dirty="0" err="1"/>
              <a:t>зображення</a:t>
            </a:r>
            <a:r>
              <a:rPr lang="ru-RU" b="1" dirty="0"/>
              <a:t> </a:t>
            </a:r>
            <a:r>
              <a:rPr lang="ru-RU" b="1" dirty="0" err="1"/>
              <a:t>img</a:t>
            </a:r>
            <a:r>
              <a:rPr lang="ru-RU" b="1" dirty="0"/>
              <a:t>/bg.jpg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192" y="116632"/>
            <a:ext cx="25922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LABS/lab_2.html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576192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1135" y="116632"/>
            <a:ext cx="3464762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/>
              <a:t>Повторення</a:t>
            </a:r>
            <a:r>
              <a:rPr lang="ru-RU" sz="1800" dirty="0"/>
              <a:t> </a:t>
            </a:r>
            <a:r>
              <a:rPr lang="ru-RU" sz="1800" dirty="0" err="1"/>
              <a:t>градіенту</a:t>
            </a:r>
            <a:endParaRPr lang="ru-RU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A8001-4054-580F-3B14-131E904D6AF5}"/>
              </a:ext>
            </a:extLst>
          </p:cNvPr>
          <p:cNvSpPr txBox="1"/>
          <p:nvPr/>
        </p:nvSpPr>
        <p:spPr>
          <a:xfrm>
            <a:off x="144015" y="574229"/>
            <a:ext cx="8953995" cy="2154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 : repeating-linear-gradient( </a:t>
            </a:r>
          </a:p>
          <a:p>
            <a:r>
              <a:rPr lang="en-US" b="1" dirty="0"/>
              <a:t>	</a:t>
            </a:r>
            <a:r>
              <a:rPr lang="en-US" sz="2000" b="1" dirty="0">
                <a:solidFill>
                  <a:srgbClr val="0070C0"/>
                </a:solidFill>
              </a:rPr>
              <a:t>&lt;side-or-corner&gt;,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 &lt;color-stop</a:t>
            </a:r>
            <a:r>
              <a:rPr lang="ru-RU" sz="2000" b="1" dirty="0">
                <a:solidFill>
                  <a:srgbClr val="0070C0"/>
                </a:solidFill>
              </a:rPr>
              <a:t> 1</a:t>
            </a:r>
            <a:r>
              <a:rPr lang="en-US" sz="2000" b="1" dirty="0">
                <a:solidFill>
                  <a:srgbClr val="0070C0"/>
                </a:solidFill>
              </a:rPr>
              <a:t>&gt; &lt;size&gt;,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 &lt;color-stop</a:t>
            </a:r>
            <a:r>
              <a:rPr lang="ru-RU" sz="2000" b="1" dirty="0">
                <a:solidFill>
                  <a:srgbClr val="0070C0"/>
                </a:solidFill>
              </a:rPr>
              <a:t> 2</a:t>
            </a:r>
            <a:r>
              <a:rPr lang="en-US" sz="2000" b="1" dirty="0">
                <a:solidFill>
                  <a:srgbClr val="0070C0"/>
                </a:solidFill>
              </a:rPr>
              <a:t>&gt; &lt;size&gt;,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      ...</a:t>
            </a:r>
          </a:p>
          <a:p>
            <a:r>
              <a:rPr lang="en-US" b="1" dirty="0"/>
              <a:t>);</a:t>
            </a:r>
          </a:p>
          <a:p>
            <a:endParaRPr lang="ru-RU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7A20B-D5E3-076E-BC71-4E5BE43006E4}"/>
              </a:ext>
            </a:extLst>
          </p:cNvPr>
          <p:cNvSpPr txBox="1"/>
          <p:nvPr/>
        </p:nvSpPr>
        <p:spPr>
          <a:xfrm>
            <a:off x="156516" y="2818632"/>
            <a:ext cx="8928992" cy="1015663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side-or-corner </a:t>
            </a:r>
            <a:r>
              <a:rPr lang="en-US" dirty="0"/>
              <a:t>–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uk-UA" dirty="0"/>
              <a:t>напрям</a:t>
            </a:r>
            <a:r>
              <a:rPr lang="ru-RU" dirty="0"/>
              <a:t> </a:t>
            </a:r>
            <a:r>
              <a:rPr lang="ru-RU" dirty="0" err="1"/>
              <a:t>градієнта</a:t>
            </a:r>
            <a:endParaRPr lang="en-US" dirty="0"/>
          </a:p>
          <a:p>
            <a:r>
              <a:rPr lang="en-US" dirty="0"/>
              <a:t>                 </a:t>
            </a:r>
            <a:r>
              <a:rPr lang="ru-RU" dirty="0" err="1"/>
              <a:t>наприклад</a:t>
            </a:r>
            <a:r>
              <a:rPr lang="ru-RU" dirty="0"/>
              <a:t> </a:t>
            </a:r>
            <a:r>
              <a:rPr lang="en-US" dirty="0"/>
              <a:t> to top,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/>
              <a:t>45deg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color-stop</a:t>
            </a:r>
            <a:r>
              <a:rPr lang="en-US" dirty="0"/>
              <a:t> –</a:t>
            </a:r>
            <a:r>
              <a:rPr lang="ru-RU" dirty="0"/>
              <a:t> </a:t>
            </a:r>
            <a:r>
              <a:rPr lang="ru-RU" dirty="0" err="1"/>
              <a:t>кольори</a:t>
            </a:r>
            <a:r>
              <a:rPr lang="ru-RU" dirty="0"/>
              <a:t> та </a:t>
            </a:r>
            <a:r>
              <a:rPr lang="uk-UA" dirty="0"/>
              <a:t>їх розмір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7232E-9AD6-176D-B3AE-94EC28191F24}"/>
              </a:ext>
            </a:extLst>
          </p:cNvPr>
          <p:cNvSpPr txBox="1"/>
          <p:nvPr/>
        </p:nvSpPr>
        <p:spPr>
          <a:xfrm>
            <a:off x="171135" y="4005064"/>
            <a:ext cx="8820472" cy="233910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.box { </a:t>
            </a:r>
          </a:p>
          <a:p>
            <a:r>
              <a:rPr lang="en-US" b="1" dirty="0"/>
              <a:t>   width:4</a:t>
            </a:r>
            <a:r>
              <a:rPr lang="uk-UA" b="1" dirty="0"/>
              <a:t>00</a:t>
            </a:r>
            <a:r>
              <a:rPr lang="en-US" b="1" dirty="0" err="1"/>
              <a:t>px</a:t>
            </a:r>
            <a:r>
              <a:rPr lang="en-US" b="1" dirty="0"/>
              <a:t>;</a:t>
            </a:r>
          </a:p>
          <a:p>
            <a:r>
              <a:rPr lang="en-US" b="1" dirty="0"/>
              <a:t>   height:200px;</a:t>
            </a:r>
          </a:p>
          <a:p>
            <a:r>
              <a:rPr lang="en-US" sz="2000" b="1" dirty="0"/>
              <a:t>   </a:t>
            </a:r>
            <a:r>
              <a:rPr lang="en-US" b="1" dirty="0">
                <a:solidFill>
                  <a:srgbClr val="C00000"/>
                </a:solidFill>
              </a:rPr>
              <a:t>background: repeating-linear-gradient</a:t>
            </a:r>
            <a:r>
              <a:rPr lang="en-US" b="1" dirty="0"/>
              <a:t>( </a:t>
            </a:r>
          </a:p>
          <a:p>
            <a:r>
              <a:rPr lang="en-US" b="1" dirty="0"/>
              <a:t>          red 20px, </a:t>
            </a:r>
          </a:p>
          <a:p>
            <a:r>
              <a:rPr lang="en-US" b="1" dirty="0"/>
              <a:t>          blue 40px</a:t>
            </a:r>
          </a:p>
          <a:p>
            <a:r>
              <a:rPr lang="en-US" b="1" dirty="0"/>
              <a:t>    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b="1" dirty="0"/>
              <a:t>;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59254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CF546F1-01AA-38AB-E04C-E0DDC0D4C71D}"/>
              </a:ext>
            </a:extLst>
          </p:cNvPr>
          <p:cNvSpPr txBox="1"/>
          <p:nvPr/>
        </p:nvSpPr>
        <p:spPr>
          <a:xfrm>
            <a:off x="161764" y="116632"/>
            <a:ext cx="8820472" cy="26161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.box { </a:t>
            </a:r>
          </a:p>
          <a:p>
            <a:r>
              <a:rPr lang="en-US" b="1" dirty="0"/>
              <a:t>   ...</a:t>
            </a:r>
          </a:p>
          <a:p>
            <a:r>
              <a:rPr lang="en-US" sz="2000" b="1" dirty="0"/>
              <a:t>   </a:t>
            </a:r>
            <a:r>
              <a:rPr lang="en-US" b="1" dirty="0">
                <a:solidFill>
                  <a:srgbClr val="C00000"/>
                </a:solidFill>
              </a:rPr>
              <a:t>background: repeating-linear-gradient( </a:t>
            </a:r>
          </a:p>
          <a:p>
            <a:r>
              <a:rPr lang="en-US" b="1" dirty="0"/>
              <a:t>      red 0,</a:t>
            </a:r>
          </a:p>
          <a:p>
            <a:r>
              <a:rPr lang="en-US" b="1" dirty="0"/>
              <a:t>      red 20px, </a:t>
            </a:r>
          </a:p>
          <a:p>
            <a:r>
              <a:rPr lang="en-US" b="1" dirty="0"/>
              <a:t>      blue 20px,</a:t>
            </a:r>
          </a:p>
          <a:p>
            <a:r>
              <a:rPr lang="en-US" b="1" dirty="0"/>
              <a:t>      blue 40px</a:t>
            </a:r>
          </a:p>
          <a:p>
            <a:r>
              <a:rPr lang="en-US" b="1" dirty="0"/>
              <a:t>    </a:t>
            </a:r>
            <a:r>
              <a:rPr lang="en-US" b="1" dirty="0">
                <a:solidFill>
                  <a:srgbClr val="C00000"/>
                </a:solidFill>
              </a:rPr>
              <a:t>);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7E154-E475-9D94-5357-E326BDB6F0B7}"/>
              </a:ext>
            </a:extLst>
          </p:cNvPr>
          <p:cNvSpPr txBox="1"/>
          <p:nvPr/>
        </p:nvSpPr>
        <p:spPr>
          <a:xfrm>
            <a:off x="179512" y="2924944"/>
            <a:ext cx="8820472" cy="29238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.box { </a:t>
            </a:r>
          </a:p>
          <a:p>
            <a:r>
              <a:rPr lang="en-US" b="1" dirty="0"/>
              <a:t>   ...</a:t>
            </a:r>
          </a:p>
          <a:p>
            <a:r>
              <a:rPr lang="en-US" sz="2000" b="1" dirty="0"/>
              <a:t>   </a:t>
            </a:r>
            <a:r>
              <a:rPr lang="en-US" b="1" dirty="0">
                <a:solidFill>
                  <a:srgbClr val="C00000"/>
                </a:solidFill>
              </a:rPr>
              <a:t>background: repeating-linear-gradient(</a:t>
            </a:r>
          </a:p>
          <a:p>
            <a:r>
              <a:rPr lang="en-US" b="1" dirty="0"/>
              <a:t>     to left </a:t>
            </a:r>
          </a:p>
          <a:p>
            <a:r>
              <a:rPr lang="en-US" b="1" dirty="0"/>
              <a:t>      red 0,</a:t>
            </a:r>
          </a:p>
          <a:p>
            <a:r>
              <a:rPr lang="en-US" b="1" dirty="0"/>
              <a:t>      red 20px, </a:t>
            </a:r>
          </a:p>
          <a:p>
            <a:r>
              <a:rPr lang="en-US" b="1" dirty="0"/>
              <a:t>      blue 20px,</a:t>
            </a:r>
          </a:p>
          <a:p>
            <a:r>
              <a:rPr lang="en-US" b="1" dirty="0"/>
              <a:t>      blue 40px</a:t>
            </a:r>
          </a:p>
          <a:p>
            <a:r>
              <a:rPr lang="en-US" b="1" dirty="0"/>
              <a:t>    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r>
              <a:rPr lang="en-US" b="1" dirty="0"/>
              <a:t>;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86827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44016" y="107340"/>
            <a:ext cx="8820472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Повторювати</a:t>
            </a:r>
            <a:r>
              <a:rPr lang="ru-RU" b="1" dirty="0"/>
              <a:t> </a:t>
            </a:r>
            <a:r>
              <a:rPr lang="ru-RU" b="1" dirty="0" err="1"/>
              <a:t>можна</a:t>
            </a:r>
            <a:r>
              <a:rPr lang="ru-RU" b="1" dirty="0"/>
              <a:t> </a:t>
            </a:r>
            <a:r>
              <a:rPr lang="ru-RU" b="1" dirty="0" err="1"/>
              <a:t>також</a:t>
            </a:r>
            <a:r>
              <a:rPr lang="ru-RU" b="1" dirty="0"/>
              <a:t> і </a:t>
            </a:r>
            <a:r>
              <a:rPr lang="ru-RU" b="1" dirty="0" err="1"/>
              <a:t>радіальний</a:t>
            </a:r>
            <a:r>
              <a:rPr lang="ru-RU" b="1" dirty="0"/>
              <a:t> </a:t>
            </a:r>
            <a:r>
              <a:rPr lang="ru-RU" b="1" dirty="0" err="1"/>
              <a:t>градієнт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44016" y="692696"/>
            <a:ext cx="8820472" cy="26161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.box { </a:t>
            </a:r>
          </a:p>
          <a:p>
            <a:r>
              <a:rPr lang="en-US" b="1" dirty="0"/>
              <a:t>   width: 400px;</a:t>
            </a:r>
          </a:p>
          <a:p>
            <a:r>
              <a:rPr lang="en-US" b="1" dirty="0"/>
              <a:t>   height:400px;</a:t>
            </a:r>
          </a:p>
          <a:p>
            <a:r>
              <a:rPr lang="en-US" b="1" dirty="0"/>
              <a:t>   </a:t>
            </a:r>
            <a:r>
              <a:rPr lang="en-US" sz="2000" b="1" dirty="0">
                <a:solidFill>
                  <a:srgbClr val="C00000"/>
                </a:solidFill>
              </a:rPr>
              <a:t>background: repeating-radial-gradient(</a:t>
            </a:r>
            <a:r>
              <a:rPr lang="en-US" b="1" dirty="0">
                <a:solidFill>
                  <a:srgbClr val="C00000"/>
                </a:solidFill>
              </a:rPr>
              <a:t> </a:t>
            </a:r>
          </a:p>
          <a:p>
            <a:r>
              <a:rPr lang="en-US" b="1" dirty="0"/>
              <a:t>         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circle at 0 0,</a:t>
            </a:r>
            <a:r>
              <a:rPr lang="en-US" b="1" dirty="0"/>
              <a:t>  </a:t>
            </a:r>
          </a:p>
          <a:p>
            <a:r>
              <a:rPr lang="en-US" b="1" dirty="0"/>
              <a:t>          </a:t>
            </a:r>
            <a:r>
              <a:rPr lang="en-US" b="1" dirty="0" err="1"/>
              <a:t>rgba</a:t>
            </a:r>
            <a:r>
              <a:rPr lang="en-US" b="1" dirty="0"/>
              <a:t>(108,144, 188, .8), </a:t>
            </a:r>
          </a:p>
          <a:p>
            <a:r>
              <a:rPr lang="en-US" b="1" dirty="0"/>
              <a:t>          </a:t>
            </a:r>
            <a:r>
              <a:rPr lang="en-US" b="1" dirty="0" err="1"/>
              <a:t>rgba</a:t>
            </a:r>
            <a:r>
              <a:rPr lang="en-US" b="1" dirty="0"/>
              <a:t>(75,113,150, .8) 100px</a:t>
            </a:r>
          </a:p>
          <a:p>
            <a:r>
              <a:rPr lang="en-US" b="1" dirty="0"/>
              <a:t>   </a:t>
            </a:r>
            <a:r>
              <a:rPr lang="en-US" b="1" dirty="0">
                <a:solidFill>
                  <a:srgbClr val="C00000"/>
                </a:solidFill>
              </a:rPr>
              <a:t> );</a:t>
            </a:r>
          </a:p>
          <a:p>
            <a:r>
              <a:rPr lang="en-US" b="1" dirty="0"/>
              <a:t>}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23528" y="4581128"/>
            <a:ext cx="25922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LABS/lab_3.html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211157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2305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3661</TotalTime>
  <Words>1603</Words>
  <Application>Microsoft Office PowerPoint</Application>
  <PresentationFormat>Экран (4:3)</PresentationFormat>
  <Paragraphs>249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Cambria Math</vt:lpstr>
      <vt:lpstr>Courier New</vt:lpstr>
      <vt:lpstr>Verdana</vt:lpstr>
      <vt:lpstr>Wingdings 2</vt:lpstr>
      <vt:lpstr>Wingdings 3</vt:lpstr>
      <vt:lpstr>Открытая</vt:lpstr>
      <vt:lpstr>Презентация PowerPoint</vt:lpstr>
      <vt:lpstr>Презентация PowerPoint</vt:lpstr>
      <vt:lpstr>Приставки до властивостей CSS для браузерів( vendor prefix )</vt:lpstr>
      <vt:lpstr> Colors CSS 3</vt:lpstr>
      <vt:lpstr> rgba ()</vt:lpstr>
      <vt:lpstr> box-shadow</vt:lpstr>
      <vt:lpstr> text-shadow</vt:lpstr>
      <vt:lpstr>Презентация PowerPoint</vt:lpstr>
      <vt:lpstr>Презентация PowerPoint</vt:lpstr>
      <vt:lpstr>Презентация PowerPoint</vt:lpstr>
      <vt:lpstr>Приклади</vt:lpstr>
      <vt:lpstr>Загальна форма записи radial-gradient</vt:lpstr>
      <vt:lpstr>Варіант 1</vt:lpstr>
      <vt:lpstr>Варіант 2</vt:lpstr>
      <vt:lpstr>Варіант 3</vt:lpstr>
      <vt:lpstr>Загальна форма запису правила для радіального градієнта</vt:lpstr>
      <vt:lpstr>Варіант 4</vt:lpstr>
      <vt:lpstr>transparent gradient</vt:lpstr>
      <vt:lpstr>Повторення градіенту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777</cp:revision>
  <dcterms:created xsi:type="dcterms:W3CDTF">2010-11-04T13:16:08Z</dcterms:created>
  <dcterms:modified xsi:type="dcterms:W3CDTF">2024-07-23T08:14:33Z</dcterms:modified>
</cp:coreProperties>
</file>