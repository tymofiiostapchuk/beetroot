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2"/>
  </p:notesMasterIdLst>
  <p:sldIdLst>
    <p:sldId id="256" r:id="rId2"/>
    <p:sldId id="300" r:id="rId3"/>
    <p:sldId id="301" r:id="rId4"/>
    <p:sldId id="302" r:id="rId5"/>
    <p:sldId id="311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2" r:id="rId15"/>
    <p:sldId id="277" r:id="rId16"/>
    <p:sldId id="298" r:id="rId17"/>
    <p:sldId id="276" r:id="rId18"/>
    <p:sldId id="283" r:id="rId19"/>
    <p:sldId id="284" r:id="rId20"/>
    <p:sldId id="296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56F2"/>
    <a:srgbClr val="456A1C"/>
    <a:srgbClr val="AB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4514" autoAdjust="0"/>
  </p:normalViewPr>
  <p:slideViewPr>
    <p:cSldViewPr>
      <p:cViewPr varScale="1">
        <p:scale>
          <a:sx n="108" d="100"/>
          <a:sy n="108" d="100"/>
        </p:scale>
        <p:origin x="171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29.07.2024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8167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76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547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29.07.2024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29.07.2024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29.07.2024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29.07.2024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29.07.2024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29.07.2024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29.07.2024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29.07.2024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980728"/>
            <a:ext cx="8784976" cy="3240360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72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Links</a:t>
            </a:r>
            <a:endParaRPr lang="ru-RU" sz="7200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3499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2"/>
          <p:cNvSpPr txBox="1">
            <a:spLocks/>
          </p:cNvSpPr>
          <p:nvPr/>
        </p:nvSpPr>
        <p:spPr>
          <a:xfrm>
            <a:off x="3059832" y="107936"/>
            <a:ext cx="2088232" cy="37743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extLst/>
          </a:lstStyle>
          <a:p>
            <a:r>
              <a:rPr lang="en-US" dirty="0"/>
              <a:t>  hyperlinks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179512" y="692697"/>
            <a:ext cx="8784976" cy="4712457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323528" y="764704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&lt;!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doctype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html&gt;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3528" y="1124744"/>
            <a:ext cx="129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&lt;html&gt;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5536" y="4941168"/>
            <a:ext cx="129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&lt;/html&gt;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5576" y="1516722"/>
            <a:ext cx="129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&lt;head&gt;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5576" y="2308810"/>
            <a:ext cx="129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&lt;/head&gt;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5576" y="2596842"/>
            <a:ext cx="129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&lt;body&gt;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5576" y="4509120"/>
            <a:ext cx="129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&lt;/body&gt;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19672" y="1876762"/>
            <a:ext cx="3888432" cy="461665"/>
          </a:xfrm>
          <a:prstGeom prst="rect">
            <a:avLst/>
          </a:prstGeom>
          <a:solidFill>
            <a:srgbClr val="FFFF00">
              <a:alpha val="8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&lt;link  </a:t>
            </a:r>
            <a:r>
              <a:rPr lang="en-US" sz="24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400" b="1" dirty="0">
                <a:solidFill>
                  <a:srgbClr val="FF0000"/>
                </a:solidFill>
                <a:latin typeface="Courier New"/>
                <a:cs typeface="Courier New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...</a:t>
            </a:r>
            <a:r>
              <a:rPr lang="en-US" sz="2400" b="1" dirty="0">
                <a:solidFill>
                  <a:srgbClr val="FF0000"/>
                </a:solidFill>
                <a:latin typeface="Courier New"/>
                <a:cs typeface="Courier New"/>
              </a:rPr>
              <a:t>"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  </a:t>
            </a:r>
            <a:endParaRPr lang="ru-RU" sz="24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03648" y="3501008"/>
            <a:ext cx="5544616" cy="461665"/>
          </a:xfrm>
          <a:prstGeom prst="rect">
            <a:avLst/>
          </a:prstGeom>
          <a:solidFill>
            <a:srgbClr val="92D050">
              <a:alpha val="1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&lt;a  </a:t>
            </a:r>
            <a:r>
              <a:rPr lang="en-US" sz="24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400" b="1" dirty="0">
                <a:solidFill>
                  <a:srgbClr val="C00000"/>
                </a:solidFill>
                <a:latin typeface="Courier New"/>
                <a:cs typeface="Courier New"/>
              </a:rPr>
              <a:t>"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...</a:t>
            </a:r>
            <a:r>
              <a:rPr lang="en-US" sz="2400" b="1" dirty="0">
                <a:solidFill>
                  <a:srgbClr val="C00000"/>
                </a:solidFill>
                <a:latin typeface="Courier New"/>
                <a:cs typeface="Courier New"/>
              </a:rPr>
              <a:t> "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uk-UA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Текст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&lt;/a&gt;  </a:t>
            </a:r>
            <a:endParaRPr lang="ru-RU" sz="24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3779912" y="940078"/>
            <a:ext cx="4536504" cy="936684"/>
            <a:chOff x="3779912" y="940078"/>
            <a:chExt cx="4536504" cy="936684"/>
          </a:xfrm>
        </p:grpSpPr>
        <p:cxnSp>
          <p:nvCxnSpPr>
            <p:cNvPr id="12" name="Прямая со стрелкой 11"/>
            <p:cNvCxnSpPr>
              <a:cxnSpLocks/>
              <a:stCxn id="9" idx="2"/>
            </p:cNvCxnSpPr>
            <p:nvPr/>
          </p:nvCxnSpPr>
          <p:spPr>
            <a:xfrm flipH="1">
              <a:off x="3779912" y="1309410"/>
              <a:ext cx="3204356" cy="567352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5652120" y="940078"/>
              <a:ext cx="2664296" cy="3693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dirty="0"/>
                <a:t>Служб</a:t>
              </a:r>
              <a:r>
                <a:rPr lang="uk-UA" dirty="0" err="1"/>
                <a:t>ові</a:t>
              </a:r>
              <a:r>
                <a:rPr lang="uk-UA" dirty="0"/>
                <a:t> посилання</a:t>
              </a:r>
              <a:endParaRPr lang="ru-RU" dirty="0"/>
            </a:p>
          </p:txBody>
        </p:sp>
      </p:grpSp>
      <p:grpSp>
        <p:nvGrpSpPr>
          <p:cNvPr id="26" name="Группа 25"/>
          <p:cNvGrpSpPr/>
          <p:nvPr/>
        </p:nvGrpSpPr>
        <p:grpSpPr>
          <a:xfrm>
            <a:off x="3347864" y="4149080"/>
            <a:ext cx="5400600" cy="992143"/>
            <a:chOff x="3203848" y="5398477"/>
            <a:chExt cx="5400600" cy="992143"/>
          </a:xfrm>
        </p:grpSpPr>
        <p:sp>
          <p:nvSpPr>
            <p:cNvPr id="10" name="TextBox 9"/>
            <p:cNvSpPr txBox="1"/>
            <p:nvPr/>
          </p:nvSpPr>
          <p:spPr>
            <a:xfrm>
              <a:off x="5364088" y="6021288"/>
              <a:ext cx="3240360" cy="369332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dirty="0" err="1"/>
                <a:t>користувацькі</a:t>
              </a:r>
              <a:r>
                <a:rPr lang="ru-RU" dirty="0"/>
                <a:t> </a:t>
              </a:r>
              <a:r>
                <a:rPr lang="uk-UA" dirty="0"/>
                <a:t>посилання</a:t>
              </a:r>
              <a:endParaRPr lang="ru-RU" dirty="0"/>
            </a:p>
          </p:txBody>
        </p:sp>
        <p:cxnSp>
          <p:nvCxnSpPr>
            <p:cNvPr id="13" name="Прямая со стрелкой 12"/>
            <p:cNvCxnSpPr>
              <a:stCxn id="10" idx="0"/>
            </p:cNvCxnSpPr>
            <p:nvPr/>
          </p:nvCxnSpPr>
          <p:spPr>
            <a:xfrm flipH="1" flipV="1">
              <a:off x="3203848" y="5398477"/>
              <a:ext cx="3780420" cy="62281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38938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Группа 19"/>
          <p:cNvGrpSpPr/>
          <p:nvPr/>
        </p:nvGrpSpPr>
        <p:grpSpPr>
          <a:xfrm>
            <a:off x="179512" y="1340767"/>
            <a:ext cx="8928992" cy="4896545"/>
            <a:chOff x="179512" y="3479937"/>
            <a:chExt cx="8412439" cy="3397394"/>
          </a:xfrm>
        </p:grpSpPr>
        <p:sp>
          <p:nvSpPr>
            <p:cNvPr id="19" name="Прямоугольник 18"/>
            <p:cNvSpPr/>
            <p:nvPr/>
          </p:nvSpPr>
          <p:spPr>
            <a:xfrm>
              <a:off x="179512" y="3479937"/>
              <a:ext cx="8378039" cy="3397394"/>
            </a:xfrm>
            <a:prstGeom prst="rect">
              <a:avLst/>
            </a:prstGeom>
            <a:solidFill>
              <a:srgbClr val="FFC000">
                <a:alpha val="1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17" name="Группа 16"/>
            <p:cNvGrpSpPr/>
            <p:nvPr/>
          </p:nvGrpSpPr>
          <p:grpSpPr>
            <a:xfrm>
              <a:off x="247354" y="4963200"/>
              <a:ext cx="8344597" cy="646519"/>
              <a:chOff x="247354" y="4963200"/>
              <a:chExt cx="8344597" cy="646519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247354" y="5353463"/>
                <a:ext cx="7801859" cy="256256"/>
              </a:xfrm>
              <a:prstGeom prst="rect">
                <a:avLst/>
              </a:prstGeom>
              <a:solidFill>
                <a:srgbClr val="00B0F0">
                  <a:alpha val="13000"/>
                </a:srgbClr>
              </a:solidFill>
              <a:ln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&lt;</a:t>
                </a:r>
                <a:r>
                  <a:rPr lang="ru-RU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им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’</a:t>
                </a:r>
                <a:r>
                  <a:rPr lang="ru-RU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я_тега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b="1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id = 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"</a:t>
                </a:r>
                <a:r>
                  <a:rPr lang="ru-RU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метка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"&gt;</a:t>
                </a:r>
                <a:r>
                  <a:rPr lang="ru-RU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Глава 2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&lt;/</a:t>
                </a:r>
                <a:r>
                  <a:rPr lang="ru-RU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им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’</a:t>
                </a:r>
                <a:r>
                  <a:rPr lang="ru-RU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я_тега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&gt;</a:t>
                </a:r>
                <a:endParaRPr lang="ru-RU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260703" y="4963200"/>
                <a:ext cx="8331248" cy="256255"/>
              </a:xfrm>
              <a:prstGeom prst="rect">
                <a:avLst/>
              </a:prstGeom>
              <a:solidFill>
                <a:srgbClr val="92D050">
                  <a:alpha val="30000"/>
                </a:srgb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ru-RU"/>
                </a:defPPr>
                <a:lvl1pPr algn="ctr">
                  <a:defRPr b="1">
                    <a:latin typeface="Courier New" pitchFamily="49" charset="0"/>
                    <a:cs typeface="Courier New" pitchFamily="49" charset="0"/>
                  </a:defRPr>
                </a:lvl1pPr>
              </a:lstStyle>
              <a:p>
                <a:r>
                  <a:rPr lang="ru-RU" dirty="0"/>
                  <a:t>Перед </a:t>
                </a:r>
                <a:r>
                  <a:rPr lang="ru-RU" dirty="0" err="1"/>
                  <a:t>ділянкою</a:t>
                </a:r>
                <a:r>
                  <a:rPr lang="ru-RU" dirty="0"/>
                  <a:t> тексту, на </a:t>
                </a:r>
                <a:r>
                  <a:rPr lang="ru-RU" dirty="0" err="1"/>
                  <a:t>який</a:t>
                </a:r>
                <a:r>
                  <a:rPr lang="ru-RU" dirty="0"/>
                  <a:t> треба </a:t>
                </a:r>
                <a:r>
                  <a:rPr lang="ru-RU" dirty="0" err="1"/>
                  <a:t>посилатися</a:t>
                </a:r>
                <a:endParaRPr lang="ru-RU" dirty="0"/>
              </a:p>
            </p:txBody>
          </p:sp>
        </p:grpSp>
        <p:grpSp>
          <p:nvGrpSpPr>
            <p:cNvPr id="18" name="Группа 17"/>
            <p:cNvGrpSpPr/>
            <p:nvPr/>
          </p:nvGrpSpPr>
          <p:grpSpPr>
            <a:xfrm>
              <a:off x="179512" y="3487422"/>
              <a:ext cx="8378039" cy="544196"/>
              <a:chOff x="179512" y="3487422"/>
              <a:chExt cx="8378039" cy="544196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189806" y="3775363"/>
                <a:ext cx="5629068" cy="256255"/>
              </a:xfrm>
              <a:prstGeom prst="rect">
                <a:avLst/>
              </a:prstGeom>
              <a:solidFill>
                <a:srgbClr val="00B0F0">
                  <a:alpha val="12000"/>
                </a:srgb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&lt;a  </a:t>
                </a:r>
                <a:r>
                  <a:rPr lang="en-US" b="1" dirty="0" err="1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href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"</a:t>
                </a:r>
                <a:r>
                  <a:rPr 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#</a:t>
                </a:r>
                <a:r>
                  <a:rPr lang="ru-RU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метка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"&gt;</a:t>
                </a:r>
                <a:r>
                  <a:rPr lang="ru-RU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Перейти до </a:t>
                </a:r>
                <a:r>
                  <a:rPr lang="ru-RU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глави</a:t>
                </a:r>
                <a:r>
                  <a:rPr lang="ru-RU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2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&lt;/a&gt;</a:t>
                </a:r>
                <a:endParaRPr lang="ru-RU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79512" y="3487422"/>
                <a:ext cx="8378039" cy="256255"/>
              </a:xfrm>
              <a:prstGeom prst="rect">
                <a:avLst/>
              </a:prstGeom>
              <a:solidFill>
                <a:srgbClr val="92D050">
                  <a:alpha val="30000"/>
                </a:srgb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b="1" dirty="0">
                    <a:latin typeface="Courier New" pitchFamily="49" charset="0"/>
                    <a:cs typeface="Courier New" pitchFamily="49" charset="0"/>
                  </a:rPr>
                  <a:t>У </a:t>
                </a:r>
                <a:r>
                  <a:rPr lang="ru-RU" b="1" dirty="0" err="1">
                    <a:latin typeface="Courier New" pitchFamily="49" charset="0"/>
                    <a:cs typeface="Courier New" pitchFamily="49" charset="0"/>
                  </a:rPr>
                  <a:t>змісті</a:t>
                </a:r>
                <a:r>
                  <a:rPr lang="ru-RU" b="1" dirty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ru-RU" b="1" dirty="0" err="1">
                    <a:latin typeface="Courier New" pitchFamily="49" charset="0"/>
                    <a:cs typeface="Courier New" pitchFamily="49" charset="0"/>
                  </a:rPr>
                  <a:t>перераховуємо</a:t>
                </a:r>
                <a:r>
                  <a:rPr lang="ru-RU" b="1" dirty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ru-RU" b="1" dirty="0" err="1">
                    <a:latin typeface="Courier New" pitchFamily="49" charset="0"/>
                    <a:cs typeface="Courier New" pitchFamily="49" charset="0"/>
                  </a:rPr>
                  <a:t>посилання</a:t>
                </a:r>
                <a:r>
                  <a:rPr lang="ru-RU" b="1" dirty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ru-RU" b="1" dirty="0" err="1">
                    <a:latin typeface="Courier New" pitchFamily="49" charset="0"/>
                    <a:cs typeface="Courier New" pitchFamily="49" charset="0"/>
                  </a:rPr>
                  <a:t>потрібні</a:t>
                </a:r>
                <a:r>
                  <a:rPr lang="ru-RU" b="1" dirty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ru-RU" b="1" dirty="0" err="1">
                    <a:latin typeface="Courier New" pitchFamily="49" charset="0"/>
                    <a:cs typeface="Courier New" pitchFamily="49" charset="0"/>
                  </a:rPr>
                  <a:t>частини</a:t>
                </a:r>
                <a:r>
                  <a:rPr lang="ru-RU" b="1" dirty="0">
                    <a:latin typeface="Courier New" pitchFamily="49" charset="0"/>
                    <a:cs typeface="Courier New" pitchFamily="49" charset="0"/>
                  </a:rPr>
                  <a:t> тексту</a:t>
                </a: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251520" y="540578"/>
            <a:ext cx="864096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1.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Внутрішні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посилання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–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призначені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для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навігації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за текстом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                   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однієї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сторінки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 flipH="1" flipV="1">
            <a:off x="2267744" y="2142149"/>
            <a:ext cx="648072" cy="2006931"/>
          </a:xfrm>
          <a:prstGeom prst="straightConnector1">
            <a:avLst/>
          </a:prstGeom>
          <a:ln w="285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6352428" y="41849"/>
            <a:ext cx="2528256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link_anchors.html</a:t>
            </a:r>
          </a:p>
        </p:txBody>
      </p:sp>
    </p:spTree>
    <p:extLst>
      <p:ext uri="{BB962C8B-B14F-4D97-AF65-F5344CB8AC3E}">
        <p14:creationId xmlns:p14="http://schemas.microsoft.com/office/powerpoint/2010/main" val="299439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2199" y="1844824"/>
            <a:ext cx="8640960" cy="369332"/>
          </a:xfrm>
          <a:prstGeom prst="rect">
            <a:avLst/>
          </a:prstGeom>
          <a:solidFill>
            <a:srgbClr val="FFC000">
              <a:alpha val="19000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catalog.html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"&gt;</a:t>
            </a:r>
            <a:r>
              <a:rPr lang="ru-RU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Перейти в каталог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&lt;/a&gt;</a:t>
            </a:r>
            <a:endParaRPr lang="ru-RU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8012" y="548680"/>
            <a:ext cx="90725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b="1" dirty="0"/>
              <a:t>2.</a:t>
            </a:r>
            <a:r>
              <a:rPr lang="ru-RU" b="1" dirty="0">
                <a:solidFill>
                  <a:srgbClr val="C00000"/>
                </a:solidFill>
              </a:rPr>
              <a:t> </a:t>
            </a:r>
            <a:r>
              <a:rPr lang="ru-RU" b="1" dirty="0" err="1">
                <a:solidFill>
                  <a:srgbClr val="C00000"/>
                </a:solidFill>
              </a:rPr>
              <a:t>Зовнішні</a:t>
            </a:r>
            <a:r>
              <a:rPr lang="ru-RU" b="1" dirty="0">
                <a:solidFill>
                  <a:srgbClr val="C00000"/>
                </a:solidFill>
              </a:rPr>
              <a:t> </a:t>
            </a:r>
            <a:r>
              <a:rPr lang="ru-RU" b="1" dirty="0" err="1">
                <a:solidFill>
                  <a:srgbClr val="C00000"/>
                </a:solidFill>
              </a:rPr>
              <a:t>посилання</a:t>
            </a:r>
            <a:r>
              <a:rPr lang="ru-RU" b="1" dirty="0">
                <a:solidFill>
                  <a:srgbClr val="C00000"/>
                </a:solidFill>
              </a:rPr>
              <a:t> - </a:t>
            </a:r>
            <a:r>
              <a:rPr lang="ru-RU" b="1" dirty="0" err="1"/>
              <a:t>призначені</a:t>
            </a:r>
            <a:r>
              <a:rPr lang="ru-RU" b="1" dirty="0"/>
              <a:t> для </a:t>
            </a:r>
            <a:r>
              <a:rPr lang="ru-RU" b="1" dirty="0" err="1"/>
              <a:t>навігації</a:t>
            </a:r>
            <a:r>
              <a:rPr lang="ru-RU" b="1" dirty="0"/>
              <a:t> </a:t>
            </a:r>
            <a:r>
              <a:rPr lang="ru-RU" b="1" dirty="0" err="1"/>
              <a:t>між</a:t>
            </a:r>
            <a:r>
              <a:rPr lang="ru-RU" b="1" dirty="0"/>
              <a:t> </a:t>
            </a:r>
            <a:r>
              <a:rPr lang="ru-RU" b="1" dirty="0" err="1"/>
              <a:t>сторінками</a:t>
            </a:r>
            <a:r>
              <a:rPr lang="ru-RU" b="1" dirty="0"/>
              <a:t> сайту та переходу на </a:t>
            </a:r>
            <a:r>
              <a:rPr lang="ru-RU" b="1" dirty="0" err="1"/>
              <a:t>інші</a:t>
            </a:r>
            <a:r>
              <a:rPr lang="ru-RU" b="1" dirty="0"/>
              <a:t> </a:t>
            </a:r>
            <a:r>
              <a:rPr lang="ru-RU" b="1" dirty="0" err="1"/>
              <a:t>web-сайти</a:t>
            </a:r>
            <a:endParaRPr lang="ru-RU" b="1" dirty="0"/>
          </a:p>
        </p:txBody>
      </p:sp>
      <p:grpSp>
        <p:nvGrpSpPr>
          <p:cNvPr id="7" name="Группа 6"/>
          <p:cNvGrpSpPr/>
          <p:nvPr/>
        </p:nvGrpSpPr>
        <p:grpSpPr>
          <a:xfrm>
            <a:off x="378689" y="3646374"/>
            <a:ext cx="5613808" cy="2190248"/>
            <a:chOff x="539552" y="2835032"/>
            <a:chExt cx="5613808" cy="2190248"/>
          </a:xfrm>
        </p:grpSpPr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552" y="3284984"/>
              <a:ext cx="5474947" cy="1740296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2408944" y="2835032"/>
              <a:ext cx="37444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rgbClr val="FF0000"/>
                  </a:solidFill>
                </a:rPr>
                <a:t>Ви</a:t>
              </a:r>
              <a:r>
                <a:rPr lang="uk-UA" dirty="0" err="1">
                  <a:solidFill>
                    <a:srgbClr val="FF0000"/>
                  </a:solidFill>
                </a:rPr>
                <a:t>гляд</a:t>
              </a:r>
              <a:r>
                <a:rPr lang="uk-UA" dirty="0">
                  <a:solidFill>
                    <a:srgbClr val="FF0000"/>
                  </a:solidFill>
                </a:rPr>
                <a:t>  посилання </a:t>
              </a:r>
              <a:r>
                <a:rPr lang="ru-RU" dirty="0">
                  <a:solidFill>
                    <a:srgbClr val="FF0000"/>
                  </a:solidFill>
                </a:rPr>
                <a:t>в </a:t>
              </a:r>
              <a:r>
                <a:rPr lang="ru-RU" dirty="0" err="1">
                  <a:solidFill>
                    <a:srgbClr val="FF0000"/>
                  </a:solidFill>
                </a:rPr>
                <a:t>браузері</a:t>
              </a:r>
              <a:endParaRPr lang="ru-RU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12" name="Прямая со стрелкой 11"/>
          <p:cNvCxnSpPr/>
          <p:nvPr/>
        </p:nvCxnSpPr>
        <p:spPr>
          <a:xfrm flipH="1">
            <a:off x="3779912" y="2163616"/>
            <a:ext cx="2879232" cy="280285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6352428" y="41849"/>
            <a:ext cx="2528256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link_anchors.html</a:t>
            </a:r>
          </a:p>
        </p:txBody>
      </p:sp>
    </p:spTree>
    <p:extLst>
      <p:ext uri="{BB962C8B-B14F-4D97-AF65-F5344CB8AC3E}">
        <p14:creationId xmlns:p14="http://schemas.microsoft.com/office/powerpoint/2010/main" val="219113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750" y="89440"/>
            <a:ext cx="90725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b="1" dirty="0"/>
              <a:t>Мета тега </a:t>
            </a:r>
            <a:r>
              <a:rPr lang="ru-RU" b="1" dirty="0">
                <a:solidFill>
                  <a:schemeClr val="accent2"/>
                </a:solidFill>
              </a:rPr>
              <a:t>a</a:t>
            </a:r>
            <a:r>
              <a:rPr lang="ru-RU" b="1" dirty="0"/>
              <a:t> =&gt; </a:t>
            </a:r>
            <a:r>
              <a:rPr lang="ru-RU" b="1" dirty="0" err="1"/>
              <a:t>перенаправляти</a:t>
            </a:r>
            <a:r>
              <a:rPr lang="ru-RU" b="1" dirty="0"/>
              <a:t> </a:t>
            </a:r>
            <a:r>
              <a:rPr lang="ru-RU" b="1" dirty="0" err="1"/>
              <a:t>користувача</a:t>
            </a:r>
            <a:r>
              <a:rPr lang="ru-RU" b="1" dirty="0"/>
              <a:t> на </a:t>
            </a:r>
            <a:r>
              <a:rPr lang="ru-RU" b="1" dirty="0" err="1"/>
              <a:t>сторінки</a:t>
            </a:r>
            <a:r>
              <a:rPr lang="ru-RU" b="1" dirty="0"/>
              <a:t> сайта, </a:t>
            </a:r>
            <a:r>
              <a:rPr lang="ru-RU" b="1" dirty="0" err="1"/>
              <a:t>або</a:t>
            </a:r>
            <a:r>
              <a:rPr lang="ru-RU" b="1" dirty="0"/>
              <a:t> </a:t>
            </a:r>
            <a:r>
              <a:rPr lang="ru-RU" b="1" dirty="0" err="1"/>
              <a:t>робити</a:t>
            </a:r>
            <a:r>
              <a:rPr lang="ru-RU" b="1" dirty="0"/>
              <a:t> </a:t>
            </a:r>
            <a:r>
              <a:rPr lang="ru-RU" b="1" dirty="0" err="1"/>
              <a:t>навігацію</a:t>
            </a:r>
            <a:r>
              <a:rPr lang="ru-RU" b="1" dirty="0"/>
              <a:t> по </a:t>
            </a:r>
            <a:r>
              <a:rPr lang="ru-RU" b="1" dirty="0" err="1"/>
              <a:t>сторінці</a:t>
            </a:r>
            <a:r>
              <a:rPr lang="ru-RU" b="1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8E7471-BA42-DC90-D4FD-5BFB364FA685}"/>
              </a:ext>
            </a:extLst>
          </p:cNvPr>
          <p:cNvSpPr txBox="1"/>
          <p:nvPr/>
        </p:nvSpPr>
        <p:spPr>
          <a:xfrm>
            <a:off x="17016" y="1124744"/>
            <a:ext cx="907250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b="1" dirty="0"/>
              <a:t>&lt;a </a:t>
            </a:r>
            <a:r>
              <a:rPr lang="en-US" b="1" dirty="0" err="1">
                <a:solidFill>
                  <a:schemeClr val="accent2"/>
                </a:solidFill>
              </a:rPr>
              <a:t>href</a:t>
            </a:r>
            <a:r>
              <a:rPr lang="en-US" b="1" dirty="0">
                <a:solidFill>
                  <a:schemeClr val="accent2"/>
                </a:solidFill>
              </a:rPr>
              <a:t>="catalog.html"</a:t>
            </a:r>
            <a:r>
              <a:rPr lang="en-US" b="1" dirty="0"/>
              <a:t>&gt;Show catalog&lt;/a&gt;</a:t>
            </a:r>
          </a:p>
          <a:p>
            <a:br>
              <a:rPr lang="en-US" b="1" dirty="0"/>
            </a:br>
            <a:r>
              <a:rPr lang="en-US" b="1" dirty="0"/>
              <a:t>&lt;a </a:t>
            </a:r>
            <a:r>
              <a:rPr lang="en-US" b="1" dirty="0" err="1">
                <a:solidFill>
                  <a:schemeClr val="accent2"/>
                </a:solidFill>
              </a:rPr>
              <a:t>href</a:t>
            </a:r>
            <a:r>
              <a:rPr lang="en-US" b="1" dirty="0">
                <a:solidFill>
                  <a:schemeClr val="accent2"/>
                </a:solidFill>
              </a:rPr>
              <a:t>="</a:t>
            </a:r>
            <a:r>
              <a:rPr lang="en-US" b="1" dirty="0" err="1">
                <a:solidFill>
                  <a:schemeClr val="accent2"/>
                </a:solidFill>
              </a:rPr>
              <a:t>tel</a:t>
            </a:r>
            <a:r>
              <a:rPr lang="en-US" b="1" dirty="0">
                <a:solidFill>
                  <a:schemeClr val="accent2"/>
                </a:solidFill>
              </a:rPr>
              <a:t>:+084455554"</a:t>
            </a:r>
            <a:r>
              <a:rPr lang="en-US" b="1" dirty="0"/>
              <a:t>&gt;call us&lt;/a&gt;</a:t>
            </a:r>
          </a:p>
          <a:p>
            <a:r>
              <a:rPr lang="en-US" b="1" dirty="0"/>
              <a:t>&lt;a </a:t>
            </a:r>
            <a:r>
              <a:rPr lang="en-US" b="1" dirty="0" err="1">
                <a:solidFill>
                  <a:schemeClr val="accent2"/>
                </a:solidFill>
              </a:rPr>
              <a:t>href</a:t>
            </a:r>
            <a:r>
              <a:rPr lang="en-US" b="1" dirty="0">
                <a:solidFill>
                  <a:schemeClr val="accent2"/>
                </a:solidFill>
              </a:rPr>
              <a:t>="mailto:admin@com.ua"</a:t>
            </a:r>
            <a:r>
              <a:rPr lang="en-US" b="1" dirty="0"/>
              <a:t>&gt;email us&lt;/a&gt;</a:t>
            </a:r>
          </a:p>
          <a:p>
            <a:r>
              <a:rPr lang="en-US" b="1" dirty="0"/>
              <a:t>&lt;a </a:t>
            </a:r>
            <a:r>
              <a:rPr lang="en-US" b="1" dirty="0" err="1">
                <a:solidFill>
                  <a:schemeClr val="accent2"/>
                </a:solidFill>
              </a:rPr>
              <a:t>href</a:t>
            </a:r>
            <a:r>
              <a:rPr lang="en-US" b="1" dirty="0">
                <a:solidFill>
                  <a:schemeClr val="accent2"/>
                </a:solidFill>
              </a:rPr>
              <a:t>="/products.pdf"</a:t>
            </a: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download</a:t>
            </a:r>
            <a:r>
              <a:rPr lang="en-US" b="1" dirty="0"/>
              <a:t>&gt;Download&lt;/a&gt;</a:t>
            </a:r>
            <a:endParaRPr lang="ru-R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433171-58C8-38B2-1FAB-49BCFCE94864}"/>
              </a:ext>
            </a:extLst>
          </p:cNvPr>
          <p:cNvSpPr txBox="1"/>
          <p:nvPr/>
        </p:nvSpPr>
        <p:spPr>
          <a:xfrm>
            <a:off x="54744" y="3358733"/>
            <a:ext cx="907250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b="1" dirty="0"/>
              <a:t>В  </a:t>
            </a:r>
            <a:r>
              <a:rPr lang="ru-RU" b="1" dirty="0">
                <a:solidFill>
                  <a:srgbClr val="C00000"/>
                </a:solidFill>
              </a:rPr>
              <a:t>&lt;</a:t>
            </a:r>
            <a:r>
              <a:rPr lang="en-US" b="1" dirty="0">
                <a:solidFill>
                  <a:srgbClr val="C00000"/>
                </a:solidFill>
              </a:rPr>
              <a:t>a&gt; </a:t>
            </a:r>
            <a:r>
              <a:rPr lang="ru-RU" b="1" dirty="0"/>
              <a:t>можно </a:t>
            </a:r>
            <a:r>
              <a:rPr lang="ru-RU" b="1" dirty="0" err="1"/>
              <a:t>загортати</a:t>
            </a:r>
            <a:r>
              <a:rPr lang="ru-RU" b="1" dirty="0"/>
              <a:t> будь </a:t>
            </a:r>
            <a:r>
              <a:rPr lang="ru-RU" b="1" dirty="0" err="1"/>
              <a:t>які</a:t>
            </a:r>
            <a:r>
              <a:rPr lang="ru-RU" b="1" dirty="0"/>
              <a:t>  </a:t>
            </a:r>
            <a:r>
              <a:rPr lang="en-US" b="1" dirty="0"/>
              <a:t>HTML </a:t>
            </a:r>
            <a:r>
              <a:rPr lang="ru-RU" b="1" dirty="0" err="1"/>
              <a:t>елементи</a:t>
            </a:r>
            <a:endParaRPr lang="ru-RU" b="1" dirty="0"/>
          </a:p>
          <a:p>
            <a:endParaRPr lang="ru-RU" b="1" dirty="0"/>
          </a:p>
          <a:p>
            <a:r>
              <a:rPr lang="en-US" b="1" dirty="0">
                <a:solidFill>
                  <a:srgbClr val="0070C0"/>
                </a:solidFill>
              </a:rPr>
              <a:t>Screen readers</a:t>
            </a:r>
            <a:r>
              <a:rPr lang="en-US" b="1" dirty="0"/>
              <a:t> </a:t>
            </a:r>
            <a:r>
              <a:rPr lang="ru-RU" b="1" dirty="0" err="1"/>
              <a:t>будуть</a:t>
            </a:r>
            <a:r>
              <a:rPr lang="ru-RU" b="1" dirty="0"/>
              <a:t> </a:t>
            </a:r>
            <a:r>
              <a:rPr lang="ru-RU" b="1" dirty="0" err="1"/>
              <a:t>намагатися</a:t>
            </a:r>
            <a:r>
              <a:rPr lang="ru-RU" b="1" dirty="0"/>
              <a:t> </a:t>
            </a:r>
            <a:r>
              <a:rPr lang="ru-RU" b="1" dirty="0" err="1"/>
              <a:t>ппрчитати</a:t>
            </a:r>
            <a:r>
              <a:rPr lang="ru-RU" b="1" dirty="0"/>
              <a:t> все </a:t>
            </a:r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знаходиться</a:t>
            </a:r>
            <a:r>
              <a:rPr lang="ru-RU" b="1" dirty="0"/>
              <a:t> в </a:t>
            </a:r>
            <a:r>
              <a:rPr lang="ru-RU" b="1" dirty="0" err="1"/>
              <a:t>середені</a:t>
            </a:r>
            <a:r>
              <a:rPr lang="ru-RU" b="1" dirty="0"/>
              <a:t> &lt;</a:t>
            </a:r>
            <a:r>
              <a:rPr lang="en-US" b="1" dirty="0"/>
              <a:t>a&gt;</a:t>
            </a:r>
            <a:br>
              <a:rPr lang="uk-UA" b="1" dirty="0"/>
            </a:br>
            <a:endParaRPr lang="en-US" b="1" dirty="0"/>
          </a:p>
          <a:p>
            <a:r>
              <a:rPr lang="ru-RU" b="1" dirty="0" err="1"/>
              <a:t>Деякий</a:t>
            </a:r>
            <a:r>
              <a:rPr lang="ru-RU" b="1" dirty="0"/>
              <a:t> раз </a:t>
            </a:r>
            <a:r>
              <a:rPr lang="ru-RU" b="1" dirty="0" err="1"/>
              <a:t>це</a:t>
            </a:r>
            <a:r>
              <a:rPr lang="ru-RU" b="1" dirty="0"/>
              <a:t> </a:t>
            </a:r>
            <a:r>
              <a:rPr lang="ru-RU" b="1" dirty="0" err="1"/>
              <a:t>може</a:t>
            </a:r>
            <a:r>
              <a:rPr lang="ru-RU" b="1" dirty="0"/>
              <a:t> бути </a:t>
            </a:r>
            <a:r>
              <a:rPr lang="ru-RU" b="1" dirty="0" err="1"/>
              <a:t>багато</a:t>
            </a:r>
            <a:r>
              <a:rPr lang="ru-RU" b="1" dirty="0"/>
              <a:t> тексту і коду, </a:t>
            </a:r>
            <a:r>
              <a:rPr lang="ru-RU" b="1" dirty="0" err="1"/>
              <a:t>тоді</a:t>
            </a:r>
            <a:r>
              <a:rPr lang="ru-RU" b="1" dirty="0"/>
              <a:t> для </a:t>
            </a:r>
            <a:r>
              <a:rPr lang="en-US" b="1" dirty="0"/>
              <a:t>screen readers </a:t>
            </a:r>
            <a:r>
              <a:rPr lang="ru-RU" b="1" dirty="0"/>
              <a:t>треба </a:t>
            </a:r>
            <a:r>
              <a:rPr lang="ru-RU" b="1" dirty="0" err="1"/>
              <a:t>ховати</a:t>
            </a:r>
            <a:r>
              <a:rPr lang="ru-RU" b="1" dirty="0"/>
              <a:t> </a:t>
            </a:r>
            <a:r>
              <a:rPr lang="ru-RU" b="1" dirty="0" err="1"/>
              <a:t>деякий</a:t>
            </a:r>
            <a:r>
              <a:rPr lang="ru-RU" b="1" dirty="0"/>
              <a:t> контент в </a:t>
            </a:r>
            <a:r>
              <a:rPr lang="ru-RU" b="1" dirty="0" err="1"/>
              <a:t>середені</a:t>
            </a:r>
            <a:r>
              <a:rPr lang="ru-RU" b="1" dirty="0"/>
              <a:t> </a:t>
            </a:r>
            <a:r>
              <a:rPr lang="ru-RU" b="1" dirty="0" err="1"/>
              <a:t>лінка</a:t>
            </a:r>
            <a:r>
              <a:rPr lang="ru-RU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1053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294041"/>
            <a:ext cx="1512168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/>
              <a:t>  </a:t>
            </a:r>
            <a:r>
              <a:rPr lang="en-US" dirty="0"/>
              <a:t>Lab</a:t>
            </a:r>
            <a:r>
              <a:rPr lang="ru-RU" dirty="0"/>
              <a:t>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908720"/>
            <a:ext cx="8784976" cy="1200329"/>
          </a:xfrm>
          <a:prstGeom prst="rect">
            <a:avLst/>
          </a:prstGeom>
          <a:solidFill>
            <a:srgbClr val="92D050">
              <a:alpha val="15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У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каталозі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lab_1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знаходиться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файл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index.html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Текст файлу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розбитий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на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розділи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ru-RU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Завдання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зробити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за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допомогою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посилань-якорів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навігацію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за параграфами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120" y="3212976"/>
            <a:ext cx="8928992" cy="1477328"/>
          </a:xfrm>
          <a:prstGeom prst="rect">
            <a:avLst/>
          </a:prstGeom>
          <a:solidFill>
            <a:srgbClr val="92D050">
              <a:alpha val="15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У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каталозі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lab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_2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знаходяться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4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файли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index.html,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one.html, two.html, three.html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Завдання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зробити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за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допомогою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гіперпосилань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між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собою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всі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сторінки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EA2C82-66FD-220A-D1D3-696BE06D06FC}"/>
              </a:ext>
            </a:extLst>
          </p:cNvPr>
          <p:cNvSpPr txBox="1"/>
          <p:nvPr/>
        </p:nvSpPr>
        <p:spPr>
          <a:xfrm>
            <a:off x="107504" y="2699628"/>
            <a:ext cx="1512168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/>
              <a:t>  </a:t>
            </a:r>
            <a:r>
              <a:rPr lang="en-US" dirty="0"/>
              <a:t>Lab</a:t>
            </a:r>
            <a:r>
              <a:rPr lang="ru-RU" dirty="0"/>
              <a:t>  </a:t>
            </a:r>
            <a:r>
              <a:rPr lang="en-US" dirty="0"/>
              <a:t>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7264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504" y="116632"/>
            <a:ext cx="8784976" cy="2339102"/>
          </a:xfrm>
          <a:prstGeom prst="rect">
            <a:avLst/>
          </a:prstGeom>
          <a:solidFill>
            <a:srgbClr val="FFFF00">
              <a:alpha val="5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За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замовчуванням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при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натисканні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на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гіпер-посиланні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нова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сторінка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відкривається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в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цьому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ж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вікні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Для того,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щоб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нову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сторінку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відкривати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в новому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вікні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треба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вказати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атрибут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_blank</a:t>
            </a:r>
            <a:r>
              <a: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за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замовчуванням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_self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&lt;a </a:t>
            </a:r>
            <a:r>
              <a:rPr 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one.html</a:t>
            </a:r>
            <a:r>
              <a:rPr lang="ru-RU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ru-RU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_blank</a:t>
            </a:r>
            <a:r>
              <a:rPr lang="ru-RU" sz="20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Г</a:t>
            </a:r>
            <a:r>
              <a:rPr lang="uk-UA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оловна</a:t>
            </a:r>
            <a:r>
              <a:rPr 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&lt;/a&gt;</a:t>
            </a:r>
            <a:endParaRPr lang="ru-RU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157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4357" y="2672916"/>
            <a:ext cx="8820980" cy="1800200"/>
          </a:xfrm>
          <a:prstGeom prst="rect">
            <a:avLst/>
          </a:prstGeom>
          <a:solidFill>
            <a:srgbClr val="00B0F0">
              <a:alpha val="7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sz="1600" b="1" dirty="0">
                <a:latin typeface="Courier New" pitchFamily="49" charset="0"/>
                <a:cs typeface="Courier New" pitchFamily="49" charset="0"/>
              </a:rPr>
              <a:t>Абсолютна адреса –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адреса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із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зазначенням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протоколу,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вузла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, шляху</a:t>
            </a:r>
          </a:p>
          <a:p>
            <a:r>
              <a:rPr lang="ru-RU" sz="1600" dirty="0">
                <a:latin typeface="Courier New" pitchFamily="49" charset="0"/>
                <a:cs typeface="Courier New" pitchFamily="49" charset="0"/>
              </a:rPr>
              <a:t>до файлу. Вони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потрібні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для того,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щоб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посилатися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на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документи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які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знаходяться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поза сайту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endParaRPr lang="ru-RU" sz="1600" dirty="0">
              <a:latin typeface="Courier New" pitchFamily="49" charset="0"/>
              <a:cs typeface="Courier New" pitchFamily="49" charset="0"/>
            </a:endParaRPr>
          </a:p>
          <a:p>
            <a:pPr algn="ctr"/>
            <a:r>
              <a:rPr lang="en-US" sz="2800" b="1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http://site.com/path/file.html</a:t>
            </a:r>
            <a:endParaRPr lang="ru-RU" sz="2800" b="1" dirty="0">
              <a:solidFill>
                <a:schemeClr val="accent3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43508" y="620688"/>
            <a:ext cx="8748972" cy="1872208"/>
          </a:xfrm>
          <a:prstGeom prst="rect">
            <a:avLst/>
          </a:prstGeom>
          <a:solidFill>
            <a:srgbClr val="92D050">
              <a:alpha val="11000"/>
            </a:srgbClr>
          </a:solidFill>
          <a:ln w="1270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sz="1600" b="1" dirty="0" err="1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Відносні</a:t>
            </a:r>
            <a:r>
              <a:rPr lang="ru-RU" sz="1600" b="1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URL-</a:t>
            </a:r>
            <a:r>
              <a:rPr lang="ru-RU" sz="1600" b="1" dirty="0" err="1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адреси</a:t>
            </a:r>
            <a:r>
              <a:rPr lang="ru-RU" sz="1600" b="1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600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- не </a:t>
            </a:r>
            <a:r>
              <a:rPr lang="ru-RU" sz="1600" dirty="0" err="1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містять</a:t>
            </a:r>
            <a:r>
              <a:rPr lang="ru-RU" sz="1600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протоколу, </a:t>
            </a:r>
            <a:r>
              <a:rPr lang="ru-RU" sz="1600" dirty="0" err="1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ім'я</a:t>
            </a:r>
            <a:r>
              <a:rPr lang="ru-RU" sz="1600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сервера і для них браузер </a:t>
            </a:r>
            <a:r>
              <a:rPr lang="ru-RU" sz="1600" dirty="0" err="1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використовує</a:t>
            </a:r>
            <a:r>
              <a:rPr lang="ru-RU" sz="1600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протокол, </a:t>
            </a:r>
            <a:r>
              <a:rPr lang="ru-RU" sz="1600" dirty="0" err="1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ім'я</a:t>
            </a:r>
            <a:r>
              <a:rPr lang="ru-RU" sz="1600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сервера </a:t>
            </a:r>
            <a:r>
              <a:rPr lang="ru-RU" sz="1600" dirty="0" err="1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поточної</a:t>
            </a:r>
            <a:r>
              <a:rPr lang="ru-RU" sz="1600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600" dirty="0" err="1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сторінки</a:t>
            </a:r>
            <a:r>
              <a:rPr lang="ru-RU" sz="1600" b="1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ru-RU" sz="1600" dirty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                                 </a:t>
            </a:r>
          </a:p>
          <a:p>
            <a:r>
              <a:rPr lang="en-US" sz="1600" b="1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200" b="1" dirty="0">
                <a:solidFill>
                  <a:schemeClr val="accent3"/>
                </a:solidFill>
                <a:latin typeface="Courier New" pitchFamily="49" charset="0"/>
                <a:cs typeface="Courier New" pitchFamily="49" charset="0"/>
              </a:rPr>
              <a:t>../path/file.html</a:t>
            </a:r>
          </a:p>
          <a:p>
            <a:endParaRPr lang="ru-RU" sz="1600" dirty="0">
              <a:solidFill>
                <a:schemeClr val="dk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Чому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такі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адреси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називаються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відносними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, тому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що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вони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вказують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на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розташування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документа сайту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щодо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поточної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600" dirty="0" err="1">
                <a:latin typeface="Courier New" pitchFamily="49" charset="0"/>
                <a:cs typeface="Courier New" pitchFamily="49" charset="0"/>
              </a:rPr>
              <a:t>сторінки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.</a:t>
            </a:r>
            <a:endParaRPr lang="ru-RU" sz="1600" dirty="0">
              <a:solidFill>
                <a:schemeClr val="dk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03648" y="71336"/>
            <a:ext cx="70567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 err="1"/>
              <a:t>Адресація</a:t>
            </a:r>
            <a:r>
              <a:rPr lang="ru-RU" dirty="0"/>
              <a:t> </a:t>
            </a:r>
            <a:r>
              <a:rPr lang="ru-RU" dirty="0" err="1"/>
              <a:t>документів</a:t>
            </a:r>
            <a:r>
              <a:rPr lang="ru-RU" dirty="0"/>
              <a:t> (</a:t>
            </a:r>
            <a:r>
              <a:rPr lang="ru-RU" dirty="0" err="1"/>
              <a:t>файлів</a:t>
            </a:r>
            <a:r>
              <a:rPr lang="ru-RU" dirty="0"/>
              <a:t>) на </a:t>
            </a:r>
            <a:r>
              <a:rPr lang="ru-RU" dirty="0" err="1"/>
              <a:t>html</a:t>
            </a:r>
            <a:r>
              <a:rPr lang="ru-RU" dirty="0"/>
              <a:t> </a:t>
            </a:r>
            <a:r>
              <a:rPr lang="ru-RU" dirty="0" err="1"/>
              <a:t>сторінці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6316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563888" y="1196752"/>
            <a:ext cx="547260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Поточним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є файл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index.html</a:t>
            </a: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Щоб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зробити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гіпер-посилання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на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сторінку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catalog.html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відносною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адресацією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можна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записати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59486" y="2860193"/>
            <a:ext cx="547700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"catalog.html"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&gt;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Перейти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&lt;/a&gt;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4710" y="151238"/>
            <a:ext cx="871296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>
                <a:solidFill>
                  <a:schemeClr val="accent2"/>
                </a:solidFill>
              </a:rPr>
              <a:t>Вар</a:t>
            </a:r>
            <a:r>
              <a:rPr lang="uk-UA" dirty="0">
                <a:solidFill>
                  <a:schemeClr val="accent2"/>
                </a:solidFill>
              </a:rPr>
              <a:t>і</a:t>
            </a:r>
            <a:r>
              <a:rPr lang="ru-RU" dirty="0">
                <a:solidFill>
                  <a:schemeClr val="accent2"/>
                </a:solidFill>
              </a:rPr>
              <a:t>ант 1 </a:t>
            </a:r>
            <a:r>
              <a:rPr lang="ru-RU" dirty="0"/>
              <a:t>– </a:t>
            </a:r>
            <a:r>
              <a:rPr lang="ru-RU" dirty="0" err="1"/>
              <a:t>обидва</a:t>
            </a:r>
            <a:r>
              <a:rPr lang="ru-RU" dirty="0"/>
              <a:t> </a:t>
            </a:r>
            <a:r>
              <a:rPr lang="ru-RU" dirty="0" err="1"/>
              <a:t>документи</a:t>
            </a:r>
            <a:r>
              <a:rPr lang="ru-RU" dirty="0"/>
              <a:t> </a:t>
            </a:r>
            <a:r>
              <a:rPr lang="ru-RU" dirty="0" err="1"/>
              <a:t>знаходяться</a:t>
            </a:r>
            <a:r>
              <a:rPr lang="ru-RU" dirty="0"/>
              <a:t> в тому ж самому </a:t>
            </a:r>
            <a:r>
              <a:rPr lang="ru-RU" dirty="0" err="1"/>
              <a:t>каталозі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423927"/>
            <a:ext cx="716363" cy="716363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79512" y="1196752"/>
            <a:ext cx="3228796" cy="288032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" name="Группа 12"/>
          <p:cNvGrpSpPr/>
          <p:nvPr/>
        </p:nvGrpSpPr>
        <p:grpSpPr>
          <a:xfrm>
            <a:off x="323528" y="1187460"/>
            <a:ext cx="2370482" cy="1737523"/>
            <a:chOff x="683568" y="-85083"/>
            <a:chExt cx="2370482" cy="1737523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3688" y="764704"/>
              <a:ext cx="710189" cy="887736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817814" y="397369"/>
              <a:ext cx="1236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index.html</a:t>
              </a:r>
              <a:endParaRPr lang="ru-RU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83568" y="-85083"/>
              <a:ext cx="11320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site.com</a:t>
              </a:r>
              <a:endParaRPr lang="ru-RU" dirty="0"/>
            </a:p>
          </p:txBody>
        </p:sp>
      </p:grpSp>
      <p:grpSp>
        <p:nvGrpSpPr>
          <p:cNvPr id="14" name="Группа 13"/>
          <p:cNvGrpSpPr/>
          <p:nvPr/>
        </p:nvGrpSpPr>
        <p:grpSpPr>
          <a:xfrm>
            <a:off x="1343204" y="2860693"/>
            <a:ext cx="1428596" cy="1155522"/>
            <a:chOff x="1703244" y="1588150"/>
            <a:chExt cx="1428596" cy="1155522"/>
          </a:xfrm>
        </p:grpSpPr>
        <p:pic>
          <p:nvPicPr>
            <p:cNvPr id="11" name="Рисунок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3688" y="1855936"/>
              <a:ext cx="710189" cy="887736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703244" y="1588150"/>
              <a:ext cx="14285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catalog.html</a:t>
              </a:r>
              <a:endParaRPr lang="ru-RU" dirty="0"/>
            </a:p>
          </p:txBody>
        </p:sp>
      </p:grpSp>
      <p:cxnSp>
        <p:nvCxnSpPr>
          <p:cNvPr id="16" name="Прямая соединительная линия 15"/>
          <p:cNvCxnSpPr/>
          <p:nvPr/>
        </p:nvCxnSpPr>
        <p:spPr>
          <a:xfrm flipV="1">
            <a:off x="923592" y="1796270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203035" y="1796270"/>
            <a:ext cx="0" cy="177607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 flipV="1">
            <a:off x="1194353" y="3572347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V="1">
            <a:off x="1187624" y="2432039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Выгнутая вправо стрелка 32"/>
          <p:cNvSpPr/>
          <p:nvPr/>
        </p:nvSpPr>
        <p:spPr>
          <a:xfrm>
            <a:off x="2075892" y="2360031"/>
            <a:ext cx="839924" cy="1429009"/>
          </a:xfrm>
          <a:prstGeom prst="curvedLeftArrow">
            <a:avLst/>
          </a:prstGeom>
          <a:solidFill>
            <a:srgbClr val="0070C0">
              <a:alpha val="68000"/>
            </a:srgb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29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Прямая соединительная линия 23"/>
          <p:cNvCxnSpPr/>
          <p:nvPr/>
        </p:nvCxnSpPr>
        <p:spPr>
          <a:xfrm flipV="1">
            <a:off x="2113837" y="3150257"/>
            <a:ext cx="278342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36014" y="861986"/>
            <a:ext cx="4248472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Поточним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є файл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index.html</a:t>
            </a: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Щоб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зробити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гіпер-посилання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на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сторінку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gallery.html</a:t>
            </a:r>
            <a:endParaRPr lang="uk-UA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який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знаходиться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в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каталозі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photos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відносною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адресацією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можна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записати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0932" y="4452085"/>
            <a:ext cx="750942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"photos/gallety.html"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Перейти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до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галереї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&lt;/a&gt;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1932" y="5013176"/>
            <a:ext cx="8752556" cy="1200329"/>
          </a:xfrm>
          <a:prstGeom prst="rect">
            <a:avLst/>
          </a:prstGeom>
          <a:solidFill>
            <a:srgbClr val="92D050">
              <a:alpha val="13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При </a:t>
            </a:r>
            <a:r>
              <a:rPr lang="ru-RU" dirty="0" err="1">
                <a:solidFill>
                  <a:srgbClr val="FF0000"/>
                </a:solidFill>
              </a:rPr>
              <a:t>абсолютній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 err="1">
                <a:solidFill>
                  <a:srgbClr val="FF0000"/>
                </a:solidFill>
              </a:rPr>
              <a:t>адресаціі</a:t>
            </a:r>
            <a:r>
              <a:rPr lang="ru-RU" dirty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  <a:p>
            <a:endParaRPr lang="ru-RU" dirty="0"/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http://site.com/photos/gallery.html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"&gt;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Перейти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&lt;/a&gt;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4238" y="53068"/>
            <a:ext cx="895552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>
                <a:solidFill>
                  <a:schemeClr val="accent2"/>
                </a:solidFill>
              </a:rPr>
              <a:t>Вар</a:t>
            </a:r>
            <a:r>
              <a:rPr lang="uk-UA" dirty="0">
                <a:solidFill>
                  <a:schemeClr val="accent2"/>
                </a:solidFill>
              </a:rPr>
              <a:t>і</a:t>
            </a:r>
            <a:r>
              <a:rPr lang="ru-RU" dirty="0">
                <a:solidFill>
                  <a:schemeClr val="accent2"/>
                </a:solidFill>
              </a:rPr>
              <a:t>ант</a:t>
            </a:r>
            <a:r>
              <a:rPr lang="ru-RU" dirty="0"/>
              <a:t> </a:t>
            </a:r>
            <a:r>
              <a:rPr lang="en-US" dirty="0"/>
              <a:t>2</a:t>
            </a:r>
            <a:r>
              <a:rPr lang="ru-RU" dirty="0"/>
              <a:t> </a:t>
            </a:r>
            <a:r>
              <a:rPr lang="ru-RU" dirty="0">
                <a:solidFill>
                  <a:schemeClr val="tx1"/>
                </a:solidFill>
              </a:rPr>
              <a:t>– документ, </a:t>
            </a:r>
            <a:r>
              <a:rPr lang="ru-RU" dirty="0" err="1">
                <a:solidFill>
                  <a:schemeClr val="tx1"/>
                </a:solidFill>
              </a:rPr>
              <a:t>який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потрібно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відкрити</a:t>
            </a:r>
            <a:r>
              <a:rPr lang="ru-RU" dirty="0">
                <a:solidFill>
                  <a:schemeClr val="tx1"/>
                </a:solidFill>
              </a:rPr>
              <a:t>, </a:t>
            </a:r>
            <a:r>
              <a:rPr lang="ru-RU" dirty="0" err="1">
                <a:solidFill>
                  <a:schemeClr val="tx1"/>
                </a:solidFill>
              </a:rPr>
              <a:t>знаходиться</a:t>
            </a:r>
            <a:r>
              <a:rPr lang="ru-RU" dirty="0">
                <a:solidFill>
                  <a:schemeClr val="tx1"/>
                </a:solidFill>
              </a:rPr>
              <a:t> в </a:t>
            </a:r>
            <a:r>
              <a:rPr lang="ru-RU" dirty="0" err="1">
                <a:solidFill>
                  <a:schemeClr val="tx1"/>
                </a:solidFill>
              </a:rPr>
              <a:t>дочірньому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каталозі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073179"/>
            <a:ext cx="716363" cy="716363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79512" y="851685"/>
            <a:ext cx="4392488" cy="3456384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" name="Группа 12"/>
          <p:cNvGrpSpPr/>
          <p:nvPr/>
        </p:nvGrpSpPr>
        <p:grpSpPr>
          <a:xfrm>
            <a:off x="323528" y="836712"/>
            <a:ext cx="2370482" cy="1737523"/>
            <a:chOff x="683568" y="-85083"/>
            <a:chExt cx="2370482" cy="1737523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3688" y="764704"/>
              <a:ext cx="710189" cy="887736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817814" y="397369"/>
              <a:ext cx="1236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index.html</a:t>
              </a:r>
              <a:endParaRPr lang="ru-RU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83568" y="-85083"/>
              <a:ext cx="11320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site.com</a:t>
              </a:r>
              <a:endParaRPr lang="ru-RU" dirty="0"/>
            </a:p>
          </p:txBody>
        </p:sp>
      </p:grpSp>
      <p:grpSp>
        <p:nvGrpSpPr>
          <p:cNvPr id="14" name="Группа 13"/>
          <p:cNvGrpSpPr/>
          <p:nvPr/>
        </p:nvGrpSpPr>
        <p:grpSpPr>
          <a:xfrm>
            <a:off x="2339752" y="3074858"/>
            <a:ext cx="1347357" cy="1155522"/>
            <a:chOff x="1559228" y="1588150"/>
            <a:chExt cx="1347357" cy="1155522"/>
          </a:xfrm>
        </p:grpSpPr>
        <p:pic>
          <p:nvPicPr>
            <p:cNvPr id="11" name="Рисунок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3688" y="1855936"/>
              <a:ext cx="710189" cy="887736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559228" y="1588150"/>
              <a:ext cx="13473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gallery.html</a:t>
              </a:r>
              <a:endParaRPr lang="ru-RU" dirty="0"/>
            </a:p>
          </p:txBody>
        </p:sp>
      </p:grpSp>
      <p:cxnSp>
        <p:nvCxnSpPr>
          <p:cNvPr id="16" name="Прямая соединительная линия 15"/>
          <p:cNvCxnSpPr/>
          <p:nvPr/>
        </p:nvCxnSpPr>
        <p:spPr>
          <a:xfrm flipV="1">
            <a:off x="923592" y="1445522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203035" y="1445522"/>
            <a:ext cx="0" cy="17047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 flipV="1">
            <a:off x="1203035" y="3150259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V="1">
            <a:off x="1187624" y="2081291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Выгнутая вправо стрелка 32"/>
          <p:cNvSpPr/>
          <p:nvPr/>
        </p:nvSpPr>
        <p:spPr>
          <a:xfrm rot="19813719">
            <a:off x="2552921" y="1392598"/>
            <a:ext cx="1772719" cy="2489982"/>
          </a:xfrm>
          <a:prstGeom prst="curvedLeftArrow">
            <a:avLst>
              <a:gd name="adj1" fmla="val 7878"/>
              <a:gd name="adj2" fmla="val 25781"/>
              <a:gd name="adj3" fmla="val 31738"/>
            </a:avLst>
          </a:prstGeom>
          <a:solidFill>
            <a:srgbClr val="0070C0">
              <a:alpha val="68000"/>
            </a:srgb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695" y="2766502"/>
            <a:ext cx="716363" cy="71636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81377" y="253819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photos</a:t>
            </a:r>
            <a:endParaRPr lang="ru-RU" dirty="0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2393280" y="3150257"/>
            <a:ext cx="0" cy="6362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2388676" y="3792294"/>
            <a:ext cx="20633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239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5494" y="6021288"/>
            <a:ext cx="900100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"phones/android/price1.html"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uk-UA" b="1" dirty="0">
                <a:latin typeface="Courier New" pitchFamily="49" charset="0"/>
                <a:cs typeface="Courier New" pitchFamily="49" charset="0"/>
              </a:rPr>
              <a:t>Подивитись ціну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&lt;/a&gt;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3000" y="136780"/>
            <a:ext cx="87494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>
                <a:solidFill>
                  <a:schemeClr val="accent2"/>
                </a:solidFill>
              </a:rPr>
              <a:t>Вар</a:t>
            </a:r>
            <a:r>
              <a:rPr lang="uk-UA" dirty="0">
                <a:solidFill>
                  <a:schemeClr val="accent2"/>
                </a:solidFill>
              </a:rPr>
              <a:t>і</a:t>
            </a:r>
            <a:r>
              <a:rPr lang="ru-RU" dirty="0">
                <a:solidFill>
                  <a:schemeClr val="accent2"/>
                </a:solidFill>
              </a:rPr>
              <a:t>ант</a:t>
            </a:r>
            <a:r>
              <a:rPr lang="ru-RU" dirty="0"/>
              <a:t> </a:t>
            </a:r>
            <a:r>
              <a:rPr lang="en-US" dirty="0"/>
              <a:t>3</a:t>
            </a:r>
            <a:r>
              <a:rPr lang="ru-RU" dirty="0"/>
              <a:t> </a:t>
            </a:r>
            <a:r>
              <a:rPr lang="ru-RU" dirty="0">
                <a:solidFill>
                  <a:schemeClr val="tx1"/>
                </a:solidFill>
              </a:rPr>
              <a:t>– документ, </a:t>
            </a:r>
            <a:r>
              <a:rPr lang="ru-RU" dirty="0" err="1">
                <a:solidFill>
                  <a:schemeClr val="tx1"/>
                </a:solidFill>
              </a:rPr>
              <a:t>який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потрібно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відкрити</a:t>
            </a:r>
            <a:r>
              <a:rPr lang="ru-RU" dirty="0">
                <a:solidFill>
                  <a:schemeClr val="tx1"/>
                </a:solidFill>
              </a:rPr>
              <a:t>, </a:t>
            </a:r>
            <a:r>
              <a:rPr lang="ru-RU" dirty="0" err="1">
                <a:solidFill>
                  <a:schemeClr val="tx1"/>
                </a:solidFill>
              </a:rPr>
              <a:t>знаходиться</a:t>
            </a:r>
            <a:r>
              <a:rPr lang="ru-RU" dirty="0">
                <a:solidFill>
                  <a:schemeClr val="tx1"/>
                </a:solidFill>
              </a:rPr>
              <a:t> в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       nested </a:t>
            </a:r>
            <a:r>
              <a:rPr lang="ru-RU" dirty="0" err="1">
                <a:solidFill>
                  <a:schemeClr val="tx1"/>
                </a:solidFill>
              </a:rPr>
              <a:t>каталозі</a:t>
            </a:r>
            <a:endParaRPr lang="ru-RU" dirty="0">
              <a:solidFill>
                <a:schemeClr val="tx1"/>
              </a:solidFill>
            </a:endParaRPr>
          </a:p>
        </p:txBody>
      </p:sp>
      <p:grpSp>
        <p:nvGrpSpPr>
          <p:cNvPr id="2" name="Группа 1"/>
          <p:cNvGrpSpPr/>
          <p:nvPr/>
        </p:nvGrpSpPr>
        <p:grpSpPr>
          <a:xfrm>
            <a:off x="179512" y="980728"/>
            <a:ext cx="5688632" cy="4761820"/>
            <a:chOff x="179512" y="611396"/>
            <a:chExt cx="5688632" cy="4761820"/>
          </a:xfrm>
        </p:grpSpPr>
        <p:cxnSp>
          <p:nvCxnSpPr>
            <p:cNvPr id="24" name="Прямая соединительная линия 23"/>
            <p:cNvCxnSpPr/>
            <p:nvPr/>
          </p:nvCxnSpPr>
          <p:spPr>
            <a:xfrm flipV="1">
              <a:off x="2123728" y="2924941"/>
              <a:ext cx="278342" cy="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Рисунок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1520" y="847863"/>
              <a:ext cx="716363" cy="716363"/>
            </a:xfrm>
            <a:prstGeom prst="rect">
              <a:avLst/>
            </a:prstGeom>
          </p:spPr>
        </p:pic>
        <p:sp>
          <p:nvSpPr>
            <p:cNvPr id="3" name="Прямоугольник 2"/>
            <p:cNvSpPr/>
            <p:nvPr/>
          </p:nvSpPr>
          <p:spPr>
            <a:xfrm>
              <a:off x="179512" y="620688"/>
              <a:ext cx="5688632" cy="4752528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3" name="Группа 12"/>
            <p:cNvGrpSpPr/>
            <p:nvPr/>
          </p:nvGrpSpPr>
          <p:grpSpPr>
            <a:xfrm>
              <a:off x="323528" y="611396"/>
              <a:ext cx="2370482" cy="1737523"/>
              <a:chOff x="683568" y="-85083"/>
              <a:chExt cx="2370482" cy="1737523"/>
            </a:xfrm>
          </p:grpSpPr>
          <p:pic>
            <p:nvPicPr>
              <p:cNvPr id="10" name="Рисунок 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63688" y="764704"/>
                <a:ext cx="710189" cy="887736"/>
              </a:xfrm>
              <a:prstGeom prst="rect">
                <a:avLst/>
              </a:prstGeom>
            </p:spPr>
          </p:pic>
          <p:sp>
            <p:nvSpPr>
              <p:cNvPr id="5" name="TextBox 4"/>
              <p:cNvSpPr txBox="1"/>
              <p:nvPr/>
            </p:nvSpPr>
            <p:spPr>
              <a:xfrm>
                <a:off x="1817814" y="397369"/>
                <a:ext cx="12362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index.html</a:t>
                </a:r>
                <a:endParaRPr lang="ru-RU" dirty="0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683568" y="-85083"/>
                <a:ext cx="1132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site.com</a:t>
                </a:r>
                <a:endParaRPr lang="ru-RU" dirty="0"/>
              </a:p>
            </p:txBody>
          </p:sp>
        </p:grpSp>
        <p:grpSp>
          <p:nvGrpSpPr>
            <p:cNvPr id="14" name="Группа 13"/>
            <p:cNvGrpSpPr/>
            <p:nvPr/>
          </p:nvGrpSpPr>
          <p:grpSpPr>
            <a:xfrm>
              <a:off x="4338940" y="2852936"/>
              <a:ext cx="1313180" cy="1155522"/>
              <a:chOff x="1758216" y="1588150"/>
              <a:chExt cx="1313180" cy="1155522"/>
            </a:xfrm>
          </p:grpSpPr>
          <p:pic>
            <p:nvPicPr>
              <p:cNvPr id="11" name="Рисунок 10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63688" y="1855936"/>
                <a:ext cx="710189" cy="887736"/>
              </a:xfrm>
              <a:prstGeom prst="rect">
                <a:avLst/>
              </a:prstGeom>
            </p:spPr>
          </p:pic>
          <p:sp>
            <p:nvSpPr>
              <p:cNvPr id="12" name="TextBox 11"/>
              <p:cNvSpPr txBox="1"/>
              <p:nvPr/>
            </p:nvSpPr>
            <p:spPr>
              <a:xfrm>
                <a:off x="1758216" y="1588150"/>
                <a:ext cx="13131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price1.html</a:t>
                </a:r>
                <a:endParaRPr lang="ru-RU" dirty="0"/>
              </a:p>
            </p:txBody>
          </p:sp>
        </p:grpSp>
        <p:cxnSp>
          <p:nvCxnSpPr>
            <p:cNvPr id="16" name="Прямая соединительная линия 15"/>
            <p:cNvCxnSpPr/>
            <p:nvPr/>
          </p:nvCxnSpPr>
          <p:spPr>
            <a:xfrm flipV="1">
              <a:off x="923592" y="1220206"/>
              <a:ext cx="278342" cy="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/>
            <p:cNvCxnSpPr/>
            <p:nvPr/>
          </p:nvCxnSpPr>
          <p:spPr>
            <a:xfrm>
              <a:off x="1203035" y="1220206"/>
              <a:ext cx="0" cy="170473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/>
            <p:cNvCxnSpPr/>
            <p:nvPr/>
          </p:nvCxnSpPr>
          <p:spPr>
            <a:xfrm flipV="1">
              <a:off x="1203035" y="2924943"/>
              <a:ext cx="278342" cy="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/>
            <p:nvPr/>
          </p:nvCxnSpPr>
          <p:spPr>
            <a:xfrm flipV="1">
              <a:off x="1187624" y="1855975"/>
              <a:ext cx="278342" cy="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Рисунок 1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2695" y="2541186"/>
              <a:ext cx="716363" cy="716363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1481377" y="2312876"/>
              <a:ext cx="9412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phones</a:t>
              </a:r>
              <a:endParaRPr lang="ru-RU" dirty="0"/>
            </a:p>
          </p:txBody>
        </p:sp>
        <p:cxnSp>
          <p:nvCxnSpPr>
            <p:cNvPr id="25" name="Прямая соединительная линия 24"/>
            <p:cNvCxnSpPr/>
            <p:nvPr/>
          </p:nvCxnSpPr>
          <p:spPr>
            <a:xfrm>
              <a:off x="2393280" y="2924941"/>
              <a:ext cx="0" cy="209009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/>
            <p:nvPr/>
          </p:nvCxnSpPr>
          <p:spPr>
            <a:xfrm>
              <a:off x="2388676" y="3566978"/>
              <a:ext cx="206334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Рисунок 2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5776" y="3216693"/>
              <a:ext cx="716363" cy="716363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2550597" y="3059668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android</a:t>
              </a:r>
              <a:endParaRPr lang="ru-RU" dirty="0"/>
            </a:p>
          </p:txBody>
        </p:sp>
        <p:pic>
          <p:nvPicPr>
            <p:cNvPr id="31" name="Рисунок 3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0955" y="3936773"/>
              <a:ext cx="716363" cy="716363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2555776" y="3779748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iPod</a:t>
              </a:r>
              <a:endParaRPr lang="ru-RU" dirty="0"/>
            </a:p>
          </p:txBody>
        </p:sp>
        <p:pic>
          <p:nvPicPr>
            <p:cNvPr id="35" name="Рисунок 3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0955" y="4656853"/>
              <a:ext cx="716363" cy="716363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2555776" y="4499828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iphone</a:t>
              </a:r>
              <a:endParaRPr lang="ru-RU" dirty="0"/>
            </a:p>
          </p:txBody>
        </p:sp>
        <p:cxnSp>
          <p:nvCxnSpPr>
            <p:cNvPr id="38" name="Прямая соединительная линия 37"/>
            <p:cNvCxnSpPr/>
            <p:nvPr/>
          </p:nvCxnSpPr>
          <p:spPr>
            <a:xfrm>
              <a:off x="2397067" y="4365104"/>
              <a:ext cx="206334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/>
            <p:cNvCxnSpPr/>
            <p:nvPr/>
          </p:nvCxnSpPr>
          <p:spPr>
            <a:xfrm>
              <a:off x="2406592" y="5013176"/>
              <a:ext cx="206334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/>
            <p:nvPr/>
          </p:nvCxnSpPr>
          <p:spPr>
            <a:xfrm>
              <a:off x="3213538" y="3573016"/>
              <a:ext cx="114243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Стрелка вправо 16"/>
            <p:cNvSpPr/>
            <p:nvPr/>
          </p:nvSpPr>
          <p:spPr>
            <a:xfrm rot="1928275">
              <a:off x="1900033" y="2379876"/>
              <a:ext cx="2626184" cy="456901"/>
            </a:xfrm>
            <a:prstGeom prst="rightArrow">
              <a:avLst/>
            </a:prstGeom>
            <a:solidFill>
              <a:srgbClr val="00B0F0">
                <a:alpha val="41000"/>
              </a:srgb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11800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Прямая соединительная линия 23"/>
          <p:cNvCxnSpPr/>
          <p:nvPr/>
        </p:nvCxnSpPr>
        <p:spPr>
          <a:xfrm flipV="1">
            <a:off x="2113837" y="3164772"/>
            <a:ext cx="278342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16016" y="843587"/>
            <a:ext cx="4248472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Поточним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є файл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price.html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який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знаходиться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в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каталозі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catalog</a:t>
            </a: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Щоб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зробити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гіпер-посилання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на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сторінку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index.html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відносною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адресацією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можна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записати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2744" y="4604935"/>
            <a:ext cx="750942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"../index.html"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Перейти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на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головну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&lt;/a&gt;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3712" y="5180999"/>
            <a:ext cx="8912783" cy="1200329"/>
          </a:xfrm>
          <a:prstGeom prst="rect">
            <a:avLst/>
          </a:prstGeom>
          <a:solidFill>
            <a:srgbClr val="92D050">
              <a:alpha val="13000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При </a:t>
            </a:r>
            <a:r>
              <a:rPr lang="ru-RU" dirty="0" err="1">
                <a:solidFill>
                  <a:srgbClr val="FF0000"/>
                </a:solidFill>
              </a:rPr>
              <a:t>абсолютн</a:t>
            </a:r>
            <a:r>
              <a:rPr lang="uk-UA" dirty="0">
                <a:solidFill>
                  <a:srgbClr val="FF0000"/>
                </a:solidFill>
              </a:rPr>
              <a:t>і</a:t>
            </a:r>
            <a:r>
              <a:rPr lang="ru-RU" dirty="0">
                <a:solidFill>
                  <a:srgbClr val="FF0000"/>
                </a:solidFill>
              </a:rPr>
              <a:t>й </a:t>
            </a:r>
            <a:r>
              <a:rPr lang="ru-RU" dirty="0" err="1">
                <a:solidFill>
                  <a:srgbClr val="FF0000"/>
                </a:solidFill>
              </a:rPr>
              <a:t>адресаціі</a:t>
            </a:r>
            <a:r>
              <a:rPr lang="ru-RU" dirty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  <a:p>
            <a:endParaRPr lang="ru-RU" dirty="0"/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en-US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http://site.com/index.html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"&gt;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Перейти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на главную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&lt;/a&gt;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15606" y="63026"/>
            <a:ext cx="892899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Вариант 4 –</a:t>
            </a:r>
            <a:r>
              <a:rPr lang="en-US" dirty="0"/>
              <a:t> </a:t>
            </a:r>
            <a:r>
              <a:rPr lang="ru-RU" dirty="0">
                <a:solidFill>
                  <a:schemeClr val="tx1"/>
                </a:solidFill>
              </a:rPr>
              <a:t>документ, </a:t>
            </a:r>
            <a:r>
              <a:rPr lang="ru-RU" dirty="0" err="1">
                <a:solidFill>
                  <a:schemeClr val="tx1"/>
                </a:solidFill>
              </a:rPr>
              <a:t>який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потрібно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відкрити</a:t>
            </a:r>
            <a:r>
              <a:rPr lang="ru-RU" dirty="0">
                <a:solidFill>
                  <a:schemeClr val="tx1"/>
                </a:solidFill>
              </a:rPr>
              <a:t>, </a:t>
            </a:r>
            <a:r>
              <a:rPr lang="ru-RU" dirty="0" err="1">
                <a:solidFill>
                  <a:schemeClr val="tx1"/>
                </a:solidFill>
              </a:rPr>
              <a:t>знаходиться</a:t>
            </a:r>
            <a:r>
              <a:rPr lang="ru-RU" dirty="0">
                <a:solidFill>
                  <a:schemeClr val="tx1"/>
                </a:solidFill>
              </a:rPr>
              <a:t> в </a:t>
            </a:r>
            <a:r>
              <a:rPr lang="ru-RU" dirty="0" err="1">
                <a:solidFill>
                  <a:schemeClr val="tx1"/>
                </a:solidFill>
              </a:rPr>
              <a:t>батьківському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каталозі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087694"/>
            <a:ext cx="716363" cy="716363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48437" y="860558"/>
            <a:ext cx="4392488" cy="3456384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" name="Группа 12"/>
          <p:cNvGrpSpPr/>
          <p:nvPr/>
        </p:nvGrpSpPr>
        <p:grpSpPr>
          <a:xfrm>
            <a:off x="323528" y="851227"/>
            <a:ext cx="2370482" cy="1737523"/>
            <a:chOff x="683568" y="-85083"/>
            <a:chExt cx="2370482" cy="1737523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3688" y="764704"/>
              <a:ext cx="710189" cy="887736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817814" y="397369"/>
              <a:ext cx="1236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index.html</a:t>
              </a:r>
              <a:endParaRPr lang="ru-RU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83568" y="-85083"/>
              <a:ext cx="11320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site.com</a:t>
              </a:r>
              <a:endParaRPr lang="ru-RU" dirty="0"/>
            </a:p>
          </p:txBody>
        </p:sp>
      </p:grpSp>
      <p:grpSp>
        <p:nvGrpSpPr>
          <p:cNvPr id="14" name="Группа 13"/>
          <p:cNvGrpSpPr/>
          <p:nvPr/>
        </p:nvGrpSpPr>
        <p:grpSpPr>
          <a:xfrm>
            <a:off x="2339752" y="3089373"/>
            <a:ext cx="1184940" cy="1155522"/>
            <a:chOff x="1559228" y="1588150"/>
            <a:chExt cx="1184940" cy="1155522"/>
          </a:xfrm>
        </p:grpSpPr>
        <p:pic>
          <p:nvPicPr>
            <p:cNvPr id="11" name="Рисунок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3688" y="1855936"/>
              <a:ext cx="710189" cy="887736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559228" y="1588150"/>
              <a:ext cx="1184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price.html</a:t>
              </a:r>
              <a:endParaRPr lang="ru-RU" dirty="0"/>
            </a:p>
          </p:txBody>
        </p:sp>
      </p:grpSp>
      <p:cxnSp>
        <p:nvCxnSpPr>
          <p:cNvPr id="16" name="Прямая соединительная линия 15"/>
          <p:cNvCxnSpPr/>
          <p:nvPr/>
        </p:nvCxnSpPr>
        <p:spPr>
          <a:xfrm flipV="1">
            <a:off x="923592" y="1460037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203035" y="1460037"/>
            <a:ext cx="0" cy="17047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 flipV="1">
            <a:off x="1203035" y="3164774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V="1">
            <a:off x="1187624" y="2095806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Рисунок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695" y="2781017"/>
            <a:ext cx="716363" cy="71636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81377" y="2552707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catalog</a:t>
            </a:r>
            <a:endParaRPr lang="ru-RU" dirty="0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2393280" y="3164772"/>
            <a:ext cx="0" cy="6362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2388676" y="3806809"/>
            <a:ext cx="20633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Выгнутая влево стрелка 16"/>
          <p:cNvSpPr/>
          <p:nvPr/>
        </p:nvSpPr>
        <p:spPr>
          <a:xfrm rot="8428810">
            <a:off x="2533875" y="1398825"/>
            <a:ext cx="1111001" cy="2407739"/>
          </a:xfrm>
          <a:prstGeom prst="curvedRightArrow">
            <a:avLst>
              <a:gd name="adj1" fmla="val 25000"/>
              <a:gd name="adj2" fmla="val 52573"/>
              <a:gd name="adj3" fmla="val 46337"/>
            </a:avLst>
          </a:prstGeom>
          <a:solidFill>
            <a:srgbClr val="00B0F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59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Прямая соединительная линия 23"/>
          <p:cNvCxnSpPr/>
          <p:nvPr/>
        </p:nvCxnSpPr>
        <p:spPr>
          <a:xfrm flipV="1">
            <a:off x="2113837" y="2286161"/>
            <a:ext cx="278342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8077" y="4828510"/>
            <a:ext cx="750942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"../../index.html"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Перейти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на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головну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&lt;/a&gt;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09083"/>
            <a:ext cx="716363" cy="716363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79511" y="44624"/>
            <a:ext cx="6480719" cy="468052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" name="Группа 12"/>
          <p:cNvGrpSpPr/>
          <p:nvPr/>
        </p:nvGrpSpPr>
        <p:grpSpPr>
          <a:xfrm>
            <a:off x="323528" y="-27384"/>
            <a:ext cx="2370482" cy="1737523"/>
            <a:chOff x="683568" y="-85083"/>
            <a:chExt cx="2370482" cy="1737523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3688" y="764704"/>
              <a:ext cx="710189" cy="887736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817814" y="397369"/>
              <a:ext cx="1236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index.html</a:t>
              </a:r>
              <a:endParaRPr lang="ru-RU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83568" y="-85083"/>
              <a:ext cx="11320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site.com</a:t>
              </a:r>
              <a:endParaRPr lang="ru-RU" dirty="0"/>
            </a:p>
          </p:txBody>
        </p:sp>
      </p:grpSp>
      <p:grpSp>
        <p:nvGrpSpPr>
          <p:cNvPr id="14" name="Группа 13"/>
          <p:cNvGrpSpPr/>
          <p:nvPr/>
        </p:nvGrpSpPr>
        <p:grpSpPr>
          <a:xfrm>
            <a:off x="3484020" y="2930981"/>
            <a:ext cx="1184940" cy="1155522"/>
            <a:chOff x="1559228" y="1588150"/>
            <a:chExt cx="1184940" cy="1155522"/>
          </a:xfrm>
        </p:grpSpPr>
        <p:pic>
          <p:nvPicPr>
            <p:cNvPr id="11" name="Рисунок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3688" y="1855936"/>
              <a:ext cx="710189" cy="887736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559228" y="1588150"/>
              <a:ext cx="1184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price.html</a:t>
              </a:r>
              <a:endParaRPr lang="ru-RU" dirty="0"/>
            </a:p>
          </p:txBody>
        </p:sp>
      </p:grpSp>
      <p:cxnSp>
        <p:nvCxnSpPr>
          <p:cNvPr id="16" name="Прямая соединительная линия 15"/>
          <p:cNvCxnSpPr/>
          <p:nvPr/>
        </p:nvCxnSpPr>
        <p:spPr>
          <a:xfrm flipV="1">
            <a:off x="923592" y="581426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203035" y="581426"/>
            <a:ext cx="0" cy="17047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 flipV="1">
            <a:off x="1203035" y="2286163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V="1">
            <a:off x="1187624" y="1217195"/>
            <a:ext cx="27834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Рисунок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695" y="1902406"/>
            <a:ext cx="716363" cy="71636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81377" y="1674096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catalog</a:t>
            </a:r>
            <a:endParaRPr lang="ru-RU" dirty="0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2393280" y="2286161"/>
            <a:ext cx="0" cy="6362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2388676" y="2928198"/>
            <a:ext cx="20633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Выгнутая влево стрелка 16"/>
          <p:cNvSpPr/>
          <p:nvPr/>
        </p:nvSpPr>
        <p:spPr>
          <a:xfrm rot="7911693">
            <a:off x="3004863" y="92645"/>
            <a:ext cx="1277321" cy="3804073"/>
          </a:xfrm>
          <a:prstGeom prst="curvedRightArrow">
            <a:avLst>
              <a:gd name="adj1" fmla="val 25000"/>
              <a:gd name="adj2" fmla="val 52573"/>
              <a:gd name="adj3" fmla="val 62920"/>
            </a:avLst>
          </a:prstGeom>
          <a:solidFill>
            <a:srgbClr val="00B0F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B0F0"/>
              </a:solidFill>
            </a:endParaRP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2540521"/>
            <a:ext cx="716363" cy="71636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635429" y="2339588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prices</a:t>
            </a:r>
            <a:endParaRPr lang="ru-RU" dirty="0"/>
          </a:p>
        </p:txBody>
      </p:sp>
      <p:cxnSp>
        <p:nvCxnSpPr>
          <p:cNvPr id="31" name="Прямая соединительная линия 30"/>
          <p:cNvCxnSpPr/>
          <p:nvPr/>
        </p:nvCxnSpPr>
        <p:spPr>
          <a:xfrm flipV="1">
            <a:off x="3237756" y="2930979"/>
            <a:ext cx="278342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3517199" y="2930979"/>
            <a:ext cx="0" cy="6362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>
            <a:off x="3512595" y="3573016"/>
            <a:ext cx="20633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59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2E13F2B1-F675-0935-BDFE-0B975813D1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75656" y="44624"/>
            <a:ext cx="3456384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uk-UA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Елемент </a:t>
            </a:r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button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48294CA1-AA6A-539A-ABF0-B1D6800DA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04" y="548680"/>
            <a:ext cx="8775068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b="1" dirty="0"/>
              <a:t>У </a:t>
            </a:r>
            <a:r>
              <a:rPr lang="en-US" b="1" dirty="0">
                <a:solidFill>
                  <a:srgbClr val="C00000"/>
                </a:solidFill>
              </a:rPr>
              <a:t>button</a:t>
            </a:r>
            <a:r>
              <a:rPr lang="en-US" b="1" dirty="0"/>
              <a:t> </a:t>
            </a:r>
            <a:r>
              <a:rPr lang="ru-RU" b="1" dirty="0" err="1">
                <a:solidFill>
                  <a:srgbClr val="0070C0"/>
                </a:solidFill>
              </a:rPr>
              <a:t>немає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ru-RU" b="1" dirty="0" err="1">
                <a:solidFill>
                  <a:srgbClr val="0070C0"/>
                </a:solidFill>
              </a:rPr>
              <a:t>спеційної</a:t>
            </a:r>
            <a:r>
              <a:rPr lang="ru-RU" b="1" dirty="0">
                <a:solidFill>
                  <a:srgbClr val="0070C0"/>
                </a:solidFill>
              </a:rPr>
              <a:t> мети як </a:t>
            </a:r>
            <a:r>
              <a:rPr lang="ru-RU" b="1" dirty="0" err="1">
                <a:solidFill>
                  <a:srgbClr val="0070C0"/>
                </a:solidFill>
              </a:rPr>
              <a:t>такової</a:t>
            </a:r>
            <a:endParaRPr lang="ru-RU" b="1" dirty="0">
              <a:solidFill>
                <a:srgbClr val="0070C0"/>
              </a:solidFill>
            </a:endParaRPr>
          </a:p>
          <a:p>
            <a:endParaRPr lang="ru-RU" b="1" dirty="0">
              <a:solidFill>
                <a:srgbClr val="0070C0"/>
              </a:solidFill>
            </a:endParaRPr>
          </a:p>
          <a:p>
            <a:r>
              <a:rPr lang="ru-RU" b="1" dirty="0"/>
              <a:t>Як правило  - </a:t>
            </a:r>
            <a:r>
              <a:rPr lang="ru-RU" b="1" dirty="0" err="1"/>
              <a:t>це</a:t>
            </a:r>
            <a:r>
              <a:rPr lang="ru-RU" b="1" dirty="0"/>
              <a:t> </a:t>
            </a:r>
            <a:r>
              <a:rPr lang="ru-RU" b="1" dirty="0" err="1"/>
              <a:t>інтерактивність</a:t>
            </a:r>
            <a:r>
              <a:rPr lang="ru-RU" b="1" dirty="0"/>
              <a:t>,  </a:t>
            </a:r>
            <a:r>
              <a:rPr lang="ru-RU" b="1" dirty="0" err="1"/>
              <a:t>відправити</a:t>
            </a:r>
            <a:r>
              <a:rPr lang="ru-RU" b="1" dirty="0"/>
              <a:t> форму, </a:t>
            </a:r>
            <a:r>
              <a:rPr lang="ru-RU" b="1" dirty="0" err="1"/>
              <a:t>або</a:t>
            </a:r>
            <a:r>
              <a:rPr lang="ru-RU" b="1" dirty="0"/>
              <a:t> </a:t>
            </a:r>
            <a:r>
              <a:rPr lang="ru-RU" b="1" dirty="0" err="1"/>
              <a:t>відпрацювати</a:t>
            </a:r>
            <a:r>
              <a:rPr lang="ru-RU" b="1" dirty="0"/>
              <a:t> </a:t>
            </a:r>
            <a:r>
              <a:rPr lang="ru-RU" b="1" dirty="0" err="1"/>
              <a:t>подію</a:t>
            </a:r>
            <a:r>
              <a:rPr lang="ru-RU" b="1" dirty="0"/>
              <a:t> </a:t>
            </a:r>
            <a:r>
              <a:rPr lang="en-US" b="1" dirty="0"/>
              <a:t>JS </a:t>
            </a:r>
          </a:p>
          <a:p>
            <a:endParaRPr lang="en-US" dirty="0"/>
          </a:p>
          <a:p>
            <a:r>
              <a:rPr lang="en-US" b="1" dirty="0"/>
              <a:t>&lt;button&gt;Click me&lt;/button&gt;</a:t>
            </a:r>
          </a:p>
        </p:txBody>
      </p:sp>
    </p:spTree>
    <p:extLst>
      <p:ext uri="{BB962C8B-B14F-4D97-AF65-F5344CB8AC3E}">
        <p14:creationId xmlns:p14="http://schemas.microsoft.com/office/powerpoint/2010/main" val="4035470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2843808" y="140995"/>
            <a:ext cx="2664296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Lists</a:t>
            </a:r>
            <a:endParaRPr lang="ru-RU" sz="1800" dirty="0">
              <a:solidFill>
                <a:srgbClr val="002060"/>
              </a:solidFill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1520" y="4229799"/>
            <a:ext cx="8712968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А 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всередині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елементів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…&lt;/</a:t>
            </a:r>
            <a:r>
              <a:rPr lang="ru-RU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може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бути будь-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який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контент</a:t>
            </a:r>
          </a:p>
          <a:p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наприклад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посилання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зображення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параграфи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інші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списки </a:t>
            </a:r>
          </a:p>
          <a:p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&gt;…&lt;/</a:t>
            </a:r>
            <a:r>
              <a:rPr lang="ru-RU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ru-RU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Перед контентом, 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який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знаходиться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в 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…&lt;/</a:t>
            </a:r>
            <a:r>
              <a:rPr lang="ru-RU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</a:t>
            </a:r>
            <a:r>
              <a:rPr lang="ru-RU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утворюються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маркери</a:t>
            </a:r>
            <a:endParaRPr lang="ru-RU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496" y="591123"/>
            <a:ext cx="2664296" cy="369332"/>
          </a:xfrm>
          <a:prstGeom prst="rect">
            <a:avLst/>
          </a:prstGeom>
          <a:solidFill>
            <a:srgbClr val="00B050">
              <a:alpha val="9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1.unordered list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520" y="3645024"/>
            <a:ext cx="8712968" cy="338554"/>
          </a:xfrm>
          <a:prstGeom prst="rect">
            <a:avLst/>
          </a:prstGeom>
          <a:solidFill>
            <a:srgbClr val="00B050">
              <a:alpha val="12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&gt;, &lt;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– 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блочн</a:t>
            </a:r>
            <a:r>
              <a:rPr lang="uk-U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і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елементи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які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мають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містити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тільки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елементи</a:t>
            </a:r>
            <a:r>
              <a:rPr lang="ru-RU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&lt;li&gt;</a:t>
            </a:r>
            <a:endParaRPr lang="ru-RU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08576-DD73-DB9C-D591-57F515241B2F}"/>
              </a:ext>
            </a:extLst>
          </p:cNvPr>
          <p:cNvSpPr txBox="1"/>
          <p:nvPr/>
        </p:nvSpPr>
        <p:spPr>
          <a:xfrm>
            <a:off x="4283968" y="591123"/>
            <a:ext cx="2664296" cy="369332"/>
          </a:xfrm>
          <a:prstGeom prst="rect">
            <a:avLst/>
          </a:prstGeom>
          <a:solidFill>
            <a:srgbClr val="00B050">
              <a:alpha val="9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2. ordered list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7CCE7B-4C29-2D58-6472-7AE483FE5AB1}"/>
              </a:ext>
            </a:extLst>
          </p:cNvPr>
          <p:cNvSpPr txBox="1"/>
          <p:nvPr/>
        </p:nvSpPr>
        <p:spPr>
          <a:xfrm>
            <a:off x="167507" y="1153740"/>
            <a:ext cx="2532286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&lt;ul&gt;</a:t>
            </a:r>
            <a:endParaRPr lang="it-IT" sz="1600" b="0" dirty="0">
              <a:solidFill>
                <a:srgbClr val="000000"/>
              </a:solidFill>
              <a:effectLst/>
              <a:latin typeface="Fira Code Medium" panose="020B0609050000020004" pitchFamily="49" charset="0"/>
            </a:endParaRPr>
          </a:p>
          <a:p>
            <a:r>
              <a:rPr lang="it-IT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  </a:t>
            </a:r>
            <a:r>
              <a:rPr lang="it-IT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&lt;li&gt;</a:t>
            </a:r>
            <a:r>
              <a:rPr lang="it-IT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First</a:t>
            </a:r>
            <a:r>
              <a:rPr lang="it-IT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&lt;/li&gt;</a:t>
            </a:r>
            <a:endParaRPr lang="it-IT" sz="1600" b="0" dirty="0">
              <a:solidFill>
                <a:srgbClr val="000000"/>
              </a:solidFill>
              <a:effectLst/>
              <a:latin typeface="Fira Code Medium" panose="020B0609050000020004" pitchFamily="49" charset="0"/>
            </a:endParaRPr>
          </a:p>
          <a:p>
            <a:r>
              <a:rPr lang="it-IT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  </a:t>
            </a:r>
            <a:r>
              <a:rPr lang="it-IT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&lt;li&gt;</a:t>
            </a:r>
            <a:r>
              <a:rPr lang="it-IT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Second</a:t>
            </a:r>
            <a:r>
              <a:rPr lang="it-IT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&lt;/li&gt;</a:t>
            </a:r>
            <a:endParaRPr lang="it-IT" sz="1600" b="0" dirty="0">
              <a:solidFill>
                <a:srgbClr val="000000"/>
              </a:solidFill>
              <a:effectLst/>
              <a:latin typeface="Fira Code Medium" panose="020B0609050000020004" pitchFamily="49" charset="0"/>
            </a:endParaRPr>
          </a:p>
          <a:p>
            <a:r>
              <a:rPr lang="it-IT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  </a:t>
            </a:r>
            <a:r>
              <a:rPr lang="it-IT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&lt;li&gt;</a:t>
            </a:r>
            <a:r>
              <a:rPr lang="it-IT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Third</a:t>
            </a:r>
            <a:r>
              <a:rPr lang="it-IT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&lt;/li&gt;</a:t>
            </a:r>
            <a:endParaRPr lang="it-IT" sz="1600" b="0" dirty="0">
              <a:solidFill>
                <a:srgbClr val="000000"/>
              </a:solidFill>
              <a:effectLst/>
              <a:latin typeface="Fira Code Medium" panose="020B0609050000020004" pitchFamily="49" charset="0"/>
            </a:endParaRPr>
          </a:p>
          <a:p>
            <a:r>
              <a:rPr lang="it-IT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  </a:t>
            </a:r>
            <a:r>
              <a:rPr lang="it-IT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&lt;li&gt;</a:t>
            </a:r>
            <a:r>
              <a:rPr lang="it-IT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Fourth</a:t>
            </a:r>
            <a:r>
              <a:rPr lang="it-IT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&lt;/li&gt;</a:t>
            </a:r>
            <a:endParaRPr lang="it-IT" sz="1600" b="0" dirty="0">
              <a:solidFill>
                <a:srgbClr val="000000"/>
              </a:solidFill>
              <a:effectLst/>
              <a:latin typeface="Fira Code Medium" panose="020B0609050000020004" pitchFamily="49" charset="0"/>
            </a:endParaRPr>
          </a:p>
          <a:p>
            <a:r>
              <a:rPr lang="it-IT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&lt;/ul&gt;</a:t>
            </a:r>
            <a:endParaRPr lang="it-IT" sz="1600" b="0" dirty="0">
              <a:solidFill>
                <a:srgbClr val="000000"/>
              </a:solidFill>
              <a:effectLst/>
              <a:latin typeface="Fira Code Medium" panose="020B060905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1A608E-6AD8-22E1-F549-A686475D4090}"/>
              </a:ext>
            </a:extLst>
          </p:cNvPr>
          <p:cNvSpPr txBox="1"/>
          <p:nvPr/>
        </p:nvSpPr>
        <p:spPr>
          <a:xfrm>
            <a:off x="4343970" y="1139260"/>
            <a:ext cx="2532286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&lt;ol&gt;</a:t>
            </a:r>
            <a:endParaRPr lang="it-IT" sz="1600" b="0" dirty="0">
              <a:solidFill>
                <a:srgbClr val="000000"/>
              </a:solidFill>
              <a:effectLst/>
              <a:latin typeface="Fira Code Medium" panose="020B0609050000020004" pitchFamily="49" charset="0"/>
            </a:endParaRPr>
          </a:p>
          <a:p>
            <a:r>
              <a:rPr lang="it-IT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  </a:t>
            </a:r>
            <a:r>
              <a:rPr lang="it-IT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&lt;li&gt;</a:t>
            </a:r>
            <a:r>
              <a:rPr lang="it-IT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First</a:t>
            </a:r>
            <a:r>
              <a:rPr lang="it-IT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&lt;/li&gt;</a:t>
            </a:r>
            <a:endParaRPr lang="it-IT" sz="1600" b="0" dirty="0">
              <a:solidFill>
                <a:srgbClr val="000000"/>
              </a:solidFill>
              <a:effectLst/>
              <a:latin typeface="Fira Code Medium" panose="020B0609050000020004" pitchFamily="49" charset="0"/>
            </a:endParaRPr>
          </a:p>
          <a:p>
            <a:r>
              <a:rPr lang="it-IT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  </a:t>
            </a:r>
            <a:r>
              <a:rPr lang="it-IT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&lt;li&gt;</a:t>
            </a:r>
            <a:r>
              <a:rPr lang="it-IT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Second</a:t>
            </a:r>
            <a:r>
              <a:rPr lang="it-IT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&lt;/li&gt;</a:t>
            </a:r>
            <a:endParaRPr lang="it-IT" sz="1600" b="0" dirty="0">
              <a:solidFill>
                <a:srgbClr val="000000"/>
              </a:solidFill>
              <a:effectLst/>
              <a:latin typeface="Fira Code Medium" panose="020B0609050000020004" pitchFamily="49" charset="0"/>
            </a:endParaRPr>
          </a:p>
          <a:p>
            <a:r>
              <a:rPr lang="it-IT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  </a:t>
            </a:r>
            <a:r>
              <a:rPr lang="it-IT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&lt;li&gt;</a:t>
            </a:r>
            <a:r>
              <a:rPr lang="it-IT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Third</a:t>
            </a:r>
            <a:r>
              <a:rPr lang="it-IT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&lt;/li&gt;</a:t>
            </a:r>
            <a:endParaRPr lang="it-IT" sz="1600" b="0" dirty="0">
              <a:solidFill>
                <a:srgbClr val="000000"/>
              </a:solidFill>
              <a:effectLst/>
              <a:latin typeface="Fira Code Medium" panose="020B0609050000020004" pitchFamily="49" charset="0"/>
            </a:endParaRPr>
          </a:p>
          <a:p>
            <a:r>
              <a:rPr lang="it-IT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  </a:t>
            </a:r>
            <a:r>
              <a:rPr lang="it-IT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&lt;li&gt;</a:t>
            </a:r>
            <a:r>
              <a:rPr lang="it-IT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Fourth</a:t>
            </a:r>
            <a:r>
              <a:rPr lang="it-IT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&lt;/li&gt;</a:t>
            </a:r>
            <a:endParaRPr lang="it-IT" sz="1600" b="0" dirty="0">
              <a:solidFill>
                <a:srgbClr val="000000"/>
              </a:solidFill>
              <a:effectLst/>
              <a:latin typeface="Fira Code Medium" panose="020B0609050000020004" pitchFamily="49" charset="0"/>
            </a:endParaRPr>
          </a:p>
          <a:p>
            <a:r>
              <a:rPr lang="it-IT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&lt;/ol&gt;</a:t>
            </a:r>
            <a:endParaRPr lang="it-IT" sz="1600" b="0" dirty="0">
              <a:solidFill>
                <a:srgbClr val="000000"/>
              </a:solidFill>
              <a:effectLst/>
              <a:latin typeface="Fira Code Medium" panose="020B06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309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/>
          <p:cNvGrpSpPr/>
          <p:nvPr/>
        </p:nvGrpSpPr>
        <p:grpSpPr>
          <a:xfrm>
            <a:off x="107504" y="116632"/>
            <a:ext cx="8856984" cy="2862322"/>
            <a:chOff x="107504" y="116632"/>
            <a:chExt cx="8856984" cy="2862322"/>
          </a:xfrm>
        </p:grpSpPr>
        <p:sp>
          <p:nvSpPr>
            <p:cNvPr id="2" name="TextBox 1"/>
            <p:cNvSpPr txBox="1"/>
            <p:nvPr/>
          </p:nvSpPr>
          <p:spPr>
            <a:xfrm>
              <a:off x="107504" y="116632"/>
              <a:ext cx="8856984" cy="2862322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latin typeface="Courier New" pitchFamily="49" charset="0"/>
                  <a:cs typeface="Courier New" pitchFamily="49" charset="0"/>
                </a:rPr>
                <a:t>display:list-item</a:t>
              </a: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;</a:t>
              </a:r>
            </a:p>
            <a:p>
              <a:endParaRPr lang="en-US" sz="2000" b="1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ru-RU" sz="2000" b="1" dirty="0" err="1">
                  <a:latin typeface="Courier New" pitchFamily="49" charset="0"/>
                  <a:cs typeface="Courier New" pitchFamily="49" charset="0"/>
                </a:rPr>
                <a:t>Особливості</a:t>
              </a: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:</a:t>
              </a:r>
            </a:p>
            <a:p>
              <a:pPr marL="342900" indent="-342900">
                <a:buFontTx/>
                <a:buChar char="-"/>
              </a:pPr>
              <a:r>
                <a:rPr lang="ru-RU" sz="2000" dirty="0" err="1">
                  <a:latin typeface="Courier New" pitchFamily="49" charset="0"/>
                  <a:cs typeface="Courier New" pitchFamily="49" charset="0"/>
                </a:rPr>
                <a:t>елементи</a:t>
              </a:r>
              <a:r>
                <a:rPr lang="ru-RU" sz="2000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sz="2000" b="1" dirty="0" err="1">
                  <a:latin typeface="Courier New" pitchFamily="49" charset="0"/>
                  <a:cs typeface="Courier New" pitchFamily="49" charset="0"/>
                </a:rPr>
                <a:t>li</a:t>
              </a:r>
              <a:r>
                <a:rPr lang="ru-RU" sz="2000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sz="2000" dirty="0" err="1">
                  <a:latin typeface="Courier New" pitchFamily="49" charset="0"/>
                  <a:cs typeface="Courier New" pitchFamily="49" charset="0"/>
                </a:rPr>
                <a:t>мають</a:t>
              </a:r>
              <a:r>
                <a:rPr lang="ru-RU" sz="2000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sz="2000" dirty="0" err="1">
                  <a:latin typeface="Courier New" pitchFamily="49" charset="0"/>
                  <a:cs typeface="Courier New" pitchFamily="49" charset="0"/>
                </a:rPr>
                <a:t>маркери</a:t>
              </a:r>
              <a:r>
                <a:rPr lang="ru-RU" sz="2000" dirty="0">
                  <a:latin typeface="Courier New" pitchFamily="49" charset="0"/>
                  <a:cs typeface="Courier New" pitchFamily="49" charset="0"/>
                </a:rPr>
                <a:t> з </a:t>
              </a:r>
              <a:r>
                <a:rPr lang="ru-RU" sz="2000" dirty="0" err="1">
                  <a:latin typeface="Courier New" pitchFamily="49" charset="0"/>
                  <a:cs typeface="Courier New" pitchFamily="49" charset="0"/>
                </a:rPr>
                <a:t>лівої</a:t>
              </a:r>
              <a:r>
                <a:rPr lang="ru-RU" sz="2000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sz="2000" dirty="0" err="1">
                  <a:latin typeface="Courier New" pitchFamily="49" charset="0"/>
                  <a:cs typeface="Courier New" pitchFamily="49" charset="0"/>
                </a:rPr>
                <a:t>сторони</a:t>
              </a:r>
              <a:r>
                <a:rPr lang="ru-RU" sz="2000" dirty="0">
                  <a:latin typeface="Courier New" pitchFamily="49" charset="0"/>
                  <a:cs typeface="Courier New" pitchFamily="49" charset="0"/>
                </a:rPr>
                <a:t> і для них </a:t>
              </a:r>
              <a:r>
                <a:rPr lang="ru-RU" sz="2000" dirty="0" err="1">
                  <a:latin typeface="Courier New" pitchFamily="49" charset="0"/>
                  <a:cs typeface="Courier New" pitchFamily="49" charset="0"/>
                </a:rPr>
                <a:t>спеціально</a:t>
              </a:r>
              <a:r>
                <a:rPr lang="ru-RU" sz="2000" dirty="0">
                  <a:latin typeface="Courier New" pitchFamily="49" charset="0"/>
                  <a:cs typeface="Courier New" pitchFamily="49" charset="0"/>
                </a:rPr>
                <a:t> за </a:t>
              </a:r>
              <a:r>
                <a:rPr lang="ru-RU" sz="2000" dirty="0" err="1">
                  <a:latin typeface="Courier New" pitchFamily="49" charset="0"/>
                  <a:cs typeface="Courier New" pitchFamily="49" charset="0"/>
                </a:rPr>
                <a:t>допомогою</a:t>
              </a:r>
              <a:r>
                <a:rPr lang="ru-RU" sz="2000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sz="2000" b="1" dirty="0">
                  <a:latin typeface="Courier New" pitchFamily="49" charset="0"/>
                  <a:cs typeface="Courier New" pitchFamily="49" charset="0"/>
                </a:rPr>
                <a:t>margin-left:40px;</a:t>
              </a:r>
              <a:r>
                <a:rPr lang="ru-RU" sz="2000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sz="2000" dirty="0" err="1">
                  <a:latin typeface="Courier New" pitchFamily="49" charset="0"/>
                  <a:cs typeface="Courier New" pitchFamily="49" charset="0"/>
                </a:rPr>
                <a:t>звільняється</a:t>
              </a:r>
              <a:r>
                <a:rPr lang="ru-RU" sz="2000" dirty="0">
                  <a:latin typeface="Courier New" pitchFamily="49" charset="0"/>
                  <a:cs typeface="Courier New" pitchFamily="49" charset="0"/>
                </a:rPr>
                <a:t>   </a:t>
              </a:r>
              <a:r>
                <a:rPr lang="ru-RU" sz="2000" dirty="0" err="1">
                  <a:latin typeface="Courier New" pitchFamily="49" charset="0"/>
                  <a:cs typeface="Courier New" pitchFamily="49" charset="0"/>
                </a:rPr>
                <a:t>простір</a:t>
              </a:r>
              <a:r>
                <a:rPr lang="ru-RU" sz="2000" dirty="0">
                  <a:latin typeface="Courier New" pitchFamily="49" charset="0"/>
                  <a:cs typeface="Courier New" pitchFamily="49" charset="0"/>
                </a:rPr>
                <a:t>.</a:t>
              </a:r>
              <a:endParaRPr lang="en-US" sz="2000" dirty="0">
                <a:latin typeface="Courier New" pitchFamily="49" charset="0"/>
                <a:cs typeface="Courier New" pitchFamily="49" charset="0"/>
              </a:endParaRPr>
            </a:p>
            <a:p>
              <a:pPr marL="342900" indent="-342900">
                <a:buFontTx/>
                <a:buChar char="-"/>
              </a:pPr>
              <a:endParaRPr lang="en-US" sz="2000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ru-RU" sz="2000" b="1" dirty="0">
                  <a:latin typeface="Courier New" pitchFamily="49" charset="0"/>
                  <a:cs typeface="Courier New" pitchFamily="49" charset="0"/>
                </a:rPr>
                <a:t>-</a:t>
              </a:r>
              <a:r>
                <a:rPr lang="en-US" sz="2000" dirty="0">
                  <a:latin typeface="Courier New" pitchFamily="49" charset="0"/>
                  <a:cs typeface="Courier New" pitchFamily="49" charset="0"/>
                </a:rPr>
                <a:t> c</a:t>
              </a:r>
              <a:r>
                <a:rPr lang="ru-RU" sz="2000" dirty="0" err="1">
                  <a:latin typeface="Courier New" pitchFamily="49" charset="0"/>
                  <a:cs typeface="Courier New" pitchFamily="49" charset="0"/>
                </a:rPr>
                <a:t>войство</a:t>
              </a:r>
              <a:r>
                <a:rPr lang="ru-RU" sz="2000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list-item </a:t>
              </a:r>
              <a:r>
                <a:rPr lang="ru-RU" sz="2000" dirty="0">
                  <a:latin typeface="Courier New" pitchFamily="49" charset="0"/>
                  <a:cs typeface="Courier New" pitchFamily="49" charset="0"/>
                </a:rPr>
                <a:t>можно </a:t>
              </a:r>
              <a:r>
                <a:rPr lang="en-US" sz="2000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sz="2000" dirty="0">
                  <a:latin typeface="Courier New" pitchFamily="49" charset="0"/>
                  <a:cs typeface="Courier New" pitchFamily="49" charset="0"/>
                </a:rPr>
                <a:t>можно </a:t>
              </a:r>
              <a:r>
                <a:rPr lang="ru-RU" sz="2000" dirty="0" err="1">
                  <a:latin typeface="Courier New" pitchFamily="49" charset="0"/>
                  <a:cs typeface="Courier New" pitchFamily="49" charset="0"/>
                </a:rPr>
                <a:t>застосовувати</a:t>
              </a:r>
              <a:r>
                <a:rPr lang="ru-RU" sz="2000" dirty="0">
                  <a:latin typeface="Courier New" pitchFamily="49" charset="0"/>
                  <a:cs typeface="Courier New" pitchFamily="49" charset="0"/>
                </a:rPr>
                <a:t> до будь </a:t>
              </a:r>
              <a:r>
                <a:rPr lang="ru-RU" sz="2000" dirty="0" err="1">
                  <a:latin typeface="Courier New" pitchFamily="49" charset="0"/>
                  <a:cs typeface="Courier New" pitchFamily="49" charset="0"/>
                </a:rPr>
                <a:t>якого</a:t>
              </a:r>
              <a:r>
                <a:rPr lang="ru-RU" sz="2000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ru-RU" sz="2000" dirty="0" err="1">
                  <a:latin typeface="Courier New" pitchFamily="49" charset="0"/>
                  <a:cs typeface="Courier New" pitchFamily="49" charset="0"/>
                </a:rPr>
                <a:t>елемента</a:t>
              </a:r>
              <a:r>
                <a:rPr lang="ru-RU" sz="2000" dirty="0">
                  <a:latin typeface="Courier New" pitchFamily="49" charset="0"/>
                  <a:cs typeface="Courier New" pitchFamily="49" charset="0"/>
                </a:rPr>
                <a:t>;</a:t>
              </a:r>
              <a:endParaRPr lang="ru-RU" sz="2000" b="1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7308304" y="116632"/>
              <a:ext cx="1656184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lists.html</a:t>
              </a:r>
              <a:endParaRPr lang="ru-RU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99694" y="4347673"/>
            <a:ext cx="8784976" cy="1631216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list-style-position: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outside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|  inside</a:t>
            </a:r>
          </a:p>
          <a:p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list-style-type: </a:t>
            </a:r>
            <a:r>
              <a:rPr lang="ru-RU" sz="2000" b="1" dirty="0">
                <a:latin typeface="Courier New" pitchFamily="49" charset="0"/>
                <a:cs typeface="Courier New" pitchFamily="49" charset="0"/>
              </a:rPr>
              <a:t>тип маркера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i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ru-RU" b="1" i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см. следующий слайд</a:t>
            </a:r>
            <a:r>
              <a:rPr lang="en-US" b="1" i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sz="2000" b="1" i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list-style-image:url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2000" b="1" i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путь_к_изображению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);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997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16632"/>
            <a:ext cx="8928992" cy="255454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 err="1"/>
              <a:t>list-style-type:</a:t>
            </a:r>
            <a:r>
              <a:rPr lang="en-US" dirty="0" err="1">
                <a:solidFill>
                  <a:srgbClr val="0070C0"/>
                </a:solidFill>
              </a:rPr>
              <a:t>disc</a:t>
            </a:r>
            <a:r>
              <a:rPr lang="en-US" dirty="0"/>
              <a:t> | circle | square | decimal | </a:t>
            </a:r>
          </a:p>
          <a:p>
            <a:r>
              <a:rPr lang="en-US" dirty="0"/>
              <a:t>                decimal-leading-zero | lower-roman | </a:t>
            </a:r>
          </a:p>
          <a:p>
            <a:r>
              <a:rPr lang="en-US" dirty="0"/>
              <a:t>                upper-roman | lower-</a:t>
            </a:r>
            <a:r>
              <a:rPr lang="en-US" dirty="0" err="1"/>
              <a:t>greek</a:t>
            </a:r>
            <a:r>
              <a:rPr lang="en-US" dirty="0"/>
              <a:t> | lower-alpha |  </a:t>
            </a:r>
          </a:p>
          <a:p>
            <a:r>
              <a:rPr lang="en-US" dirty="0"/>
              <a:t>                lower-</a:t>
            </a:r>
            <a:r>
              <a:rPr lang="en-US" dirty="0" err="1"/>
              <a:t>latin</a:t>
            </a:r>
            <a:r>
              <a:rPr lang="en-US" dirty="0"/>
              <a:t> | upper-alpha | upper-</a:t>
            </a:r>
            <a:r>
              <a:rPr lang="en-US" dirty="0" err="1"/>
              <a:t>latin</a:t>
            </a:r>
            <a:r>
              <a:rPr lang="en-US" dirty="0"/>
              <a:t> | </a:t>
            </a:r>
          </a:p>
          <a:p>
            <a:r>
              <a:rPr lang="en-US" dirty="0"/>
              <a:t>                </a:t>
            </a:r>
            <a:r>
              <a:rPr lang="en-US" dirty="0" err="1"/>
              <a:t>hebrew</a:t>
            </a:r>
            <a:r>
              <a:rPr lang="en-US" dirty="0"/>
              <a:t> | </a:t>
            </a:r>
            <a:r>
              <a:rPr lang="en-US" dirty="0" err="1"/>
              <a:t>armenian</a:t>
            </a:r>
            <a:r>
              <a:rPr lang="en-US" dirty="0"/>
              <a:t> |  </a:t>
            </a:r>
            <a:r>
              <a:rPr lang="en-US" dirty="0" err="1"/>
              <a:t>georgian</a:t>
            </a:r>
            <a:r>
              <a:rPr lang="en-US" dirty="0"/>
              <a:t> | </a:t>
            </a:r>
          </a:p>
          <a:p>
            <a:r>
              <a:rPr lang="en-US" dirty="0"/>
              <a:t>                </a:t>
            </a:r>
            <a:r>
              <a:rPr lang="en-US" dirty="0" err="1"/>
              <a:t>cjk</a:t>
            </a:r>
            <a:r>
              <a:rPr lang="en-US" dirty="0"/>
              <a:t>-ideographic | hiragana | katakana | </a:t>
            </a:r>
          </a:p>
          <a:p>
            <a:r>
              <a:rPr lang="en-US" dirty="0"/>
              <a:t>                hiragana-</a:t>
            </a:r>
            <a:r>
              <a:rPr lang="en-US" dirty="0" err="1"/>
              <a:t>iroha</a:t>
            </a:r>
            <a:r>
              <a:rPr lang="en-US" dirty="0"/>
              <a:t> | katakana-</a:t>
            </a:r>
            <a:r>
              <a:rPr lang="en-US" dirty="0" err="1"/>
              <a:t>iroha</a:t>
            </a:r>
            <a:r>
              <a:rPr lang="en-US" dirty="0"/>
              <a:t> | none | </a:t>
            </a:r>
          </a:p>
          <a:p>
            <a:r>
              <a:rPr lang="en-US" dirty="0"/>
              <a:t>                inherit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1621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475656" y="44624"/>
            <a:ext cx="3456384" cy="369332"/>
          </a:xfr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1800" dirty="0">
                <a:solidFill>
                  <a:srgbClr val="00206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Definition list</a:t>
            </a:r>
          </a:p>
        </p:txBody>
      </p:sp>
      <p:sp>
        <p:nvSpPr>
          <p:cNvPr id="158723" name="Text Box 3"/>
          <p:cNvSpPr txBox="1">
            <a:spLocks noChangeArrowheads="1"/>
          </p:cNvSpPr>
          <p:nvPr/>
        </p:nvSpPr>
        <p:spPr bwMode="auto">
          <a:xfrm>
            <a:off x="45404" y="476672"/>
            <a:ext cx="4094548" cy="2339102"/>
          </a:xfrm>
          <a:prstGeom prst="rect">
            <a:avLst/>
          </a:prstGeom>
          <a:noFill/>
          <a:ln w="9525" algn="ctr">
            <a:solidFill>
              <a:srgbClr val="3333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AFAFAF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&lt;dl&gt;</a:t>
            </a:r>
            <a:endParaRPr lang="en-US" sz="1600" b="0" dirty="0">
              <a:solidFill>
                <a:srgbClr val="000000"/>
              </a:solidFill>
              <a:effectLst/>
              <a:latin typeface="Fira Code Medium" panose="020B06090500000200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  </a:t>
            </a:r>
            <a:r>
              <a:rPr lang="en-US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&lt;dt&gt;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Web development</a:t>
            </a:r>
            <a:r>
              <a:rPr lang="en-US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&lt;/dt&gt;</a:t>
            </a:r>
            <a:endParaRPr lang="en-US" sz="1600" b="0" dirty="0">
              <a:solidFill>
                <a:srgbClr val="000000"/>
              </a:solidFill>
              <a:effectLst/>
              <a:latin typeface="Fira Code Medium" panose="020B06090500000200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  </a:t>
            </a:r>
            <a:r>
              <a:rPr lang="en-US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&lt;dd&gt;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Front-end</a:t>
            </a:r>
            <a:r>
              <a:rPr lang="en-US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&lt;/dd&gt;</a:t>
            </a:r>
            <a:endParaRPr lang="en-US" sz="1600" b="0" dirty="0">
              <a:solidFill>
                <a:srgbClr val="000000"/>
              </a:solidFill>
              <a:effectLst/>
              <a:latin typeface="Fira Code Medium" panose="020B06090500000200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  </a:t>
            </a:r>
            <a:r>
              <a:rPr lang="en-US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&lt;dd&gt;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Java Script Advanced</a:t>
            </a:r>
            <a:r>
              <a:rPr lang="en-US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&lt;/dd&gt;</a:t>
            </a:r>
            <a:endParaRPr lang="en-US" sz="1600" b="0" dirty="0">
              <a:solidFill>
                <a:srgbClr val="000000"/>
              </a:solidFill>
              <a:effectLst/>
              <a:latin typeface="Fira Code Medium" panose="020B06090500000200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  </a:t>
            </a:r>
            <a:r>
              <a:rPr lang="en-US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&lt;dt&gt;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Web design</a:t>
            </a:r>
            <a:r>
              <a:rPr lang="en-US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&lt;/dt&gt;</a:t>
            </a:r>
            <a:endParaRPr lang="en-US" sz="1600" b="0" dirty="0">
              <a:solidFill>
                <a:srgbClr val="000000"/>
              </a:solidFill>
              <a:effectLst/>
              <a:latin typeface="Fira Code Medium" panose="020B06090500000200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  </a:t>
            </a:r>
            <a:r>
              <a:rPr lang="en-US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&lt;dd&gt;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Adobe Photoshop</a:t>
            </a:r>
            <a:r>
              <a:rPr lang="en-US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&lt;/dd&gt;</a:t>
            </a:r>
            <a:endParaRPr lang="en-US" sz="1600" b="0" dirty="0">
              <a:solidFill>
                <a:srgbClr val="000000"/>
              </a:solidFill>
              <a:effectLst/>
              <a:latin typeface="Fira Code Medium" panose="020B06090500000200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  </a:t>
            </a:r>
            <a:r>
              <a:rPr lang="en-US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&lt;dd&gt;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Fira Code Medium" panose="020B0609050000020004" pitchFamily="49" charset="0"/>
              </a:rPr>
              <a:t>Figma</a:t>
            </a:r>
            <a:r>
              <a:rPr lang="en-US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&lt;/dd&gt;</a:t>
            </a:r>
            <a:endParaRPr lang="en-US" sz="1600" b="0" dirty="0">
              <a:solidFill>
                <a:srgbClr val="000000"/>
              </a:solidFill>
              <a:effectLst/>
              <a:latin typeface="Fira Code Medium" panose="020B0609050000020004" pitchFamily="49" charset="0"/>
            </a:endParaRPr>
          </a:p>
          <a:p>
            <a:r>
              <a:rPr lang="en-US" sz="1600" b="0" dirty="0">
                <a:solidFill>
                  <a:srgbClr val="0000E6"/>
                </a:solidFill>
                <a:effectLst/>
                <a:latin typeface="Fira Code Medium" panose="020B0609050000020004" pitchFamily="49" charset="0"/>
              </a:rPr>
              <a:t>&lt;/dl&gt;</a:t>
            </a:r>
            <a:endParaRPr lang="en-US" sz="1600" b="0" dirty="0">
              <a:solidFill>
                <a:srgbClr val="000000"/>
              </a:solidFill>
              <a:effectLst/>
              <a:latin typeface="Fira Code Medium" panose="020B06090500000200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024" y="2951373"/>
            <a:ext cx="8903464" cy="400110"/>
          </a:xfrm>
          <a:prstGeom prst="rect">
            <a:avLst/>
          </a:prstGeom>
          <a:solidFill>
            <a:schemeClr val="bg2">
              <a:alpha val="11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Теги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&lt;dl&gt;,</a:t>
            </a:r>
            <a:r>
              <a:rPr lang="ru-RU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&gt;,</a:t>
            </a:r>
            <a:r>
              <a:rPr lang="ru-RU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&lt;dd&gt;  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є </a:t>
            </a:r>
            <a:r>
              <a:rPr lang="ru-R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блоковими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елементами</a:t>
            </a:r>
            <a:endParaRPr lang="en-US" sz="20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894" y="5353191"/>
            <a:ext cx="8869594" cy="1077218"/>
          </a:xfrm>
          <a:prstGeom prst="rect">
            <a:avLst/>
          </a:prstGeom>
          <a:solidFill>
            <a:srgbClr val="7030A0">
              <a:alpha val="11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dd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– definition description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Может содержать любой контент. 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Этот контент имеет отступ слева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894" y="4346541"/>
            <a:ext cx="8869594" cy="769441"/>
          </a:xfrm>
          <a:prstGeom prst="rect">
            <a:avLst/>
          </a:prstGeom>
          <a:solidFill>
            <a:srgbClr val="FFC000">
              <a:alpha val="11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– definition term</a:t>
            </a:r>
          </a:p>
          <a:p>
            <a:r>
              <a:rPr lang="ru-R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Може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містити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лише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малі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елементи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025" y="3636072"/>
            <a:ext cx="8903463" cy="400110"/>
          </a:xfrm>
          <a:prstGeom prst="rect">
            <a:avLst/>
          </a:prstGeom>
          <a:solidFill>
            <a:srgbClr val="00B0F0">
              <a:alpha val="11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Тег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&lt;dl&gt;</a:t>
            </a:r>
            <a:r>
              <a:rPr lang="ru-RU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може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містити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лише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елементи</a:t>
            </a:r>
            <a:r>
              <a:rPr lang="ru-RU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и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dd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748245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055" y="50436"/>
            <a:ext cx="1584176" cy="369332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spcBef>
                <a:spcPct val="0"/>
              </a:spcBef>
              <a:buNone/>
              <a:defRPr kumimoji="0" b="1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extLst/>
          </a:lstStyle>
          <a:p>
            <a:r>
              <a:rPr lang="ru-RU" dirty="0"/>
              <a:t>  </a:t>
            </a:r>
            <a:r>
              <a:rPr lang="en-US" dirty="0"/>
              <a:t>lab 3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12055" y="476379"/>
            <a:ext cx="7848872" cy="369332"/>
          </a:xfrm>
          <a:prstGeom prst="rect">
            <a:avLst/>
          </a:prstGeom>
          <a:solidFill>
            <a:srgbClr val="92D050">
              <a:alpha val="15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Завдання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в </a:t>
            </a:r>
            <a:r>
              <a:rPr lang="ru-RU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файлі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lab3/task.txt</a:t>
            </a:r>
            <a:endParaRPr lang="ru-RU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E5CDDEF-CD5B-51F1-B25A-4A2B48233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124744"/>
            <a:ext cx="2875259" cy="427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85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47436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2755</TotalTime>
  <Words>1210</Words>
  <Application>Microsoft Office PowerPoint</Application>
  <PresentationFormat>Экран (4:3)</PresentationFormat>
  <Paragraphs>174</Paragraphs>
  <Slides>20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8" baseType="lpstr">
      <vt:lpstr>Calibri</vt:lpstr>
      <vt:lpstr>Courier New</vt:lpstr>
      <vt:lpstr>Fira Code Medium</vt:lpstr>
      <vt:lpstr>Lucida Sans Unicode</vt:lpstr>
      <vt:lpstr>Verdana</vt:lpstr>
      <vt:lpstr>Wingdings 2</vt:lpstr>
      <vt:lpstr>Wingdings 3</vt:lpstr>
      <vt:lpstr>Тема1</vt:lpstr>
      <vt:lpstr>Links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Елемент button</vt:lpstr>
      <vt:lpstr>Lists</vt:lpstr>
      <vt:lpstr>Презентация PowerPoint</vt:lpstr>
      <vt:lpstr>Презентация PowerPoint</vt:lpstr>
      <vt:lpstr>Definition list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cp:lastModifiedBy>Роман Никифоров</cp:lastModifiedBy>
  <cp:revision>537</cp:revision>
  <dcterms:modified xsi:type="dcterms:W3CDTF">2024-07-29T14:27:36Z</dcterms:modified>
</cp:coreProperties>
</file>